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2"/>
  </p:notesMasterIdLst>
  <p:sldIdLst>
    <p:sldId id="40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55" r:id="rId51"/>
    <p:sldId id="456" r:id="rId52"/>
    <p:sldId id="457" r:id="rId53"/>
    <p:sldId id="458" r:id="rId54"/>
    <p:sldId id="459" r:id="rId55"/>
    <p:sldId id="460" r:id="rId56"/>
    <p:sldId id="461" r:id="rId57"/>
    <p:sldId id="462" r:id="rId58"/>
    <p:sldId id="463" r:id="rId59"/>
    <p:sldId id="464" r:id="rId60"/>
    <p:sldId id="46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3033" autoAdjust="0"/>
  </p:normalViewPr>
  <p:slideViewPr>
    <p:cSldViewPr snapToGrid="0">
      <p:cViewPr varScale="1">
        <p:scale>
          <a:sx n="83" d="100"/>
          <a:sy n="83" d="100"/>
        </p:scale>
        <p:origin x="1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0F9CA-1A93-4D79-84D7-7CA1A1B5683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B9699-E895-4047-86EF-009608022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41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안녕하세요. 오늘 발표 제목은 'Function Calling All-In'입니다. AutoBe가 어떻게 Qwen 모델 4종 전부에서 컴파일 성공률 100%를 달성했는지 이야기하겠습니다.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6.75%. qwen3-coder-next가 쇼핑몰 백엔드의 API 데이터 타입을 생성할 때, 첫 시도에서 유효한 결과를 내놓을 확률입니다. 100번 시도하면 93번이 실패합니다.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그런데 AutoBe의 최종 컴파일 성공률은 100%입니다. Qwen 모델 4종 전부에서요. 6.75%에서 100%로. 오늘 그 여정을 이야기합니다.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AutoBe는 자연어 대화로 프로덕션 레벨 백엔드를 생성하는 오픈소스 AI 에이전트입니다. Wrtn Technologies에서 개발했습니다. '쇼핑몰 백엔드 만들어줘'라고 하면 요구사항 분석부터 DB 스키마, API 명세, E2E 테스트, 구현 코드, SDK까지 전부 생성합니다.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AutoBe의 파이프라인입니다. 요구사항 분석, 데이터베이스, API 설계, 테스트, 구현. 워터폴 방식으로, 각 단계마다 LLM이 구조를 채우고 컴파일러가 검증합니다.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핵심 차이점입니다. 대부분의 AI 코딩 에이전트는 LLM에게 '코드를 작성해'라고 합니다. AutoBe는 다릅니다. LLM에게 미리 정의된 JSON Schema를 주고 '빈칸을 채워'라고 합니다. LLM이 구조를 채우면, 컴파일러가 그걸 실제 코드로 변환합니다.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전체 파이프라인이 이 방식입니다. 매 단계마다 LLM이 채우는 구조체가 있고, 그에 대응하는 컴파일러 검증이 있습니다. 이것이 AutoBe의 all-in function calling 전략입니다.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LLM이 채워야 할 양식이 얼마나 복잡한지 보겠습니다. API 설계 단계의 IJsonSchema입니다. 10가지 변형의 유니온이고 재귀적으로 중첩됩니다. 아까 말한 6.75%가 바로 이 타입의 성공률입니다.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테스트 단계의 IExpression은 더 복잡합니다. 30개 이상의 변형이 재귀적으로 중첩됩니다. 사실상 프로그래밍 언어 수준의 복잡도를 LLM이 단일 function call로 생성해야 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이렇게 복잡한 구조에서 첫 시도 성공률이 낮은 건 당연합니다. 진짜 질문은 어떻게 100%로 만드느냐입니다. 답은 검증 피드백 루프입니다.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Typia가 LLM의 JSON 출력을 받아서, 에러가 있는 정확한 지점마다 // ❌ 인라인 주석을 삽입합니다. cardNumber는 string이어야 하는데 number를 줬다, price는 0 이상이어야 하는데 -100을 줬다. 경로와 기대 타입이 정확히 명시됩니다.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피드백을 받으면 LLM은 처음부터 다시 생성할 필요가 없습니다. 표시된 필드만 정확히 수정하면 됩니다. 컴파일러 검증, 정밀 진단, LLM 수정, 재검증. 이 루프가 성공할 때까지 반복됩니다.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qwen3.5 시리즈는 더 극적인 사례입니다. LLM이 실제로 반환하는 출력을 보세요. 마크다운 래핑, 설명 접두사, 따옴표 없는 키, 트레일링 콤마, tru, 닫히지 않은 괄호. 그리고 payment가 anyOf라서 이중 JSON.stringify. 하나의 출력에 7가지 문제가 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B9699-E895-4047-86EF-009608022D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565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7가지 문제 정리입니다. 마크다운 래핑, 설명 접두사, 따옴표 없는 키, 트레일링 콤마, 불완전 키워드, 닫히지 않은 괄호, double JSON.stringify. 이 중 성공률을 0%로 만드는 건 double stringify입니다.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double JSON.stringify 문제입니다. anyOf 타입인 IPayment을 LLM이 객체가 아닌 문자열로 반환합니다. 100% 일관적입니다. Qwen만의 문제가 아닙니다. Anthropic의 Claude도 oneOf에서 같은 현상을 보입니다.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AutoBe가 테스트하는 Qwen 모델 4종입니다. 397B부터 35B까지. 활성 파라미터 3B짜리 소형 모델조차 완전한 쇼핑몰 백엔드를 생성합니다. 전부 100%.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일화 하나. 시스템 프롬프트가 빠진 빌드를 배포한 적이 있습니다. 아무도 눈치채지 못했습니다. 타입이 최고의 프롬프트였고, 검증 피드백이 최고의 오케스트레이션이었습니다.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챕터 2. Typia — 이 모든 것의 인프라입니다.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1장에서 계속 등장했던 것들 — 스키마 변환, 깨진 JSON 복구, 타입 교정, 정밀 에러 피드백. Typia가 단일 라이브러리로 전부 처리합니다.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Typia의 핵심 동작 원리입니다. TypeScript 코드가 컴파일 타임에 JavaScript 검증 로직으로 변환됩니다. 런타임 리플렉션이 아니라 컴파일러 수준에서 타입을 분석합니다.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TypeScript 컴파일러는 소스 코드를 AST라는 트리 구조로 파싱합니다. Typia는 이 AST에서 타입 정보를 읽어서 컴파일 타임에 검증 코드를 자동 생성합니다.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타입에서 JSON Schema 자동 생성. TypeScript 인터페이스를 정의하면 JSON Schema가 자동 생성됩니다. JSDoc 주석은 description이 되고, 타입 제약조건은 검증 규칙이 됩니다.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JSDoc 주석이 중요합니다. '19세 이상 성인만 가입 가능합니다' — 이런 주석이 JSON Schema의 description에 포함되어 LLM에게 맥락을 제공합니다.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기존 방식은 타입과 스키마를 별도 수동 작성합니다. Typia는 타입 하나면 스키마가 자동 생성됩니다. 타입이 곧 스키마입니다.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관대한 JSON 파싱. LLM은 완벽한 JSON을 생성하지 않습니다. JSON.parse()는 모든 오류를 거부하지만, Typia의 parse()는 전부 처리합니다.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실제 LLM 출력에서 8가지 문제가 동시에 발생합니다. parse() 한 번의 호출로 전부 처리합니다.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스키마 기반 타입 교정. LLM은 타입도 자주 틀립니다. Typia의 coerce()가 스키마를 참조해서 올바른 타입으로 변환합니다.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coerce() 실전입니다. payment 이중 stringify를 객체로, price 문자열을 숫자로, vip 문자열을 boolean으로. 이것이 Qwen 3.5의 0%에서 100%로의 메커니즘입니다.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검증과 정밀 피드백. 파싱과 타입 교정 후에도 값이 잘못될 수 있습니다. validate()가 스키마 위반을 감지하고 정확한 경로와 기대 타입을 알려줍니다.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LlmJson.stringify()가 에러들을 // ❌ 인라인 주석으로 삽입합니다. LLM은 자기가 쓴 JSON 위에서 어디가 왜 틀렸는지 봅니다. 표시된 필드만 수정하면 됩니다.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전체 루프입니다. callWithFeedback 함수. LLM에게 요청하고, parse()로 파싱하고, validate()로 검증하고, 실패하면 stringify()로 피드백 생성해서 다시 보냅니다.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6.75%를 100%로 만드는 완전한 엔진입니다. parse()가 복구하고, validate()가 잡고, stringify()가 렌더링하고, LLM이 교정합니다.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하나의 TypeScript 타입으로 Typia가 나머지를 전부 처리합니다. 스키마 생성, 파싱, 타입 교정, 검증, 피드백 생성.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타입이 곧 스키마이고, 검증기이고, 프롬프트입니다.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챕터 3. Function Calling의 논거. how를 봤으니 이제 why입니다.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자연어와 타입의 차이. 자연어는 모호성이 기능, 프로그래밍 언어는 모호성이 버그. 타입과 스키마로 소통하면 오해가 없습니다.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프롬프트로 'age는 18보다 큰 양의 정수'라고 하면 모호합니다. 타입으로 ExclusiveMinimum&lt;18&gt;이라고 하면 명확하고 기계적으로 검증 가능합니다.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분홍 코끼리 문제. LLM에게 '분홍 코끼리를 생각하지 마세요'라고 하면 분홍 코끼리가 어텐션 중심에 놓입니다. 금지할수록 생성 확률이 올라갑니다.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스키마에서는 부재로 해결합니다. 스키마에 없으면 물리적으로 생성 불가. 금지가 아니라 부재입니다. 이것이 프롬프트와 타입의 근본적 차이입니다.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모델 중립성. JSON Schema는 어떤 모델이 읽든 같은 의미입니다. 검증 피드백 루프가 모델 간 성능 차이를 흡수합니다.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모델 선택이 비용 최적화 문제로 바뀝니다. 소형 모델이 대형 모델과 동일한 결과를 내면, 비용은 수십 분의 1입니다.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LLM 출력을 소프트웨어 엔지니어링 영역으로 가져옵니다. 타입 시스템, 컴파일러, 테스트. 기존 방법론이 그대로 적용됩니다.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공식입니다. 타입 스키마 + 결정적 검증기 + 구조화된 에러 피드백 = 신뢰할 수 있는 LLM 출력. 이 공식이 AutoBe의 전부입니다.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LLM은 정확할 필요가 없습니다. 교정 가능하기만 하면 됩니다. 이것이 패러다임 전환입니다.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적용 범위. 검증 가능한 도메인이면 이 패턴이 적용됩니다. 구조화 가능한 출력이 존재하는 모든 영역.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하이브리드 도메인. 법률 계약서 — 구조(조항 번호, 당사자)는 검증 가능하고, 실제 조항 내용은 LLM이 생성합니다. 회계도 마찬가지입니다.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반도체 설계 검증 — DRC 규칙은 스키마화 가능, 회로 설계는 생성. 의학 진단 — FHIR 표준 구조는 검증, 임상 판단은 생성.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한계를 인정합니다. 소설, 시, 에세이 같은 창작 글쓰기에는 이 패턴이 맞지 않습니다. 구조화 가능한 출력이 있는 도메인에만 적용됩니다.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챕터 4. Why Qwen. 왜 Qwen 모델을 선택했는가.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Qwen만이 소형-중형 스케일에서 이 복잡도의 function calling을 처리했습니다. Llama, Gemma, Phi 전부 테스트했지만, 이 수준의 재귀적 유니온 타입을 처리하지 못했습니다.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로컬 모델이면 R&amp;D 비용이 극적으로 줄어듭니다. GPU 한 대로 수천 번 실험 가능합니다. API 호출 비용 없이 구조 실험을 반복할 수 있습니다.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소형 모델은 최고의 QA 엔지니어입니다. 약해서 더 많은 반례를 만들어내고, 그 반례가 시스템을 강화합니다.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벤더 락인이 없습니다. Typia의 모델 중립적 설계 덕분에 어떤 모델이든 교체 가능합니다. 오늘 Qwen, 내일 다른 모델이어도 됩니다.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오픈소스 Typia와 오픈웨이트 Qwen의 조합. 두 프로젝트 모두 소스가 공개되어 있어서 누구나 재현하고 확장할 수 있습니다.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상호 강화의 선순환. Qwen이 시스템을 시험하고, 시스템이 Qwen을 최적화합니다. 둘이 함께 성장합니다.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클로징입니다. 지금까지의 여정을 정리합니다.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6.75%에서 100%까지의 여정을 돌아봅니다. 복잡한 타입, 깨진 JSON, 잘못된 값. 하나씩 해결해서 여기까지 왔습니다.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세 가지 원칙. 첫째, 타입이 최고의 프롬프트. 둘째, LLM은 교정 가능하면 충분. 셋째, 소프트웨어 엔지니어링이 답.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핵심 메시지. LLM은 정확할 필요가 없습니다. 교정 가능하면 됩니다. 그리고 그 교정의 도구는 이미 우리 손에 있습니다. 타입 시스템입니다.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감사합니다. 질문 있으시면 편하게 해주세요.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8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71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39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0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69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99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2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923"/>
            </a:gs>
            <a:gs pos="100000">
              <a:srgbClr val="16213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DAB3498-A523-4A42-BB38-782B1991896F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F79BD98-6794-46E2-8E86-251C3D6F4DA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4ECDC4"/>
              </a:gs>
              <a:gs pos="100000">
                <a:srgbClr val="60A5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BottomAccent"/>
          <p:cNvSpPr/>
          <p:nvPr/>
        </p:nvSpPr>
        <p:spPr>
          <a:xfrm>
            <a:off x="10200000" y="6400000"/>
            <a:ext cx="2000000" cy="500000"/>
          </a:xfrm>
          <a:prstGeom prst="ellipse">
            <a:avLst/>
          </a:prstGeom>
          <a:solidFill>
            <a:srgbClr val="00D4AA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7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1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rgbClr val="D0D0D0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rgbClr val="B0B0B0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rgbClr val="B0B0B0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rgbClr val="B0B0B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94754D-CB94-4B3D-BEA3-E85CD2C9C3DE}"/>
              </a:ext>
            </a:extLst>
          </p:cNvPr>
          <p:cNvSpPr txBox="1"/>
          <p:nvPr/>
        </p:nvSpPr>
        <p:spPr>
          <a:xfrm>
            <a:off x="1270000" y="1905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200" b="1">
                <a:solidFill>
                  <a:srgbClr val="00D4AA"/>
                </a:solidFill>
                <a:latin typeface="Segoe UI Semibold"/>
                <a:cs typeface="Segoe UI Semibold"/>
              </a:rPr>
              <a:t>Function Calling All-In</a:t>
            </a:r>
            <a:endParaRPr lang="ko-KR" altLang="en-US" sz="4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7A489-133C-46DD-86B3-C382523DA9B6}"/>
              </a:ext>
            </a:extLst>
          </p:cNvPr>
          <p:cNvSpPr txBox="1"/>
          <p:nvPr/>
        </p:nvSpPr>
        <p:spPr>
          <a:xfrm>
            <a:off x="1270000" y="29845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>
                <a:solidFill>
                  <a:srgbClr val="D0D0D0"/>
                </a:solidFill>
                <a:latin typeface="Segoe UI"/>
                <a:cs typeface="Segoe UI"/>
              </a:rPr>
              <a:t>How AutoBe Achieved 100% Compilation Success with Qwen</a:t>
            </a:r>
            <a:endParaRPr lang="ko-KR" altLang="en-US" sz="24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30C725-2E76-4538-80C0-8AE55DD92DE6}"/>
              </a:ext>
            </a:extLst>
          </p:cNvPr>
          <p:cNvSpPr/>
          <p:nvPr/>
        </p:nvSpPr>
        <p:spPr>
          <a:xfrm>
            <a:off x="1270000" y="3810000"/>
            <a:ext cx="2540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A7AEA-3AC1-4528-96F5-159F121E606A}"/>
              </a:ext>
            </a:extLst>
          </p:cNvPr>
          <p:cNvSpPr txBox="1"/>
          <p:nvPr/>
        </p:nvSpPr>
        <p:spPr>
          <a:xfrm>
            <a:off x="1270000" y="40640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A0A0A0"/>
                </a:solidFill>
                <a:latin typeface="Segoe UI"/>
                <a:cs typeface="Segoe UI"/>
              </a:rPr>
              <a:t>Qwen Meetup Korea</a:t>
            </a:r>
            <a:endParaRPr lang="ko-KR" altLang="en-US" sz="2000">
              <a:solidFill>
                <a:srgbClr val="A0A0A0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B4C67-2E3F-43E3-8BDF-E37707A755AF}"/>
              </a:ext>
            </a:extLst>
          </p:cNvPr>
          <p:cNvSpPr txBox="1"/>
          <p:nvPr/>
        </p:nvSpPr>
        <p:spPr>
          <a:xfrm>
            <a:off x="1270000" y="6223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505050"/>
                </a:solidFill>
                <a:latin typeface="Segoe UI"/>
                <a:cs typeface="Segoe UI"/>
              </a:rPr>
              <a:t>AutoBe  ·  Typia  ·  Wrtn Technologies</a:t>
            </a:r>
            <a:endParaRPr lang="ko-KR" altLang="en-US">
              <a:solidFill>
                <a:srgbClr val="505050"/>
              </a:solidFill>
              <a:latin typeface="Segoe UI"/>
              <a:cs typeface="Segoe UI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50F416B-493F-42F2-8CC3-A7B551FBDCE3}"/>
              </a:ext>
            </a:extLst>
          </p:cNvPr>
          <p:cNvSpPr/>
          <p:nvPr/>
        </p:nvSpPr>
        <p:spPr>
          <a:xfrm>
            <a:off x="10668000" y="508000"/>
            <a:ext cx="1143000" cy="1143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100%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52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22785-D4E5-43FF-8466-BBA736F9F344}"/>
              </a:ext>
            </a:extLst>
          </p:cNvPr>
          <p:cNvSpPr txBox="1"/>
          <p:nvPr/>
        </p:nvSpPr>
        <p:spPr>
          <a:xfrm>
            <a:off x="1270000" y="1270000"/>
            <a:ext cx="9652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0" b="1">
                <a:solidFill>
                  <a:srgbClr val="FF6B6B"/>
                </a:solidFill>
                <a:latin typeface="Segoe UI Semibold"/>
                <a:cs typeface="Segoe UI Semibold"/>
              </a:rPr>
              <a:t>6.75%</a:t>
            </a:r>
            <a:endParaRPr lang="ko-KR" altLang="en-US" sz="120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845C7-7F2A-4CD6-9C97-4F2BB455BC55}"/>
              </a:ext>
            </a:extLst>
          </p:cNvPr>
          <p:cNvSpPr txBox="1"/>
          <p:nvPr/>
        </p:nvSpPr>
        <p:spPr>
          <a:xfrm>
            <a:off x="1270000" y="4064000"/>
            <a:ext cx="965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dirty="0">
                <a:solidFill>
                  <a:srgbClr val="A0A0A0"/>
                </a:solidFill>
                <a:latin typeface="Segoe UI"/>
                <a:cs typeface="Segoe UI"/>
              </a:rPr>
              <a:t>Raw function calling success rate
qwen3-coder-next  ·  first attempt  ·  DTO schema generation</a:t>
            </a:r>
            <a:endParaRPr lang="ko-KR" altLang="en-US" sz="2200" dirty="0">
              <a:solidFill>
                <a:srgbClr val="A0A0A0"/>
              </a:solidFill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3E854-6C0C-45C6-A592-84E6D06AD560}"/>
              </a:ext>
            </a:extLst>
          </p:cNvPr>
          <p:cNvSpPr txBox="1"/>
          <p:nvPr/>
        </p:nvSpPr>
        <p:spPr>
          <a:xfrm>
            <a:off x="1270000" y="53340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F0F0F0"/>
                </a:solidFill>
                <a:latin typeface="Segoe UI"/>
                <a:cs typeface="Segoe UI"/>
              </a:rPr>
              <a:t>Out of 100 tries, 93 fail.</a:t>
            </a:r>
            <a:endParaRPr lang="ko-KR" altLang="en-US" sz="2400" b="1">
              <a:solidFill>
                <a:srgbClr val="F0F0F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8425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DB96F-3B37-47C2-AC8C-0D49EF6B0DA7}"/>
              </a:ext>
            </a:extLst>
          </p:cNvPr>
          <p:cNvSpPr txBox="1"/>
          <p:nvPr/>
        </p:nvSpPr>
        <p:spPr>
          <a:xfrm>
            <a:off x="1905000" y="1270000"/>
            <a:ext cx="8382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0" b="1">
                <a:solidFill>
                  <a:srgbClr val="00D4AA"/>
                </a:solidFill>
                <a:latin typeface="Segoe UI Semibold"/>
                <a:cs typeface="Segoe UI Semibold"/>
              </a:rPr>
              <a:t>100%</a:t>
            </a:r>
            <a:endParaRPr lang="ko-KR" altLang="en-US" sz="120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8C005-E320-494A-9A09-B2E7CB795CBD}"/>
              </a:ext>
            </a:extLst>
          </p:cNvPr>
          <p:cNvSpPr txBox="1"/>
          <p:nvPr/>
        </p:nvSpPr>
        <p:spPr>
          <a:xfrm>
            <a:off x="1905000" y="4064000"/>
            <a:ext cx="838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A0A0A0"/>
                </a:solidFill>
                <a:latin typeface="Segoe UI"/>
                <a:cs typeface="Segoe UI"/>
              </a:rPr>
              <a:t>Final compilation success rate
All 4 Qwen models  ·  same pipeline  ·  same schemas</a:t>
            </a:r>
            <a:endParaRPr lang="ko-KR" altLang="en-US" sz="2200">
              <a:solidFill>
                <a:srgbClr val="A0A0A0"/>
              </a:solidFill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32E2F-8C11-4EB5-935B-821277FFEB1B}"/>
              </a:ext>
            </a:extLst>
          </p:cNvPr>
          <p:cNvSpPr txBox="1"/>
          <p:nvPr/>
        </p:nvSpPr>
        <p:spPr>
          <a:xfrm>
            <a:off x="1905000" y="54610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FFE66D"/>
                </a:solidFill>
                <a:latin typeface="Segoe UI Semibold"/>
                <a:cs typeface="Segoe UI Semibold"/>
              </a:rPr>
              <a:t>How?</a:t>
            </a:r>
            <a:endParaRPr lang="ko-KR" altLang="en-US" sz="3600" b="1">
              <a:solidFill>
                <a:srgbClr val="FFE66D"/>
              </a:solidFill>
              <a:latin typeface="Segoe UI Semibold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1271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6BD04-0735-4D0B-AE8E-4F36EEDA2DE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00D4AA"/>
                </a:solidFill>
                <a:latin typeface="Segoe UI Semibold"/>
                <a:cs typeface="Segoe UI Semibold"/>
              </a:rPr>
              <a:t>What is AutoBe?</a:t>
            </a:r>
            <a:endParaRPr lang="ko-KR" altLang="en-US" sz="36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78430F-132E-49C1-B28E-7CF65B853275}"/>
              </a:ext>
            </a:extLst>
          </p:cNvPr>
          <p:cNvSpPr/>
          <p:nvPr/>
        </p:nvSpPr>
        <p:spPr>
          <a:xfrm>
            <a:off x="762000" y="1079500"/>
            <a:ext cx="1524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F5BA6-D1BD-4759-8708-6E27A98FF82C}"/>
              </a:ext>
            </a:extLst>
          </p:cNvPr>
          <p:cNvSpPr txBox="1"/>
          <p:nvPr/>
        </p:nvSpPr>
        <p:spPr>
          <a:xfrm>
            <a:off x="762000" y="1270000"/>
            <a:ext cx="698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Open-source AI agent that generates production-ready backends
from natural language conversation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C687DD1-2A5E-4D36-A7E8-5C19F89559AB}"/>
              </a:ext>
            </a:extLst>
          </p:cNvPr>
          <p:cNvSpPr/>
          <p:nvPr/>
        </p:nvSpPr>
        <p:spPr>
          <a:xfrm>
            <a:off x="762000" y="2159000"/>
            <a:ext cx="10668000" cy="8890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900" i="1" dirty="0">
                <a:solidFill>
                  <a:srgbClr val="FFE66D"/>
                </a:solidFill>
                <a:latin typeface="Segoe UI"/>
                <a:cs typeface="Segoe UI"/>
              </a:rPr>
              <a:t>"Build me a shopping mall backend. I need product listings,
a shopping cart, orders, and payments."</a:t>
            </a:r>
            <a:endParaRPr lang="ko-KR" altLang="en-US" sz="1900" i="1" dirty="0">
              <a:solidFill>
                <a:srgbClr val="FFE66D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F9739-7828-4DAF-A1A5-7D7F858B90AA}"/>
              </a:ext>
            </a:extLst>
          </p:cNvPr>
          <p:cNvSpPr txBox="1"/>
          <p:nvPr/>
        </p:nvSpPr>
        <p:spPr>
          <a:xfrm>
            <a:off x="762000" y="3302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0F0F0"/>
                </a:solidFill>
                <a:latin typeface="Segoe UI"/>
                <a:cs typeface="Segoe UI"/>
              </a:rPr>
              <a:t>AutoBe generates all of this:</a:t>
            </a:r>
            <a:endParaRPr lang="ko-KR" altLang="en-US" sz="2000" b="1">
              <a:solidFill>
                <a:srgbClr val="F0F0F0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204E8-B390-4DE2-AD67-6F67BDF0ED83}"/>
              </a:ext>
            </a:extLst>
          </p:cNvPr>
          <p:cNvSpPr txBox="1"/>
          <p:nvPr/>
        </p:nvSpPr>
        <p:spPr>
          <a:xfrm>
            <a:off x="762000" y="3810000"/>
            <a:ext cx="533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900">
                <a:solidFill>
                  <a:srgbClr val="D0D0D0"/>
                </a:solidFill>
                <a:latin typeface="Segoe UI"/>
                <a:cs typeface="Segoe UI"/>
              </a:rPr>
              <a:t>Requirements analysis (SRS)
Database schema (Prisma ERD)
API specification (OpenAPI 3.1)</a:t>
            </a:r>
            <a:endParaRPr lang="ko-KR" altLang="en-US" sz="19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60504-79EE-4C75-9772-3517B93AA657}"/>
              </a:ext>
            </a:extLst>
          </p:cNvPr>
          <p:cNvSpPr txBox="1"/>
          <p:nvPr/>
        </p:nvSpPr>
        <p:spPr>
          <a:xfrm>
            <a:off x="6350000" y="3810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ko-KR" sz="1900">
                <a:solidFill>
                  <a:srgbClr val="D0D0D0"/>
                </a:solidFill>
                <a:latin typeface="Segoe UI"/>
                <a:cs typeface="Segoe UI"/>
              </a:rPr>
              <a:t>E2E test code
Complete implementation code
Type-safe SDK</a:t>
            </a:r>
            <a:endParaRPr lang="ko-KR" altLang="en-US" sz="19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32525-021E-49F8-9703-816CBBB7A518}"/>
              </a:ext>
            </a:extLst>
          </p:cNvPr>
          <p:cNvSpPr txBox="1"/>
          <p:nvPr/>
        </p:nvSpPr>
        <p:spPr>
          <a:xfrm>
            <a:off x="762000" y="53340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60A5FA"/>
                </a:solidFill>
                <a:latin typeface="Segoe UI"/>
                <a:cs typeface="Segoe UI"/>
              </a:rPr>
              <a:t>TypeScript  +  NestJS  +  Prisma</a:t>
            </a:r>
            <a:endParaRPr lang="ko-KR" altLang="en-US" sz="2000" b="1">
              <a:solidFill>
                <a:srgbClr val="60A5FA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43263-AF8C-49E6-8998-09DCCCC731BE}"/>
              </a:ext>
            </a:extLst>
          </p:cNvPr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707070"/>
                </a:solidFill>
                <a:latin typeface="Segoe UI"/>
                <a:cs typeface="Segoe UI"/>
              </a:rPr>
              <a:t>Developed by Wrtn Technologies  ·  github.com/wrtnlabs/autobe</a:t>
            </a:r>
            <a:endParaRPr lang="ko-KR" altLang="en-US">
              <a:solidFill>
                <a:srgbClr val="70707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3798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6C53E-E0F6-48B0-89F5-B33864292C94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00D4AA"/>
                </a:solidFill>
                <a:latin typeface="Segoe UI Semibold"/>
                <a:cs typeface="Segoe UI Semibold"/>
              </a:rPr>
              <a:t>The Waterfall Pipeline</a:t>
            </a:r>
            <a:endParaRPr lang="ko-KR" altLang="en-US" sz="36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8675B5-B2CD-4801-A2C7-D9BD19CA58D5}"/>
              </a:ext>
            </a:extLst>
          </p:cNvPr>
          <p:cNvSpPr/>
          <p:nvPr/>
        </p:nvSpPr>
        <p:spPr>
          <a:xfrm>
            <a:off x="762000" y="1079500"/>
            <a:ext cx="1524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23D406-4941-47F1-A819-8E7CED8B134D}"/>
              </a:ext>
            </a:extLst>
          </p:cNvPr>
          <p:cNvSpPr/>
          <p:nvPr/>
        </p:nvSpPr>
        <p:spPr>
          <a:xfrm>
            <a:off x="762000" y="1397000"/>
            <a:ext cx="1968500" cy="8255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  <a:latin typeface="Segoe UI"/>
                <a:cs typeface="Segoe UI"/>
              </a:rPr>
              <a:t>Analyze</a:t>
            </a:r>
            <a:endParaRPr lang="ko-KR" altLang="en-US" b="1">
              <a:solidFill>
                <a:srgbClr val="00D4AA"/>
              </a:solidFill>
              <a:latin typeface="Segoe UI"/>
              <a:cs typeface="Segoe UI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77EF9836-B5A0-48EF-82EA-E1D91F533354}"/>
              </a:ext>
            </a:extLst>
          </p:cNvPr>
          <p:cNvSpPr/>
          <p:nvPr/>
        </p:nvSpPr>
        <p:spPr>
          <a:xfrm>
            <a:off x="2755900" y="1676400"/>
            <a:ext cx="177800" cy="2540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6810E4-145E-4B77-AFD0-4E805355ED83}"/>
              </a:ext>
            </a:extLst>
          </p:cNvPr>
          <p:cNvSpPr/>
          <p:nvPr/>
        </p:nvSpPr>
        <p:spPr>
          <a:xfrm>
            <a:off x="2959100" y="1397000"/>
            <a:ext cx="1968500" cy="8255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4ECDC4"/>
                </a:solidFill>
                <a:latin typeface="Segoe UI"/>
                <a:cs typeface="Segoe UI"/>
              </a:rPr>
              <a:t>Database</a:t>
            </a:r>
            <a:endParaRPr lang="ko-KR" altLang="en-US" b="1">
              <a:solidFill>
                <a:srgbClr val="4ECDC4"/>
              </a:solidFill>
              <a:latin typeface="Segoe UI"/>
              <a:cs typeface="Segoe UI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DA5B108-24C0-4AF8-A261-DE9E43C69286}"/>
              </a:ext>
            </a:extLst>
          </p:cNvPr>
          <p:cNvSpPr/>
          <p:nvPr/>
        </p:nvSpPr>
        <p:spPr>
          <a:xfrm>
            <a:off x="4953000" y="1676400"/>
            <a:ext cx="177800" cy="2540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0D7863-F2F7-4A32-A96C-2C4CA1C0A1A1}"/>
              </a:ext>
            </a:extLst>
          </p:cNvPr>
          <p:cNvSpPr/>
          <p:nvPr/>
        </p:nvSpPr>
        <p:spPr>
          <a:xfrm>
            <a:off x="5156200" y="1397000"/>
            <a:ext cx="1968500" cy="8255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60A5FA"/>
                </a:solidFill>
                <a:latin typeface="Segoe UI"/>
                <a:cs typeface="Segoe UI"/>
              </a:rPr>
              <a:t>Interface</a:t>
            </a:r>
            <a:endParaRPr lang="ko-KR" altLang="en-US" b="1">
              <a:solidFill>
                <a:srgbClr val="60A5FA"/>
              </a:solidFill>
              <a:latin typeface="Segoe UI"/>
              <a:cs typeface="Segoe UI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DD5D94-75DB-4F43-AB4B-2F9CBCBEE51C}"/>
              </a:ext>
            </a:extLst>
          </p:cNvPr>
          <p:cNvSpPr/>
          <p:nvPr/>
        </p:nvSpPr>
        <p:spPr>
          <a:xfrm>
            <a:off x="7150100" y="1676400"/>
            <a:ext cx="177800" cy="2540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78CA843-C14C-4E76-BAA0-5B3995DC1179}"/>
              </a:ext>
            </a:extLst>
          </p:cNvPr>
          <p:cNvSpPr/>
          <p:nvPr/>
        </p:nvSpPr>
        <p:spPr>
          <a:xfrm>
            <a:off x="7353300" y="1397000"/>
            <a:ext cx="1968500" cy="8255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A78BFA"/>
                </a:solidFill>
                <a:latin typeface="Segoe UI"/>
                <a:cs typeface="Segoe UI"/>
              </a:rPr>
              <a:t>Test</a:t>
            </a:r>
            <a:endParaRPr lang="ko-KR" altLang="en-US" b="1">
              <a:solidFill>
                <a:srgbClr val="A78BFA"/>
              </a:solidFill>
              <a:latin typeface="Segoe UI"/>
              <a:cs typeface="Segoe UI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EFACA7C0-340C-4E5D-B4D0-342CB39D56BB}"/>
              </a:ext>
            </a:extLst>
          </p:cNvPr>
          <p:cNvSpPr/>
          <p:nvPr/>
        </p:nvSpPr>
        <p:spPr>
          <a:xfrm>
            <a:off x="9347200" y="1676400"/>
            <a:ext cx="177800" cy="2540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944838C-532B-4FE4-9CB0-2AE97572B8F0}"/>
              </a:ext>
            </a:extLst>
          </p:cNvPr>
          <p:cNvSpPr/>
          <p:nvPr/>
        </p:nvSpPr>
        <p:spPr>
          <a:xfrm>
            <a:off x="9550400" y="1397000"/>
            <a:ext cx="1968500" cy="8255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E66D"/>
                </a:solidFill>
                <a:latin typeface="Segoe UI"/>
                <a:cs typeface="Segoe UI"/>
              </a:rPr>
              <a:t>Realize</a:t>
            </a:r>
            <a:endParaRPr lang="ko-KR" altLang="en-US" b="1">
              <a:solidFill>
                <a:srgbClr val="FFE66D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D59C4-4038-45C5-9664-BCD419468D6A}"/>
              </a:ext>
            </a:extLst>
          </p:cNvPr>
          <p:cNvSpPr txBox="1"/>
          <p:nvPr/>
        </p:nvSpPr>
        <p:spPr>
          <a:xfrm>
            <a:off x="762000" y="2413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0F0F0"/>
                </a:solidFill>
                <a:latin typeface="Segoe UI"/>
                <a:cs typeface="Segoe UI"/>
              </a:rPr>
              <a:t>Every phase: LLM fills a structure → Compiler validates</a:t>
            </a:r>
            <a:endParaRPr lang="ko-KR" altLang="en-US" sz="2000" b="1">
              <a:solidFill>
                <a:srgbClr val="F0F0F0"/>
              </a:solidFill>
              <a:latin typeface="Segoe UI"/>
              <a:cs typeface="Segoe UI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D11D469-2958-45CA-9BE9-018E29EA966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921000"/>
          <a:ext cx="10668000" cy="330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82151273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96486563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0803460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Phase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LLM Fills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Compiler Validates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824698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Requirements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AutoBeAnalyze — structured SRS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Structure check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27576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Database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dirty="0" err="1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AutoBeDatabase</a:t>
                      </a:r>
                      <a:r>
                        <a:rPr lang="ko-KR" altLang="en-US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 — Prisma </a:t>
                      </a:r>
                      <a:r>
                        <a:rPr lang="ko-KR" altLang="en-US" sz="1500" dirty="0" err="1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schema</a:t>
                      </a:r>
                      <a:endParaRPr lang="ko-KR" altLang="en-US" sz="1500" dirty="0">
                        <a:solidFill>
                          <a:srgbClr val="D0D0D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Database</a:t>
                      </a:r>
                      <a:r>
                        <a:rPr lang="ko-KR" altLang="en-US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lang="ko-KR" altLang="en-US" sz="1500" dirty="0" err="1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compiler</a:t>
                      </a:r>
                      <a:endParaRPr lang="ko-KR" altLang="en-US" sz="1500" dirty="0">
                        <a:solidFill>
                          <a:srgbClr val="D0D0D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4093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API Design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AutoBeOpenApi — OpenAPI spec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OpenAPI compiler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58437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Tests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AutoBeTest — 30+ expression types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Test</a:t>
                      </a:r>
                      <a:r>
                        <a:rPr lang="ko-KR" altLang="en-US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lang="ko-KR" altLang="en-US" sz="1500" dirty="0" err="1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compiler</a:t>
                      </a:r>
                      <a:endParaRPr lang="ko-KR" altLang="en-US" sz="1500" dirty="0">
                        <a:solidFill>
                          <a:srgbClr val="D0D0D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21408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Implementation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Collector / Transformer / Operation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dirty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TypeScript </a:t>
                      </a:r>
                      <a:r>
                        <a:rPr lang="ko-KR" altLang="en-US" sz="1500" dirty="0" err="1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compiler</a:t>
                      </a:r>
                      <a:endParaRPr lang="ko-KR" altLang="en-US" sz="1500" dirty="0">
                        <a:solidFill>
                          <a:srgbClr val="D0D0D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738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69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49688-AD77-4FD0-B680-EA29B3673C9B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FF6B6B"/>
                </a:solidFill>
                <a:latin typeface="Segoe UI Semibold"/>
                <a:cs typeface="Segoe UI Semibold"/>
              </a:rPr>
              <a:t>The LLM Never Writes Code</a:t>
            </a:r>
            <a:endParaRPr lang="ko-KR" altLang="en-US" sz="36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F5C5F6-A1D7-43BE-BFD8-7A53D38C2E31}"/>
              </a:ext>
            </a:extLst>
          </p:cNvPr>
          <p:cNvSpPr/>
          <p:nvPr/>
        </p:nvSpPr>
        <p:spPr>
          <a:xfrm>
            <a:off x="762000" y="1079500"/>
            <a:ext cx="1524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3D7EDC3-238F-4426-91D0-FCD00C2D2C9E}"/>
              </a:ext>
            </a:extLst>
          </p:cNvPr>
          <p:cNvSpPr/>
          <p:nvPr/>
        </p:nvSpPr>
        <p:spPr>
          <a:xfrm>
            <a:off x="762000" y="1397000"/>
            <a:ext cx="5080000" cy="2032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6B6B"/>
                </a:solidFill>
                <a:latin typeface="Segoe UI Semibold"/>
              </a:rPr>
              <a:t>Most AI Coding Agents</a:t>
            </a:r>
          </a:p>
          <a:p>
            <a:pPr algn="l">
              <a:buNone/>
            </a:pPr>
            <a:endParaRPr lang="en-US" sz="1800" dirty="0"/>
          </a:p>
          <a:p>
            <a:pPr algn="l">
              <a:buNone/>
            </a:pPr>
            <a:r>
              <a:rPr lang="en-US" sz="1800" dirty="0">
                <a:solidFill>
                  <a:srgbClr val="B0B0B0"/>
                </a:solidFill>
                <a:latin typeface="Segoe UI"/>
              </a:rPr>
              <a:t>"Write this code"</a:t>
            </a:r>
          </a:p>
          <a:p>
            <a:pPr algn="l">
              <a:buNone/>
            </a:pPr>
            <a:r>
              <a:rPr lang="en-US" sz="1800" dirty="0">
                <a:solidFill>
                  <a:srgbClr val="B0B0B0"/>
                </a:solidFill>
                <a:latin typeface="Segoe UI"/>
              </a:rPr>
              <a:t>→ LLM generates freeform text</a:t>
            </a:r>
          </a:p>
          <a:p>
            <a:pPr algn="l">
              <a:buNone/>
            </a:pPr>
            <a:r>
              <a:rPr lang="en-US" sz="1800" dirty="0">
                <a:solidFill>
                  <a:srgbClr val="B0B0B0"/>
                </a:solidFill>
                <a:latin typeface="Segoe UI"/>
              </a:rPr>
              <a:t>→ Save output to source file</a:t>
            </a:r>
          </a:p>
          <a:p>
            <a:pPr algn="l">
              <a:buNone/>
            </a:pPr>
            <a:r>
              <a:rPr lang="en-US" sz="1800" dirty="0">
                <a:solidFill>
                  <a:srgbClr val="B0B0B0"/>
                </a:solidFill>
                <a:latin typeface="Segoe UI"/>
              </a:rPr>
              <a:t>→ Hope it compiles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9052897-FB1E-4F1D-8BD4-5A1EBF93EE4F}"/>
              </a:ext>
            </a:extLst>
          </p:cNvPr>
          <p:cNvSpPr/>
          <p:nvPr/>
        </p:nvSpPr>
        <p:spPr>
          <a:xfrm>
            <a:off x="6350000" y="1397000"/>
            <a:ext cx="5080000" cy="2032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0D4AA"/>
                </a:solidFill>
                <a:latin typeface="Segoe UI Semibold"/>
              </a:rPr>
              <a:t>AutoBe</a:t>
            </a:r>
          </a:p>
          <a:p>
            <a:pPr algn="l">
              <a:buNone/>
            </a:pPr>
            <a:endParaRPr lang="en-US" sz="1800" dirty="0"/>
          </a:p>
          <a:p>
            <a:pPr algn="l">
              <a:buNone/>
            </a:pPr>
            <a:r>
              <a:rPr lang="en-US" sz="1800" dirty="0">
                <a:solidFill>
                  <a:srgbClr val="D0D0D0"/>
                </a:solidFill>
                <a:latin typeface="Segoe UI"/>
              </a:rPr>
              <a:t>"Fill this structure" (JSON Schema)</a:t>
            </a:r>
          </a:p>
          <a:p>
            <a:pPr algn="l">
              <a:buNone/>
            </a:pPr>
            <a:r>
              <a:rPr lang="en-US" sz="1800" dirty="0">
                <a:solidFill>
                  <a:srgbClr val="D0D0D0"/>
                </a:solidFill>
                <a:latin typeface="Segoe UI"/>
              </a:rPr>
              <a:t>→ LLM returns structured data</a:t>
            </a:r>
          </a:p>
          <a:p>
            <a:pPr algn="l">
              <a:buNone/>
            </a:pPr>
            <a:r>
              <a:rPr lang="en-US" sz="1800" dirty="0">
                <a:solidFill>
                  <a:srgbClr val="D0D0D0"/>
                </a:solidFill>
                <a:latin typeface="Segoe UI"/>
              </a:rPr>
              <a:t>→ Compiler converts to code</a:t>
            </a:r>
          </a:p>
          <a:p>
            <a:pPr algn="l">
              <a:buNone/>
            </a:pPr>
            <a:r>
              <a:rPr lang="en-US" sz="1800" dirty="0">
                <a:solidFill>
                  <a:srgbClr val="00D4AA"/>
                </a:solidFill>
                <a:latin typeface="Segoe UI"/>
              </a:rPr>
              <a:t>→ Guaranteed to compile ✓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84396E-EF14-445D-B204-8FE89D47646E}"/>
              </a:ext>
            </a:extLst>
          </p:cNvPr>
          <p:cNvSpPr/>
          <p:nvPr/>
        </p:nvSpPr>
        <p:spPr>
          <a:xfrm>
            <a:off x="1905000" y="3937000"/>
            <a:ext cx="8382000" cy="8890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600" b="1">
                <a:solidFill>
                  <a:srgbClr val="0F1923"/>
                </a:solidFill>
                <a:latin typeface="Segoe UI Semibold"/>
                <a:cs typeface="Segoe UI Semibold"/>
              </a:rPr>
              <a:t>LLM fills structures  →  Compiler writes code</a:t>
            </a:r>
            <a:endParaRPr lang="ko-KR" altLang="en-US" sz="2600" b="1">
              <a:solidFill>
                <a:srgbClr val="0F1923"/>
              </a:solidFill>
              <a:latin typeface="Segoe UI Semibold"/>
              <a:cs typeface="Segoe UI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6045F-4B48-4174-9E65-41FB1B342A4F}"/>
              </a:ext>
            </a:extLst>
          </p:cNvPr>
          <p:cNvSpPr txBox="1"/>
          <p:nvPr/>
        </p:nvSpPr>
        <p:spPr>
          <a:xfrm>
            <a:off x="1270000" y="5080000"/>
            <a:ext cx="965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i="1">
                <a:solidFill>
                  <a:srgbClr val="A0A0A0"/>
                </a:solidFill>
                <a:latin typeface="Segoe UI"/>
                <a:cs typeface="Segoe UI"/>
              </a:rPr>
              <a:t>Think of it as giving the LLM a form to complete,
not a blank page to write on</a:t>
            </a:r>
            <a:endParaRPr lang="ko-KR" altLang="en-US" sz="2000" i="1">
              <a:solidFill>
                <a:srgbClr val="A0A0A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3202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197A98-BF73-48F6-9257-824229902D14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00D4AA"/>
                </a:solidFill>
                <a:latin typeface="Segoe UI Semibold"/>
                <a:cs typeface="Segoe UI Semibold"/>
              </a:rPr>
              <a:t>All-In Function Calling Strategy</a:t>
            </a:r>
            <a:endParaRPr lang="ko-KR" altLang="en-US" sz="36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EF6A53-6BD3-4851-BFB7-B89883842C66}"/>
              </a:ext>
            </a:extLst>
          </p:cNvPr>
          <p:cNvSpPr/>
          <p:nvPr/>
        </p:nvSpPr>
        <p:spPr>
          <a:xfrm>
            <a:off x="762000" y="1079500"/>
            <a:ext cx="1524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D02CD-DA86-42FD-8775-FB8D2BA97754}"/>
              </a:ext>
            </a:extLst>
          </p:cNvPr>
          <p:cNvSpPr txBox="1"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At every phase: LLM fills a typed structure, compiler validates it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870D6F-A8F0-48E3-8979-8453CD3AFBD0}"/>
              </a:ext>
            </a:extLst>
          </p:cNvPr>
          <p:cNvSpPr/>
          <p:nvPr/>
        </p:nvSpPr>
        <p:spPr>
          <a:xfrm>
            <a:off x="762000" y="1778000"/>
            <a:ext cx="2159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</a:rPr>
              <a:t>Requirements</a:t>
            </a:r>
            <a:endParaRPr lang="ko-KR" altLang="en-US" b="1">
              <a:solidFill>
                <a:srgbClr val="00D4AA"/>
              </a:solidFill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4135A87-6C88-4BFD-A861-B8C5617A7011}"/>
              </a:ext>
            </a:extLst>
          </p:cNvPr>
          <p:cNvSpPr/>
          <p:nvPr/>
        </p:nvSpPr>
        <p:spPr>
          <a:xfrm>
            <a:off x="3048000" y="20066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2D88A2-3354-4410-A772-190F13A39D92}"/>
              </a:ext>
            </a:extLst>
          </p:cNvPr>
          <p:cNvSpPr/>
          <p:nvPr/>
        </p:nvSpPr>
        <p:spPr>
          <a:xfrm>
            <a:off x="3429000" y="1778000"/>
            <a:ext cx="4191000" cy="698500"/>
          </a:xfrm>
          <a:prstGeom prst="roundRect">
            <a:avLst/>
          </a:prstGeom>
          <a:solidFill>
            <a:srgbClr val="152028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F0F0F0"/>
                </a:solidFill>
                <a:latin typeface="Consolas"/>
              </a:rPr>
              <a:t>AutoBeAnalyze</a:t>
            </a:r>
            <a:endParaRPr lang="ko-KR" altLang="en-US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012099D-B920-4864-BD4E-E92F5C0F3153}"/>
              </a:ext>
            </a:extLst>
          </p:cNvPr>
          <p:cNvSpPr/>
          <p:nvPr/>
        </p:nvSpPr>
        <p:spPr>
          <a:xfrm>
            <a:off x="7747000" y="20066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85388D2-BE87-4DAF-B63B-27C643D74B65}"/>
              </a:ext>
            </a:extLst>
          </p:cNvPr>
          <p:cNvSpPr/>
          <p:nvPr/>
        </p:nvSpPr>
        <p:spPr>
          <a:xfrm>
            <a:off x="8128000" y="1778000"/>
            <a:ext cx="3302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Structure Compiler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0915C8-911A-42E6-BEAC-36F56A7E21EF}"/>
              </a:ext>
            </a:extLst>
          </p:cNvPr>
          <p:cNvSpPr/>
          <p:nvPr/>
        </p:nvSpPr>
        <p:spPr>
          <a:xfrm>
            <a:off x="762000" y="2692400"/>
            <a:ext cx="2159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4ECDC4"/>
                </a:solidFill>
              </a:rPr>
              <a:t>Database</a:t>
            </a:r>
            <a:endParaRPr lang="ko-KR" altLang="en-US" b="1">
              <a:solidFill>
                <a:srgbClr val="4ECDC4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176188F-6239-4856-87EE-5FAD21FE3525}"/>
              </a:ext>
            </a:extLst>
          </p:cNvPr>
          <p:cNvSpPr/>
          <p:nvPr/>
        </p:nvSpPr>
        <p:spPr>
          <a:xfrm>
            <a:off x="3048000" y="29210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521698-AB64-4BE2-B9A5-7F6DDD2D9D6B}"/>
              </a:ext>
            </a:extLst>
          </p:cNvPr>
          <p:cNvSpPr/>
          <p:nvPr/>
        </p:nvSpPr>
        <p:spPr>
          <a:xfrm>
            <a:off x="3429000" y="2692400"/>
            <a:ext cx="4191000" cy="698500"/>
          </a:xfrm>
          <a:prstGeom prst="roundRect">
            <a:avLst/>
          </a:prstGeom>
          <a:solidFill>
            <a:srgbClr val="152028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F0F0F0"/>
                </a:solidFill>
                <a:latin typeface="Consolas"/>
              </a:rPr>
              <a:t>AutoBeDatabase</a:t>
            </a:r>
            <a:endParaRPr lang="ko-KR" altLang="en-US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A703AEC-ADE1-4338-B8D1-DC07CBFAEA58}"/>
              </a:ext>
            </a:extLst>
          </p:cNvPr>
          <p:cNvSpPr/>
          <p:nvPr/>
        </p:nvSpPr>
        <p:spPr>
          <a:xfrm>
            <a:off x="7747000" y="29210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62132AB-D39E-47FE-B457-233944BF3D09}"/>
              </a:ext>
            </a:extLst>
          </p:cNvPr>
          <p:cNvSpPr/>
          <p:nvPr/>
        </p:nvSpPr>
        <p:spPr>
          <a:xfrm>
            <a:off x="8128000" y="2692400"/>
            <a:ext cx="3302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dirty="0">
                <a:solidFill>
                  <a:srgbClr val="A0A0A0"/>
                </a:solidFill>
              </a:rPr>
              <a:t>Database Compiler</a:t>
            </a:r>
            <a:endParaRPr lang="ko-KR" altLang="en-US" dirty="0">
              <a:solidFill>
                <a:srgbClr val="A0A0A0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1D88AFB-F1A9-4C84-B144-A813A1E96737}"/>
              </a:ext>
            </a:extLst>
          </p:cNvPr>
          <p:cNvSpPr/>
          <p:nvPr/>
        </p:nvSpPr>
        <p:spPr>
          <a:xfrm>
            <a:off x="762000" y="3606800"/>
            <a:ext cx="2159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60A5FA"/>
                </a:solidFill>
              </a:rPr>
              <a:t>API Design</a:t>
            </a:r>
            <a:endParaRPr lang="ko-KR" altLang="en-US" b="1">
              <a:solidFill>
                <a:srgbClr val="60A5FA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01F4CB5-DEB5-4F74-8AAE-F84122ACD9D5}"/>
              </a:ext>
            </a:extLst>
          </p:cNvPr>
          <p:cNvSpPr/>
          <p:nvPr/>
        </p:nvSpPr>
        <p:spPr>
          <a:xfrm>
            <a:off x="3048000" y="38354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82E560-E27E-458C-AFDD-32D0DBD2EB5F}"/>
              </a:ext>
            </a:extLst>
          </p:cNvPr>
          <p:cNvSpPr/>
          <p:nvPr/>
        </p:nvSpPr>
        <p:spPr>
          <a:xfrm>
            <a:off x="3429000" y="3606800"/>
            <a:ext cx="4191000" cy="698500"/>
          </a:xfrm>
          <a:prstGeom prst="roundRect">
            <a:avLst/>
          </a:prstGeom>
          <a:solidFill>
            <a:srgbClr val="152028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F0F0F0"/>
                </a:solidFill>
                <a:latin typeface="Consolas"/>
              </a:rPr>
              <a:t>AutoBeOpenApi</a:t>
            </a:r>
            <a:endParaRPr lang="ko-KR" altLang="en-US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C294600-471B-4BE7-A1B5-0784607B14CB}"/>
              </a:ext>
            </a:extLst>
          </p:cNvPr>
          <p:cNvSpPr/>
          <p:nvPr/>
        </p:nvSpPr>
        <p:spPr>
          <a:xfrm>
            <a:off x="7747000" y="38354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6FB8B4D-0197-491A-AE12-60CA6EEA3548}"/>
              </a:ext>
            </a:extLst>
          </p:cNvPr>
          <p:cNvSpPr/>
          <p:nvPr/>
        </p:nvSpPr>
        <p:spPr>
          <a:xfrm>
            <a:off x="8128000" y="3606800"/>
            <a:ext cx="3302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OpenAPI Compiler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330A44F-0B6E-408C-8270-952F4E8FE878}"/>
              </a:ext>
            </a:extLst>
          </p:cNvPr>
          <p:cNvSpPr/>
          <p:nvPr/>
        </p:nvSpPr>
        <p:spPr>
          <a:xfrm>
            <a:off x="762000" y="4521200"/>
            <a:ext cx="2159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A78BFA"/>
                </a:solidFill>
              </a:rPr>
              <a:t>Tests</a:t>
            </a:r>
            <a:endParaRPr lang="ko-KR" altLang="en-US" b="1">
              <a:solidFill>
                <a:srgbClr val="A78BFA"/>
              </a:solidFill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FC99C89C-D86A-4460-B1F4-9F308C0294E3}"/>
              </a:ext>
            </a:extLst>
          </p:cNvPr>
          <p:cNvSpPr/>
          <p:nvPr/>
        </p:nvSpPr>
        <p:spPr>
          <a:xfrm>
            <a:off x="3048000" y="47498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C218E99-E977-44AB-A94A-FB395EDB8F19}"/>
              </a:ext>
            </a:extLst>
          </p:cNvPr>
          <p:cNvSpPr/>
          <p:nvPr/>
        </p:nvSpPr>
        <p:spPr>
          <a:xfrm>
            <a:off x="3429000" y="4521200"/>
            <a:ext cx="4191000" cy="698500"/>
          </a:xfrm>
          <a:prstGeom prst="roundRect">
            <a:avLst/>
          </a:prstGeom>
          <a:solidFill>
            <a:srgbClr val="152028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F0F0F0"/>
                </a:solidFill>
                <a:latin typeface="Consolas"/>
              </a:rPr>
              <a:t>AutoBeTest</a:t>
            </a:r>
            <a:endParaRPr lang="ko-KR" altLang="en-US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D2037612-0A5E-40ED-98CB-499C7C99C462}"/>
              </a:ext>
            </a:extLst>
          </p:cNvPr>
          <p:cNvSpPr/>
          <p:nvPr/>
        </p:nvSpPr>
        <p:spPr>
          <a:xfrm>
            <a:off x="7747000" y="47498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B2F69BE-F139-4B78-944A-E0A13D6F94D3}"/>
              </a:ext>
            </a:extLst>
          </p:cNvPr>
          <p:cNvSpPr/>
          <p:nvPr/>
        </p:nvSpPr>
        <p:spPr>
          <a:xfrm>
            <a:off x="8128000" y="4521200"/>
            <a:ext cx="3302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dirty="0">
                <a:solidFill>
                  <a:srgbClr val="A0A0A0"/>
                </a:solidFill>
              </a:rPr>
              <a:t>Test Compiler</a:t>
            </a:r>
            <a:endParaRPr lang="ko-KR" altLang="en-US" dirty="0">
              <a:solidFill>
                <a:srgbClr val="A0A0A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BC1929E-78CB-45BA-A897-7E50978DA4DB}"/>
              </a:ext>
            </a:extLst>
          </p:cNvPr>
          <p:cNvSpPr/>
          <p:nvPr/>
        </p:nvSpPr>
        <p:spPr>
          <a:xfrm>
            <a:off x="762000" y="5435600"/>
            <a:ext cx="2159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E66D"/>
                </a:solidFill>
              </a:rPr>
              <a:t>Implementation</a:t>
            </a:r>
            <a:endParaRPr lang="ko-KR" altLang="en-US" b="1">
              <a:solidFill>
                <a:srgbClr val="FFE66D"/>
              </a:solidFill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A3585C1C-9639-4F12-82FE-33F24D13A578}"/>
              </a:ext>
            </a:extLst>
          </p:cNvPr>
          <p:cNvSpPr/>
          <p:nvPr/>
        </p:nvSpPr>
        <p:spPr>
          <a:xfrm>
            <a:off x="3048000" y="56642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EE6739A-4DB4-49A5-9925-895643E064D8}"/>
              </a:ext>
            </a:extLst>
          </p:cNvPr>
          <p:cNvSpPr/>
          <p:nvPr/>
        </p:nvSpPr>
        <p:spPr>
          <a:xfrm>
            <a:off x="3429000" y="5435600"/>
            <a:ext cx="4191000" cy="698500"/>
          </a:xfrm>
          <a:prstGeom prst="roundRect">
            <a:avLst/>
          </a:prstGeom>
          <a:solidFill>
            <a:srgbClr val="152028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F0F0F0"/>
                </a:solidFill>
                <a:latin typeface="Consolas"/>
              </a:rPr>
              <a:t>Modular Code</a:t>
            </a:r>
            <a:endParaRPr lang="ko-KR" altLang="en-US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EE7B4983-F8E4-44C5-B692-9289369FAC4D}"/>
              </a:ext>
            </a:extLst>
          </p:cNvPr>
          <p:cNvSpPr/>
          <p:nvPr/>
        </p:nvSpPr>
        <p:spPr>
          <a:xfrm>
            <a:off x="7747000" y="5664200"/>
            <a:ext cx="2540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F8EC29D-CA20-435D-9261-358887B41A26}"/>
              </a:ext>
            </a:extLst>
          </p:cNvPr>
          <p:cNvSpPr/>
          <p:nvPr/>
        </p:nvSpPr>
        <p:spPr>
          <a:xfrm>
            <a:off x="8128000" y="5435600"/>
            <a:ext cx="3302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TypeScript Compiler</a:t>
            </a:r>
            <a:endParaRPr lang="ko-KR" altLang="en-US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38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7098DC-8488-4ABC-838A-1827458580E1}"/>
              </a:ext>
            </a:extLst>
          </p:cNvPr>
          <p:cNvSpPr txBox="1"/>
          <p:nvPr/>
        </p:nvSpPr>
        <p:spPr>
          <a:xfrm>
            <a:off x="762000" y="381000"/>
            <a:ext cx="825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IJsonSchema — 10 Variants, Recursive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803C5-2EA2-45E7-AC61-CE56B4CD14B1}"/>
              </a:ext>
            </a:extLst>
          </p:cNvPr>
          <p:cNvSpPr txBox="1"/>
          <p:nvPr/>
        </p:nvSpPr>
        <p:spPr>
          <a:xfrm>
            <a:off x="762000" y="8890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DTO schema type the LLM must generate during API design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800" name="CodeBlock8"/>
          <p:cNvSpPr/>
          <p:nvPr/>
        </p:nvSpPr>
        <p:spPr>
          <a:xfrm>
            <a:off x="381000" y="1270000"/>
            <a:ext cx="11430000" cy="50800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2A2A3E"/>
            </a:solidFill>
          </a:ln>
        </p:spPr>
        <p:txBody>
          <a:bodyPr wrap="square" lIns="182880" tIns="137160" rIns="182880" bIns="91440" anchor="t"/>
          <a:lstStyle/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export type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IJsonSchema.IConstant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IJsonSchema.IBoolean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IJsonSchema.IInteger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IJsonSchema.INumber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IJsonSchema.IString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IJsonSchema.IArray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// items: IJsonSchema ← recursive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IJsonSchema.IObject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// properties: Record&lt;string, IJsonSchema&gt; ← recursive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IJsonSchema.IReference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IJsonSchema.IOneOf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// oneOf: IJsonSchema[] ← recursive</a:t>
            </a:r>
          </a:p>
          <a:p>
            <a:pPr>
              <a:lnSpc>
                <a:spcPts val="2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IJsonSchema.INull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801" name="Annotation8"/>
          <p:cNvSpPr/>
          <p:nvPr/>
        </p:nvSpPr>
        <p:spPr>
          <a:xfrm>
            <a:off x="8904157" y="381000"/>
            <a:ext cx="2271843" cy="444500"/>
          </a:xfrm>
          <a:prstGeom prst="roundRect">
            <a:avLst/>
          </a:prstGeom>
          <a:solidFill>
            <a:srgbClr val="FF6B6B">
              <a:alpha val="20000"/>
            </a:srgbClr>
          </a:solidFill>
          <a:ln>
            <a:solidFill>
              <a:srgbClr val="FF6B6B"/>
            </a:solidFill>
          </a:ln>
        </p:spPr>
        <p:txBody>
          <a:bodyPr wrap="square" lIns="91440" rIns="91440" anchor="ctr"/>
          <a:lstStyle/>
          <a:p>
            <a:pPr algn="ctr">
              <a:buNone/>
            </a:pPr>
            <a:r>
              <a:rPr lang="en-US" b="1" dirty="0">
                <a:solidFill>
                  <a:srgbClr val="FF6B6B"/>
                </a:solidFill>
                <a:latin typeface="Segoe UI Semibold"/>
              </a:rPr>
              <a:t>6.75% success rate</a:t>
            </a:r>
          </a:p>
        </p:txBody>
      </p:sp>
    </p:spTree>
    <p:extLst>
      <p:ext uri="{BB962C8B-B14F-4D97-AF65-F5344CB8AC3E}">
        <p14:creationId xmlns:p14="http://schemas.microsoft.com/office/powerpoint/2010/main" val="2765420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2278A-C777-46A4-8C7C-DAFF5DD0141F}"/>
              </a:ext>
            </a:extLst>
          </p:cNvPr>
          <p:cNvSpPr txBox="1"/>
          <p:nvPr/>
        </p:nvSpPr>
        <p:spPr>
          <a:xfrm>
            <a:off x="762000" y="3810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IExpression — 30+ Variants, Recursive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AE762-40E3-4219-A80B-3D8A46775CDA}"/>
              </a:ext>
            </a:extLst>
          </p:cNvPr>
          <p:cNvSpPr txBox="1"/>
          <p:nvPr/>
        </p:nvSpPr>
        <p:spPr>
          <a:xfrm>
            <a:off x="762000" y="8890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Test expression type — essentially programming-language complexity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810" name="CodeBlock9"/>
          <p:cNvSpPr/>
          <p:nvPr/>
        </p:nvSpPr>
        <p:spPr>
          <a:xfrm>
            <a:off x="381000" y="1270000"/>
            <a:ext cx="11430000" cy="50800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2A2A3E"/>
            </a:solidFill>
          </a:ln>
        </p:spPr>
        <p:txBody>
          <a:bodyPr wrap="square" lIns="182880" tIns="91440" rIns="182880" bIns="91440" anchor="t"/>
          <a:lstStyle/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export type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IExpression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IBooleanLiteral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INumericLiteral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IStringLiteral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// literals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IArrayLiteralExpression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IObjectLiteralExpression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// compound literals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INullLiteral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IUndefinedKeyword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        // null/undefined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IIdentifier 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IPropertyAccessExpression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// accessors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IElementAccessExpression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ITypeOfExpression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 // access/ops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IPrefixUnaryExpression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IPostfixUnaryExpression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// unary ops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IBinaryExpression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                            // binary ops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IArrowFunction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ICallExpression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INewExpression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// functions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IArrayFilterExpression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IArrayForEachExpression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// array ops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IArrayMapExpression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 err="1">
                <a:solidFill>
                  <a:srgbClr val="4EC9B0"/>
                </a:solidFill>
                <a:latin typeface="Consolas"/>
              </a:rPr>
              <a:t>IArrayRepeatExpression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// array ops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IPickRandom 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ISampleRandom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IBooleanRandom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// random generation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IIntegerRandom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INumberRandom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IStringRandom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// random generation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IPatternRandom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IFormatRandom  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IKeywordRandom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// random generation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IEqualPredicate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INotEqualPredicate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       // assertions</a:t>
            </a:r>
          </a:p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IConditionalPredicate   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IErrorPredicate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                 // assertions</a:t>
            </a:r>
          </a:p>
        </p:txBody>
      </p:sp>
    </p:spTree>
    <p:extLst>
      <p:ext uri="{BB962C8B-B14F-4D97-AF65-F5344CB8AC3E}">
        <p14:creationId xmlns:p14="http://schemas.microsoft.com/office/powerpoint/2010/main" val="3055932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6D95DB-46E7-42AF-9B3F-1DC6CE10B919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How 6.75% Becomes 100%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89A0B0-06CA-4BCD-BE04-1C559C97A5C1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466D4-015B-442F-9839-2C4CEC80945E}"/>
              </a:ext>
            </a:extLst>
          </p:cNvPr>
          <p:cNvSpPr txBox="1"/>
          <p:nvPr/>
        </p:nvSpPr>
        <p:spPr>
          <a:xfrm>
            <a:off x="762000" y="1270000"/>
            <a:ext cx="635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E66D"/>
                </a:solidFill>
              </a:rPr>
              <a:t>The Validation Feedback Loop</a:t>
            </a:r>
            <a:endParaRPr lang="ko-KR" altLang="en-US" sz="2200" b="1">
              <a:solidFill>
                <a:srgbClr val="FFE66D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318EC22-5006-43D4-9046-6FDFDE085E28}"/>
              </a:ext>
            </a:extLst>
          </p:cNvPr>
          <p:cNvSpPr/>
          <p:nvPr/>
        </p:nvSpPr>
        <p:spPr>
          <a:xfrm>
            <a:off x="762000" y="2032000"/>
            <a:ext cx="2413000" cy="1397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1. LLM generates
Function call attempt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A1A2-F930-40C0-AFA0-4FEF6AF84A9D}"/>
              </a:ext>
            </a:extLst>
          </p:cNvPr>
          <p:cNvSpPr/>
          <p:nvPr/>
        </p:nvSpPr>
        <p:spPr>
          <a:xfrm>
            <a:off x="3683000" y="2032000"/>
            <a:ext cx="2413000" cy="1397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2. Typia validates
Schema check + diagnostics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0E3627-CEF7-463C-83C8-8A9A8686AF73}"/>
              </a:ext>
            </a:extLst>
          </p:cNvPr>
          <p:cNvSpPr/>
          <p:nvPr/>
        </p:nvSpPr>
        <p:spPr>
          <a:xfrm>
            <a:off x="6604000" y="2032000"/>
            <a:ext cx="2413000" cy="1397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3. Feedback sent
// ❌ inline annotations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FBAFDA-F54A-40E9-A74E-DADA316201D3}"/>
              </a:ext>
            </a:extLst>
          </p:cNvPr>
          <p:cNvSpPr/>
          <p:nvPr/>
        </p:nvSpPr>
        <p:spPr>
          <a:xfrm>
            <a:off x="9525000" y="2032000"/>
            <a:ext cx="2413000" cy="1397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4. LLM corrects
Fix only flagged fields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6D12A-68E0-47E4-8D90-6D47A6B38356}"/>
              </a:ext>
            </a:extLst>
          </p:cNvPr>
          <p:cNvSpPr txBox="1"/>
          <p:nvPr/>
        </p:nvSpPr>
        <p:spPr>
          <a:xfrm>
            <a:off x="2540000" y="3683000"/>
            <a:ext cx="711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00D4AA"/>
                </a:solidFill>
              </a:rPr>
              <a:t>↻  Repeat until success</a:t>
            </a:r>
            <a:endParaRPr lang="ko-KR" altLang="en-US" sz="2200" b="1">
              <a:solidFill>
                <a:srgbClr val="00D4AA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815D24E-D152-406A-8D49-EDB8BCB5FAEC}"/>
              </a:ext>
            </a:extLst>
          </p:cNvPr>
          <p:cNvSpPr/>
          <p:nvPr/>
        </p:nvSpPr>
        <p:spPr>
          <a:xfrm>
            <a:off x="1270000" y="4445000"/>
            <a:ext cx="9652000" cy="8890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Whether it takes 1 attempt or 10,
the end result is 100%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A2EA2-7995-42CC-8582-E52F4CD023C4}"/>
              </a:ext>
            </a:extLst>
          </p:cNvPr>
          <p:cNvSpPr txBox="1"/>
          <p:nvPr/>
        </p:nvSpPr>
        <p:spPr>
          <a:xfrm>
            <a:off x="1270000" y="5588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i="1">
                <a:solidFill>
                  <a:srgbClr val="A0A0A0"/>
                </a:solidFill>
              </a:rPr>
              <a:t>Not "regenerate from scratch" — fix only the flagged fields</a:t>
            </a:r>
            <a:endParaRPr lang="ko-KR" altLang="en-US" i="1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360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043E5-34D9-4E1F-95F6-CE35FDFFF45B}"/>
              </a:ext>
            </a:extLst>
          </p:cNvPr>
          <p:cNvSpPr txBox="1"/>
          <p:nvPr/>
        </p:nvSpPr>
        <p:spPr>
          <a:xfrm>
            <a:off x="762000" y="127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FF6B6B"/>
                </a:solidFill>
                <a:latin typeface="Segoe UI Semibold"/>
                <a:cs typeface="Segoe UI Semibold"/>
              </a:rPr>
              <a:t>Validation Feedback: // </a:t>
            </a:r>
            <a:r>
              <a:rPr lang="ko-KR" altLang="en-US" sz="2800" b="1">
                <a:solidFill>
                  <a:srgbClr val="FF6B6B"/>
                </a:solidFill>
                <a:latin typeface="Segoe UI Semibold"/>
                <a:cs typeface="Segoe UI Semibold"/>
              </a:rPr>
              <a:t>❌ </a:t>
            </a:r>
            <a:r>
              <a:rPr lang="en-US" altLang="ko-KR" sz="2800" b="1">
                <a:solidFill>
                  <a:srgbClr val="FF6B6B"/>
                </a:solidFill>
                <a:latin typeface="Segoe UI Semibold"/>
                <a:cs typeface="Segoe UI Semibold"/>
              </a:rPr>
              <a:t>Inline Annotations</a:t>
            </a:r>
            <a:endParaRPr lang="ko-KR" altLang="en-US" sz="28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820" name="JSONBlock"/>
          <p:cNvSpPr/>
          <p:nvPr/>
        </p:nvSpPr>
        <p:spPr>
          <a:xfrm>
            <a:off x="304800" y="698500"/>
            <a:ext cx="11582400" cy="56134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2A2A3E"/>
            </a:solidFill>
          </a:ln>
        </p:spPr>
        <p:txBody>
          <a:bodyPr wrap="square" lIns="137160" tIns="68580" rIns="68580" bIns="68580" anchor="t"/>
          <a:lstStyle/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"order"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"payment"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"type"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"card"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"cardNumber"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12345678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b="1" dirty="0">
                <a:solidFill>
                  <a:srgbClr val="FF6B6B"/>
                </a:solidFill>
                <a:latin typeface="Consolas"/>
              </a:rPr>
              <a:t>// ❌ [{"path":"$input.order.payment.cardNumber","expected":"string"}]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},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"product"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"name"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"Laptop"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"price"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-100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b="1" dirty="0">
                <a:solidFill>
                  <a:srgbClr val="FF6B6B"/>
                </a:solidFill>
                <a:latin typeface="Consolas"/>
              </a:rPr>
              <a:t>// ❌ [{"path":"$input.order.product.price","expected":"number &amp; Minimum&lt;0&gt;"}]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"quantity"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2.5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b="1" dirty="0">
                <a:solidFill>
                  <a:srgbClr val="FF6B6B"/>
                </a:solidFill>
                <a:latin typeface="Consolas"/>
              </a:rPr>
              <a:t>// ❌ [{"path":"$input.order.product.quantity","expected":"number &amp; Type&lt;\"uint32\"&gt;"}]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},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"customer"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"name"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"John Doe"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"invalid-email"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b="1" dirty="0">
                <a:solidFill>
                  <a:srgbClr val="FF6B6B"/>
                </a:solidFill>
                <a:latin typeface="Consolas"/>
              </a:rPr>
              <a:t>// ❌ [{"path":"$input.order.customer.email","expected":"string &amp; Format&lt;\"email\"&gt;"}]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"vip"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"yes"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b="1" dirty="0">
                <a:solidFill>
                  <a:srgbClr val="FF6B6B"/>
                </a:solidFill>
                <a:latin typeface="Consolas"/>
              </a:rPr>
              <a:t>// ❌ [{"path":"$input.order.customer.vip","expected":"boolean"}]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ts val="21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63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35BC0-B57C-4133-81FB-710F93414AC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The Correction Cycle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AD0338-6B42-440F-B075-1CDC896E0E96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0DE041-9B96-49A5-B2FB-739D85D52A4B}"/>
              </a:ext>
            </a:extLst>
          </p:cNvPr>
          <p:cNvSpPr/>
          <p:nvPr/>
        </p:nvSpPr>
        <p:spPr>
          <a:xfrm>
            <a:off x="1270000" y="1905000"/>
            <a:ext cx="2286000" cy="1651000"/>
          </a:xfrm>
          <a:prstGeom prst="ellipse">
            <a:avLst/>
          </a:prstGeom>
          <a:solidFill>
            <a:srgbClr val="1A2733"/>
          </a:solidFill>
          <a:ln w="381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60A5FA"/>
                </a:solidFill>
              </a:rPr>
              <a:t>Compiler
Validation</a:t>
            </a:r>
            <a:endParaRPr lang="ko-KR" altLang="en-US" b="1">
              <a:solidFill>
                <a:srgbClr val="60A5FA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1F3154F-040A-4792-B987-C1C042597AB4}"/>
              </a:ext>
            </a:extLst>
          </p:cNvPr>
          <p:cNvSpPr/>
          <p:nvPr/>
        </p:nvSpPr>
        <p:spPr>
          <a:xfrm>
            <a:off x="4445000" y="1905000"/>
            <a:ext cx="2286000" cy="1651000"/>
          </a:xfrm>
          <a:prstGeom prst="ellipse">
            <a:avLst/>
          </a:prstGeom>
          <a:solidFill>
            <a:srgbClr val="1A2733"/>
          </a:solidFill>
          <a:ln w="381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6B6B"/>
                </a:solidFill>
              </a:rPr>
              <a:t>Precise
Diagnostics</a:t>
            </a:r>
            <a:endParaRPr lang="ko-KR" altLang="en-US" b="1">
              <a:solidFill>
                <a:srgbClr val="FF6B6B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5E4A26A-6BAC-4F32-9AC7-0928F00E5D01}"/>
              </a:ext>
            </a:extLst>
          </p:cNvPr>
          <p:cNvSpPr/>
          <p:nvPr/>
        </p:nvSpPr>
        <p:spPr>
          <a:xfrm>
            <a:off x="7620000" y="1905000"/>
            <a:ext cx="2286000" cy="1651000"/>
          </a:xfrm>
          <a:prstGeom prst="ellipse">
            <a:avLst/>
          </a:prstGeom>
          <a:solidFill>
            <a:srgbClr val="1A2733"/>
          </a:solidFill>
          <a:ln w="381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E66D"/>
                </a:solidFill>
              </a:rPr>
              <a:t>LLM
Correction</a:t>
            </a:r>
            <a:endParaRPr lang="ko-KR" altLang="en-US" b="1">
              <a:solidFill>
                <a:srgbClr val="FFE66D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E31C79-0FA9-4B95-B239-701919DED77E}"/>
              </a:ext>
            </a:extLst>
          </p:cNvPr>
          <p:cNvSpPr/>
          <p:nvPr/>
        </p:nvSpPr>
        <p:spPr>
          <a:xfrm>
            <a:off x="4445000" y="4191000"/>
            <a:ext cx="2286000" cy="1651000"/>
          </a:xfrm>
          <a:prstGeom prst="ellipse">
            <a:avLst/>
          </a:prstGeom>
          <a:solidFill>
            <a:srgbClr val="1A2733"/>
          </a:solidFill>
          <a:ln w="381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0D4AA"/>
                </a:solidFill>
              </a:rPr>
              <a:t>Re-validation</a:t>
            </a:r>
            <a:endParaRPr lang="ko-KR" altLang="en-US" b="1">
              <a:solidFill>
                <a:srgbClr val="00D4AA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2F955FD-91C8-4357-B862-108BC6B5FD95}"/>
              </a:ext>
            </a:extLst>
          </p:cNvPr>
          <p:cNvSpPr/>
          <p:nvPr/>
        </p:nvSpPr>
        <p:spPr>
          <a:xfrm>
            <a:off x="3556000" y="2540000"/>
            <a:ext cx="762000" cy="2794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981137F-3B55-4618-86A9-D571A22B8703}"/>
              </a:ext>
            </a:extLst>
          </p:cNvPr>
          <p:cNvSpPr/>
          <p:nvPr/>
        </p:nvSpPr>
        <p:spPr>
          <a:xfrm>
            <a:off x="6731000" y="2540000"/>
            <a:ext cx="762000" cy="2794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9A4F2-0186-4596-8FBD-66C75A0BA5FB}"/>
              </a:ext>
            </a:extLst>
          </p:cNvPr>
          <p:cNvSpPr txBox="1"/>
          <p:nvPr/>
        </p:nvSpPr>
        <p:spPr>
          <a:xfrm>
            <a:off x="1905000" y="6096000"/>
            <a:ext cx="838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Loop repeats until success → 100% guaranteed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23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B0B05-0C6F-48B5-85DF-0A48B429CD85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Qwen 3.5: The 0% Problem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850" name="BrokenCode"/>
          <p:cNvSpPr/>
          <p:nvPr/>
        </p:nvSpPr>
        <p:spPr>
          <a:xfrm>
            <a:off x="304800" y="914400"/>
            <a:ext cx="11582400" cy="52070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FF6B6B"/>
            </a:solidFill>
          </a:ln>
        </p:spPr>
        <p:txBody>
          <a:bodyPr wrap="square" lIns="137160" tIns="91440" rIns="91440" bIns="91440" anchor="t"/>
          <a:lstStyle/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llmOutput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`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&gt; I'd be happy to help you with your order! 😊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```json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{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"order": {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"payment": "{\"type\":\"card\",\"cardNumber\":\"1234-5678",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"product": {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name: "Laptop",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price: 1300,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quantity: 2,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},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"customer": {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"name": "John Doe",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"email": "john@example.com",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vip: tru</a:t>
            </a:r>
          </a:p>
          <a:p>
            <a:pPr>
              <a:lnSpc>
                <a:spcPts val="19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````;</a:t>
            </a:r>
          </a:p>
        </p:txBody>
      </p:sp>
    </p:spTree>
    <p:extLst>
      <p:ext uri="{BB962C8B-B14F-4D97-AF65-F5344CB8AC3E}">
        <p14:creationId xmlns:p14="http://schemas.microsoft.com/office/powerpoint/2010/main" val="244553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7E571-584F-4415-A883-6BEEE3D26E03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Seven Problems at Once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D61ECA-DCE8-4747-BF7A-2C61E12D8CD7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4316D83-2A53-4E17-842B-26F916077ADF}"/>
              </a:ext>
            </a:extLst>
          </p:cNvPr>
          <p:cNvSpPr/>
          <p:nvPr/>
        </p:nvSpPr>
        <p:spPr>
          <a:xfrm>
            <a:off x="1016000" y="12700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1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8BDDD-D834-46CD-A25A-18C86B03C84C}"/>
              </a:ext>
            </a:extLst>
          </p:cNvPr>
          <p:cNvSpPr txBox="1"/>
          <p:nvPr/>
        </p:nvSpPr>
        <p:spPr>
          <a:xfrm>
            <a:off x="1651000" y="12954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Markdown code block wrapping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62E7FB6-0E13-4D77-A1D2-D17BD2F61EBF}"/>
              </a:ext>
            </a:extLst>
          </p:cNvPr>
          <p:cNvSpPr/>
          <p:nvPr/>
        </p:nvSpPr>
        <p:spPr>
          <a:xfrm>
            <a:off x="1016000" y="19304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2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D01D3-1EBD-4C09-93CB-BE364026DA90}"/>
              </a:ext>
            </a:extLst>
          </p:cNvPr>
          <p:cNvSpPr txBox="1"/>
          <p:nvPr/>
        </p:nvSpPr>
        <p:spPr>
          <a:xfrm>
            <a:off x="1651000" y="19558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Explanation prefix before JSON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26F5F0-CD91-4310-A97F-FE4760AED5F6}"/>
              </a:ext>
            </a:extLst>
          </p:cNvPr>
          <p:cNvSpPr/>
          <p:nvPr/>
        </p:nvSpPr>
        <p:spPr>
          <a:xfrm>
            <a:off x="1016000" y="25908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3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ABFE1-94D4-4359-A9B7-D79A48373922}"/>
              </a:ext>
            </a:extLst>
          </p:cNvPr>
          <p:cNvSpPr txBox="1"/>
          <p:nvPr/>
        </p:nvSpPr>
        <p:spPr>
          <a:xfrm>
            <a:off x="1651000" y="26162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Unquoted keys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C9EAF96-F17E-424F-893F-F086F047656A}"/>
              </a:ext>
            </a:extLst>
          </p:cNvPr>
          <p:cNvSpPr/>
          <p:nvPr/>
        </p:nvSpPr>
        <p:spPr>
          <a:xfrm>
            <a:off x="1016000" y="32512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4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C24FFF-309D-4EF2-8632-E49CBF67E0E8}"/>
              </a:ext>
            </a:extLst>
          </p:cNvPr>
          <p:cNvSpPr txBox="1"/>
          <p:nvPr/>
        </p:nvSpPr>
        <p:spPr>
          <a:xfrm>
            <a:off x="1651000" y="32766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Trailing commas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B515AB9-9894-4068-A01B-EB9F3038CEB3}"/>
              </a:ext>
            </a:extLst>
          </p:cNvPr>
          <p:cNvSpPr/>
          <p:nvPr/>
        </p:nvSpPr>
        <p:spPr>
          <a:xfrm>
            <a:off x="1016000" y="39116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5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5A50F8-8EF3-4A37-BC47-79BD4F3D372B}"/>
              </a:ext>
            </a:extLst>
          </p:cNvPr>
          <p:cNvSpPr txBox="1"/>
          <p:nvPr/>
        </p:nvSpPr>
        <p:spPr>
          <a:xfrm>
            <a:off x="1651000" y="39370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"tru" instead of true (incomplete keyword)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9B9C41C-8325-4921-89AE-61C2F2BA8CA4}"/>
              </a:ext>
            </a:extLst>
          </p:cNvPr>
          <p:cNvSpPr/>
          <p:nvPr/>
        </p:nvSpPr>
        <p:spPr>
          <a:xfrm>
            <a:off x="1016000" y="4572000"/>
            <a:ext cx="457200" cy="457200"/>
          </a:xfrm>
          <a:prstGeom prst="ellipse">
            <a:avLst/>
          </a:prstGeom>
          <a:solidFill>
            <a:srgbClr val="1A2733"/>
          </a:solidFill>
          <a:ln w="1905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E66D"/>
                </a:solidFill>
              </a:rPr>
              <a:t>6</a:t>
            </a:r>
            <a:endParaRPr lang="ko-KR" altLang="en-US" sz="1600" b="1">
              <a:solidFill>
                <a:srgbClr val="FFE66D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D798E-C360-44F2-B247-28AF0BE8774A}"/>
              </a:ext>
            </a:extLst>
          </p:cNvPr>
          <p:cNvSpPr txBox="1"/>
          <p:nvPr/>
        </p:nvSpPr>
        <p:spPr>
          <a:xfrm>
            <a:off x="1651000" y="45974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Unclosed brackets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DE5D966-53A5-45BD-A64B-51DA31B6AC3D}"/>
              </a:ext>
            </a:extLst>
          </p:cNvPr>
          <p:cNvSpPr/>
          <p:nvPr/>
        </p:nvSpPr>
        <p:spPr>
          <a:xfrm>
            <a:off x="1016000" y="5232400"/>
            <a:ext cx="457200" cy="457200"/>
          </a:xfrm>
          <a:prstGeom prst="ellipse">
            <a:avLst/>
          </a:prstGeom>
          <a:solidFill>
            <a:srgbClr val="FF6B6B"/>
          </a:solidFill>
          <a:ln w="1905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0F1923"/>
                </a:solidFill>
              </a:rPr>
              <a:t>7</a:t>
            </a:r>
            <a:endParaRPr lang="ko-KR" altLang="en-US" sz="1600" b="1">
              <a:solidFill>
                <a:srgbClr val="0F192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15FD1-C710-4A3C-B324-ECF1FD1519F3}"/>
              </a:ext>
            </a:extLst>
          </p:cNvPr>
          <p:cNvSpPr txBox="1"/>
          <p:nvPr/>
        </p:nvSpPr>
        <p:spPr>
          <a:xfrm>
            <a:off x="1651000" y="52578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6B6B"/>
                </a:solidFill>
                <a:latin typeface="Segoe UI"/>
                <a:cs typeface="Segoe UI"/>
              </a:rPr>
              <a:t>Double JSON.stringify on anyOf/payment field</a:t>
            </a:r>
            <a:endParaRPr lang="ko-KR" altLang="en-US" sz="2000" b="1">
              <a:solidFill>
                <a:srgbClr val="FF6B6B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8FB69-341A-40FF-94C7-EF62161F340C}"/>
              </a:ext>
            </a:extLst>
          </p:cNvPr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FF6B6B"/>
                </a:solidFill>
              </a:rPr>
              <a:t>Problem #7 makes success rate 0% — 100% consistent on every anyOf field</a:t>
            </a:r>
            <a:endParaRPr lang="ko-KR" altLang="en-US" b="1">
              <a:solidFill>
                <a:srgbClr val="FF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811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DA13C-3A5C-413B-AA80-3ADDC704A27E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The Double JSON.stringify Issue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1DFAE-52BD-4A27-954E-9E165AB6BF00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8F962-7D39-4902-AEF3-14FE45A26AC6}"/>
              </a:ext>
            </a:extLst>
          </p:cNvPr>
          <p:cNvSpPr txBox="1"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E66D"/>
                </a:solidFill>
              </a:rPr>
              <a:t>Triggered by: anyOf / oneOf union types (e.g., IPayment)</a:t>
            </a:r>
            <a:endParaRPr lang="ko-KR" altLang="en-US" sz="2000" b="1">
              <a:solidFill>
                <a:srgbClr val="FFE66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8236E-8CD1-4CD0-9F43-5D1B062CCDBC}"/>
              </a:ext>
            </a:extLst>
          </p:cNvPr>
          <p:cNvSpPr txBox="1"/>
          <p:nvPr/>
        </p:nvSpPr>
        <p:spPr>
          <a:xfrm>
            <a:off x="762000" y="1778000"/>
            <a:ext cx="1066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When the schema uses anyOf (discriminated union),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LLMs serialize the object to a JSON string inside a JSON string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Expected: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"type"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"card"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"cardNumber"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"1234"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FF6B6B"/>
                </a:solidFill>
                <a:latin typeface="Consolas"/>
              </a:rPr>
              <a:t>// Actual (what the LLM returns):</a:t>
            </a:r>
          </a:p>
          <a:p>
            <a:pPr algn="l"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"{\"type\":\"card\",\"cardNumber\":\"1234\"}"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4F8DD68-FA6B-4B30-930C-D98A6EFD52C3}"/>
              </a:ext>
            </a:extLst>
          </p:cNvPr>
          <p:cNvSpPr/>
          <p:nvPr/>
        </p:nvSpPr>
        <p:spPr>
          <a:xfrm>
            <a:off x="762000" y="3683000"/>
            <a:ext cx="10668000" cy="1016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FF6B6B"/>
                </a:solidFill>
              </a:rPr>
              <a:t>NOT a Qwen-only problem
Anthropic models: same issue with oneOf
Every model family has its union-type blind spot</a:t>
            </a:r>
            <a:endParaRPr lang="ko-KR" altLang="en-US" sz="1900" b="1">
              <a:solidFill>
                <a:srgbClr val="FF6B6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1ABB-9D81-4C9C-95C2-2096BB9B7851}"/>
              </a:ext>
            </a:extLst>
          </p:cNvPr>
          <p:cNvSpPr txBox="1"/>
          <p:nvPr/>
        </p:nvSpPr>
        <p:spPr>
          <a:xfrm>
            <a:off x="762000" y="5080000"/>
            <a:ext cx="10668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Solution: Typia's parse() handles this at the infrastructure level
using schema information — no model changes needed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955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717928-4D0B-4CD0-8A63-3129493DCDDE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Four Models, All at 100%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836917-FDF8-4A9D-8182-0BCCDCF450D1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085262D-B9B8-4086-A4A9-E92B73B3064D}"/>
              </a:ext>
            </a:extLst>
          </p:cNvPr>
          <p:cNvGraphicFramePr>
            <a:graphicFrameLocks noGrp="1"/>
          </p:cNvGraphicFramePr>
          <p:nvPr/>
        </p:nvGraphicFramePr>
        <p:xfrm>
          <a:off x="1270000" y="1524000"/>
          <a:ext cx="9651999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2094662914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551783653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319091086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Model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Active Params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F1923"/>
                          </a:solidFill>
                          <a:latin typeface="Segoe UI Semibold"/>
                          <a:cs typeface="Segoe UI Semibold"/>
                        </a:rPr>
                        <a:t>Compilation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542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Consolas"/>
                        </a:rPr>
                        <a:t>qwen3-coder-next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0D4AA"/>
                          </a:solidFill>
                          <a:latin typeface="Segoe UI"/>
                          <a:cs typeface="Segoe UI"/>
                        </a:rPr>
                        <a:t>100% ✓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75199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Consolas"/>
                        </a:rPr>
                        <a:t>qwen3.5-397b-a17b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17B / 397B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0D4AA"/>
                          </a:solidFill>
                          <a:latin typeface="Segoe UI"/>
                          <a:cs typeface="Segoe UI"/>
                        </a:rPr>
                        <a:t>100% ✓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6418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Consolas"/>
                        </a:rPr>
                        <a:t>qwen3.5-122b-a10b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10B / 122B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0D4AA"/>
                          </a:solidFill>
                          <a:latin typeface="Segoe UI"/>
                          <a:cs typeface="Segoe UI"/>
                        </a:rPr>
                        <a:t>100% ✓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82057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Consolas"/>
                        </a:rPr>
                        <a:t>qwen3.5-35b-a3b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3B / 35B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00D4AA"/>
                          </a:solidFill>
                          <a:latin typeface="Segoe UI"/>
                          <a:cs typeface="Segoe UI"/>
                        </a:rPr>
                        <a:t>100% ✓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450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B18BB1-96BA-47B8-B117-B8BAB15F3C1E}"/>
              </a:ext>
            </a:extLst>
          </p:cNvPr>
          <p:cNvSpPr txBox="1"/>
          <p:nvPr/>
        </p:nvSpPr>
        <p:spPr>
          <a:xfrm>
            <a:off x="1270000" y="4699000"/>
            <a:ext cx="965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A0A0A0"/>
                </a:solidFill>
              </a:rPr>
              <a:t>From 397B down to 35B — even 3B active params
generates a complete shopping mall backend</a:t>
            </a:r>
            <a:endParaRPr lang="ko-KR" altLang="en-US" sz="2000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98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D6D71-24A3-401B-9274-E6B79849A4D7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FFE66D"/>
                </a:solidFill>
                <a:latin typeface="Segoe UI Semibold"/>
                <a:cs typeface="Segoe UI Semibold"/>
              </a:rPr>
              <a:t>It Runs Without System Prompts</a:t>
            </a:r>
            <a:endParaRPr lang="ko-KR" altLang="en-US" sz="3600" b="1">
              <a:solidFill>
                <a:srgbClr val="FFE66D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42672-22C1-42CD-B1AF-61C13DAE20C8}"/>
              </a:ext>
            </a:extLst>
          </p:cNvPr>
          <p:cNvSpPr txBox="1"/>
          <p:nvPr/>
        </p:nvSpPr>
        <p:spPr>
          <a:xfrm>
            <a:off x="1270000" y="1778000"/>
            <a:ext cx="965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>
                <a:solidFill>
                  <a:srgbClr val="D0D0D0"/>
                </a:solidFill>
              </a:rPr>
              <a:t>We shipped a build where the system prompt
was completely missing.
Nobody noticed.
Output quality was identical.</a:t>
            </a:r>
            <a:endParaRPr lang="ko-KR" altLang="en-US" sz="2400">
              <a:solidFill>
                <a:srgbClr val="D0D0D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D5A997-DA7D-4649-A9BA-CAB112D0452E}"/>
              </a:ext>
            </a:extLst>
          </p:cNvPr>
          <p:cNvSpPr/>
          <p:nvPr/>
        </p:nvSpPr>
        <p:spPr>
          <a:xfrm>
            <a:off x="1524000" y="4064000"/>
            <a:ext cx="9144000" cy="1143000"/>
          </a:xfrm>
          <a:prstGeom prst="roundRect">
            <a:avLst/>
          </a:prstGeom>
          <a:solidFill>
            <a:srgbClr val="1A2733"/>
          </a:solidFill>
          <a:ln w="381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FFE66D"/>
                </a:solidFill>
              </a:rPr>
              <a:t>The types were the best prompt,
and validation feedback was the best orchestration.</a:t>
            </a:r>
            <a:endParaRPr lang="ko-KR" altLang="en-US" sz="2400" b="1">
              <a:solidFill>
                <a:srgbClr val="FFE6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273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A6171B-DF5F-4726-8C73-ADF63BF09106}"/>
              </a:ext>
            </a:extLst>
          </p:cNvPr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/>
              <a:t>Chapter 2</a:t>
            </a:r>
            <a:endParaRPr lang="ko-KR" altLang="en-US" sz="2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2E54F-2D1C-4246-88ED-F202164BF0ED}"/>
              </a:ext>
            </a:extLst>
          </p:cNvPr>
          <p:cNvSpPr txBox="1"/>
          <p:nvPr/>
        </p:nvSpPr>
        <p:spPr>
          <a:xfrm>
            <a:off x="762000" y="2413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6000" b="1">
                <a:solidFill>
                  <a:srgbClr val="4ECDC4"/>
                </a:solidFill>
                <a:latin typeface="Segoe UI Semibold"/>
                <a:cs typeface="Segoe UI Semibold"/>
              </a:rPr>
              <a:t>Typia</a:t>
            </a:r>
            <a:endParaRPr lang="ko-KR" altLang="en-US" sz="60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6363DE-F726-4BE9-BA60-14D90D46A220}"/>
              </a:ext>
            </a:extLst>
          </p:cNvPr>
          <p:cNvSpPr/>
          <p:nvPr/>
        </p:nvSpPr>
        <p:spPr>
          <a:xfrm>
            <a:off x="4826000" y="3530600"/>
            <a:ext cx="2540000" cy="38100"/>
          </a:xfrm>
          <a:prstGeom prst="rect">
            <a:avLst/>
          </a:prstGeom>
          <a:solidFill>
            <a:srgbClr val="4EC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FBA82-6614-41B8-B4F7-D6D5504BF062}"/>
              </a:ext>
            </a:extLst>
          </p:cNvPr>
          <p:cNvSpPr txBox="1"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>
                <a:solidFill>
                  <a:srgbClr val="D0D0D0"/>
                </a:solidFill>
              </a:rPr>
              <a:t>The Infrastructure Behind All of This</a:t>
            </a:r>
            <a:endParaRPr lang="ko-KR" altLang="en-US" sz="2400">
              <a:solidFill>
                <a:srgbClr val="D0D0D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6A794-AD8C-4002-8689-8148FABE0746}"/>
              </a:ext>
            </a:extLst>
          </p:cNvPr>
          <p:cNvSpPr txBox="1"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707070"/>
                </a:solidFill>
              </a:rPr>
              <a:t>Schema generation  ·  Lenient parsing  ·  Type coercion  ·  Validation feedback</a:t>
            </a:r>
            <a:endParaRPr lang="ko-KR" altLang="en-US">
              <a:solidFill>
                <a:srgbClr val="7070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649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59BDB-7C85-4CA3-BAD9-DC0E0FC588A8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What is Typia?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DCF924-5750-444E-B7B4-F4CDF877BDE3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323BB-94D1-400A-B0E2-3BEE55FAC52D}"/>
              </a:ext>
            </a:extLst>
          </p:cNvPr>
          <p:cNvSpPr txBox="1"/>
          <p:nvPr/>
        </p:nvSpPr>
        <p:spPr>
          <a:xfrm>
            <a:off x="1016000" y="1397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E66D"/>
                </a:solidFill>
              </a:rPr>
              <a:t>→  20,000x faster than class-validator</a:t>
            </a:r>
            <a:endParaRPr lang="ko-KR" altLang="en-US" sz="2200" b="1">
              <a:solidFill>
                <a:srgbClr val="FFE66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C6D7B-F4DC-40D6-AE73-2304C610F3BE}"/>
              </a:ext>
            </a:extLst>
          </p:cNvPr>
          <p:cNvSpPr txBox="1"/>
          <p:nvPr/>
        </p:nvSpPr>
        <p:spPr>
          <a:xfrm>
            <a:off x="1016000" y="20955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4ECDC4"/>
                </a:solidFill>
              </a:rPr>
              <a:t>→  One line of code — no extra schemas</a:t>
            </a:r>
            <a:endParaRPr lang="ko-KR" altLang="en-US" sz="2200" b="1">
              <a:solidFill>
                <a:srgbClr val="4ECDC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C84FD-BAEE-4073-8D13-8D75BA78506F}"/>
              </a:ext>
            </a:extLst>
          </p:cNvPr>
          <p:cNvSpPr txBox="1"/>
          <p:nvPr/>
        </p:nvSpPr>
        <p:spPr>
          <a:xfrm>
            <a:off x="1016000" y="2794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60A5FA"/>
                </a:solidFill>
              </a:rPr>
              <a:t>→  Analyzes TypeScript types via the compiler</a:t>
            </a:r>
            <a:endParaRPr lang="ko-KR" altLang="en-US" sz="2200" b="1">
              <a:solidFill>
                <a:srgbClr val="60A5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405CF-5DD9-41CC-A4C9-AB29A4A7C2F6}"/>
              </a:ext>
            </a:extLst>
          </p:cNvPr>
          <p:cNvSpPr txBox="1"/>
          <p:nvPr/>
        </p:nvSpPr>
        <p:spPr>
          <a:xfrm>
            <a:off x="1016000" y="34925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A78BFA"/>
                </a:solidFill>
              </a:rPr>
              <a:t>→  Generates optimal validation code (AOT)</a:t>
            </a:r>
            <a:endParaRPr lang="ko-KR" altLang="en-US" sz="2200" b="1">
              <a:solidFill>
                <a:srgbClr val="A78B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00C15-07FF-4919-8197-85C717189604}"/>
              </a:ext>
            </a:extLst>
          </p:cNvPr>
          <p:cNvSpPr txBox="1"/>
          <p:nvPr/>
        </p:nvSpPr>
        <p:spPr>
          <a:xfrm>
            <a:off x="1270000" y="45720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>
                <a:solidFill>
                  <a:srgbClr val="F0F0F0"/>
                </a:solidFill>
                <a:latin typeface="Consolas"/>
              </a:rPr>
              <a:t>typia.validate&lt;T&gt;(input)  — that's it</a:t>
            </a:r>
            <a:endParaRPr lang="ko-KR" altLang="en-US" sz="2400">
              <a:solidFill>
                <a:srgbClr val="F0F0F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03273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36053-A24F-403C-BC41-C3A39E26C3F0}"/>
              </a:ext>
            </a:extLst>
          </p:cNvPr>
          <p:cNvSpPr txBox="1"/>
          <p:nvPr/>
        </p:nvSpPr>
        <p:spPr>
          <a:xfrm>
            <a:off x="762000" y="190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4ECDC4"/>
                </a:solidFill>
                <a:latin typeface="Segoe UI Semibold"/>
                <a:cs typeface="Segoe UI Semibold"/>
              </a:rPr>
              <a:t>Typia's Core: TS → JS Transform</a:t>
            </a:r>
            <a:endParaRPr lang="ko-KR" altLang="en-US" sz="28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5B2F495-30A1-4484-B2D6-9D60E5DF88B7}"/>
              </a:ext>
            </a:extLst>
          </p:cNvPr>
          <p:cNvSpPr/>
          <p:nvPr/>
        </p:nvSpPr>
        <p:spPr>
          <a:xfrm>
            <a:off x="381000" y="863600"/>
            <a:ext cx="5588000" cy="5461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ECDC4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Your TypeScript Code</a:t>
            </a:r>
          </a:p>
          <a:p>
            <a:pPr algn="l">
              <a:buNone/>
            </a:pPr>
            <a:endParaRPr lang="en-US" sz="600" dirty="0">
              <a:latin typeface="Consolas"/>
            </a:endParaRPr>
          </a:p>
          <a:p>
            <a:pPr algn="l">
              <a:buNone/>
            </a:pPr>
            <a:r>
              <a:rPr lang="en-US" sz="1400" b="1" dirty="0">
                <a:solidFill>
                  <a:srgbClr val="C586C0"/>
                </a:solidFill>
                <a:latin typeface="Consolas"/>
              </a:rPr>
              <a:t>import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typia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tags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from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"typia"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endParaRPr lang="en-US" sz="600" dirty="0">
              <a:latin typeface="Consolas"/>
            </a:endParaRPr>
          </a:p>
          <a:p>
            <a:pPr algn="l"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IMember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tags.Format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"uuid"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tags.Format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number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"uint32"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 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tags.ExclusiveMinimum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19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 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tags.Maximum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buNone/>
            </a:pPr>
            <a:endParaRPr lang="en-US" sz="6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just one line, with pure TypeScript type</a:t>
            </a:r>
          </a:p>
          <a:p>
            <a:pPr algn="l"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check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boolean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typia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is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IMember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C54685-FA85-48D8-8EA1-515BE465861F}"/>
              </a:ext>
            </a:extLst>
          </p:cNvPr>
          <p:cNvSpPr/>
          <p:nvPr/>
        </p:nvSpPr>
        <p:spPr>
          <a:xfrm>
            <a:off x="6223000" y="863600"/>
            <a:ext cx="5842000" cy="5461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ECB71"/>
                </a:solidFill>
                <a:latin typeface="Consolas"/>
              </a:rPr>
              <a:t>OUTPUT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Compiled Output</a:t>
            </a:r>
          </a:p>
          <a:p>
            <a:pPr algn="l">
              <a:buNone/>
            </a:pPr>
            <a:endParaRPr lang="en-US" sz="6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compiled JavaScript — no schema overhead</a:t>
            </a:r>
          </a:p>
          <a:p>
            <a:pPr algn="l"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check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((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=&gt;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return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"object"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typeof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!==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typeof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/^[0-9a-f]{8}-[0-9a-f]{4}-[1-5].*$/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test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typeof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/^[a-z0-9._%+-]+@[a-z0-9.-]+\.[a-z]{2,}$/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test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email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"number"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===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typeof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Number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isInteger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19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&amp;&amp;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})(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input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C871EDA0-70DD-4532-8377-9F83A2F9F144}"/>
              </a:ext>
            </a:extLst>
          </p:cNvPr>
          <p:cNvSpPr/>
          <p:nvPr/>
        </p:nvSpPr>
        <p:spPr>
          <a:xfrm>
            <a:off x="5969000" y="3479800"/>
            <a:ext cx="254000" cy="228600"/>
          </a:xfrm>
          <a:prstGeom prst="rightArrow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7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7741D5-F76D-45FC-B2CE-2BC9B7FD7560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60A5FA"/>
                </a:solidFill>
                <a:latin typeface="Segoe UI Semibold"/>
                <a:cs typeface="Segoe UI Semibold"/>
              </a:rPr>
              <a:t>Quick Primer: Compilers &amp; ASTs</a:t>
            </a:r>
            <a:endParaRPr lang="ko-KR" altLang="en-US" sz="3200" b="1">
              <a:solidFill>
                <a:srgbClr val="60A5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FDE76D-3E04-473F-833C-3CF0A1CF9D58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60A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535E1-B211-4F5C-9E54-66DCB1C0F074}"/>
              </a:ext>
            </a:extLst>
          </p:cNvPr>
          <p:cNvSpPr txBox="1"/>
          <p:nvPr/>
        </p:nvSpPr>
        <p:spPr>
          <a:xfrm>
            <a:off x="762000" y="1270000"/>
            <a:ext cx="254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60A5FA"/>
                </a:solidFill>
              </a:rPr>
              <a:t>Compiler</a:t>
            </a:r>
            <a:endParaRPr lang="ko-KR" altLang="en-US" sz="2200" b="1">
              <a:solidFill>
                <a:srgbClr val="60A5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3AE73-CF9C-4184-848B-161E65EC6217}"/>
              </a:ext>
            </a:extLst>
          </p:cNvPr>
          <p:cNvSpPr txBox="1"/>
          <p:nvPr/>
        </p:nvSpPr>
        <p:spPr>
          <a:xfrm>
            <a:off x="762000" y="1714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Transforms code: TypeScript → JavaScript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17592-4BA3-407D-937B-18BF47EC5E74}"/>
              </a:ext>
            </a:extLst>
          </p:cNvPr>
          <p:cNvSpPr txBox="1"/>
          <p:nvPr/>
        </p:nvSpPr>
        <p:spPr>
          <a:xfrm>
            <a:off x="762000" y="2794000"/>
            <a:ext cx="254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60A5FA"/>
                </a:solidFill>
              </a:rPr>
              <a:t>AST</a:t>
            </a:r>
            <a:endParaRPr lang="ko-KR" altLang="en-US" sz="2200" b="1">
              <a:solidFill>
                <a:srgbClr val="60A5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EF3F7-29F6-47F1-8BA5-CFFCDBEBBCF9}"/>
              </a:ext>
            </a:extLst>
          </p:cNvPr>
          <p:cNvSpPr txBox="1"/>
          <p:nvPr/>
        </p:nvSpPr>
        <p:spPr>
          <a:xfrm>
            <a:off x="762000" y="3238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Abstract Syntax Tree — structured tree of your code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61316-FE06-4EDB-AA7E-E0F657309BC8}"/>
              </a:ext>
            </a:extLst>
          </p:cNvPr>
          <p:cNvSpPr txBox="1"/>
          <p:nvPr/>
        </p:nvSpPr>
        <p:spPr>
          <a:xfrm>
            <a:off x="762000" y="4318000"/>
            <a:ext cx="254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60A5FA"/>
                </a:solidFill>
              </a:rPr>
              <a:t>Typia's trick</a:t>
            </a:r>
            <a:endParaRPr lang="ko-KR" altLang="en-US" sz="2200" b="1">
              <a:solidFill>
                <a:srgbClr val="60A5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05AAD-7006-435D-89F7-6BF64226AB6F}"/>
              </a:ext>
            </a:extLst>
          </p:cNvPr>
          <p:cNvSpPr txBox="1"/>
          <p:nvPr/>
        </p:nvSpPr>
        <p:spPr>
          <a:xfrm>
            <a:off x="762000" y="4762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Hooks into TS compiler, reads types from AST,
generates validation code automatically</a:t>
            </a:r>
            <a:endParaRPr lang="ko-KR" altLang="en-US" sz="20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290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39BBF-487B-4046-AE36-D79F5A55A675}"/>
              </a:ext>
            </a:extLst>
          </p:cNvPr>
          <p:cNvSpPr txBox="1"/>
          <p:nvPr/>
        </p:nvSpPr>
        <p:spPr>
          <a:xfrm>
            <a:off x="762000" y="3175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4ECDC4"/>
                </a:solidFill>
              </a:rPr>
              <a:t>Type → Schema: Automatic Generation</a:t>
            </a:r>
            <a:endParaRPr lang="ko-KR" altLang="en-US" sz="2800" b="1">
              <a:solidFill>
                <a:srgbClr val="4ECD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50EAC-5133-4801-9271-491E62250DAF}"/>
              </a:ext>
            </a:extLst>
          </p:cNvPr>
          <p:cNvSpPr txBox="1"/>
          <p:nvPr/>
        </p:nvSpPr>
        <p:spPr>
          <a:xfrm>
            <a:off x="762000" y="787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typia.llm.parameters&lt;IMember&gt;()  generates JSON Schema at compile time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860" name="TSInput"/>
          <p:cNvSpPr/>
          <p:nvPr/>
        </p:nvSpPr>
        <p:spPr>
          <a:xfrm>
            <a:off x="190500" y="1143000"/>
            <a:ext cx="5842000" cy="49276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4ECDC4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ECDC4"/>
                </a:solidFill>
                <a:latin typeface="Segoe UI Semibold"/>
              </a:rPr>
              <a:t>TypeScript type (input)</a:t>
            </a:r>
          </a:p>
          <a:p>
            <a:pPr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586C0"/>
                </a:solidFill>
                <a:latin typeface="Consolas"/>
              </a:rPr>
              <a:t>import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typia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tags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 </a:t>
            </a:r>
            <a:r>
              <a:rPr lang="en-US" sz="1400" b="1" dirty="0">
                <a:solidFill>
                  <a:srgbClr val="C586C0"/>
                </a:solidFill>
                <a:latin typeface="Consolas"/>
              </a:rPr>
              <a:t>from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"typia"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900"/>
              </a:lnSpc>
              <a:buNone/>
            </a:pPr>
            <a:endParaRPr lang="en-US" sz="400" dirty="0">
              <a:latin typeface="Consolas"/>
            </a:endParaRPr>
          </a:p>
          <a:p>
            <a:pPr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IMember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/**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* The member's age.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*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* Only adults aged 19 or older can register.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* This is the platform's legal age restriction.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*/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number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"uint32"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tags.ExclusiveMinimum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18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email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tags.Format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name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tags.MinLength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tags.MaxLength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900"/>
              </a:lnSpc>
              <a:buNone/>
            </a:pPr>
            <a:endParaRPr lang="en-US" sz="400" dirty="0">
              <a:latin typeface="Consolas"/>
            </a:endParaRPr>
          </a:p>
          <a:p>
            <a:pPr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schema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typia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llm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parameters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IMember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&gt;();</a:t>
            </a:r>
          </a:p>
        </p:txBody>
      </p:sp>
      <p:sp>
        <p:nvSpPr>
          <p:cNvPr id="861" name="SchemaOutput"/>
          <p:cNvSpPr/>
          <p:nvPr/>
        </p:nvSpPr>
        <p:spPr>
          <a:xfrm>
            <a:off x="6223000" y="1143000"/>
            <a:ext cx="5842000" cy="4927600"/>
          </a:xfrm>
          <a:prstGeom prst="roundRect">
            <a:avLst>
              <a:gd name="adj" fmla="val 16000"/>
            </a:avLst>
          </a:prstGeom>
          <a:solidFill>
            <a:srgbClr val="1E1E2E"/>
          </a:solidFill>
          <a:ln>
            <a:solidFill>
              <a:srgbClr val="FFE66D"/>
            </a:solidFill>
          </a:ln>
        </p:spPr>
        <p:txBody>
          <a:bodyPr wrap="square" lIns="137160" tIns="91440" rIns="91440" bIns="9144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E66D"/>
                </a:solidFill>
                <a:latin typeface="Segoe UI Semibold"/>
              </a:rPr>
              <a:t>Generated JSON Schema (output)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"object"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properties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"integer"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description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"The member's age.\n\</a:t>
            </a:r>
            <a:r>
              <a:rPr lang="en-US" sz="1400" dirty="0" err="1">
                <a:solidFill>
                  <a:srgbClr val="CE9178"/>
                </a:solidFill>
                <a:latin typeface="Consolas"/>
              </a:rPr>
              <a:t>nOnly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 adults aged 19 or older can register. This is the platform's legal age restriction."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exclusiveMinimum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18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email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format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name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minLength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maxLength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},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required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[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"age"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"name"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62" name="Arrow22"/>
          <p:cNvSpPr/>
          <p:nvPr/>
        </p:nvSpPr>
        <p:spPr>
          <a:xfrm>
            <a:off x="6057900" y="3175000"/>
            <a:ext cx="177800" cy="228600"/>
          </a:xfrm>
          <a:prstGeom prst="rightArrow">
            <a:avLst/>
          </a:prstGeom>
          <a:solidFill>
            <a:srgbClr val="4ECD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40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860BF-1BA0-4DF3-8B32-F79EE97D4A55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JSDoc → LLM Description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273B70-068E-4808-9A6F-4E566BA6AD87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3EF568-0F74-475E-9E48-48A014CA23C8}"/>
              </a:ext>
            </a:extLst>
          </p:cNvPr>
          <p:cNvSpPr/>
          <p:nvPr/>
        </p:nvSpPr>
        <p:spPr>
          <a:xfrm>
            <a:off x="762000" y="1397000"/>
            <a:ext cx="5207000" cy="1651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JSDoc Comments
→ description fields
LLM reads these to decide
what values to generate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6B5BCB-A5E3-482E-BEAE-A0BED6A57A59}"/>
              </a:ext>
            </a:extLst>
          </p:cNvPr>
          <p:cNvSpPr/>
          <p:nvPr/>
        </p:nvSpPr>
        <p:spPr>
          <a:xfrm>
            <a:off x="6223000" y="1397000"/>
            <a:ext cx="5207000" cy="1651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Type Constraints
→ validation rules
ExclusiveMinimum&lt;18&gt;
becomes "&gt; 18" schema rule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DB3A8E3-EB03-4C54-B722-CD9B2E2BDA80}"/>
              </a:ext>
            </a:extLst>
          </p:cNvPr>
          <p:cNvSpPr/>
          <p:nvPr/>
        </p:nvSpPr>
        <p:spPr>
          <a:xfrm>
            <a:off x="1524000" y="3429000"/>
            <a:ext cx="9144000" cy="698500"/>
          </a:xfrm>
          <a:prstGeom prst="round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One type = LLM guidance + validation rules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374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49EBC-C733-451A-965E-DB5105DAA12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4ECDC4"/>
                </a:solidFill>
              </a:rPr>
              <a:t>Traditional vs. Typia</a:t>
            </a:r>
            <a:endParaRPr lang="ko-KR" altLang="en-US" sz="3600" b="1">
              <a:solidFill>
                <a:srgbClr val="4ECDC4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4A7C78-E8BB-46B7-8EF4-A9E715F267BF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270000"/>
          <a:ext cx="10668000" cy="355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44373281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7079463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958342438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Traditional</a:t>
                      </a:r>
                    </a:p>
                  </a:txBody>
                  <a:tcPr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Typia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81142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Define type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B0B0B0"/>
                          </a:solidFill>
                        </a:rPr>
                        <a:t>Write TS type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0D4AA"/>
                          </a:solidFill>
                        </a:rPr>
                        <a:t>Write TS type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372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Create schema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B0B0B0"/>
                          </a:solidFill>
                        </a:rPr>
                        <a:t>Write JSON Schema by hand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0D4AA"/>
                          </a:solidFill>
                        </a:rPr>
                        <a:t>Auto-generated ✓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30818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Keep in sync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B0B0B0"/>
                          </a:solidFill>
                        </a:rPr>
                        <a:t>Manual — drifts over time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0D4AA"/>
                          </a:solidFill>
                        </a:rPr>
                        <a:t>Impossible to drift ✓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41637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B0B0B0"/>
                          </a:solidFill>
                        </a:rPr>
                        <a:t>Write validators manually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0D4AA"/>
                          </a:solidFill>
                        </a:rPr>
                        <a:t>Auto-generated ✓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252301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Error msgs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B0B0B0"/>
                          </a:solidFill>
                        </a:rPr>
                        <a:t>Write error strings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0D4AA"/>
                          </a:solidFill>
                        </a:rPr>
                        <a:t>Auto-generated ✓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65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398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18B7C-6364-4EA2-8632-836BF61C34DA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Lenient JSON Parsing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DC1678-C0C3-4B65-A676-4E23F8663158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FB3E9-CA28-4188-818A-F5813AC9AFCB}"/>
              </a:ext>
            </a:extLst>
          </p:cNvPr>
          <p:cNvSpPr txBox="1"/>
          <p:nvPr/>
        </p:nvSpPr>
        <p:spPr>
          <a:xfrm>
            <a:off x="762000" y="12065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i="1">
                <a:solidFill>
                  <a:srgbClr val="A0A0A0"/>
                </a:solidFill>
              </a:rPr>
              <a:t>LLMs are language models, not JSON generators</a:t>
            </a:r>
            <a:endParaRPr lang="ko-KR" altLang="en-US" i="1">
              <a:solidFill>
                <a:srgbClr val="A0A0A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E8B246-EE58-49B1-949E-3530686B680C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51000"/>
          <a:ext cx="10668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2727353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12035629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67303154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Fix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3443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Unclosed bracket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{"name": "John"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Auto-close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4083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Trailing comma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[1, 2, 3, ]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Ignore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32133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JS comments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{"a": 1 /* ... */}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Strip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58878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Unquoted keys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{name: "John"}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Allow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43044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Incomplete keyword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{"done": tru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→ true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38158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Explanation prefix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Here is your JSON: {...}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Skip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65516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Markdown block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Consolas"/>
                        </a:rPr>
                        <a:t>```json {...} ```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>
                          <a:solidFill>
                            <a:srgbClr val="D0D0D0"/>
                          </a:solidFill>
                          <a:latin typeface="Segoe UI"/>
                          <a:cs typeface="Segoe UI"/>
                        </a:rPr>
                        <a:t>Extract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5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031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7E34B-8162-45C4-9F6E-3EC72EEF7DFE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4ECDC4"/>
                </a:solidFill>
              </a:rPr>
              <a:t>parse() in Action</a:t>
            </a:r>
            <a:endParaRPr lang="ko-KR" altLang="en-US" sz="2800" b="1">
              <a:solidFill>
                <a:srgbClr val="4ECD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774CE-D031-4D5B-9AFD-AEABF1B8931C}"/>
              </a:ext>
            </a:extLst>
          </p:cNvPr>
          <p:cNvSpPr txBox="1"/>
          <p:nvPr/>
        </p:nvSpPr>
        <p:spPr>
          <a:xfrm>
            <a:off x="762000" y="889000"/>
            <a:ext cx="762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8 problems at once — all handled by a single call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EBD4B86-5781-4D2E-B5CA-85D9DD15689C}"/>
              </a:ext>
            </a:extLst>
          </p:cNvPr>
          <p:cNvSpPr/>
          <p:nvPr/>
        </p:nvSpPr>
        <p:spPr>
          <a:xfrm>
            <a:off x="762000" y="1397000"/>
            <a:ext cx="10668000" cy="4826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llmOutput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`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&gt; I'd be happy to help you with your order!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\`\`\`json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{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"order": {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"payment":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"{\"type\":\"card\",\"cardNumber\":\"1234-5678",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"product": {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name: "Laptop", price: "1299.99",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quantity: 2,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},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"customer": {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"name": "John Doe",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"email": "john@example.com",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 vip: tru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\`\`\` `;</a:t>
            </a:r>
          </a:p>
          <a:p>
            <a:pPr algn="l">
              <a:lnSpc>
                <a:spcPts val="900"/>
              </a:lnSpc>
              <a:buNone/>
            </a:pPr>
            <a:endParaRPr lang="en-US" sz="400" dirty="0">
              <a:latin typeface="Consolas"/>
            </a:endParaRPr>
          </a:p>
          <a:p>
            <a:pPr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func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parse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>
                <a:solidFill>
                  <a:srgbClr val="9CDCFE"/>
                </a:solidFill>
                <a:latin typeface="Consolas"/>
              </a:rPr>
              <a:t>llmOutput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06369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A033C8-0C1A-4BF8-A847-11C2C996EF8E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Schema-Based Type Coercion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104E12-7D93-41E7-B99E-A853E826D624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9DC8F-C304-4BAF-AA9B-1C8ABDE2F8CD}"/>
              </a:ext>
            </a:extLst>
          </p:cNvPr>
          <p:cNvSpPr txBox="1"/>
          <p:nvPr/>
        </p:nvSpPr>
        <p:spPr>
          <a:xfrm>
            <a:off x="762000" y="12065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i="1">
                <a:solidFill>
                  <a:srgbClr val="A0A0A0"/>
                </a:solidFill>
              </a:rPr>
              <a:t>"42" as string or number? Depends on the schema.</a:t>
            </a:r>
            <a:endParaRPr lang="ko-KR" altLang="en-US" i="1">
              <a:solidFill>
                <a:srgbClr val="A0A0A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F2337F0-3627-4D42-8EA4-CE6CFC4583A9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51000"/>
          <a:ext cx="10668000" cy="3175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88995926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115595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89865367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LLM Output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Expected Type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59818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"42"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number / integer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42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531847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"true" / "false"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boolean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true / false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065438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"null"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null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null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71326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"{\"x\": 1}"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object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{ x: 1 }  (recursive)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7154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"[1, 2, 3]"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array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  <a:latin typeface="Consolas"/>
                        </a:rPr>
                        <a:t>[1, 2, 3]  (recursive)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0753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206B50-DC46-4C31-97CA-CD7CC70602B9}"/>
              </a:ext>
            </a:extLst>
          </p:cNvPr>
          <p:cNvSpPr txBox="1"/>
          <p:nvPr/>
        </p:nvSpPr>
        <p:spPr>
          <a:xfrm>
            <a:off x="1270000" y="5207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This is the mechanism behind Qwen 3.5's 0% → 100%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8240BE-D605-481B-8569-5A1871A05F31}"/>
              </a:ext>
            </a:extLst>
          </p:cNvPr>
          <p:cNvSpPr txBox="1"/>
          <p:nvPr/>
        </p:nvSpPr>
        <p:spPr>
          <a:xfrm>
            <a:off x="1270000" y="5715000"/>
            <a:ext cx="9652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x-discriminator identifies the correct variant first,
then applies variant-specific coercion rules</a:t>
            </a:r>
            <a:endParaRPr lang="ko-KR" altLang="en-US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6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35259-608F-4779-8C61-CBAE899AAA62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4ECDC4"/>
                </a:solidFill>
              </a:rPr>
              <a:t>coerce() in Action</a:t>
            </a:r>
            <a:endParaRPr lang="ko-KR" altLang="en-US" sz="2800" b="1">
              <a:solidFill>
                <a:srgbClr val="4ECDC4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100266F-B7E4-493A-8766-7787CC988F99}"/>
              </a:ext>
            </a:extLst>
          </p:cNvPr>
          <p:cNvSpPr/>
          <p:nvPr/>
        </p:nvSpPr>
        <p:spPr>
          <a:xfrm>
            <a:off x="762000" y="1016000"/>
            <a:ext cx="10668000" cy="5207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fromLlm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{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order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payment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'{"type":"card","cardNumber":"1234"}'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product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price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"1299.99"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  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string → number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"2"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     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string → integer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},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customer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vip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"true"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},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string → boolean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},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};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func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coerce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fromLlm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result.order.product.price ===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1299.99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result.order.customer.vip === 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149182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87996-8454-4DE8-885D-D1B4B4210775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Validation &amp; Precise Feedback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E155EF-FBFA-4691-B7DD-DED39715A6EA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ECFB5-ECAF-47DD-80FB-AEB21C36B0A5}"/>
              </a:ext>
            </a:extLst>
          </p:cNvPr>
          <p:cNvSpPr txBox="1"/>
          <p:nvPr/>
        </p:nvSpPr>
        <p:spPr>
          <a:xfrm>
            <a:off x="762000" y="12065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validate() detects schema violations with surgical precision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23F7ADF-8054-4A4E-98B7-1D6A858C583A}"/>
              </a:ext>
            </a:extLst>
          </p:cNvPr>
          <p:cNvSpPr/>
          <p:nvPr/>
        </p:nvSpPr>
        <p:spPr>
          <a:xfrm>
            <a:off x="762000" y="1778000"/>
            <a:ext cx="10668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  <a:latin typeface="Consolas"/>
              </a:rPr>
              <a:t>path: $input.order.product.price
expected: number &amp; Minimum&lt;0&gt;
value: -100</a:t>
            </a:r>
            <a:endParaRPr lang="ko-KR" altLang="en-US">
              <a:solidFill>
                <a:srgbClr val="D0D0D0"/>
              </a:solidFill>
              <a:latin typeface="Consola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6896064-237E-4741-BFA7-28F3B66B7718}"/>
              </a:ext>
            </a:extLst>
          </p:cNvPr>
          <p:cNvSpPr/>
          <p:nvPr/>
        </p:nvSpPr>
        <p:spPr>
          <a:xfrm>
            <a:off x="762000" y="3048000"/>
            <a:ext cx="10668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  <a:latin typeface="Consolas"/>
              </a:rPr>
              <a:t>path: $input.order.product.quantity
expected: number &amp; Type&lt;"uint32"&gt;
value: 2.5</a:t>
            </a:r>
            <a:endParaRPr lang="ko-KR" altLang="en-US">
              <a:solidFill>
                <a:srgbClr val="D0D0D0"/>
              </a:solidFill>
              <a:latin typeface="Consola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27CA95C-8C49-43E6-92B8-10D15729373C}"/>
              </a:ext>
            </a:extLst>
          </p:cNvPr>
          <p:cNvSpPr/>
          <p:nvPr/>
        </p:nvSpPr>
        <p:spPr>
          <a:xfrm>
            <a:off x="762000" y="4318000"/>
            <a:ext cx="10668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  <a:latin typeface="Consolas"/>
              </a:rPr>
              <a:t>path: $input.order.customer.email
expected: string &amp; Format&lt;"email"&gt;
value: invalid-email</a:t>
            </a:r>
            <a:endParaRPr lang="ko-KR" altLang="en-US">
              <a:solidFill>
                <a:srgbClr val="D0D0D0"/>
              </a:solidFill>
              <a:latin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FDCEE-C9DF-4552-A7B1-DEE7EC7D7D19}"/>
              </a:ext>
            </a:extLst>
          </p:cNvPr>
          <p:cNvSpPr txBox="1"/>
          <p:nvPr/>
        </p:nvSpPr>
        <p:spPr>
          <a:xfrm>
            <a:off x="1270000" y="57785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Exact path + expected type + actual value = LLM can self-correct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077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A8871-B18E-48A1-84EE-25B1BDD734E2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600" b="1">
                <a:solidFill>
                  <a:srgbClr val="FF6B6B"/>
                </a:solidFill>
              </a:rPr>
              <a:t>LlmJson.stringify() → // </a:t>
            </a:r>
            <a:r>
              <a:rPr lang="ko-KR" altLang="en-US" sz="2600" b="1">
                <a:solidFill>
                  <a:srgbClr val="FF6B6B"/>
                </a:solidFill>
              </a:rPr>
              <a:t>❌ </a:t>
            </a:r>
            <a:r>
              <a:rPr lang="en-US" altLang="ko-KR" sz="2600" b="1">
                <a:solidFill>
                  <a:srgbClr val="FF6B6B"/>
                </a:solidFill>
              </a:rPr>
              <a:t>Inline Diagnostics</a:t>
            </a:r>
            <a:endParaRPr lang="ko-KR" altLang="en-US" sz="2600" b="1">
              <a:solidFill>
                <a:srgbClr val="FF6B6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D8127-5573-435C-8740-6922065F5D01}"/>
              </a:ext>
            </a:extLst>
          </p:cNvPr>
          <p:cNvSpPr txBox="1"/>
          <p:nvPr/>
        </p:nvSpPr>
        <p:spPr>
          <a:xfrm>
            <a:off x="762000" y="8890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Errors rendered directly on the LLM's original JSON output
The LLM sees exactly where and why it went wrong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0B751-1AF6-4EAE-BD97-3AE81AC357AE}"/>
              </a:ext>
            </a:extLst>
          </p:cNvPr>
          <p:cNvSpPr txBox="1"/>
          <p:nvPr/>
        </p:nvSpPr>
        <p:spPr>
          <a:xfrm>
            <a:off x="762000" y="1397000"/>
            <a:ext cx="10668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The LLM sees its own output with errors pinpointed.
No need to rewrite — just fix the 5 flagged fields and retry.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931CA37-D4FE-43FC-B8B9-D774CC1F8E5D}"/>
              </a:ext>
            </a:extLst>
          </p:cNvPr>
          <p:cNvSpPr/>
          <p:nvPr/>
        </p:nvSpPr>
        <p:spPr>
          <a:xfrm>
            <a:off x="762000" y="2286000"/>
            <a:ext cx="10668000" cy="3810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"cardNumber"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12345678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400" dirty="0">
                <a:solidFill>
                  <a:srgbClr val="FF6B6B"/>
                </a:solidFill>
                <a:latin typeface="Consolas"/>
              </a:rPr>
              <a:t>// ❌ expected: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"string"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"price"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-100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          </a:t>
            </a:r>
            <a:r>
              <a:rPr lang="en-US" sz="1400" dirty="0">
                <a:solidFill>
                  <a:srgbClr val="FF6B6B"/>
                </a:solidFill>
                <a:latin typeface="Consolas"/>
              </a:rPr>
              <a:t>// ❌ expected: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"number &amp; Minimum&lt;0&gt;"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"quantity"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2.5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        </a:t>
            </a:r>
            <a:r>
              <a:rPr lang="en-US" sz="1400" dirty="0">
                <a:solidFill>
                  <a:srgbClr val="FF6B6B"/>
                </a:solidFill>
                <a:latin typeface="Consolas"/>
              </a:rPr>
              <a:t>// ❌ expected: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"number &amp; Type&lt;\"uint32\"&gt;"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"email"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"invalid"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FF6B6B"/>
                </a:solidFill>
                <a:latin typeface="Consolas"/>
              </a:rPr>
              <a:t>// ❌ expected: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"string &amp; Format&lt;\"email\"&gt;"</a:t>
            </a:r>
          </a:p>
          <a:p>
            <a:pPr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"vip"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"yes"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            </a:t>
            </a:r>
            <a:r>
              <a:rPr lang="en-US" sz="1400" dirty="0">
                <a:solidFill>
                  <a:srgbClr val="FF6B6B"/>
                </a:solidFill>
                <a:latin typeface="Consolas"/>
              </a:rPr>
              <a:t>// ❌ expected: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"boolean"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Consolas"/>
              </a:rPr>
              <a:t>5 errors, each with exact path + expected type</a:t>
            </a: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Consolas"/>
              </a:rPr>
              <a:t>→ LLM corrects precisely, no full regeneration</a:t>
            </a:r>
          </a:p>
        </p:txBody>
      </p:sp>
    </p:spTree>
    <p:extLst>
      <p:ext uri="{BB962C8B-B14F-4D97-AF65-F5344CB8AC3E}">
        <p14:creationId xmlns:p14="http://schemas.microsoft.com/office/powerpoint/2010/main" val="1072398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EDADB-35B3-4009-9034-63DCCBC00994}"/>
              </a:ext>
            </a:extLst>
          </p:cNvPr>
          <p:cNvSpPr txBox="1"/>
          <p:nvPr/>
        </p:nvSpPr>
        <p:spPr>
          <a:xfrm>
            <a:off x="508000" y="101600"/>
            <a:ext cx="1117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800" b="1">
                <a:solidFill>
                  <a:srgbClr val="4ECDC4"/>
                </a:solidFill>
                <a:latin typeface="Consolas"/>
              </a:rPr>
              <a:t>The Full Loop: callWithFeedback()</a:t>
            </a:r>
            <a:endParaRPr lang="ko-KR" altLang="en-US" sz="1800" b="1">
              <a:solidFill>
                <a:srgbClr val="4ECDC4"/>
              </a:solidFill>
              <a:latin typeface="Consola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73811D5-E7C6-4963-A0CF-79C32AFB1532}"/>
              </a:ext>
            </a:extLst>
          </p:cNvPr>
          <p:cNvSpPr/>
          <p:nvPr/>
        </p:nvSpPr>
        <p:spPr>
          <a:xfrm>
            <a:off x="304800" y="660400"/>
            <a:ext cx="11582400" cy="5715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async function 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callWithFeedback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llm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func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prompt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maxRetries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let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for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let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maxRetries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 // 1. Request function call from LLM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raw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await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llm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call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prompt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 // 2. Lenient JSON parsing + Type coercion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parsed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func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parse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raw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if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(!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parsed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success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{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parsed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errors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continue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}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 // 3. Schema validation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validated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func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validate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parsed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if 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(!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validated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success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      // 4. Generate // ❌ feedback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feedback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LlmJson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</a:rPr>
              <a:t>stringify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validated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);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continue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Consolas"/>
              </a:rPr>
              <a:t>return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validated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5. Success!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8369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45D06-99E6-4715-97C8-A88F492A55E7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The Complete Engine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FDA62F-1E01-41B1-B0EB-B35D69150C46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109EB1-618F-4FF6-8A30-BE6596596164}"/>
              </a:ext>
            </a:extLst>
          </p:cNvPr>
          <p:cNvSpPr/>
          <p:nvPr/>
        </p:nvSpPr>
        <p:spPr>
          <a:xfrm>
            <a:off x="762000" y="1524000"/>
            <a:ext cx="2159000" cy="1524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parse()
Rescue broken JSON
+ first-pass type fix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7A10C39C-5D43-4103-A21C-10F7F7E79F72}"/>
              </a:ext>
            </a:extLst>
          </p:cNvPr>
          <p:cNvSpPr/>
          <p:nvPr/>
        </p:nvSpPr>
        <p:spPr>
          <a:xfrm>
            <a:off x="2946400" y="2159000"/>
            <a:ext cx="2286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3F89730-40EB-48D2-8A0C-DBC813417B5F}"/>
              </a:ext>
            </a:extLst>
          </p:cNvPr>
          <p:cNvSpPr/>
          <p:nvPr/>
        </p:nvSpPr>
        <p:spPr>
          <a:xfrm>
            <a:off x="3175000" y="1524000"/>
            <a:ext cx="2159000" cy="1524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4ECDC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coerce()
Schema-aware
type conversion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80C864-9B7F-440E-8D90-4956AA2C175D}"/>
              </a:ext>
            </a:extLst>
          </p:cNvPr>
          <p:cNvSpPr/>
          <p:nvPr/>
        </p:nvSpPr>
        <p:spPr>
          <a:xfrm>
            <a:off x="5359400" y="2159000"/>
            <a:ext cx="2286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268A94-08E3-457C-956A-124B0CD9E690}"/>
              </a:ext>
            </a:extLst>
          </p:cNvPr>
          <p:cNvSpPr/>
          <p:nvPr/>
        </p:nvSpPr>
        <p:spPr>
          <a:xfrm>
            <a:off x="5588000" y="1524000"/>
            <a:ext cx="2159000" cy="1524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validate()
Schema violation
detection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50653F6-15C7-4759-BC29-D22903C05E83}"/>
              </a:ext>
            </a:extLst>
          </p:cNvPr>
          <p:cNvSpPr/>
          <p:nvPr/>
        </p:nvSpPr>
        <p:spPr>
          <a:xfrm>
            <a:off x="7772400" y="2159000"/>
            <a:ext cx="228600" cy="228600"/>
          </a:xfrm>
          <a:prstGeom prst="rightArrow">
            <a:avLst/>
          </a:prstGeom>
          <a:solidFill>
            <a:srgbClr val="505050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9524B9-E60E-4148-88D6-5E18BC093234}"/>
              </a:ext>
            </a:extLst>
          </p:cNvPr>
          <p:cNvSpPr/>
          <p:nvPr/>
        </p:nvSpPr>
        <p:spPr>
          <a:xfrm>
            <a:off x="8001000" y="1524000"/>
            <a:ext cx="2159000" cy="1524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stringify()
// </a:t>
            </a:r>
            <a:r>
              <a:rPr lang="ko-KR" altLang="en-US">
                <a:solidFill>
                  <a:srgbClr val="D0D0D0"/>
                </a:solidFill>
              </a:rPr>
              <a:t>❌ </a:t>
            </a:r>
            <a:r>
              <a:rPr lang="en-US" altLang="ko-KR">
                <a:solidFill>
                  <a:srgbClr val="D0D0D0"/>
                </a:solidFill>
              </a:rPr>
              <a:t>inline
annotations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F1C8C-1747-47E9-AE6F-982E5D0FCD0F}"/>
              </a:ext>
            </a:extLst>
          </p:cNvPr>
          <p:cNvSpPr txBox="1"/>
          <p:nvPr/>
        </p:nvSpPr>
        <p:spPr>
          <a:xfrm>
            <a:off x="2540000" y="33020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A0A0A0"/>
                </a:solidFill>
              </a:rPr>
              <a:t>← LLM corrects and retries →</a:t>
            </a:r>
            <a:endParaRPr lang="ko-KR" altLang="en-US" sz="2000">
              <a:solidFill>
                <a:srgbClr val="A0A0A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6008FAF-9300-4BF5-A1F3-D2BACCA917FF}"/>
              </a:ext>
            </a:extLst>
          </p:cNvPr>
          <p:cNvSpPr/>
          <p:nvPr/>
        </p:nvSpPr>
        <p:spPr>
          <a:xfrm>
            <a:off x="1016000" y="3937000"/>
            <a:ext cx="10160000" cy="7620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This is the complete engine that turns 6.75% into 100%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222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AF911-FE3B-4612-B327-20A396CE27B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4ECDC4"/>
                </a:solidFill>
                <a:latin typeface="Segoe UI Semibold"/>
                <a:cs typeface="Segoe UI Semibold"/>
              </a:rPr>
              <a:t>One Type Does It All</a:t>
            </a:r>
            <a:endParaRPr lang="ko-KR" altLang="en-US" sz="3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917A4E-F7A0-482E-BCE7-CAB3CA9C3078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338FD37-1BB8-436D-8618-AD77C73EFD06}"/>
              </a:ext>
            </a:extLst>
          </p:cNvPr>
          <p:cNvSpPr/>
          <p:nvPr/>
        </p:nvSpPr>
        <p:spPr>
          <a:xfrm>
            <a:off x="1016000" y="1270000"/>
            <a:ext cx="508000" cy="508000"/>
          </a:xfrm>
          <a:prstGeom prst="ellipse">
            <a:avLst/>
          </a:prstGeom>
          <a:solidFill>
            <a:srgbClr val="60A5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F1923"/>
                </a:solidFill>
              </a:rPr>
              <a:t>1</a:t>
            </a:r>
            <a:endParaRPr lang="ko-KR" altLang="en-US" b="1">
              <a:solidFill>
                <a:srgbClr val="0F192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AFFE6-E20D-4491-A0FD-A788F89E0702}"/>
              </a:ext>
            </a:extLst>
          </p:cNvPr>
          <p:cNvSpPr txBox="1"/>
          <p:nvPr/>
        </p:nvSpPr>
        <p:spPr>
          <a:xfrm>
            <a:off x="1714500" y="13335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Generates the schema — typia.llm.parameters&lt;T&gt;()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7E8F95E-048C-4412-BB86-ED8C7A6A8C6B}"/>
              </a:ext>
            </a:extLst>
          </p:cNvPr>
          <p:cNvSpPr/>
          <p:nvPr/>
        </p:nvSpPr>
        <p:spPr>
          <a:xfrm>
            <a:off x="1016000" y="2095500"/>
            <a:ext cx="508000" cy="508000"/>
          </a:xfrm>
          <a:prstGeom prst="ellipse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F1923"/>
                </a:solidFill>
              </a:rPr>
              <a:t>2</a:t>
            </a:r>
            <a:endParaRPr lang="ko-KR" altLang="en-US" b="1">
              <a:solidFill>
                <a:srgbClr val="0F192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C799C-CAD5-46D8-8800-547F4AD68427}"/>
              </a:ext>
            </a:extLst>
          </p:cNvPr>
          <p:cNvSpPr txBox="1"/>
          <p:nvPr/>
        </p:nvSpPr>
        <p:spPr>
          <a:xfrm>
            <a:off x="1714500" y="21590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Parses — ILlmFunction.parse()  (broken JSON recovery)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9D1170D-CC6F-4B52-983D-BC447C5C37FC}"/>
              </a:ext>
            </a:extLst>
          </p:cNvPr>
          <p:cNvSpPr/>
          <p:nvPr/>
        </p:nvSpPr>
        <p:spPr>
          <a:xfrm>
            <a:off x="1016000" y="2921000"/>
            <a:ext cx="508000" cy="508000"/>
          </a:xfrm>
          <a:prstGeom prst="ellipse">
            <a:avLst/>
          </a:prstGeom>
          <a:solidFill>
            <a:srgbClr val="A78B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F1923"/>
                </a:solidFill>
              </a:rPr>
              <a:t>3</a:t>
            </a:r>
            <a:endParaRPr lang="ko-KR" altLang="en-US" b="1">
              <a:solidFill>
                <a:srgbClr val="0F192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FD245-B579-4921-9020-1B570C2ED75D}"/>
              </a:ext>
            </a:extLst>
          </p:cNvPr>
          <p:cNvSpPr txBox="1"/>
          <p:nvPr/>
        </p:nvSpPr>
        <p:spPr>
          <a:xfrm>
            <a:off x="1714500" y="29845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ko-KR" sz="2000">
                <a:solidFill>
                  <a:srgbClr val="D0D0D0"/>
                </a:solidFill>
                <a:latin typeface="Segoe UI"/>
                <a:cs typeface="Segoe UI"/>
              </a:rPr>
              <a:t>Coerces — ILlmFunction.coerce()  (type correction)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98C8808-EB8F-4817-88D2-104C8A03223E}"/>
              </a:ext>
            </a:extLst>
          </p:cNvPr>
          <p:cNvSpPr/>
          <p:nvPr/>
        </p:nvSpPr>
        <p:spPr>
          <a:xfrm>
            <a:off x="1016000" y="3746500"/>
            <a:ext cx="508000" cy="508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F1923"/>
                </a:solidFill>
              </a:rPr>
              <a:t>4</a:t>
            </a:r>
            <a:endParaRPr lang="ko-KR" altLang="en-US" b="1">
              <a:solidFill>
                <a:srgbClr val="0F192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43020-4EA9-4BAE-B049-08A77B127E1F}"/>
              </a:ext>
            </a:extLst>
          </p:cNvPr>
          <p:cNvSpPr txBox="1"/>
          <p:nvPr/>
        </p:nvSpPr>
        <p:spPr>
          <a:xfrm>
            <a:off x="1714500" y="38100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Validates — ILlmFunction.validate()  (violation detection)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247F585-C774-420F-901C-F218B3694787}"/>
              </a:ext>
            </a:extLst>
          </p:cNvPr>
          <p:cNvSpPr/>
          <p:nvPr/>
        </p:nvSpPr>
        <p:spPr>
          <a:xfrm>
            <a:off x="1016000" y="4572000"/>
            <a:ext cx="508000" cy="508000"/>
          </a:xfrm>
          <a:prstGeom prst="ellipse">
            <a:avLst/>
          </a:prstGeom>
          <a:solidFill>
            <a:srgbClr val="FFE66D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0F1923"/>
                </a:solidFill>
              </a:rPr>
              <a:t>5</a:t>
            </a:r>
            <a:endParaRPr lang="ko-KR" altLang="en-US" b="1">
              <a:solidFill>
                <a:srgbClr val="0F192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B03F2-3683-4C6B-9BE8-96A987BCF874}"/>
              </a:ext>
            </a:extLst>
          </p:cNvPr>
          <p:cNvSpPr txBox="1"/>
          <p:nvPr/>
        </p:nvSpPr>
        <p:spPr>
          <a:xfrm>
            <a:off x="1714500" y="46355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Feedback — LlmJson.stringify()  (// </a:t>
            </a:r>
            <a:r>
              <a:rPr lang="ko-KR" altLang="en-US" sz="2000">
                <a:solidFill>
                  <a:srgbClr val="D0D0D0"/>
                </a:solidFill>
                <a:latin typeface="Segoe UI"/>
                <a:cs typeface="Segoe UI"/>
              </a:rPr>
              <a:t>❌ </a:t>
            </a:r>
            <a:r>
              <a:rPr lang="en-US" altLang="ko-KR" sz="2000">
                <a:solidFill>
                  <a:srgbClr val="D0D0D0"/>
                </a:solidFill>
                <a:latin typeface="Segoe UI"/>
                <a:cs typeface="Segoe UI"/>
              </a:rPr>
              <a:t>annotations)</a:t>
            </a:r>
            <a:endParaRPr lang="ko-KR" altLang="en-US" sz="2000">
              <a:solidFill>
                <a:srgbClr val="D0D0D0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77246-9D7B-4EA5-9141-2999269B8DD9}"/>
              </a:ext>
            </a:extLst>
          </p:cNvPr>
          <p:cNvSpPr txBox="1"/>
          <p:nvPr/>
        </p:nvSpPr>
        <p:spPr>
          <a:xfrm>
            <a:off x="1270000" y="5588000"/>
            <a:ext cx="965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00D4AA"/>
                </a:solidFill>
              </a:rPr>
              <a:t>Define a single TypeScript type → Typia handles everything else</a:t>
            </a:r>
            <a:endParaRPr lang="ko-KR" altLang="en-US" sz="22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662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AD3EE-6DA6-4E45-80D1-8CABDD4617E1}"/>
              </a:ext>
            </a:extLst>
          </p:cNvPr>
          <p:cNvSpPr txBox="1"/>
          <p:nvPr/>
        </p:nvSpPr>
        <p:spPr>
          <a:xfrm>
            <a:off x="1016000" y="1270000"/>
            <a:ext cx="10160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200" b="1">
                <a:solidFill>
                  <a:srgbClr val="4ECDC4"/>
                </a:solidFill>
                <a:latin typeface="Segoe UI Semibold"/>
                <a:cs typeface="Segoe UI Semibold"/>
              </a:rPr>
              <a:t>"The type is the schema,
the validator,
and the prompt."</a:t>
            </a:r>
            <a:endParaRPr lang="ko-KR" altLang="en-US" sz="4200" b="1">
              <a:solidFill>
                <a:srgbClr val="4ECDC4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2B40C0-1060-4106-9478-4EEC6EAA492A}"/>
              </a:ext>
            </a:extLst>
          </p:cNvPr>
          <p:cNvSpPr/>
          <p:nvPr/>
        </p:nvSpPr>
        <p:spPr>
          <a:xfrm>
            <a:off x="4826000" y="4318000"/>
            <a:ext cx="2540000" cy="381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37BC3-B634-4338-ADEF-E23AB2423928}"/>
              </a:ext>
            </a:extLst>
          </p:cNvPr>
          <p:cNvSpPr txBox="1"/>
          <p:nvPr/>
        </p:nvSpPr>
        <p:spPr>
          <a:xfrm>
            <a:off x="1270000" y="45720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i="1">
                <a:solidFill>
                  <a:srgbClr val="A0A0A0"/>
                </a:solidFill>
              </a:rPr>
              <a:t>— Typia: One type to rule them all</a:t>
            </a:r>
            <a:endParaRPr lang="ko-KR" altLang="en-US" sz="2200" i="1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81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91F80-7C51-49F9-B5B0-0D4AB047B4B4}"/>
              </a:ext>
            </a:extLst>
          </p:cNvPr>
          <p:cNvSpPr txBox="1"/>
          <p:nvPr/>
        </p:nvSpPr>
        <p:spPr>
          <a:xfrm>
            <a:off x="762000" y="16510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/>
              <a:t>Chapter 3</a:t>
            </a:r>
            <a:endParaRPr lang="ko-KR" alt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38C61-65FA-489D-9224-F6157A08B098}"/>
              </a:ext>
            </a:extLst>
          </p:cNvPr>
          <p:cNvSpPr txBox="1"/>
          <p:nvPr/>
        </p:nvSpPr>
        <p:spPr>
          <a:xfrm>
            <a:off x="762000" y="2413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800" b="1">
                <a:solidFill>
                  <a:srgbClr val="60A5FA"/>
                </a:solidFill>
              </a:rPr>
              <a:t>The Case for Function Calling</a:t>
            </a:r>
            <a:endParaRPr lang="ko-KR" altLang="en-US" sz="4800" b="1">
              <a:solidFill>
                <a:srgbClr val="60A5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86310-EDE6-4227-A317-286488BCF875}"/>
              </a:ext>
            </a:extLst>
          </p:cNvPr>
          <p:cNvSpPr txBox="1"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The decisive means of turning probabilistic AI deterministic</a:t>
            </a:r>
            <a:endParaRPr lang="ko-KR" altLang="en-US" sz="2200">
              <a:solidFill>
                <a:srgbClr val="D0D0D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75C588-8692-447A-9EFD-92DC29D95639}"/>
              </a:ext>
            </a:extLst>
          </p:cNvPr>
          <p:cNvSpPr/>
          <p:nvPr/>
        </p:nvSpPr>
        <p:spPr>
          <a:xfrm>
            <a:off x="4826000" y="3581400"/>
            <a:ext cx="2540000" cy="38100"/>
          </a:xfrm>
          <a:prstGeom prst="rect">
            <a:avLst/>
          </a:prstGeom>
          <a:solidFill>
            <a:srgbClr val="60A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401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5DB14-013C-4D58-A6DD-E22942274643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60A5FA"/>
                </a:solidFill>
                <a:latin typeface="Segoe UI Semibold"/>
                <a:cs typeface="Segoe UI Semibold"/>
              </a:rPr>
              <a:t>Natural Language vs. Types</a:t>
            </a:r>
            <a:endParaRPr lang="ko-KR" altLang="en-US" sz="3200" b="1">
              <a:solidFill>
                <a:srgbClr val="60A5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F70477-46B2-4F98-B471-7303E2154D5F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60A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C9D4E29-4987-4559-A140-019DCBE5066E}"/>
              </a:ext>
            </a:extLst>
          </p:cNvPr>
          <p:cNvSpPr/>
          <p:nvPr/>
        </p:nvSpPr>
        <p:spPr>
          <a:xfrm>
            <a:off x="762000" y="1397000"/>
            <a:ext cx="5016500" cy="2286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Natural Language
• Evolved organically
• Ambiguity is a feature
• "Just make it look nice"
• Misunderstanding &amp; arguments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57063DD-1288-4078-8605-7997F8244175}"/>
              </a:ext>
            </a:extLst>
          </p:cNvPr>
          <p:cNvSpPr/>
          <p:nvPr/>
        </p:nvSpPr>
        <p:spPr>
          <a:xfrm>
            <a:off x="6413500" y="1397000"/>
            <a:ext cx="5207000" cy="2286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Types &amp; Schemas
• Intentionally designed
• Ambiguity is a bug
• "age: uint32 &amp; ExMin&lt;18&gt;"
• No misunderstanding possible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A79DB-A2CD-4994-83FC-6A5899F83F3E}"/>
              </a:ext>
            </a:extLst>
          </p:cNvPr>
          <p:cNvSpPr txBox="1"/>
          <p:nvPr/>
        </p:nvSpPr>
        <p:spPr>
          <a:xfrm>
            <a:off x="5803900" y="2286000"/>
            <a:ext cx="584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A0A0A0"/>
                </a:solidFill>
              </a:rPr>
              <a:t>vs.</a:t>
            </a:r>
            <a:endParaRPr lang="ko-KR" altLang="en-US" sz="2000" b="1">
              <a:solidFill>
                <a:srgbClr val="A0A0A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F8FE0F-1419-488B-9D3B-EA8EC58C0F25}"/>
              </a:ext>
            </a:extLst>
          </p:cNvPr>
          <p:cNvSpPr/>
          <p:nvPr/>
        </p:nvSpPr>
        <p:spPr>
          <a:xfrm>
            <a:off x="1270000" y="4064000"/>
            <a:ext cx="9652000" cy="698500"/>
          </a:xfrm>
          <a:prstGeom prst="roundRect">
            <a:avLst/>
          </a:prstGeom>
          <a:solidFill>
            <a:srgbClr val="60A5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</a:rPr>
              <a:t>Types communicate without misunderstanding</a:t>
            </a:r>
            <a:endParaRPr lang="ko-KR" altLang="en-US" sz="2400" b="1">
              <a:solidFill>
                <a:srgbClr val="0F19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88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E144C-3B87-4335-AA43-BF4699C3A738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60A5FA"/>
                </a:solidFill>
              </a:rPr>
              <a:t>Prompt vs. Type: Side-by-Side</a:t>
            </a:r>
            <a:endParaRPr lang="ko-KR" altLang="en-US" sz="2800" b="1">
              <a:solidFill>
                <a:srgbClr val="60A5FA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4E29CBF-F5E8-4E44-9334-472CCFC6F4B4}"/>
              </a:ext>
            </a:extLst>
          </p:cNvPr>
          <p:cNvSpPr/>
          <p:nvPr/>
        </p:nvSpPr>
        <p:spPr>
          <a:xfrm>
            <a:off x="762000" y="1016000"/>
            <a:ext cx="4953000" cy="482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Via Prompt
"The age field must be a
positive integer greater
than 18. Don't use string
types for numeric fields.
All required fields must
be present..."
Problems:
• &gt; 18 or ≥ 18?
• No way to verify
• Rules multiply endlessly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691F9AD-0A25-483A-B356-D1697F12B515}"/>
              </a:ext>
            </a:extLst>
          </p:cNvPr>
          <p:cNvSpPr/>
          <p:nvPr/>
        </p:nvSpPr>
        <p:spPr>
          <a:xfrm>
            <a:off x="6477000" y="1016000"/>
            <a:ext cx="4953000" cy="482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0D4AA"/>
                </a:solidFill>
                <a:latin typeface="Segoe UI Semibold"/>
              </a:rPr>
              <a:t>Via Type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IMember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number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"uint32"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ExclusiveMinimum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18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Segoe UI"/>
              </a:rPr>
              <a:t>✓ ExclusiveMinimum&lt;18&gt; = &gt; 18</a:t>
            </a: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Segoe UI"/>
              </a:rPr>
              <a:t>✓ Mechanically verifiable</a:t>
            </a:r>
          </a:p>
          <a:p>
            <a:pPr algn="l">
              <a:buNone/>
            </a:pPr>
            <a:r>
              <a:rPr lang="en-US" sz="1400" dirty="0">
                <a:solidFill>
                  <a:srgbClr val="00D4AA"/>
                </a:solidFill>
                <a:latin typeface="Segoe UI"/>
              </a:rPr>
              <a:t>✓ Single source of truth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3F876-83CA-410F-BDFF-71D58B53D9FF}"/>
              </a:ext>
            </a:extLst>
          </p:cNvPr>
          <p:cNvSpPr txBox="1"/>
          <p:nvPr/>
        </p:nvSpPr>
        <p:spPr>
          <a:xfrm>
            <a:off x="5715000" y="31750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A0A0A0"/>
                </a:solidFill>
              </a:rPr>
              <a:t>vs.</a:t>
            </a:r>
            <a:endParaRPr lang="ko-KR" altLang="en-US" b="1">
              <a:solidFill>
                <a:srgbClr val="A0A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644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610A8-A186-4623-849F-812B64B2A839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The Pink Elephant Problem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031603-5D02-413F-AFF3-C1EEBCC5CFCF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361C2-D811-4909-8F78-7AD4AFD53382}"/>
              </a:ext>
            </a:extLst>
          </p:cNvPr>
          <p:cNvSpPr txBox="1"/>
          <p:nvPr/>
        </p:nvSpPr>
        <p:spPr>
          <a:xfrm>
            <a:off x="762000" y="1206500"/>
            <a:ext cx="762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i="1">
                <a:solidFill>
                  <a:srgbClr val="FFE66D"/>
                </a:solidFill>
              </a:rPr>
              <a:t>"Don't think of a pink elephant"</a:t>
            </a:r>
            <a:endParaRPr lang="ko-KR" altLang="en-US" sz="2000" i="1">
              <a:solidFill>
                <a:srgbClr val="FFE66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42835-D568-4D49-8690-994A135ED32B}"/>
              </a:ext>
            </a:extLst>
          </p:cNvPr>
          <p:cNvSpPr txBox="1"/>
          <p:nvPr/>
        </p:nvSpPr>
        <p:spPr>
          <a:xfrm>
            <a:off x="762000" y="1651000"/>
            <a:ext cx="5461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Prompt-based agents always need prohibition rules:
• "Do not create utility functions"
• "Do not use the any type"
• "Do not create circular dependencies"
Problem: To avoid a forbidden pattern,
the model must first recall that pattern
— which increases probability of generating it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DF9565-ECEF-4535-A980-15A97279B6DB}"/>
              </a:ext>
            </a:extLst>
          </p:cNvPr>
          <p:cNvSpPr/>
          <p:nvPr/>
        </p:nvSpPr>
        <p:spPr>
          <a:xfrm>
            <a:off x="6477000" y="1651000"/>
            <a:ext cx="4953000" cy="3302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00D4AA"/>
                </a:solidFill>
              </a:rPr>
              <a:t>In schemas,
this problem
doesn't exist.
If it's not in the schema,
the LLM can't produce it.
Not prohibition,
but absence.</a:t>
            </a:r>
            <a:endParaRPr lang="ko-KR" altLang="en-US" sz="19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8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07301-436B-4B4F-BD90-78E6C8CF99FB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Absence &gt; Prohibition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75BCD4-655C-4F90-9902-54213EE9C1AB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6C541C4-C2A0-4282-ACB8-297A059A932F}"/>
              </a:ext>
            </a:extLst>
          </p:cNvPr>
          <p:cNvSpPr/>
          <p:nvPr/>
        </p:nvSpPr>
        <p:spPr>
          <a:xfrm>
            <a:off x="762000" y="1397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B0B0B0"/>
                </a:solidFill>
              </a:rPr>
              <a:t>Prompt:
"Don't use the any type"</a:t>
            </a:r>
            <a:endParaRPr lang="ko-KR" altLang="en-US">
              <a:solidFill>
                <a:srgbClr val="B0B0B0"/>
              </a:solidFill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7203BEF4-3BEE-4936-8A93-C1869C552FEA}"/>
              </a:ext>
            </a:extLst>
          </p:cNvPr>
          <p:cNvSpPr/>
          <p:nvPr/>
        </p:nvSpPr>
        <p:spPr>
          <a:xfrm>
            <a:off x="5969000" y="1752600"/>
            <a:ext cx="254000" cy="279400"/>
          </a:xfrm>
          <a:prstGeom prst="rightArrow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DE536FF-8BC6-4593-A5C6-9BE196BB249F}"/>
              </a:ext>
            </a:extLst>
          </p:cNvPr>
          <p:cNvSpPr/>
          <p:nvPr/>
        </p:nvSpPr>
        <p:spPr>
          <a:xfrm>
            <a:off x="6350000" y="1397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00D4AA"/>
                </a:solidFill>
              </a:rPr>
              <a:t>Schema:
Field type limited to: boolean | int | string | ...</a:t>
            </a:r>
            <a:endParaRPr lang="ko-KR" altLang="en-US">
              <a:solidFill>
                <a:srgbClr val="00D4AA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CF92FE-3401-4DF3-B1E2-0F5958460720}"/>
              </a:ext>
            </a:extLst>
          </p:cNvPr>
          <p:cNvSpPr/>
          <p:nvPr/>
        </p:nvSpPr>
        <p:spPr>
          <a:xfrm>
            <a:off x="762000" y="2794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B0B0B0"/>
                </a:solidFill>
              </a:rPr>
              <a:t>Prompt:
"Don't create utility functions"</a:t>
            </a:r>
            <a:endParaRPr lang="ko-KR" altLang="en-US">
              <a:solidFill>
                <a:srgbClr val="B0B0B0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B087B11-CFFD-4572-BE6A-9F2F3D0AD074}"/>
              </a:ext>
            </a:extLst>
          </p:cNvPr>
          <p:cNvSpPr/>
          <p:nvPr/>
        </p:nvSpPr>
        <p:spPr>
          <a:xfrm>
            <a:off x="5969000" y="3149600"/>
            <a:ext cx="254000" cy="279400"/>
          </a:xfrm>
          <a:prstGeom prst="rightArrow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DB5EF1-7AE0-4458-880F-598D772634A8}"/>
              </a:ext>
            </a:extLst>
          </p:cNvPr>
          <p:cNvSpPr/>
          <p:nvPr/>
        </p:nvSpPr>
        <p:spPr>
          <a:xfrm>
            <a:off x="6350000" y="2794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00D4AA"/>
                </a:solidFill>
              </a:rPr>
              <a:t>Schema:
No slot for utility functions in the schema</a:t>
            </a:r>
            <a:endParaRPr lang="ko-KR" altLang="en-US">
              <a:solidFill>
                <a:srgbClr val="00D4AA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B1130C-0433-4F5F-9B3E-C4F224274C54}"/>
              </a:ext>
            </a:extLst>
          </p:cNvPr>
          <p:cNvSpPr/>
          <p:nvPr/>
        </p:nvSpPr>
        <p:spPr>
          <a:xfrm>
            <a:off x="762000" y="4191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B0B0B0"/>
                </a:solidFill>
              </a:rPr>
              <a:t>Prompt:
"Don't use varchar"</a:t>
            </a:r>
            <a:endParaRPr lang="ko-KR" altLang="en-US">
              <a:solidFill>
                <a:srgbClr val="B0B0B0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EF505CD-4CFA-4D59-979B-6A4C5A5ADC1C}"/>
              </a:ext>
            </a:extLst>
          </p:cNvPr>
          <p:cNvSpPr/>
          <p:nvPr/>
        </p:nvSpPr>
        <p:spPr>
          <a:xfrm>
            <a:off x="5969000" y="4546600"/>
            <a:ext cx="254000" cy="279400"/>
          </a:xfrm>
          <a:prstGeom prst="rightArrow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F506084-5415-4818-8587-FC1D6C2F5DA2}"/>
              </a:ext>
            </a:extLst>
          </p:cNvPr>
          <p:cNvSpPr/>
          <p:nvPr/>
        </p:nvSpPr>
        <p:spPr>
          <a:xfrm>
            <a:off x="6350000" y="4191000"/>
            <a:ext cx="5080000" cy="1016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00D4AA"/>
                </a:solidFill>
              </a:rPr>
              <a:t>Schema:
7 allowed types — varchar isn't one of them</a:t>
            </a:r>
            <a:endParaRPr lang="ko-KR" altLang="en-US">
              <a:solidFill>
                <a:srgbClr val="00D4A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48A1D-7AF2-4618-A116-01DB5DE8AC24}"/>
              </a:ext>
            </a:extLst>
          </p:cNvPr>
          <p:cNvSpPr txBox="1"/>
          <p:nvPr/>
        </p:nvSpPr>
        <p:spPr>
          <a:xfrm>
            <a:off x="1270000" y="5715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E66D"/>
                </a:solidFill>
              </a:rPr>
              <a:t>Prompts forbid what you don't want.
Schemas only permit what you do.</a:t>
            </a:r>
            <a:endParaRPr lang="ko-KR" altLang="en-US" sz="2200" b="1">
              <a:solidFill>
                <a:srgbClr val="FFE6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0749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E8113-5666-4E86-B2EE-0EA16274DC30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60A5FA"/>
                </a:solidFill>
                <a:latin typeface="Segoe UI Semibold"/>
                <a:cs typeface="Segoe UI Semibold"/>
              </a:rPr>
              <a:t>Model Neutrality</a:t>
            </a:r>
            <a:endParaRPr lang="ko-KR" altLang="en-US" sz="3200" b="1">
              <a:solidFill>
                <a:srgbClr val="60A5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53045-3232-45D1-9D52-E566A1B85D76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60A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E81A4-CE42-4DEC-AD92-3C9D6DE269F0}"/>
              </a:ext>
            </a:extLst>
          </p:cNvPr>
          <p:cNvSpPr txBox="1"/>
          <p:nvPr/>
        </p:nvSpPr>
        <p:spPr>
          <a:xfrm>
            <a:off x="1016000" y="1270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▸  Prompt engineering is model-dependent — rewrite for each model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CB446-17D1-41F4-876D-77704DA2125A}"/>
              </a:ext>
            </a:extLst>
          </p:cNvPr>
          <p:cNvSpPr txBox="1"/>
          <p:nvPr/>
        </p:nvSpPr>
        <p:spPr>
          <a:xfrm>
            <a:off x="1016000" y="2032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▸  JSON Schema means the same thing to every model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5319D-FA6A-4B81-AC9D-C17890D3E393}"/>
              </a:ext>
            </a:extLst>
          </p:cNvPr>
          <p:cNvSpPr txBox="1"/>
          <p:nvPr/>
        </p:nvSpPr>
        <p:spPr>
          <a:xfrm>
            <a:off x="1016000" y="2794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00D4AA"/>
                </a:solidFill>
              </a:rPr>
              <a:t>▸  Validation feedback absorbs performance differences</a:t>
            </a:r>
            <a:endParaRPr lang="ko-KR" altLang="en-US" sz="2000">
              <a:solidFill>
                <a:srgbClr val="00D4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08F61-215A-4B89-8AC7-BA29EF013E38}"/>
              </a:ext>
            </a:extLst>
          </p:cNvPr>
          <p:cNvSpPr txBox="1"/>
          <p:nvPr/>
        </p:nvSpPr>
        <p:spPr>
          <a:xfrm>
            <a:off x="1016000" y="3556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▸  Strong model: 1-2 retries. Weak model: 10-15. Both → 100%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35AF0-CB33-4B5E-8321-8E69E259EA3B}"/>
              </a:ext>
            </a:extLst>
          </p:cNvPr>
          <p:cNvSpPr txBox="1"/>
          <p:nvPr/>
        </p:nvSpPr>
        <p:spPr>
          <a:xfrm>
            <a:off x="1016000" y="4318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E66D"/>
                </a:solidFill>
              </a:rPr>
              <a:t>▸  AutoBe runs GPT, Claude, Qwen, DeepSeek on same schemas</a:t>
            </a:r>
            <a:endParaRPr lang="ko-KR" altLang="en-US" sz="2000" b="1">
              <a:solidFill>
                <a:srgbClr val="FFE66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63DDC-BA25-49DD-9441-A1781E98DC03}"/>
              </a:ext>
            </a:extLst>
          </p:cNvPr>
          <p:cNvSpPr txBox="1"/>
          <p:nvPr/>
        </p:nvSpPr>
        <p:spPr>
          <a:xfrm>
            <a:off x="1270000" y="5461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60A5FA"/>
                </a:solidFill>
              </a:rPr>
              <a:t>No model-specific prompt tuning. Ever.</a:t>
            </a:r>
            <a:endParaRPr lang="ko-KR" altLang="en-US" sz="2200" b="1">
              <a:solidFill>
                <a:srgbClr val="60A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73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04DCD-03D5-4F1E-88C9-899AE1C8B21E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E66D"/>
                </a:solidFill>
                <a:latin typeface="Segoe UI Semibold"/>
                <a:cs typeface="Segoe UI Semibold"/>
              </a:rPr>
              <a:t>Capability → Cost Optimization</a:t>
            </a:r>
            <a:endParaRPr lang="ko-KR" altLang="en-US" sz="3200" b="1">
              <a:solidFill>
                <a:srgbClr val="FFE66D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A12BC6-3119-4223-865A-F1E9023877B2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E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38437-190B-403F-83D1-DFFC3604F070}"/>
              </a:ext>
            </a:extLst>
          </p:cNvPr>
          <p:cNvSpPr txBox="1"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Model selection changes from: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26D5BE6-5E2A-4DD3-A35E-48407156F326}"/>
              </a:ext>
            </a:extLst>
          </p:cNvPr>
          <p:cNvSpPr/>
          <p:nvPr/>
        </p:nvSpPr>
        <p:spPr>
          <a:xfrm>
            <a:off x="762000" y="1841500"/>
            <a:ext cx="10668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>
                <a:solidFill>
                  <a:srgbClr val="FF6B6B"/>
                </a:solidFill>
              </a:rPr>
              <a:t>"Can this model do this task?"  (capability question)</a:t>
            </a:r>
            <a:endParaRPr lang="ko-KR" altLang="en-US" sz="2200">
              <a:solidFill>
                <a:srgbClr val="FF6B6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0FB0E-15C0-4650-AC37-CB9D5D3C2F2C}"/>
              </a:ext>
            </a:extLst>
          </p:cNvPr>
          <p:cNvSpPr txBox="1"/>
          <p:nvPr/>
        </p:nvSpPr>
        <p:spPr>
          <a:xfrm>
            <a:off x="5588000" y="2667000"/>
            <a:ext cx="101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A0A0A0"/>
                </a:solidFill>
              </a:rPr>
              <a:t>↓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E3F41F4-002B-4E12-81FB-AD357F3D1A86}"/>
              </a:ext>
            </a:extLst>
          </p:cNvPr>
          <p:cNvSpPr/>
          <p:nvPr/>
        </p:nvSpPr>
        <p:spPr>
          <a:xfrm>
            <a:off x="762000" y="3175000"/>
            <a:ext cx="10668000" cy="6985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>
                <a:solidFill>
                  <a:srgbClr val="00D4AA"/>
                </a:solidFill>
              </a:rPr>
              <a:t>"Which model is most cost-effective?"  (optimization problem)</a:t>
            </a:r>
            <a:endParaRPr lang="ko-KR" altLang="en-US" sz="2200">
              <a:solidFill>
                <a:srgbClr val="00D4AA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520A36-D53B-4F7E-BA99-CFDD1DF9718A}"/>
              </a:ext>
            </a:extLst>
          </p:cNvPr>
          <p:cNvSpPr/>
          <p:nvPr/>
        </p:nvSpPr>
        <p:spPr>
          <a:xfrm>
            <a:off x="1524000" y="4318000"/>
            <a:ext cx="9144000" cy="762000"/>
          </a:xfrm>
          <a:prstGeom prst="roundRect">
            <a:avLst/>
          </a:prstGeom>
          <a:solidFill>
            <a:srgbClr val="FFE66D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  <a:latin typeface="Consolas"/>
              </a:rPr>
              <a:t>Cost = avg retries  ×  tokens/attempt  ×  price/token</a:t>
            </a:r>
            <a:endParaRPr lang="ko-KR" altLang="en-US" sz="2400" b="1">
              <a:solidFill>
                <a:srgbClr val="0F192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06409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BAC163-A01F-4CE7-8AF9-42E05ECA379B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The Core: Verifiability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009734-5AFB-4A1B-B2A3-3B8990C67430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E4C8E2F-D8DF-4525-A389-3B6F2C5E28EC}"/>
              </a:ext>
            </a:extLst>
          </p:cNvPr>
          <p:cNvSpPr/>
          <p:nvPr/>
        </p:nvSpPr>
        <p:spPr>
          <a:xfrm>
            <a:off x="1016000" y="1397000"/>
            <a:ext cx="635000" cy="635000"/>
          </a:xfrm>
          <a:prstGeom prst="ellipse">
            <a:avLst/>
          </a:prstGeom>
          <a:solidFill>
            <a:srgbClr val="60A5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1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E739D-936C-45A0-8BD3-D451571F1C3C}"/>
              </a:ext>
            </a:extLst>
          </p:cNvPr>
          <p:cNvSpPr txBox="1"/>
          <p:nvPr/>
        </p:nvSpPr>
        <p:spPr>
          <a:xfrm>
            <a:off x="1905000" y="12700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0F0F0"/>
                </a:solidFill>
              </a:rPr>
              <a:t>Verification is deterministic</a:t>
            </a:r>
            <a:endParaRPr lang="ko-KR" altLang="en-US" sz="2200" b="1">
              <a:solidFill>
                <a:srgbClr val="F0F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11824-69C5-4959-9F0F-C5CEBD4C529B}"/>
              </a:ext>
            </a:extLst>
          </p:cNvPr>
          <p:cNvSpPr txBox="1"/>
          <p:nvPr/>
        </p:nvSpPr>
        <p:spPr>
          <a:xfrm>
            <a:off x="1905000" y="17145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JSON Schema validation → clear pass/fail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9FBFE12-94D8-4BEA-B110-2E63EC92090F}"/>
              </a:ext>
            </a:extLst>
          </p:cNvPr>
          <p:cNvSpPr/>
          <p:nvPr/>
        </p:nvSpPr>
        <p:spPr>
          <a:xfrm>
            <a:off x="1016000" y="2794000"/>
            <a:ext cx="635000" cy="635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2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CEA5-B488-4578-98B0-3AEB7DA76D54}"/>
              </a:ext>
            </a:extLst>
          </p:cNvPr>
          <p:cNvSpPr txBox="1"/>
          <p:nvPr/>
        </p:nvSpPr>
        <p:spPr>
          <a:xfrm>
            <a:off x="1905000" y="26670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0F0F0"/>
                </a:solidFill>
              </a:rPr>
              <a:t>Feedback is precise</a:t>
            </a:r>
            <a:endParaRPr lang="ko-KR" altLang="en-US" sz="2200" b="1">
              <a:solidFill>
                <a:srgbClr val="F0F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733FD-8D2D-4070-8B7B-AD59022D04C2}"/>
              </a:ext>
            </a:extLst>
          </p:cNvPr>
          <p:cNvSpPr txBox="1"/>
          <p:nvPr/>
        </p:nvSpPr>
        <p:spPr>
          <a:xfrm>
            <a:off x="1905000" y="31115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"field X should be type Y, but you gave Z"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066C269-97BA-4ED8-859F-4D19693AE289}"/>
              </a:ext>
            </a:extLst>
          </p:cNvPr>
          <p:cNvSpPr/>
          <p:nvPr/>
        </p:nvSpPr>
        <p:spPr>
          <a:xfrm>
            <a:off x="1016000" y="4191000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3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8C4DB-F09A-480B-9C28-7441C775DF0E}"/>
              </a:ext>
            </a:extLst>
          </p:cNvPr>
          <p:cNvSpPr txBox="1"/>
          <p:nvPr/>
        </p:nvSpPr>
        <p:spPr>
          <a:xfrm>
            <a:off x="1905000" y="4064000"/>
            <a:ext cx="889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0F0F0"/>
                </a:solidFill>
              </a:rPr>
              <a:t>Correction converges</a:t>
            </a:r>
            <a:endParaRPr lang="ko-KR" altLang="en-US" sz="2200" b="1">
              <a:solidFill>
                <a:srgbClr val="F0F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771ED-CBD3-40E8-815B-923464CF48DB}"/>
              </a:ext>
            </a:extLst>
          </p:cNvPr>
          <p:cNvSpPr txBox="1"/>
          <p:nvPr/>
        </p:nvSpPr>
        <p:spPr>
          <a:xfrm>
            <a:off x="1905000" y="45085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Precise feedback → fix only affected parts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B14D8-35B8-4A21-A5C0-E00C1234D778}"/>
              </a:ext>
            </a:extLst>
          </p:cNvPr>
          <p:cNvSpPr txBox="1"/>
          <p:nvPr/>
        </p:nvSpPr>
        <p:spPr>
          <a:xfrm>
            <a:off x="1016000" y="5588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E66D"/>
                </a:solidFill>
              </a:rPr>
              <a:t>These form a deterministic chain.
The model is probabilistic — the loop outside is deterministic.</a:t>
            </a:r>
            <a:endParaRPr lang="ko-KR" altLang="en-US" sz="2000" b="1">
              <a:solidFill>
                <a:srgbClr val="FFE6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67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3BBA65D-D989-4CCC-9F5E-BB24F6092124}"/>
              </a:ext>
            </a:extLst>
          </p:cNvPr>
          <p:cNvSpPr/>
          <p:nvPr/>
        </p:nvSpPr>
        <p:spPr>
          <a:xfrm>
            <a:off x="762000" y="1270000"/>
            <a:ext cx="10668000" cy="1651000"/>
          </a:xfrm>
          <a:prstGeom prst="roundRect">
            <a:avLst/>
          </a:prstGeom>
          <a:solidFill>
            <a:srgbClr val="1A2733"/>
          </a:solidFill>
          <a:ln w="381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800" b="1">
                <a:solidFill>
                  <a:srgbClr val="00D4AA"/>
                </a:solidFill>
              </a:rPr>
              <a:t>Typed Schema
+ Deterministic Validator
+ Structured Error Feedback
= Reliable LLM Output</a:t>
            </a:r>
            <a:endParaRPr lang="ko-KR" altLang="en-US" sz="2800" b="1">
              <a:solidFill>
                <a:srgbClr val="00D4A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AB2FB-81B2-4E50-AC0D-0B4E06E46F91}"/>
              </a:ext>
            </a:extLst>
          </p:cNvPr>
          <p:cNvSpPr txBox="1"/>
          <p:nvPr/>
        </p:nvSpPr>
        <p:spPr>
          <a:xfrm>
            <a:off x="1016000" y="3429000"/>
            <a:ext cx="1016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Prompt engineering tinkers with the inside of the model.
Function calling makes the outside rock-solid.</a:t>
            </a:r>
            <a:endParaRPr lang="ko-KR" altLang="en-US" sz="2200">
              <a:solidFill>
                <a:srgbClr val="D0D0D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02AFE-AA35-4E4E-9B8F-9FA0C9DD7FC0}"/>
              </a:ext>
            </a:extLst>
          </p:cNvPr>
          <p:cNvSpPr txBox="1"/>
          <p:nvPr/>
        </p:nvSpPr>
        <p:spPr>
          <a:xfrm>
            <a:off x="1905000" y="4572000"/>
            <a:ext cx="838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1">
                <a:solidFill>
                  <a:srgbClr val="FFE66D"/>
                </a:solidFill>
              </a:rPr>
              <a:t>In domains that demand precision:
6.75% → 100%</a:t>
            </a:r>
            <a:endParaRPr lang="ko-KR" altLang="en-US" sz="2400" b="1">
              <a:solidFill>
                <a:srgbClr val="FFE6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449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2A29C-55BA-4992-9C04-3E218FB12554}"/>
              </a:ext>
            </a:extLst>
          </p:cNvPr>
          <p:cNvSpPr txBox="1"/>
          <p:nvPr/>
        </p:nvSpPr>
        <p:spPr>
          <a:xfrm>
            <a:off x="1016000" y="762000"/>
            <a:ext cx="10160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000" b="1">
                <a:solidFill>
                  <a:srgbClr val="FFE66D"/>
                </a:solidFill>
              </a:rPr>
              <a:t>"The LLM doesn't need
to be accurate.
It just needs to be
correctable."</a:t>
            </a:r>
            <a:endParaRPr lang="ko-KR" altLang="en-US" sz="4000" b="1">
              <a:solidFill>
                <a:srgbClr val="FFE66D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93BD2D-6BA3-4066-AF65-94462954E308}"/>
              </a:ext>
            </a:extLst>
          </p:cNvPr>
          <p:cNvSpPr/>
          <p:nvPr/>
        </p:nvSpPr>
        <p:spPr>
          <a:xfrm>
            <a:off x="4826000" y="4191000"/>
            <a:ext cx="2540000" cy="38100"/>
          </a:xfrm>
          <a:prstGeom prst="rect">
            <a:avLst/>
          </a:prstGeom>
          <a:solidFill>
            <a:srgbClr val="FFE66D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DF542-47E6-4D90-A5C1-90A4BB342478}"/>
              </a:ext>
            </a:extLst>
          </p:cNvPr>
          <p:cNvSpPr txBox="1"/>
          <p:nvPr/>
        </p:nvSpPr>
        <p:spPr>
          <a:xfrm>
            <a:off x="1270000" y="4508500"/>
            <a:ext cx="965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Correctability is not a property of the model —
it's a property of the validation infrastructure.</a:t>
            </a:r>
            <a:endParaRPr lang="ko-KR" altLang="en-US" sz="22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52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B40DC7-90DE-4B96-9E5D-DC5DCAAFB930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60A5FA"/>
                </a:solidFill>
                <a:latin typeface="Segoe UI Semibold"/>
                <a:cs typeface="Segoe UI Semibold"/>
              </a:rPr>
              <a:t>Application Spectrum: Verifiable</a:t>
            </a:r>
            <a:endParaRPr lang="ko-KR" altLang="en-US" sz="3200" b="1">
              <a:solidFill>
                <a:srgbClr val="60A5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CF0622-E142-4A38-9990-60B4531722E8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60A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3FD25-189A-4B7F-9E00-EBBF8A1CF61C}"/>
              </a:ext>
            </a:extLst>
          </p:cNvPr>
          <p:cNvSpPr txBox="1"/>
          <p:nvPr/>
        </p:nvSpPr>
        <p:spPr>
          <a:xfrm>
            <a:off x="762000" y="12065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Every structured domain shares this pattern — tiered validators</a:t>
            </a:r>
            <a:endParaRPr lang="ko-KR" altLang="en-US">
              <a:solidFill>
                <a:srgbClr val="A0A0A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56D0891-A113-4C30-9488-E66A2D375E7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51000"/>
          <a:ext cx="10668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1775584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30664999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4124315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8550849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Fast (ms)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Medium (sec)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Deep (min+)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0837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Type check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Compilation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Test execution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7655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Semiconductors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DRC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LVS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SPICE simulation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51918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Accounting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Arithmetic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Account codes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Regulatory audit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004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Law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Structure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Logic check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rgbClr val="D0D0D0"/>
                          </a:solidFill>
                        </a:rPr>
                        <a:t>Jurisdiction rules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40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EB5686-E8EF-45A5-ACB0-BE7CDD6D2C66}"/>
              </a:ext>
            </a:extLst>
          </p:cNvPr>
          <p:cNvSpPr txBox="1"/>
          <p:nvPr/>
        </p:nvSpPr>
        <p:spPr>
          <a:xfrm>
            <a:off x="1270000" y="4826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Run cheapest validator first → fix errors → next tier
Same feedback loop pattern everywhere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296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6420C-914B-4EA3-94C9-417C9EA41CD3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60A5FA"/>
                </a:solidFill>
              </a:rPr>
              <a:t>Hybrid Domains: Law &amp; Accounting</a:t>
            </a:r>
            <a:endParaRPr lang="ko-KR" altLang="en-US" sz="2800" b="1">
              <a:solidFill>
                <a:srgbClr val="60A5F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736C3-453F-40D5-9825-1FF3870C1FE4}"/>
              </a:ext>
            </a:extLst>
          </p:cNvPr>
          <p:cNvSpPr txBox="1"/>
          <p:nvPr/>
        </p:nvSpPr>
        <p:spPr>
          <a:xfrm>
            <a:off x="762000" y="8890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Let AI write freely in some fields — validate the rest strictly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4F6AF55-1C7B-45CF-9076-9E6EE3FF21BE}"/>
              </a:ext>
            </a:extLst>
          </p:cNvPr>
          <p:cNvSpPr/>
          <p:nvPr/>
        </p:nvSpPr>
        <p:spPr>
          <a:xfrm>
            <a:off x="254000" y="1397000"/>
            <a:ext cx="5842000" cy="4826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60A5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60A5FA"/>
                </a:solidFill>
                <a:latin typeface="Segoe UI Semibold"/>
              </a:rPr>
              <a:t>Law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ILegalAnalysis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reasoning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clauses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IClause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[];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IClause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"obligation" | "condition"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|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"warranty" | "indemnity"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subclauses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IClause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[];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recursive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CBFD2A-5EC2-4FB7-A8F4-D5B8041BAC15}"/>
              </a:ext>
            </a:extLst>
          </p:cNvPr>
          <p:cNvSpPr/>
          <p:nvPr/>
        </p:nvSpPr>
        <p:spPr>
          <a:xfrm>
            <a:off x="6223000" y="1397000"/>
            <a:ext cx="5842000" cy="4826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FFE66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E66D"/>
                </a:solidFill>
                <a:latin typeface="Segoe UI Semibold"/>
              </a:rPr>
              <a:t>Accounting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ILineItem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account_code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Pattern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"^[0-9]{4}$"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amount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number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classification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|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"current_asset"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|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"revenue" | "expense"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5595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BD505-13D5-4837-A1E3-B0EB0620E8A6}"/>
              </a:ext>
            </a:extLst>
          </p:cNvPr>
          <p:cNvSpPr txBox="1"/>
          <p:nvPr/>
        </p:nvSpPr>
        <p:spPr>
          <a:xfrm>
            <a:off x="762000" y="317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60A5FA"/>
                </a:solidFill>
              </a:rPr>
              <a:t>Hybrid Domains: Chips &amp; Medicine</a:t>
            </a:r>
            <a:endParaRPr lang="ko-KR" altLang="en-US" sz="2800" b="1">
              <a:solidFill>
                <a:srgbClr val="60A5F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2135E-ED07-40A2-B7BC-0B8F6A55F76A}"/>
              </a:ext>
            </a:extLst>
          </p:cNvPr>
          <p:cNvSpPr txBox="1"/>
          <p:nvPr/>
        </p:nvSpPr>
        <p:spPr>
          <a:xfrm>
            <a:off x="762000" y="889000"/>
            <a:ext cx="889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A0A0A0"/>
                </a:solidFill>
              </a:rPr>
              <a:t>Recursive union types appear everywhere — the universal structure</a:t>
            </a:r>
            <a:endParaRPr lang="ko-KR" altLang="en-US">
              <a:solidFill>
                <a:srgbClr val="A0A0A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5B803F4-FD7C-4FEA-9902-73986EDFAACC}"/>
              </a:ext>
            </a:extLst>
          </p:cNvPr>
          <p:cNvSpPr/>
          <p:nvPr/>
        </p:nvSpPr>
        <p:spPr>
          <a:xfrm>
            <a:off x="254000" y="1397000"/>
            <a:ext cx="5842000" cy="4826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A78BFA"/>
                </a:solidFill>
                <a:latin typeface="Segoe UI Semibold"/>
              </a:rPr>
              <a:t>Semiconductors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IBlock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"logic" | "memory"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|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"io" | "analog"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position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IPoint2D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sub_blocks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IBlock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[];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recursive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DRC → LVS → SPICE: same feedback loop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93662F-B525-48A2-A37A-302078CF87C3}"/>
              </a:ext>
            </a:extLst>
          </p:cNvPr>
          <p:cNvSpPr/>
          <p:nvPr/>
        </p:nvSpPr>
        <p:spPr>
          <a:xfrm>
            <a:off x="6223000" y="1397000"/>
            <a:ext cx="5842000" cy="4826000"/>
          </a:xfrm>
          <a:prstGeom prst="roundRect">
            <a:avLst/>
          </a:prstGeom>
          <a:solidFill>
            <a:srgbClr val="1E1E2E"/>
          </a:solidFill>
          <a:ln w="127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0D4AA"/>
                </a:solidFill>
                <a:latin typeface="Segoe UI Semibold"/>
              </a:rPr>
              <a:t>Medicine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type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IDecisionNode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=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IDecisionNode.IDiagnosis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|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IDecisionNode.IBranch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endParaRPr lang="en-US" sz="1400" dirty="0">
              <a:latin typeface="Consolas"/>
            </a:endParaRP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IDiagnosis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icd_code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&amp;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Pattern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"^[A-Z]...$"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&gt;;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en-US" sz="1400" dirty="0">
                <a:solidFill>
                  <a:srgbClr val="C586C0"/>
                </a:solidFill>
                <a:latin typeface="Consolas"/>
              </a:rPr>
              <a:t>interface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IBranch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if_true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IDecisionNode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recursive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9CDCFE"/>
                </a:solidFill>
                <a:latin typeface="Consolas"/>
              </a:rPr>
              <a:t>if_false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IDecisionNode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recursive</a:t>
            </a:r>
          </a:p>
          <a:p>
            <a:pPr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9871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9837A-CCEC-48B3-88A7-7EBDF92BA71C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6B6B"/>
                </a:solidFill>
                <a:latin typeface="Segoe UI Semibold"/>
                <a:cs typeface="Segoe UI Semibold"/>
              </a:rPr>
              <a:t>Where This Doesn't Apply</a:t>
            </a:r>
            <a:endParaRPr lang="ko-KR" altLang="en-US" sz="3200" b="1">
              <a:solidFill>
                <a:srgbClr val="FF6B6B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E2B262-BB24-455A-9AD4-B0948CC5BE6A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74539-99D7-4476-AC7B-FD51D1DEE503}"/>
              </a:ext>
            </a:extLst>
          </p:cNvPr>
          <p:cNvSpPr txBox="1"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Domains without deterministic validators: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1D124E-899A-4D85-8548-1FB01B490571}"/>
              </a:ext>
            </a:extLst>
          </p:cNvPr>
          <p:cNvSpPr/>
          <p:nvPr/>
        </p:nvSpPr>
        <p:spPr>
          <a:xfrm>
            <a:off x="1016000" y="1905000"/>
            <a:ext cx="10160000" cy="889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Creative writing
No validator for "a good novel"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51CA6E-88C5-4003-BEFE-1A3C22031A16}"/>
              </a:ext>
            </a:extLst>
          </p:cNvPr>
          <p:cNvSpPr/>
          <p:nvPr/>
        </p:nvSpPr>
        <p:spPr>
          <a:xfrm>
            <a:off x="1016000" y="3048000"/>
            <a:ext cx="10160000" cy="889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Emotional intelligence
No schema for empathy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435EE0-6468-479D-AE4F-4CDF02BE29F9}"/>
              </a:ext>
            </a:extLst>
          </p:cNvPr>
          <p:cNvSpPr/>
          <p:nvPr/>
        </p:nvSpPr>
        <p:spPr>
          <a:xfrm>
            <a:off x="1016000" y="4191000"/>
            <a:ext cx="10160000" cy="889000"/>
          </a:xfrm>
          <a:prstGeom prst="roundRect">
            <a:avLst/>
          </a:prstGeom>
          <a:solidFill>
            <a:srgbClr val="1A2733"/>
          </a:solidFill>
          <a:ln w="127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Strategic decisions
No compiler for "a wise business choice"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D3604-254B-4629-92C1-5F0E922D77EC}"/>
              </a:ext>
            </a:extLst>
          </p:cNvPr>
          <p:cNvSpPr txBox="1"/>
          <p:nvPr/>
        </p:nvSpPr>
        <p:spPr>
          <a:xfrm>
            <a:off x="1016000" y="5461000"/>
            <a:ext cx="1016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But: if a domain has rules that determine correct from incorrect,
this pattern is applicable. AutoBe proved it with code and compilers.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6290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54F6F0-8585-4A3E-A463-1EE6F053D5CA}"/>
              </a:ext>
            </a:extLst>
          </p:cNvPr>
          <p:cNvSpPr txBox="1"/>
          <p:nvPr/>
        </p:nvSpPr>
        <p:spPr>
          <a:xfrm>
            <a:off x="762000" y="16510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/>
              <a:t>Chapter 4</a:t>
            </a:r>
            <a:endParaRPr lang="ko-KR" alt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80048-7ED5-4A82-9BC2-F41DDB5FA291}"/>
              </a:ext>
            </a:extLst>
          </p:cNvPr>
          <p:cNvSpPr txBox="1"/>
          <p:nvPr/>
        </p:nvSpPr>
        <p:spPr>
          <a:xfrm>
            <a:off x="762000" y="2413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6000" b="1">
                <a:solidFill>
                  <a:srgbClr val="A78BFA"/>
                </a:solidFill>
              </a:rPr>
              <a:t>Why Qwen</a:t>
            </a:r>
            <a:endParaRPr lang="ko-KR" altLang="en-US" sz="6000" b="1">
              <a:solidFill>
                <a:srgbClr val="A78BFA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B647A5-388E-47A2-AD60-2C45FA0E42F0}"/>
              </a:ext>
            </a:extLst>
          </p:cNvPr>
          <p:cNvSpPr/>
          <p:nvPr/>
        </p:nvSpPr>
        <p:spPr>
          <a:xfrm>
            <a:off x="4826000" y="3581400"/>
            <a:ext cx="254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70CF1-24D1-48C8-B0F1-9E57D052EF2C}"/>
              </a:ext>
            </a:extLst>
          </p:cNvPr>
          <p:cNvSpPr txBox="1"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/>
              <a:t>Open models for open development</a:t>
            </a:r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15668714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C5B95-13EC-46FC-8E39-7ADADDC6E5D8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Best-in-Class Small/Medium FC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8A1658-3413-485A-A47A-8EC1DD352BD0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16D08-7FDC-4531-AB21-E8AB0CEFD3F1}"/>
              </a:ext>
            </a:extLst>
          </p:cNvPr>
          <p:cNvSpPr txBox="1"/>
          <p:nvPr/>
        </p:nvSpPr>
        <p:spPr>
          <a:xfrm>
            <a:off x="1016000" y="1270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▸  AutoBe's only criterion: how accurately the model fills complex JSON Schemas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0F7E3-6C59-481C-8F59-1D1D5E060D84}"/>
              </a:ext>
            </a:extLst>
          </p:cNvPr>
          <p:cNvSpPr txBox="1"/>
          <p:nvPr/>
        </p:nvSpPr>
        <p:spPr>
          <a:xfrm>
            <a:off x="1016000" y="2032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▸  Many models do function calling well at large scale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B60EB-0EAC-434E-99D4-E93DEF6D8521}"/>
              </a:ext>
            </a:extLst>
          </p:cNvPr>
          <p:cNvSpPr txBox="1"/>
          <p:nvPr/>
        </p:nvSpPr>
        <p:spPr>
          <a:xfrm>
            <a:off x="1016000" y="2794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▸  At the small/medium scale, Qwen was the only one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229AF-5FE2-473A-A99B-4EBAD54673BD}"/>
              </a:ext>
            </a:extLst>
          </p:cNvPr>
          <p:cNvSpPr txBox="1"/>
          <p:nvPr/>
        </p:nvSpPr>
        <p:spPr>
          <a:xfrm>
            <a:off x="1016000" y="3556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▸  Even 3B active params supports tool choice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AE62F-D20B-4E35-A785-622403C79A84}"/>
              </a:ext>
            </a:extLst>
          </p:cNvPr>
          <p:cNvSpPr txBox="1"/>
          <p:nvPr/>
        </p:nvSpPr>
        <p:spPr>
          <a:xfrm>
            <a:off x="1016000" y="4318000"/>
            <a:ext cx="1016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▸  Handles 10+ variant recursive unions at 35B class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112D0-7D8B-4DCB-A0A3-74A63CFD3505}"/>
              </a:ext>
            </a:extLst>
          </p:cNvPr>
          <p:cNvSpPr txBox="1"/>
          <p:nvPr/>
        </p:nvSpPr>
        <p:spPr>
          <a:xfrm>
            <a:off x="1270000" y="5461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A78BFA"/>
                </a:solidFill>
              </a:rPr>
              <a:t>For AutoBe, small/medium-scale performance was decisive</a:t>
            </a:r>
            <a:endParaRPr lang="ko-KR" altLang="en-US" sz="2000" b="1">
              <a:solidFill>
                <a:srgbClr val="A78B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257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F5E2F-703B-44CD-BD40-80C598DDA5E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R&amp;D Cost: Users vs. Developers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3DD7C1-CD12-4EA6-B7FA-32378B8EFF10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AD1122-8DD4-4D1B-8038-1BBFEE30F93C}"/>
              </a:ext>
            </a:extLst>
          </p:cNvPr>
          <p:cNvSpPr/>
          <p:nvPr/>
        </p:nvSpPr>
        <p:spPr>
          <a:xfrm>
            <a:off x="762000" y="1397000"/>
            <a:ext cx="5207000" cy="1905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For Users
Even the most expensive model
is cheaper than hiring
a backend developer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837B83E-C29F-4701-94BC-017E257735F9}"/>
              </a:ext>
            </a:extLst>
          </p:cNvPr>
          <p:cNvSpPr/>
          <p:nvPr/>
        </p:nvSpPr>
        <p:spPr>
          <a:xfrm>
            <a:off x="6223000" y="1397000"/>
            <a:ext cx="5207000" cy="1905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FF6B6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>
                <a:solidFill>
                  <a:srgbClr val="D0D0D0"/>
                </a:solidFill>
              </a:rPr>
              <a:t>For Developers
Thousands of generate-compile
cycles per new feature
Commercial APIs = financial ruin</a:t>
            </a:r>
            <a:endParaRPr lang="ko-KR" altLang="en-US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7EAB0F5-694F-4400-80AE-5B4A8473A137}"/>
              </a:ext>
            </a:extLst>
          </p:cNvPr>
          <p:cNvSpPr/>
          <p:nvPr/>
        </p:nvSpPr>
        <p:spPr>
          <a:xfrm>
            <a:off x="1524000" y="3683000"/>
            <a:ext cx="9144000" cy="762000"/>
          </a:xfrm>
          <a:prstGeom prst="roundRect">
            <a:avLst/>
          </a:prstGeom>
          <a:solidFill>
            <a:srgbClr val="A78B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0F1923"/>
                </a:solidFill>
              </a:rPr>
              <a:t>Local models: experiment without limit, without cost</a:t>
            </a:r>
            <a:endParaRPr lang="ko-KR" altLang="en-US" sz="2200" b="1">
              <a:solidFill>
                <a:srgbClr val="0F192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53187-7234-494C-B84C-B8D96F3546E9}"/>
              </a:ext>
            </a:extLst>
          </p:cNvPr>
          <p:cNvSpPr txBox="1"/>
          <p:nvPr/>
        </p:nvSpPr>
        <p:spPr>
          <a:xfrm>
            <a:off x="1270000" y="4826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6.75% → 100% required hundreds of experiment cycles
Only possible with local models</a:t>
            </a:r>
            <a:endParaRPr lang="ko-KR" altLang="en-US" sz="20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296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55902-0EB4-42C5-A211-2A83900E0BEF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FFE66D"/>
                </a:solidFill>
                <a:latin typeface="Segoe UI Semibold"/>
                <a:cs typeface="Segoe UI Semibold"/>
              </a:rPr>
              <a:t>Small Models = Best QA Engineers</a:t>
            </a:r>
            <a:endParaRPr lang="ko-KR" altLang="en-US" sz="3200" b="1">
              <a:solidFill>
                <a:srgbClr val="FFE66D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893682-0745-49AE-9C84-E8753BD77FFA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FFE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9EA0909-8E14-46BD-8814-1B4A82235BD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397000"/>
          <a:ext cx="10668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25167522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67187977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84820195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Success Rate</a:t>
                      </a:r>
                    </a:p>
                  </a:txBody>
                  <a:tcPr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0F1923"/>
                          </a:solidFill>
                        </a:rPr>
                        <a:t>What it found</a:t>
                      </a:r>
                    </a:p>
                  </a:txBody>
                  <a:tcPr>
                    <a:solidFill>
                      <a:srgbClr val="FFE6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83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qwen3-30b-a3b-thinking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6B6B"/>
                          </a:solidFill>
                        </a:rPr>
                        <a:t>~10%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Schema ambiguities, missing fields</a:t>
                      </a:r>
                    </a:p>
                  </a:txBody>
                  <a:tcPr>
                    <a:solidFill>
                      <a:srgbClr val="15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176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qwen3-next-80b-a3b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6B6B"/>
                          </a:solidFill>
                        </a:rPr>
                        <a:t>~20%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>
                          <a:solidFill>
                            <a:srgbClr val="D0D0D0"/>
                          </a:solidFill>
                        </a:rPr>
                        <a:t>Subtle type mismatches</a:t>
                      </a:r>
                    </a:p>
                  </a:txBody>
                  <a:tcPr>
                    <a:solidFill>
                      <a:srgbClr val="1A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1099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866E4E-A63A-41E9-ABD5-07A030D9F145}"/>
              </a:ext>
            </a:extLst>
          </p:cNvPr>
          <p:cNvSpPr txBox="1"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 b="1">
                <a:solidFill>
                  <a:srgbClr val="FFE66D"/>
                </a:solidFill>
              </a:rPr>
              <a:t>10% was the most valuable result.
Every failure pointed to a gap in our system.</a:t>
            </a:r>
            <a:endParaRPr lang="ko-KR" altLang="en-US" sz="2200" b="1">
              <a:solidFill>
                <a:srgbClr val="FFE66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E991C-738B-4750-901F-6EFE269C45ED}"/>
              </a:ext>
            </a:extLst>
          </p:cNvPr>
          <p:cNvSpPr txBox="1"/>
          <p:nvPr/>
        </p:nvSpPr>
        <p:spPr>
          <a:xfrm>
            <a:off x="1016000" y="4191000"/>
            <a:ext cx="1016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Large models make mistakes less often, not never.
"Rarely" in production = outage.
When a 35B model can't misinterpret your schema,
the probability of any model getting it wrong → effectively zero.</a:t>
            </a:r>
            <a:endParaRPr lang="ko-KR" altLang="en-US" sz="20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991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12E8AA-555D-46D5-8C52-1C2FA1BBB311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No Vendor Lock-In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01A881-308D-4937-A864-1170950110FC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E2644-5C50-4199-B679-618049FB1222}"/>
              </a:ext>
            </a:extLst>
          </p:cNvPr>
          <p:cNvSpPr txBox="1"/>
          <p:nvPr/>
        </p:nvSpPr>
        <p:spPr>
          <a:xfrm>
            <a:off x="1016000" y="1270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FF6B6B"/>
                </a:solidFill>
              </a:rPr>
              <a:t>⚠  Price changes at vendor's discretion</a:t>
            </a:r>
            <a:endParaRPr lang="ko-KR" altLang="en-US" sz="2000">
              <a:solidFill>
                <a:srgbClr val="FF6B6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B35-2FC6-4CDA-8364-088DF2020107}"/>
              </a:ext>
            </a:extLst>
          </p:cNvPr>
          <p:cNvSpPr txBox="1"/>
          <p:nvPr/>
        </p:nvSpPr>
        <p:spPr>
          <a:xfrm>
            <a:off x="1016000" y="1905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FF6B6B"/>
                </a:solidFill>
              </a:rPr>
              <a:t>⚠  Model deprecation without warning</a:t>
            </a:r>
            <a:endParaRPr lang="ko-KR" altLang="en-US" sz="2000">
              <a:solidFill>
                <a:srgbClr val="FF6B6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6F88F-C2DD-4E27-8091-3E00BE2DE607}"/>
              </a:ext>
            </a:extLst>
          </p:cNvPr>
          <p:cNvSpPr txBox="1"/>
          <p:nvPr/>
        </p:nvSpPr>
        <p:spPr>
          <a:xfrm>
            <a:off x="1016000" y="2540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FF6B6B"/>
                </a:solidFill>
              </a:rPr>
              <a:t>⚠  Rate limits during peak usage</a:t>
            </a:r>
            <a:endParaRPr lang="ko-KR" altLang="en-US" sz="2000">
              <a:solidFill>
                <a:srgbClr val="FF6B6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BCB98-47B9-4816-A99D-C41C4F1B16B3}"/>
              </a:ext>
            </a:extLst>
          </p:cNvPr>
          <p:cNvSpPr txBox="1"/>
          <p:nvPr/>
        </p:nvSpPr>
        <p:spPr>
          <a:xfrm>
            <a:off x="1016000" y="3175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FF6B6B"/>
                </a:solidFill>
              </a:rPr>
              <a:t>⚠  The model you use today could disappear tomorrow</a:t>
            </a:r>
            <a:endParaRPr lang="ko-KR" altLang="en-US" sz="2000">
              <a:solidFill>
                <a:srgbClr val="FF6B6B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5BF3DC8-03EB-4129-B560-67850F221224}"/>
              </a:ext>
            </a:extLst>
          </p:cNvPr>
          <p:cNvSpPr/>
          <p:nvPr/>
        </p:nvSpPr>
        <p:spPr>
          <a:xfrm>
            <a:off x="1016000" y="4064000"/>
            <a:ext cx="10160000" cy="1016000"/>
          </a:xfrm>
          <a:prstGeom prst="roundRect">
            <a:avLst/>
          </a:prstGeom>
          <a:solidFill>
            <a:srgbClr val="1A2733"/>
          </a:solidFill>
          <a:ln w="25400" cap="flat" cmpd="sng" algn="ctr">
            <a:solidFill>
              <a:srgbClr val="00D4A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900">
                <a:solidFill>
                  <a:srgbClr val="00D4AA"/>
                </a:solidFill>
              </a:rPr>
              <a:t>AutoBe's schemas are model-neutral.
JSON Schema + type validation = industry standards.
Code stays the same when the model changes.</a:t>
            </a:r>
            <a:endParaRPr lang="ko-KR" altLang="en-US" sz="1900">
              <a:solidFill>
                <a:srgbClr val="00D4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803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4A419B-9020-4B10-8A8B-ED24B53CB154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Open Source Virtuous Cycle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509B6B-3307-423D-A6F4-5A346B38038B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967405-E7FF-43A7-88C5-A50404771B16}"/>
              </a:ext>
            </a:extLst>
          </p:cNvPr>
          <p:cNvSpPr/>
          <p:nvPr/>
        </p:nvSpPr>
        <p:spPr>
          <a:xfrm>
            <a:off x="1016000" y="1270000"/>
            <a:ext cx="10160000" cy="762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1. AutoBe hardens its system using Qwen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6034D4-CB77-4170-9CB2-30474F36A2F8}"/>
              </a:ext>
            </a:extLst>
          </p:cNvPr>
          <p:cNvSpPr/>
          <p:nvPr/>
        </p:nvSpPr>
        <p:spPr>
          <a:xfrm>
            <a:off x="6032500" y="2070100"/>
            <a:ext cx="38100" cy="190500"/>
          </a:xfrm>
          <a:prstGeom prst="rect">
            <a:avLst/>
          </a:prstGeom>
          <a:solidFill>
            <a:srgbClr val="A78B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9235D0-6A23-44CD-9448-C2BA2BDFEE1E}"/>
              </a:ext>
            </a:extLst>
          </p:cNvPr>
          <p:cNvSpPr/>
          <p:nvPr/>
        </p:nvSpPr>
        <p:spPr>
          <a:xfrm>
            <a:off x="1016000" y="2286000"/>
            <a:ext cx="10160000" cy="762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2. Hardened system proves Qwen's production viability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AFBD09-FA59-487F-9805-40741D9F19EA}"/>
              </a:ext>
            </a:extLst>
          </p:cNvPr>
          <p:cNvSpPr/>
          <p:nvPr/>
        </p:nvSpPr>
        <p:spPr>
          <a:xfrm>
            <a:off x="6032500" y="3086100"/>
            <a:ext cx="38100" cy="190500"/>
          </a:xfrm>
          <a:prstGeom prst="rect">
            <a:avLst/>
          </a:prstGeom>
          <a:solidFill>
            <a:srgbClr val="A78B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C5277E0-2C6C-47E6-AF3C-2D362EE00908}"/>
              </a:ext>
            </a:extLst>
          </p:cNvPr>
          <p:cNvSpPr/>
          <p:nvPr/>
        </p:nvSpPr>
        <p:spPr>
          <a:xfrm>
            <a:off x="1016000" y="3302000"/>
            <a:ext cx="10160000" cy="762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3. Improvements to Qwen raise AutoBe's performance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7E3D6D-2C03-458A-9756-28EBDEB531EA}"/>
              </a:ext>
            </a:extLst>
          </p:cNvPr>
          <p:cNvSpPr/>
          <p:nvPr/>
        </p:nvSpPr>
        <p:spPr>
          <a:xfrm>
            <a:off x="6032500" y="4102100"/>
            <a:ext cx="38100" cy="190500"/>
          </a:xfrm>
          <a:prstGeom prst="rect">
            <a:avLst/>
          </a:prstGeom>
          <a:solidFill>
            <a:srgbClr val="A78B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EED5D5-DF8D-4BE8-97D7-966D56E9595E}"/>
              </a:ext>
            </a:extLst>
          </p:cNvPr>
          <p:cNvSpPr/>
          <p:nvPr/>
        </p:nvSpPr>
        <p:spPr>
          <a:xfrm>
            <a:off x="1016000" y="4318000"/>
            <a:ext cx="10160000" cy="762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A78B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000">
                <a:solidFill>
                  <a:srgbClr val="D0D0D0"/>
                </a:solidFill>
              </a:rPr>
              <a:t>4. AutoBe's discoveries contribute to Qwen's improvement</a:t>
            </a:r>
            <a:endParaRPr lang="ko-KR" altLang="en-US" sz="2000">
              <a:solidFill>
                <a:srgbClr val="D0D0D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6F7EC-85E7-457E-AED6-C4A56A4472B0}"/>
              </a:ext>
            </a:extLst>
          </p:cNvPr>
          <p:cNvSpPr txBox="1"/>
          <p:nvPr/>
        </p:nvSpPr>
        <p:spPr>
          <a:xfrm>
            <a:off x="1016000" y="5588000"/>
            <a:ext cx="10160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 dirty="0" err="1">
                <a:solidFill>
                  <a:srgbClr val="A78BFA"/>
                </a:solidFill>
              </a:rPr>
              <a:t>AutoBe</a:t>
            </a:r>
            <a:r>
              <a:rPr lang="en-US" altLang="ko-KR" sz="2000" b="1" dirty="0">
                <a:solidFill>
                  <a:srgbClr val="A78BFA"/>
                </a:solidFill>
              </a:rPr>
              <a:t> (Open-source)  +  Qwen (Open-weight)  =  Mutual reinforcement</a:t>
            </a:r>
            <a:endParaRPr lang="ko-KR" altLang="en-US" sz="2000" b="1" dirty="0">
              <a:solidFill>
                <a:srgbClr val="A78B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418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0547D-C523-4D94-BB19-45779C3CA60B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A78BFA"/>
                </a:solidFill>
                <a:latin typeface="Segoe UI Semibold"/>
                <a:cs typeface="Segoe UI Semibold"/>
              </a:rPr>
              <a:t>The Open Ecosystem Advantage</a:t>
            </a:r>
            <a:endParaRPr lang="ko-KR" altLang="en-US" sz="3200" b="1">
              <a:solidFill>
                <a:srgbClr val="A78BF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BDC3A3-E58A-4CCD-B510-E9A3F837BFBF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A78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A6835-CF3D-4BEA-9112-A310EECA6E69}"/>
              </a:ext>
            </a:extLst>
          </p:cNvPr>
          <p:cNvSpPr txBox="1"/>
          <p:nvPr/>
        </p:nvSpPr>
        <p:spPr>
          <a:xfrm>
            <a:off x="1016000" y="1270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E66D"/>
                </a:solidFill>
              </a:rPr>
              <a:t>→  Thousands of experiments — impossible with commercial APIs</a:t>
            </a:r>
            <a:endParaRPr lang="ko-KR" altLang="en-US" sz="2000" b="1">
              <a:solidFill>
                <a:srgbClr val="FFE66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576EC-9376-4FF7-8AA5-433B0CE7EBB7}"/>
              </a:ext>
            </a:extLst>
          </p:cNvPr>
          <p:cNvSpPr txBox="1"/>
          <p:nvPr/>
        </p:nvSpPr>
        <p:spPr>
          <a:xfrm>
            <a:off x="1016000" y="2095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4ECDC4"/>
                </a:solidFill>
              </a:rPr>
              <a:t>→  Edge case discovery — weak models surface hidden gaps</a:t>
            </a:r>
            <a:endParaRPr lang="ko-KR" altLang="en-US" sz="2000" b="1">
              <a:solidFill>
                <a:srgbClr val="4ECDC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8ED0B-F372-4174-9D36-3D02EBF655AF}"/>
              </a:ext>
            </a:extLst>
          </p:cNvPr>
          <p:cNvSpPr txBox="1"/>
          <p:nvPr/>
        </p:nvSpPr>
        <p:spPr>
          <a:xfrm>
            <a:off x="1016000" y="2921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00D4AA"/>
                </a:solidFill>
              </a:rPr>
              <a:t>→  System hardening — every fix strengthens all models</a:t>
            </a:r>
            <a:endParaRPr lang="ko-KR" altLang="en-US" sz="2000" b="1">
              <a:solidFill>
                <a:srgbClr val="00D4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7D704-F1FA-4B98-8B1C-E09FBF08EA0D}"/>
              </a:ext>
            </a:extLst>
          </p:cNvPr>
          <p:cNvSpPr txBox="1"/>
          <p:nvPr/>
        </p:nvSpPr>
        <p:spPr>
          <a:xfrm>
            <a:off x="1016000" y="37465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60A5FA"/>
                </a:solidFill>
              </a:rPr>
              <a:t>→  Double-stringify discovery → contributes to Qwen</a:t>
            </a:r>
            <a:endParaRPr lang="ko-KR" altLang="en-US" sz="2000" b="1">
              <a:solidFill>
                <a:srgbClr val="60A5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8DA40-6870-4F65-9093-1A2CAEFBF660}"/>
              </a:ext>
            </a:extLst>
          </p:cNvPr>
          <p:cNvSpPr txBox="1"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A78BFA"/>
                </a:solidFill>
              </a:rPr>
              <a:t>→  Open source isn't just a license — it's a methodology</a:t>
            </a:r>
            <a:endParaRPr lang="ko-KR" altLang="en-US" sz="2000" b="1">
              <a:solidFill>
                <a:srgbClr val="A78B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311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54B02-703D-4EDD-B6F7-7229CE68EBD3}"/>
              </a:ext>
            </a:extLst>
          </p:cNvPr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/>
              <a:t>Chapter 5</a:t>
            </a:r>
            <a:endParaRPr lang="ko-KR" altLang="en-US" sz="2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DEA79-12FE-48FA-858C-6E05F952A833}"/>
              </a:ext>
            </a:extLst>
          </p:cNvPr>
          <p:cNvSpPr txBox="1"/>
          <p:nvPr/>
        </p:nvSpPr>
        <p:spPr>
          <a:xfrm>
            <a:off x="762000" y="2413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6000" b="1">
                <a:solidFill>
                  <a:srgbClr val="00D4AA"/>
                </a:solidFill>
              </a:rPr>
              <a:t>Closing</a:t>
            </a:r>
            <a:endParaRPr lang="ko-KR" altLang="en-US" sz="6000" b="1">
              <a:solidFill>
                <a:srgbClr val="00D4AA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2BEE33-36D9-497C-B4A3-37F86115EE5A}"/>
              </a:ext>
            </a:extLst>
          </p:cNvPr>
          <p:cNvSpPr/>
          <p:nvPr/>
        </p:nvSpPr>
        <p:spPr>
          <a:xfrm>
            <a:off x="4826000" y="3530600"/>
            <a:ext cx="254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057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2AC759-85CC-458B-A67F-116C61D30587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The Journey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F2C573-3F65-4147-852D-B173C7089AAA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FA297A5-60DF-49C5-8699-E417BFF88E09}"/>
              </a:ext>
            </a:extLst>
          </p:cNvPr>
          <p:cNvSpPr/>
          <p:nvPr/>
        </p:nvSpPr>
        <p:spPr>
          <a:xfrm>
            <a:off x="1016000" y="1270000"/>
            <a:ext cx="1905000" cy="8255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</a:rPr>
              <a:t>6.75%</a:t>
            </a:r>
            <a:endParaRPr lang="ko-KR" altLang="en-US" sz="2400" b="1">
              <a:solidFill>
                <a:srgbClr val="0F192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B8EFC-F97C-4802-BC05-21BE7C2E671B}"/>
              </a:ext>
            </a:extLst>
          </p:cNvPr>
          <p:cNvSpPr txBox="1"/>
          <p:nvPr/>
        </p:nvSpPr>
        <p:spPr>
          <a:xfrm>
            <a:off x="3302000" y="14605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Raw function calling success</a:t>
            </a:r>
            <a:endParaRPr lang="ko-KR" altLang="en-US" sz="2200">
              <a:solidFill>
                <a:srgbClr val="D0D0D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028BBB5-CAA5-4C9B-BE50-BC520E0A4EEC}"/>
              </a:ext>
            </a:extLst>
          </p:cNvPr>
          <p:cNvSpPr/>
          <p:nvPr/>
        </p:nvSpPr>
        <p:spPr>
          <a:xfrm>
            <a:off x="1016000" y="2413000"/>
            <a:ext cx="1905000" cy="825500"/>
          </a:xfrm>
          <a:prstGeom prst="round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</a:rPr>
              <a:t>Typia</a:t>
            </a:r>
            <a:endParaRPr lang="ko-KR" altLang="en-US" sz="2400" b="1">
              <a:solidFill>
                <a:srgbClr val="0F192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CB369-C268-4E9D-8217-6B1ED7960644}"/>
              </a:ext>
            </a:extLst>
          </p:cNvPr>
          <p:cNvSpPr txBox="1"/>
          <p:nvPr/>
        </p:nvSpPr>
        <p:spPr>
          <a:xfrm>
            <a:off x="3302000" y="26035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Parse → Coerce → Validate → Feedback</a:t>
            </a:r>
            <a:endParaRPr lang="ko-KR" altLang="en-US" sz="2200">
              <a:solidFill>
                <a:srgbClr val="D0D0D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B7E35C7-A1DB-4C7B-A4B8-83987C10E26F}"/>
              </a:ext>
            </a:extLst>
          </p:cNvPr>
          <p:cNvSpPr/>
          <p:nvPr/>
        </p:nvSpPr>
        <p:spPr>
          <a:xfrm>
            <a:off x="1016000" y="3556000"/>
            <a:ext cx="1905000" cy="825500"/>
          </a:xfrm>
          <a:prstGeom prst="roundRect">
            <a:avLst/>
          </a:prstGeom>
          <a:solidFill>
            <a:srgbClr val="60A5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</a:rPr>
              <a:t>Loop</a:t>
            </a:r>
            <a:endParaRPr lang="ko-KR" altLang="en-US" sz="2400" b="1">
              <a:solidFill>
                <a:srgbClr val="0F192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A430B-4670-4A17-B050-5345FA76F64E}"/>
              </a:ext>
            </a:extLst>
          </p:cNvPr>
          <p:cNvSpPr txBox="1"/>
          <p:nvPr/>
        </p:nvSpPr>
        <p:spPr>
          <a:xfrm>
            <a:off x="3302000" y="37465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D0D0D0"/>
                </a:solidFill>
              </a:rPr>
              <a:t>Deterministic validation overcomes probabilistic LLM</a:t>
            </a:r>
            <a:endParaRPr lang="ko-KR" altLang="en-US" sz="2200">
              <a:solidFill>
                <a:srgbClr val="D0D0D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A116D4-50AE-4D48-AFC5-FF284F5D919C}"/>
              </a:ext>
            </a:extLst>
          </p:cNvPr>
          <p:cNvSpPr/>
          <p:nvPr/>
        </p:nvSpPr>
        <p:spPr>
          <a:xfrm>
            <a:off x="1016000" y="4699000"/>
            <a:ext cx="1905000" cy="8255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 b="1">
                <a:solidFill>
                  <a:srgbClr val="0F1923"/>
                </a:solidFill>
              </a:rPr>
              <a:t>100%</a:t>
            </a:r>
            <a:endParaRPr lang="ko-KR" altLang="en-US" sz="2400" b="1">
              <a:solidFill>
                <a:srgbClr val="0F192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F24895-3D43-474C-BEA7-9A69324EEA07}"/>
              </a:ext>
            </a:extLst>
          </p:cNvPr>
          <p:cNvSpPr txBox="1"/>
          <p:nvPr/>
        </p:nvSpPr>
        <p:spPr>
          <a:xfrm>
            <a:off x="3302000" y="4889500"/>
            <a:ext cx="812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n-NO" altLang="ko-KR" sz="2200">
                <a:solidFill>
                  <a:srgbClr val="D0D0D0"/>
                </a:solidFill>
              </a:rPr>
              <a:t>All 4 Qwen models, same pipeline</a:t>
            </a:r>
            <a:endParaRPr lang="ko-KR" altLang="en-US" sz="22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8180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C20A4-2EDD-4106-9A78-112D99D09230}"/>
              </a:ext>
            </a:extLst>
          </p:cNvPr>
          <p:cNvSpPr txBox="1"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00D4AA"/>
                </a:solidFill>
                <a:latin typeface="Segoe UI Semibold"/>
                <a:cs typeface="Segoe UI Semibold"/>
              </a:rPr>
              <a:t>Three Principles</a:t>
            </a:r>
            <a:endParaRPr lang="ko-KR" altLang="en-US" sz="3200" b="1">
              <a:solidFill>
                <a:srgbClr val="00D4AA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F075A9-F25B-44EB-B259-9B32117F2F99}"/>
              </a:ext>
            </a:extLst>
          </p:cNvPr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327BF9D-8D7C-4726-B11A-5D2F1ADBDA16}"/>
              </a:ext>
            </a:extLst>
          </p:cNvPr>
          <p:cNvSpPr/>
          <p:nvPr/>
        </p:nvSpPr>
        <p:spPr>
          <a:xfrm>
            <a:off x="1270000" y="1397000"/>
            <a:ext cx="3556000" cy="1016000"/>
          </a:xfrm>
          <a:prstGeom prst="roundRect">
            <a:avLst/>
          </a:prstGeom>
          <a:solidFill>
            <a:srgbClr val="4ECDC4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3000" b="1">
                <a:solidFill>
                  <a:srgbClr val="0F1923"/>
                </a:solidFill>
              </a:rPr>
              <a:t>Types</a:t>
            </a:r>
            <a:endParaRPr lang="ko-KR" altLang="en-US" sz="3000" b="1">
              <a:solidFill>
                <a:srgbClr val="0F192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929BD-71C0-4B6C-B73F-B7EB3FF9BA8E}"/>
              </a:ext>
            </a:extLst>
          </p:cNvPr>
          <p:cNvSpPr txBox="1"/>
          <p:nvPr/>
        </p:nvSpPr>
        <p:spPr>
          <a:xfrm>
            <a:off x="5080000" y="16510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A0A0A0"/>
                </a:solidFill>
              </a:rPr>
              <a:t>&gt;</a:t>
            </a:r>
            <a:endParaRPr lang="ko-KR" altLang="en-US" sz="3000" b="1">
              <a:solidFill>
                <a:srgbClr val="A0A0A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03F8DD-5076-4E99-81D5-C1C197C5782A}"/>
              </a:ext>
            </a:extLst>
          </p:cNvPr>
          <p:cNvSpPr/>
          <p:nvPr/>
        </p:nvSpPr>
        <p:spPr>
          <a:xfrm>
            <a:off x="5842000" y="1397000"/>
            <a:ext cx="3556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6060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>
                <a:solidFill>
                  <a:srgbClr val="909090"/>
                </a:solidFill>
              </a:rPr>
              <a:t>Prompts</a:t>
            </a:r>
            <a:endParaRPr lang="ko-KR" altLang="en-US" sz="2400">
              <a:solidFill>
                <a:srgbClr val="90909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C104DD6-F65E-4821-ADF6-EEA8358091B1}"/>
              </a:ext>
            </a:extLst>
          </p:cNvPr>
          <p:cNvSpPr/>
          <p:nvPr/>
        </p:nvSpPr>
        <p:spPr>
          <a:xfrm>
            <a:off x="1270000" y="2921000"/>
            <a:ext cx="3556000" cy="1016000"/>
          </a:xfrm>
          <a:prstGeom prst="roundRect">
            <a:avLst/>
          </a:prstGeom>
          <a:solidFill>
            <a:srgbClr val="60A5FA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3000" b="1">
                <a:solidFill>
                  <a:srgbClr val="0F1923"/>
                </a:solidFill>
              </a:rPr>
              <a:t>Schemas</a:t>
            </a:r>
            <a:endParaRPr lang="ko-KR" altLang="en-US" sz="3000" b="1">
              <a:solidFill>
                <a:srgbClr val="0F192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015CE-5145-44F3-A559-AB04DCA5C1B7}"/>
              </a:ext>
            </a:extLst>
          </p:cNvPr>
          <p:cNvSpPr txBox="1"/>
          <p:nvPr/>
        </p:nvSpPr>
        <p:spPr>
          <a:xfrm>
            <a:off x="5080000" y="31750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A0A0A0"/>
                </a:solidFill>
              </a:rPr>
              <a:t>&gt;</a:t>
            </a:r>
            <a:endParaRPr lang="ko-KR" altLang="en-US" sz="3000" b="1">
              <a:solidFill>
                <a:srgbClr val="A0A0A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3BF383-50C6-49AB-98EF-60C214772A4E}"/>
              </a:ext>
            </a:extLst>
          </p:cNvPr>
          <p:cNvSpPr/>
          <p:nvPr/>
        </p:nvSpPr>
        <p:spPr>
          <a:xfrm>
            <a:off x="5842000" y="2921000"/>
            <a:ext cx="3556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6060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>
                <a:solidFill>
                  <a:srgbClr val="909090"/>
                </a:solidFill>
              </a:rPr>
              <a:t>Prohibition</a:t>
            </a:r>
            <a:endParaRPr lang="ko-KR" altLang="en-US" sz="2400">
              <a:solidFill>
                <a:srgbClr val="90909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595DD9-DEDA-404E-9E8E-FCF33CD661CF}"/>
              </a:ext>
            </a:extLst>
          </p:cNvPr>
          <p:cNvSpPr/>
          <p:nvPr/>
        </p:nvSpPr>
        <p:spPr>
          <a:xfrm>
            <a:off x="1270000" y="4445000"/>
            <a:ext cx="3556000" cy="1016000"/>
          </a:xfrm>
          <a:prstGeom prst="roundRect">
            <a:avLst/>
          </a:prstGeom>
          <a:solidFill>
            <a:srgbClr val="FFE66D"/>
          </a:solidFill>
          <a:ln w="190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3000" b="1">
                <a:solidFill>
                  <a:srgbClr val="0F1923"/>
                </a:solidFill>
              </a:rPr>
              <a:t>Validation</a:t>
            </a:r>
            <a:endParaRPr lang="ko-KR" altLang="en-US" sz="3000" b="1">
              <a:solidFill>
                <a:srgbClr val="0F192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E577E-2041-44CC-AC52-2E8052B3786F}"/>
              </a:ext>
            </a:extLst>
          </p:cNvPr>
          <p:cNvSpPr txBox="1"/>
          <p:nvPr/>
        </p:nvSpPr>
        <p:spPr>
          <a:xfrm>
            <a:off x="5080000" y="46990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000" b="1">
                <a:solidFill>
                  <a:srgbClr val="A0A0A0"/>
                </a:solidFill>
              </a:rPr>
              <a:t>&gt;</a:t>
            </a:r>
            <a:endParaRPr lang="ko-KR" altLang="en-US" sz="3000" b="1">
              <a:solidFill>
                <a:srgbClr val="A0A0A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25F076-BD55-4EEC-A503-2220093C5BB1}"/>
              </a:ext>
            </a:extLst>
          </p:cNvPr>
          <p:cNvSpPr/>
          <p:nvPr/>
        </p:nvSpPr>
        <p:spPr>
          <a:xfrm>
            <a:off x="5842000" y="4445000"/>
            <a:ext cx="3556000" cy="1016000"/>
          </a:xfrm>
          <a:prstGeom prst="roundRect">
            <a:avLst/>
          </a:prstGeom>
          <a:solidFill>
            <a:srgbClr val="1A2733"/>
          </a:solidFill>
          <a:ln w="19050" cap="flat" cmpd="sng" algn="ctr">
            <a:solidFill>
              <a:srgbClr val="6060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2400">
                <a:solidFill>
                  <a:srgbClr val="909090"/>
                </a:solidFill>
              </a:rPr>
              <a:t>Accuracy</a:t>
            </a:r>
            <a:endParaRPr lang="ko-KR" altLang="en-US" sz="2400">
              <a:solidFill>
                <a:srgbClr val="909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892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914A4-506D-482C-ADE0-3144D4F43BE6}"/>
              </a:ext>
            </a:extLst>
          </p:cNvPr>
          <p:cNvSpPr txBox="1"/>
          <p:nvPr/>
        </p:nvSpPr>
        <p:spPr>
          <a:xfrm>
            <a:off x="1016000" y="635000"/>
            <a:ext cx="10160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400" b="1">
                <a:solidFill>
                  <a:srgbClr val="00D4AA"/>
                </a:solidFill>
              </a:rPr>
              <a:t>"The LLM doesn't need
to be accurate.
It just needs to be
correctable."</a:t>
            </a:r>
            <a:endParaRPr lang="ko-KR" altLang="en-US" sz="4400" b="1">
              <a:solidFill>
                <a:srgbClr val="00D4A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71E92A-CA21-4F4B-A976-74C8D71F0442}"/>
              </a:ext>
            </a:extLst>
          </p:cNvPr>
          <p:cNvSpPr/>
          <p:nvPr/>
        </p:nvSpPr>
        <p:spPr>
          <a:xfrm>
            <a:off x="4445000" y="3937000"/>
            <a:ext cx="3302000" cy="508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F2009-3074-4D63-BE3E-369FD67F016D}"/>
              </a:ext>
            </a:extLst>
          </p:cNvPr>
          <p:cNvSpPr txBox="1"/>
          <p:nvPr/>
        </p:nvSpPr>
        <p:spPr>
          <a:xfrm>
            <a:off x="1270000" y="4318000"/>
            <a:ext cx="965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>
                <a:solidFill>
                  <a:srgbClr val="D0D0D0"/>
                </a:solidFill>
              </a:rPr>
              <a:t>Correctability is not a property of the model —
it's a property of the validation infrastructure.</a:t>
            </a:r>
            <a:endParaRPr lang="ko-KR" altLang="en-US" sz="2400">
              <a:solidFill>
                <a:srgbClr val="D0D0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60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06BAA0-CACE-4FEA-A79A-D785EE6857A0}"/>
              </a:ext>
            </a:extLst>
          </p:cNvPr>
          <p:cNvSpPr txBox="1"/>
          <p:nvPr/>
        </p:nvSpPr>
        <p:spPr>
          <a:xfrm>
            <a:off x="1016000" y="1016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5200" b="1">
                <a:solidFill>
                  <a:srgbClr val="00D4AA"/>
                </a:solidFill>
              </a:rPr>
              <a:t>Thank You</a:t>
            </a:r>
            <a:endParaRPr lang="ko-KR" altLang="en-US" sz="5200" b="1">
              <a:solidFill>
                <a:srgbClr val="00D4A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C31A31-3A19-4DF0-ACA3-BBEA2E2C6788}"/>
              </a:ext>
            </a:extLst>
          </p:cNvPr>
          <p:cNvSpPr/>
          <p:nvPr/>
        </p:nvSpPr>
        <p:spPr>
          <a:xfrm>
            <a:off x="4826000" y="2286000"/>
            <a:ext cx="2540000" cy="38100"/>
          </a:xfrm>
          <a:prstGeom prst="rect">
            <a:avLst/>
          </a:prstGeom>
          <a:solidFill>
            <a:srgbClr val="00D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715D6-C4FF-4D40-AB4B-05EE13AEC5CE}"/>
              </a:ext>
            </a:extLst>
          </p:cNvPr>
          <p:cNvSpPr txBox="1"/>
          <p:nvPr/>
        </p:nvSpPr>
        <p:spPr>
          <a:xfrm>
            <a:off x="1016000" y="2667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00D4AA"/>
                </a:solidFill>
              </a:rPr>
              <a:t>AutoBe    github.com/wrtnlabs/autobe</a:t>
            </a:r>
            <a:endParaRPr lang="ko-KR" altLang="en-US" sz="2200">
              <a:solidFill>
                <a:srgbClr val="00D4A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E03B2-D45E-4D9A-8285-0CEA4D8F6BD8}"/>
              </a:ext>
            </a:extLst>
          </p:cNvPr>
          <p:cNvSpPr txBox="1"/>
          <p:nvPr/>
        </p:nvSpPr>
        <p:spPr>
          <a:xfrm>
            <a:off x="1016000" y="33020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4ECDC4"/>
                </a:solidFill>
              </a:rPr>
              <a:t>Typia    github.com/samchon/typia</a:t>
            </a:r>
            <a:endParaRPr lang="ko-KR" altLang="en-US" sz="2200">
              <a:solidFill>
                <a:srgbClr val="4ECDC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4FC1B-DF7B-4145-AE72-72BA961DA950}"/>
              </a:ext>
            </a:extLst>
          </p:cNvPr>
          <p:cNvSpPr txBox="1"/>
          <p:nvPr/>
        </p:nvSpPr>
        <p:spPr>
          <a:xfrm>
            <a:off x="2540000" y="3937000"/>
            <a:ext cx="711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altLang="ko-KR" sz="2200">
                <a:solidFill>
                  <a:srgbClr val="60A5FA"/>
                </a:solidFill>
              </a:rPr>
              <a:t>Docs    autobe.dev  ·  typia.io</a:t>
            </a:r>
            <a:endParaRPr lang="ko-KR" altLang="en-US" sz="2200">
              <a:solidFill>
                <a:srgbClr val="60A5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C6040-BDEA-4E6B-877E-17715643F1B9}"/>
              </a:ext>
            </a:extLst>
          </p:cNvPr>
          <p:cNvSpPr txBox="1"/>
          <p:nvPr/>
        </p:nvSpPr>
        <p:spPr>
          <a:xfrm>
            <a:off x="1016000" y="5080000"/>
            <a:ext cx="1016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707070"/>
                </a:solidFill>
              </a:rPr>
              <a:t>Developed by Wrtn Technologies  ·  wrtn.io
Function Calling All-In  ·  Qwen Meetup Korea</a:t>
            </a:r>
            <a:endParaRPr lang="ko-KR" altLang="en-US">
              <a:solidFill>
                <a:srgbClr val="7070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9875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">
  <a:themeElements>
    <a:clrScheme name="AutoBe Tech">
      <a:dk1>
        <a:srgbClr val="F0F0F0"/>
      </a:dk1>
      <a:lt1>
        <a:srgbClr val="0F1923"/>
      </a:lt1>
      <a:dk2>
        <a:srgbClr val="C0C0C0"/>
      </a:dk2>
      <a:lt2>
        <a:srgbClr val="1A2733"/>
      </a:lt2>
      <a:accent1>
        <a:srgbClr val="00D4AA"/>
      </a:accent1>
      <a:accent2>
        <a:srgbClr val="FF6B6B"/>
      </a:accent2>
      <a:accent3>
        <a:srgbClr val="4ECDC4"/>
      </a:accent3>
      <a:accent4>
        <a:srgbClr val="FFE66D"/>
      </a:accent4>
      <a:accent5>
        <a:srgbClr val="A78BFA"/>
      </a:accent5>
      <a:accent6>
        <a:srgbClr val="60A5FA"/>
      </a:accent6>
      <a:hlink>
        <a:srgbClr val="F59E00"/>
      </a:hlink>
      <a:folHlink>
        <a:srgbClr val="B2B2B2"/>
      </a:folHlink>
    </a:clrScheme>
    <a:fontScheme name="AutoBe Fonts">
      <a:majorFont>
        <a:latin typeface="Segoe UI Semibold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기본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418BC6-09A9-40B5-983F-0A45734F6A6A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기본</Template>
  <TotalTime>226</TotalTime>
  <Words>5869</Words>
  <Application>Microsoft Office PowerPoint</Application>
  <PresentationFormat>와이드스크린</PresentationFormat>
  <Paragraphs>737</Paragraphs>
  <Slides>60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6" baseType="lpstr">
      <vt:lpstr>맑은 고딕</vt:lpstr>
      <vt:lpstr>Consolas</vt:lpstr>
      <vt:lpstr>Corbel</vt:lpstr>
      <vt:lpstr>Segoe UI</vt:lpstr>
      <vt:lpstr>Segoe UI Semibold</vt:lpstr>
      <vt:lpstr>기본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Jeongho Nam</dc:creator>
  <cp:lastModifiedBy>Jeongho Nam</cp:lastModifiedBy>
  <cp:revision>28</cp:revision>
  <dcterms:created xsi:type="dcterms:W3CDTF">2026-03-18T06:45:34Z</dcterms:created>
  <dcterms:modified xsi:type="dcterms:W3CDTF">2026-03-18T10:31:35Z</dcterms:modified>
</cp:coreProperties>
</file>