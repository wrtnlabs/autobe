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457200"/>
            <a:ext cx="4572000" cy="4572000"/>
          </a:xfrm>
          <a:prstGeom prst="ellipse">
            <a:avLst/>
          </a:prstGeom>
          <a:solidFill>
            <a:srgbClr val="58A6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"/>
            <a:ext cx="3200400" cy="3200400"/>
          </a:xfrm>
          <a:prstGeom prst="ellipse">
            <a:avLst/>
          </a:prstGeom>
          <a:solidFill>
            <a:srgbClr val="BC8CF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0" y="0"/>
            <a:ext cx="9144" cy="51435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94360"/>
            <a:ext cx="2262226" cy="274320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94360"/>
            <a:ext cx="22622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Qwen Meetup Korea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005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48640" y="17556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548640" y="2633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AutoBe가 Qwen으로 컴파일 성공률 100%를 달성하기까지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2918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8166"/>
                </a:solidFill>
              </a:rPr>
              <a:t>6.75%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92024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377440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950"/>
                </a:solidFill>
              </a:rPr>
              <a:t>100%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" y="3822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raw function call 성공률 → 최종 컴파일 성공률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wrtn.io  ·  AutoBe &amp; Typia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오늘의 이야기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6583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09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Part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AutoBe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194767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자연어 한 마디로 프로덕션 백엔드를 생성하는 오픈소스 AI 에이전트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77440"/>
            <a:ext cx="54864" cy="65836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87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</a:rPr>
              <a:t>Part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Typia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272491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Function calling의 전체 라이프사이클을 자동화하는 TypeScript 인프라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54680"/>
            <a:ext cx="54864" cy="6583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644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Part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Function Calling 예찬론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350215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정확성을 요하는 도메인에서 function calling이 왜 최적 방법론인가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31920"/>
            <a:ext cx="54864" cy="658368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41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8166"/>
                </a:solidFill>
              </a:rPr>
              <a:t>Part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왜 Qwen인가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91640" y="427939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R&amp;D 비용, 엣지케이스 발굴, 오픈 생태계의 선순환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핵심 메시지: LLM이 정확할 필요는 없다 — 교정 가능하면 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109728" cy="2011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731520"/>
            <a:ext cx="4114800" cy="4114800"/>
          </a:xfrm>
          <a:prstGeom prst="ellipse">
            <a:avLst/>
          </a:prstGeom>
          <a:solidFill>
            <a:srgbClr val="58A6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AutoBe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Function Calling 올인으로 만든 백엔드 AI 에이전트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github.com/wrtnlabs/autobe  ·  뤼튼테크놀로지스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73352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1 — AutoBe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한 마디면 충분하다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8229600" cy="68580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8132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6FC"/>
                </a:solidFill>
              </a:rPr>
              <a:t>"쇼핑몰 백엔드를 만들어줘. 상품 등록, 장바구니, 주문, 결제 기능이 필요해."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📄  요구사항 분석서 (SRS)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98648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986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🗃️  데이터베이스 스키마 (Prisma ERD)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65576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655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📡  API 명세서 (OpenAPI 3.1)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31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🧪  E2E 테스트 코드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898648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986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⚙️  완전한 구현 코드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465576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4655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🔗  타입 안전 SDK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이 모든 코드가 컴파일을 통과한다.  TypeScript + NestJS + Prisma 기반 실제 동작하는 백엔드.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autobe.dev  ·  실제 데모 영상 참고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757477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75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1 — 핵심 아이디어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코드를 직접 쓰지 않는다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93192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81328"/>
            <a:ext cx="3931920" cy="4572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❌  일반적인 AI 코딩 에이전트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·  LLM에게 "이런 코드를 작성해줘" 지시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·  LLM이 자유롭게 텍스트 생성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·  출력 텍스트를 소스 파일에 저장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·  컴파일 오류? 다시 시도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·  결과 품질이 매번 달라짐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481328"/>
            <a:ext cx="393192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81328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✅  AutoBe의 방식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965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·  미리 정의한 JSON Schema 구조체 제공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2423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·  LLM이 "빈칸"을 채운다 (function call)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2880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·  컴파일러가 구조 데이터 → 코드로 변환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·  컴파일러가 매 단계 검증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·  항상 컴파일 통과 = 결정론적 결과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LLM은 구조를 채우고,  컴파일러가 코드를 만든다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89227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589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1 — 파이프라인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AutoBe의 5단계 파이프라인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5544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155448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요구사항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분석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468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AutoBeAnalyzeDocument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371600" cy="4572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✓  구조 검증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2578608"/>
            <a:ext cx="155448" cy="2743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5" name="Shape 13"/>
          <p:cNvSpPr/>
          <p:nvPr/>
        </p:nvSpPr>
        <p:spPr>
          <a:xfrm>
            <a:off x="2075688" y="1463040"/>
            <a:ext cx="15544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5688" y="1463040"/>
            <a:ext cx="155448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2075688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75688" y="18470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데이터베이스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75688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설계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2121408" y="2468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AutoBeDatabase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67128" y="3108960"/>
            <a:ext cx="1371600" cy="4572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3" name="Text 21"/>
          <p:cNvSpPr/>
          <p:nvPr/>
        </p:nvSpPr>
        <p:spPr>
          <a:xfrm>
            <a:off x="2167128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✓  Prisma 컴파일러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30168" y="2578608"/>
            <a:ext cx="155448" cy="2743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5" name="Shape 23"/>
          <p:cNvSpPr/>
          <p:nvPr/>
        </p:nvSpPr>
        <p:spPr>
          <a:xfrm>
            <a:off x="3785616" y="1463040"/>
            <a:ext cx="15544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85616" y="1463040"/>
            <a:ext cx="155448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3785616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85616" y="18470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API 설계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395728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Text 28"/>
          <p:cNvSpPr/>
          <p:nvPr/>
        </p:nvSpPr>
        <p:spPr>
          <a:xfrm>
            <a:off x="3831336" y="2468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AutoBeOpenApi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77056" y="3108960"/>
            <a:ext cx="1371600" cy="4572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2" name="Text 30"/>
          <p:cNvSpPr/>
          <p:nvPr/>
        </p:nvSpPr>
        <p:spPr>
          <a:xfrm>
            <a:off x="3877056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✓  OpenAPI 컴파일러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40096" y="2578608"/>
            <a:ext cx="155448" cy="2743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4" name="Shape 32"/>
          <p:cNvSpPr/>
          <p:nvPr/>
        </p:nvSpPr>
        <p:spPr>
          <a:xfrm>
            <a:off x="5495544" y="1463040"/>
            <a:ext cx="15544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FA6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95544" y="1463040"/>
            <a:ext cx="1554480" cy="54864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36" name="Text 34"/>
          <p:cNvSpPr/>
          <p:nvPr/>
        </p:nvSpPr>
        <p:spPr>
          <a:xfrm>
            <a:off x="5495544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657"/>
                </a:solidFill>
              </a:rPr>
              <a:t>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95544" y="18470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테스트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95544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코드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0" name="Text 38"/>
          <p:cNvSpPr/>
          <p:nvPr/>
        </p:nvSpPr>
        <p:spPr>
          <a:xfrm>
            <a:off x="5541264" y="2468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AutoBeTest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86984" y="3108960"/>
            <a:ext cx="1371600" cy="4572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2" name="Text 40"/>
          <p:cNvSpPr/>
          <p:nvPr/>
        </p:nvSpPr>
        <p:spPr>
          <a:xfrm>
            <a:off x="5586984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✓  TypeScript 컴파일러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50024" y="2578608"/>
            <a:ext cx="155448" cy="2743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44" name="Shape 42"/>
          <p:cNvSpPr/>
          <p:nvPr/>
        </p:nvSpPr>
        <p:spPr>
          <a:xfrm>
            <a:off x="7205472" y="1463040"/>
            <a:ext cx="155448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05472" y="1463040"/>
            <a:ext cx="155448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6" name="Text 44"/>
          <p:cNvSpPr/>
          <p:nvPr/>
        </p:nvSpPr>
        <p:spPr>
          <a:xfrm>
            <a:off x="7205472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8166"/>
                </a:solidFill>
              </a:rPr>
              <a:t>05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05472" y="18470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구현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05472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코드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2395728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0" name="Text 48"/>
          <p:cNvSpPr/>
          <p:nvPr/>
        </p:nvSpPr>
        <p:spPr>
          <a:xfrm>
            <a:off x="7251192" y="2468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NestJS Module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96912" y="3108960"/>
            <a:ext cx="1371600" cy="4572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2" name="Text 50"/>
          <p:cNvSpPr/>
          <p:nvPr/>
        </p:nvSpPr>
        <p:spPr>
          <a:xfrm>
            <a:off x="7296912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✓  TypeScript 컴파일러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3822192"/>
            <a:ext cx="8412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매 단계: LLM이 TypeScript 타입 구조체를 채움 →  Typia가 파싱·검증 →  컴파일러가 최종 검증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  단 한 단계라도 컴파일 실패 시 해당 단계를 재시도.  최종 결과물은 항상 컴파일 통과.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93976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1 — LLM에게 시키는 일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채워야 할 구조: IJsonSchema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API 설계 단계에서 LLM이 생성해야 하는 DTO 스키마 타입. 10가지 variant, 무한 깊이 재귀 중첩.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822960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18488"/>
            <a:ext cx="80101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type IJsonSchema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IJsonSchema.IConstant       // "hello", 42, true  (리터럴 상수)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IJsonSchema.IBoolean        // true | 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IJsonSchema.IInteger        // 정수  (Minimum, Maximum 등 제약 지원)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IJsonSchema.INumber         // 부동소수점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IJsonSchema.IString         // 문자열  (Format, Pattern 등 제약 지원)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IJsonSchema.IArray          // items: IJsonSchema  ← 재귀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IJsonSchema.IObject         // properties: Record&lt;string, IJsonSchema&gt;  ← 재귀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IJsonSchema.IReference      // $ref: "#/components/schemas/..."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IJsonSchema.IOneOf          // oneOf: IJsonSchema[]  ← 재귀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IJsonSchema.INull;          // null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3931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8166"/>
                </a:solidFill>
              </a:rPr>
              <a:t>raw 성공률 (qwen3-coder-next)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507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이 타입을 한 번에 올바르게 채울 확률: 6.75%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100번 시도하면 93번이 실패한다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4206240"/>
            <a:ext cx="3931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AutoBe 최종 컴파일 성공률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4507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Qwen 4종 전부: 100%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(Typia의 validation feedback loop 덕분)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430475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4304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1 — LLM에게 시키는 일 (2)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복잡한 구조: IExpression (테스트 코드 생성)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E2E 테스트 코드를 생성하려면 프로그래밍 언어 수준의 표현식을 function calling 하나로 생성해야 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75488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475488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18488"/>
            <a:ext cx="45354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type IExpression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IBooleanLiteral | INumericLiteral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IStringLiteral  | IArrayLiteral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IObjectLiteralExpression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INullLiteral    | IUndefinedKeyword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IIdentifier     | IPropertyAccessExpression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IElementAccessExpression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ITypeOfExpression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IPrefixUnaryExpression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IPostfixUnaryExpression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IBinaryExpression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IArrowFunction  | ICallExpression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INewExpression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IArrayFilterExpression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IArrayForEachExpression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IArrayMapExpression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IArrayRepeatExpression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IPickRandom   | ISampleRandom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IBooleanRandom | IIntegerRandom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IStringRandom  | IPatternRandom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IFormatRandom  | IKeywordRandom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IEqualPredicate | INotEqualPredicate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IConditionalPredicate | IErrorPredicate;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1508760"/>
            <a:ext cx="329184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</a:rPr>
              <a:t>복잡도 수준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8CFF"/>
                </a:solidFill>
              </a:rPr>
              <a:t>30+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0372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variant 종류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26151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8CFF"/>
                </a:solidFill>
              </a:rPr>
              <a:t>∞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03720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재귀 중첩 깊이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32369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8CFF"/>
                </a:solidFill>
              </a:rPr>
              <a:t>1개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function call로 전부 생성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38587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8CFF"/>
                </a:solidFill>
              </a:rPr>
              <a:t>TypeScript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컴파일러로 검증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사실상 프로그래밍 언어 수준의 복잡도를 LLM이 한 번에 생성해야 한다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36853" cy="274320"/>
          </a:xfrm>
          <a:prstGeom prst="roundRect">
            <a:avLst>
              <a:gd name="adj" fmla="val 16667"/>
            </a:avLst>
          </a:prstGeom>
          <a:solidFill>
            <a:srgbClr val="F781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3368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1 — 결과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6.75%를 100%로 만드는 방법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한 번에 틀려도 괜찮다. 정확한 피드백을 주면 LLM은 결국 맞출 수 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46888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8166"/>
                </a:solidFill>
              </a:rPr>
              <a:t>6.75%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qwen3-coder-next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140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IJsonSchema raw 성공률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46888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8166"/>
                </a:solidFill>
              </a:rPr>
              <a:t>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2212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qwen3.5 시리즈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4140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union 타입 raw 성공률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46888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B950"/>
                </a:solidFill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2212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Typia 적용 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24140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전 모델 컴파일 성공률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1536192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182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8A6FF"/>
                </a:solidFill>
              </a:rPr>
              <a:t>LLM Function Call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01952" y="3538728"/>
            <a:ext cx="155448" cy="2743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3063240"/>
            <a:ext cx="1536192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93976" y="3182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C8CFF"/>
                </a:solidFill>
              </a:rPr>
              <a:t>Lenient Parse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93976" y="3456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+ Coerce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93592" y="3538728"/>
            <a:ext cx="155448" cy="2743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5" name="Shape 23"/>
          <p:cNvSpPr/>
          <p:nvPr/>
        </p:nvSpPr>
        <p:spPr>
          <a:xfrm>
            <a:off x="3749040" y="3063240"/>
            <a:ext cx="1536192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85616" y="3182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</a:rPr>
              <a:t>Schema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85616" y="3456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85232" y="3538728"/>
            <a:ext cx="155448" cy="2743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9" name="Shape 27"/>
          <p:cNvSpPr/>
          <p:nvPr/>
        </p:nvSpPr>
        <p:spPr>
          <a:xfrm>
            <a:off x="5440680" y="3063240"/>
            <a:ext cx="1536192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3182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8166"/>
                </a:solidFill>
              </a:rPr>
              <a:t>// ❌ 인라인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77256" y="3456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피드백 생성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76872" y="3538728"/>
            <a:ext cx="155448" cy="2743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0" y="3063240"/>
            <a:ext cx="1536192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68896" y="3182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8A6FF"/>
                </a:solidFill>
              </a:rPr>
              <a:t>LLM 재시도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133088"/>
            <a:ext cx="8229600" cy="320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133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실패 시 피드백 포함하여 재시도 ↺  —  성공할 때까지 루프.  강한 모델은 1-2번, 약한 모델은 10-15번.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모델은 여전히 확률적으로 틀리지만,  모델 바깥의 루프가 결정론적이니까  결국 100%에 수렴한다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93976" cy="274320"/>
          </a:xfrm>
          <a:prstGeom prst="roundRect">
            <a:avLst>
              <a:gd name="adj" fmla="val 16667"/>
            </a:avLst>
          </a:prstGeom>
          <a:solidFill>
            <a:srgbClr val="F781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1 — Feedback 예시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❌ 인라인 에러 주석: LLM이 읽는 피드백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Typia가 LLM이 반환한 원본 JSON 위에 에러 지점마다 // ❌ 인라인 주석을 삽입하여 돌려준다.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30175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822960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18488"/>
            <a:ext cx="80101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"schemas":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"str"  // ❌ expected: "boolean" | "number" | "string" | "object" | "array"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"product":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"price": -100,   // ❌ expected: number &amp; Minimum&lt;0&gt;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"quantity": 2.5  // ❌ expected: number &amp; Type&lt;"uint32"&gt;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"email": "not-an-email",  // ❌ expected: string &amp; Format&lt;"email"&gt;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"vip": "yes"              // ❌ expected: boolean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645152"/>
            <a:ext cx="3931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663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LLM은 지적받은 필드만 정확히 교정하여 재시도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→  전체를 다시 쓸 필요 없음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4645152"/>
            <a:ext cx="3931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4663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경로(path) + 기대값(expected) + 실제값(value)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→  3가지 정보로 LLM이 즉시 파악 가능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89227" cy="274320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589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1 — 결과 요약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4종 전부 컴파일 성공률 100%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" cy="7132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qwen/qwen3-coder-next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코딩 특화, tool choice 지원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161848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58A6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1618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6.75% raw → 100%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13432"/>
            <a:ext cx="54864" cy="71323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qwen/qwen3.5-397b-a17b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2679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활성 17B  /  전체 397B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2386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최대 규모 MoE 모델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242316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BC8CF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423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</a:rPr>
              <a:t>Type Coercion 적용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18104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18104"/>
            <a:ext cx="54864" cy="7132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91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qwen/qwen3.5-122b-a10b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4838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활성 10B  /  전체 122B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3191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중간 규모 MoE 모델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3760" y="3227832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3FB950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3227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Type Coercion 적용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922776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22776"/>
            <a:ext cx="54864" cy="713232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995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qwen/qwen3.5-35b-a3b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42885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활성 3B  /  전체 35B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3995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소형 MoE, 3B 활성 파라미터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23760" y="4032504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FA657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4032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657"/>
                </a:solidFill>
              </a:rPr>
              <a:t>3B로도 쇼핑몰 백엔드 생성!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397B부터 35B까지.  동일한 파이프라인, 동일한 스키마, 동일한 결과.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05102" cy="274320"/>
          </a:xfrm>
          <a:prstGeom prst="roundRect">
            <a:avLst>
              <a:gd name="adj" fmla="val 16667"/>
            </a:avLst>
          </a:prstGeom>
          <a:solidFill>
            <a:srgbClr val="FFA6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505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1 — 에피소드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프롬프트가 빠진 빌드를 배포했다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FFA6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</a:rPr>
              <a:t>💡 실제로 일어난 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9280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배포 후 시스템 프롬프트가 통째로 빠져 있다는 걸 발견했다.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자연어 지시 없이, function calling 스키마와 validation 로직만으로 동작하고 있었다.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아무도 인지하지 못했다. 출력 품질이 동일했다.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260604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63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한 번이 아니었다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3063240"/>
            <a:ext cx="260604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063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여러 차례 같은 일이 반복됐다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3063240"/>
            <a:ext cx="260604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30632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매번 결과는 같았다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결론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78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</a:rPr>
              <a:t>타입이 가장 좋은 프롬프트였다.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Validation feedback이 가장 좋은 오케스트레이션이었다.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109728" cy="20116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BC8C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BC8C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Typia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Function Calling의 전체 라이프사이클을 자동화하는 인프라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github.com/samchon/typia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41602" cy="274320"/>
          </a:xfrm>
          <a:prstGeom prst="roundRect">
            <a:avLst>
              <a:gd name="adj" fmla="val 16667"/>
            </a:avLst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41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2 — Typia 개요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타입 하나로 모든 것을 해결한다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타입을 정의하기만 하면 Typia가 나머지를 전부 해결한다.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572768" cy="256032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1572768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727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</a:rPr>
              <a:t>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스키마 생성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317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typia.llm.parameters&lt;T&gt;()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6791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JSDoc 주석 → description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0266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타입 제약 → validation 규칙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29968" y="1508760"/>
            <a:ext cx="1572768" cy="2560320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1508760"/>
            <a:ext cx="1572768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2029968" y="15727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C8CFF"/>
                </a:solidFill>
              </a:rPr>
              <a:t>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75688" y="19385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Lenient Parsing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249424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2075688" y="23317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ILlmFunction.parse()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75688" y="26791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깨진 JSON 복구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75688" y="30266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Markdown 코드블록 추출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39896" y="1508760"/>
            <a:ext cx="1572768" cy="256032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9896" y="1508760"/>
            <a:ext cx="1572768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3739896" y="15727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</a:rPr>
              <a:t>③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785616" y="19385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Type Coercion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249424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3785616" y="23317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ILlmFunction.coerce()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85616" y="26791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스키마 기반 타입 자동 변환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85616" y="30266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이중 stringify 복원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49824" y="1508760"/>
            <a:ext cx="1572768" cy="2560320"/>
          </a:xfrm>
          <a:prstGeom prst="rect">
            <a:avLst/>
          </a:prstGeom>
          <a:solidFill>
            <a:srgbClr val="161B22"/>
          </a:solidFill>
          <a:ln w="15240">
            <a:solidFill>
              <a:srgbClr val="FFA6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9824" y="1508760"/>
            <a:ext cx="1572768" cy="45720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32" name="Text 30"/>
          <p:cNvSpPr/>
          <p:nvPr/>
        </p:nvSpPr>
        <p:spPr>
          <a:xfrm>
            <a:off x="5449824" y="15727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A657"/>
                </a:solidFill>
              </a:rPr>
              <a:t>④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95544" y="19385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2249424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5" name="Text 33"/>
          <p:cNvSpPr/>
          <p:nvPr/>
        </p:nvSpPr>
        <p:spPr>
          <a:xfrm>
            <a:off x="5495544" y="23317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ILlmFunction.validate()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95544" y="26791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스키마 위반 탐지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95544" y="30266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경로 + 기대값 + 실제값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59752" y="1508760"/>
            <a:ext cx="1572768" cy="2560320"/>
          </a:xfrm>
          <a:prstGeom prst="rect">
            <a:avLst/>
          </a:prstGeom>
          <a:solidFill>
            <a:srgbClr val="161B22"/>
          </a:solidFill>
          <a:ln w="15240">
            <a:solidFill>
              <a:srgbClr val="F781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59752" y="1508760"/>
            <a:ext cx="1572768" cy="4572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0" name="Text 38"/>
          <p:cNvSpPr/>
          <p:nvPr/>
        </p:nvSpPr>
        <p:spPr>
          <a:xfrm>
            <a:off x="7159752" y="15727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8166"/>
                </a:solidFill>
              </a:rPr>
              <a:t>⑤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205472" y="19385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피드백 생성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2249424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3" name="Text 41"/>
          <p:cNvSpPr/>
          <p:nvPr/>
        </p:nvSpPr>
        <p:spPr>
          <a:xfrm>
            <a:off x="7205472" y="23317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LlmJson.stringify()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05472" y="26791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// ❌ 인라인 주석 삽입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05472" y="30266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LLM이 바로 이해 가능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187952"/>
            <a:ext cx="850392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1879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8CFF"/>
                </a:solidFill>
              </a:rPr>
              <a:t>타입이 곧 스키마이자  validator이자  프롬프트다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이 5단계 파이프라인이  6.75% → 100%  달성의 전체 엔진이다.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41602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41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2 — ① 스키마 생성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타입 → JSON Schema 자동 변환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컴파일 타임에 타입을 분석해 스키마를 생성한다. 런타임 리플렉션이 아니다.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393192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18488"/>
            <a:ext cx="37124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IMember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* 회원의 나이.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* 만 19세 이상만 가입 가능.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number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 tags.Type&lt;"uint32"&gt;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 tags.ExclusiveMinimum&lt;18&gt;;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 tags.Format&lt;"email"&gt;;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 tags.MinLength&lt;1&gt;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 tags.MaxLength&lt;100&gt;;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schema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typia.llm.parameters&lt;IMember&gt;();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08760"/>
            <a:ext cx="402336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618488"/>
            <a:ext cx="38039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자동 생성 결과: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"object",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"integer",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"회원의 나이.\n만 19세 이상...",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"exclusiveMinimum": 18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"email":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"format": "email"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"minLength":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"maxLength": 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"required": ["age","email","name"]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3931920" cy="16459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920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JSDoc 주석 → description (LLM이 읽는다)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4892040"/>
            <a:ext cx="4023360" cy="16459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48920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타입 제약 → validation 규칙 (기계가 검증한다)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598725" cy="274320"/>
          </a:xfrm>
          <a:prstGeom prst="roundRect">
            <a:avLst>
              <a:gd name="adj" fmla="val 16667"/>
            </a:avLst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5987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2 — ② Lenient Parsing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뱉는 깨진 JSON을 전부 수습한다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LLM은 JSON 생성기가 아니다. 토큰 단위로 텍스트를 생성하는 언어 모델이다.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닫히지 않은 bracket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5727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{"name": "John"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11880" y="1655064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FB950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6550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</a:rPr>
              <a:t>자동 닫기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402336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574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후행 쉼표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0574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11880" y="2139696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FB95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1396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</a:rPr>
              <a:t>무시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402336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420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JavaScript 주석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5420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{"a": 1 /* comment */}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11880" y="262432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FB950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26243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</a:rPr>
              <a:t>제거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026664"/>
            <a:ext cx="402336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266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따옴표 없는 key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0266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{name: "John"}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11880" y="310896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FB950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31089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</a:rPr>
              <a:t>허용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1572768"/>
            <a:ext cx="402336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5727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불완전한 키워드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15727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{"done": tru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18120" y="1655064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FB950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16550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</a:rPr>
              <a:t>true로 완성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057400"/>
            <a:ext cx="402336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0574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설명 텍스트 접두사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20574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Here is JSON: {"a":1}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18120" y="2139696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FB950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818120" y="21396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</a:rPr>
              <a:t>건너뛰기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542032"/>
            <a:ext cx="402336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5420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</a:rPr>
              <a:t>Markdown 코드블록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25420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```json\n{...}\n```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18120" y="262432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FB950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818120" y="26243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</a:rPr>
              <a:t>내부 추출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</a:rPr>
              <a:t>이 모든 문제가 한꺼번에 발생해도  parse()  한 번으로 전부 처리된다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430475" cy="274320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4304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2 — ③ Type Coercion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3.5의 이중 stringify 문제 해결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Qwen 3.5 시리즈는 union 타입이 등장하면 객체를 통째로 문자열로 감싸버린다 → raw 성공률 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146304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822960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18488"/>
            <a:ext cx="8010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 Qwen 3.5 출력: 객체가 문자열로 이중 stringify되어 있음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"payment": "{\"type\":\"card\",\"cardNumber\":\"1234-5678\"}"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 coerce() 적용 후: JSON Schema 참조하여 자동 복원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"payment": { "type": "card", "cardNumber": "1234-5678" } 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스키마 기반 타입 변환 규칙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64992"/>
            <a:ext cx="2560320" cy="274320"/>
          </a:xfrm>
          <a:prstGeom prst="rect">
            <a:avLst/>
          </a:prstGeom>
          <a:solidFill>
            <a:srgbClr val="2D333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</a:rPr>
              <a:t>LLM 출력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90672" y="3364992"/>
            <a:ext cx="2560320" cy="274320"/>
          </a:xfrm>
          <a:prstGeom prst="rect">
            <a:avLst/>
          </a:prstGeom>
          <a:solidFill>
            <a:srgbClr val="2D333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</a:rPr>
              <a:t>스키마 기대 타입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24144" y="3364992"/>
            <a:ext cx="2560320" cy="274320"/>
          </a:xfrm>
          <a:prstGeom prst="rect">
            <a:avLst/>
          </a:prstGeom>
          <a:solidFill>
            <a:srgbClr val="2D333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864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</a:rPr>
              <a:t>변환 결과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25603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3931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90672" y="3639312"/>
            <a:ext cx="25603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363931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/ integer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24144" y="3639312"/>
            <a:ext cx="25603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363931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95344"/>
            <a:ext cx="2560320" cy="24688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9534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 / "false"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90672" y="3895344"/>
            <a:ext cx="2560320" cy="24688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6392" y="389534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24144" y="3895344"/>
            <a:ext cx="2560320" cy="24688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9864" y="389534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151376"/>
            <a:ext cx="25603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5137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"null"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90672" y="4151376"/>
            <a:ext cx="25603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36392" y="415137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24144" y="4151376"/>
            <a:ext cx="25603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9864" y="415137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407408"/>
            <a:ext cx="2560320" cy="24688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40740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'{"x":1}'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90672" y="4407408"/>
            <a:ext cx="2560320" cy="24688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36392" y="440740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24144" y="4407408"/>
            <a:ext cx="2560320" cy="24688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9864" y="440740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x: 1 }  (재귀적 파싱)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663440"/>
            <a:ext cx="25603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66344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"[1,2,3]"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090672" y="4663440"/>
            <a:ext cx="25603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36392" y="466344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24144" y="4663440"/>
            <a:ext cx="25603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9864" y="466344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3]  (재귀적 파싱)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919472"/>
            <a:ext cx="8229600" cy="109728"/>
          </a:xfrm>
          <a:prstGeom prst="rect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919472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모델 자체를 수정한 것이 아니다.  모델이 주는 출력을, 인프라 수준에서 보정한 것이다.  0% → 100%.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766974" cy="274320"/>
          </a:xfrm>
          <a:prstGeom prst="roundRect">
            <a:avLst>
              <a:gd name="adj" fmla="val 16667"/>
            </a:avLst>
          </a:prstGeom>
          <a:solidFill>
            <a:srgbClr val="FFA6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66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2 — ④⑤ Validation + 피드백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스키마 위반 탐지 → 정밀 피드백 생성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파싱과 타입 교정을 거쳤는데도 값 자체가 잘못된 경우. validate()가 잡아내고 피드백을 만든다.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393192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18488"/>
            <a:ext cx="37124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validate() 에러 형식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path: "$input.order.product.price",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expected: "number &amp; Minimum&lt;0&gt;",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value: -100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"price는 0 이상이어야 하는데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-100을 줬다" 수준의 정밀도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08760"/>
            <a:ext cx="402336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618488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LlmJson.stringify()로 원본에 삽입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"price": -100,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expected: number &amp; Minimum&lt;0&gt;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"quantity": 2.5,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expected: Type&lt;"uint32"&gt;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"bad-email"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Format&lt;"email"&gt;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전체 파이프라인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29000"/>
            <a:ext cx="822960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538728"/>
            <a:ext cx="8010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maxRetries;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raw    = await llm.call(prompt, feedback);   // 1. LLM 호출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parsed = func.parse(raw);                     // 2. Lenient parse + coerce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(!parsed.success) { feedback = ...; continue;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 = func.validate(parsed.data);          // 3. Schema validation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(!result.success)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feedback = LlmJson.stringify(result);              // 4. // ❌ 인라인 피드백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result.data;                                  // 5. 성공!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178101" cy="274320"/>
          </a:xfrm>
          <a:prstGeom prst="roundRect">
            <a:avLst>
              <a:gd name="adj" fmla="val 16667"/>
            </a:avLst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1781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2 — Typia vs Zod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Zod가 아닌가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AutoBe처럼 30+ variant의 재귀적 discriminated union을 Zod로 정의하면 어떻게 되는지 보자.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393192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18488"/>
            <a:ext cx="3712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Zod 방식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ExpressionSchema: z.ZodType&lt;IExpression&gt;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z.lazy(() =&gt;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z.discriminatedUnion("type",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z.object({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z.literal("booleanLiteral"),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value: z.boolean()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z.object({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z.literal("callExpression"),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expression: ExpressionSchema,   // 순환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arguments: z.array(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ExpressionSchema              // 순환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28개 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08760"/>
            <a:ext cx="402336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618488"/>
            <a:ext cx="38039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Typia 방식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typia.validate&lt;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AutoBeTest.IExpression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&gt;(llmOutput);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컴파일러 수준 처리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어떤 복잡도든 인터페이스 하나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93192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Zod의 한계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251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·  z.lazy() 사용 시 z.infer로 타입 추론 불가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4531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·  깊은 재귀에서 TypeScript 타입체커 오류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6542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·  타입과 스키마를 이중으로 정의·관리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855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·  시간이 지나면 타입과 스키마가 어긋남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931920"/>
            <a:ext cx="4023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977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Typia의 강점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42519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·  TypeScript 인터페이스 하나면 충분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44531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·  컴파일러 수준 → 어떤 복잡도든 처리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46542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·  별도 스키마 정의 불필요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48554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·  타입과 스키마가 항상 동기화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109728" cy="2011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274320"/>
            <a:ext cx="5029200" cy="5029200"/>
          </a:xfrm>
          <a:prstGeom prst="ellipse">
            <a:avLst/>
          </a:prstGeom>
          <a:solidFill>
            <a:srgbClr val="3FB950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예찬론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정확성을 요하는 도메인을 위한 방법론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25726" cy="274320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3 — 자연어 vs 타입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자연어와 타입: 근본적인 차이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자연어는 모호함이 기능이다. 타입은 모호함이 버그다.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393192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❌  자연어 프롬프트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7490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374904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029968"/>
            <a:ext cx="3529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 필드는 18보다 큰 양의 정수여야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한다. 숫자 필드에 문자열 타입을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사용하지 마라. 모든 필수 필드가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존재해야 한다..."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"18보다 큰"이 &gt;18인지 ≥18인지 불분명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58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LLM이 따랐는지 결과 보기 전 알 수 없음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105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규칙이 늘어날수록 프롬프트가 길어짐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393192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✅  TypeScript 타입 스키마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920240"/>
            <a:ext cx="37490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920240"/>
            <a:ext cx="374904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2029968"/>
            <a:ext cx="3529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IMember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/** 만 19세 이상만 가입 가능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number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 Type&lt;"uint32"&gt;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 ExclusiveMinimum&lt;18&gt;;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ExclusiveMinimum&lt;18&gt; → &gt;18, 명확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758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Type&lt;"uint32"&gt; → 양의 정수, 기계 검증 가능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4105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필드 = 필수, optional → 선택적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스키마를 정의하는 것이 자연어 프롬프트를 작성하는 것보다 명확하고, 기계적으로 검증까지 가능하다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25726" cy="274320"/>
          </a:xfrm>
          <a:prstGeom prst="roundRect">
            <a:avLst>
              <a:gd name="adj" fmla="val 16667"/>
            </a:avLst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3 — 핑크 코끼리 문제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핑크 코끼리를 생각하지 마라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6FC"/>
                </a:solidFill>
              </a:rPr>
              <a:t>"핑크 코끼리를 생각하지 마라"라는 말을 들으면, 핑크 코끼리가 떠오른다.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금지 규칙은 역효과를 낸다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65176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8166"/>
                </a:solidFill>
              </a:rPr>
              <a:t>"유틸리티 함수를 만들지 마라"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651760"/>
            <a:ext cx="265176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8166"/>
                </a:solidFill>
              </a:rPr>
              <a:t>"any 타입을 쓰지 마라"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651760"/>
            <a:ext cx="265176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8166"/>
                </a:solidFill>
              </a:rPr>
              <a:t>"순환 의존성을 만들지 마라"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 LLM에게 "X를 하지 마라"고 말하면 X가 attention의 중심에 놓인다. 토큰 예측 메커니즘에 내재된 문제.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30752"/>
            <a:ext cx="82296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✅  스키마에서는 이 문제가 존재하지 않는다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08736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any 타입을 쓰지 말라고 할 필요가 없다 — 스키마에 any가 없으면 LLM이 물리적으로 생성할 수 없다.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36168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금지가 아니라 부재.  프롬프트는 원치 않는 것을 금지하려 하고, 스키마는 원하는 것만 허용한다.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8229600" cy="109728"/>
          </a:xfrm>
          <a:prstGeom prst="rect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37760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금지(Prohibition)가 아닌 구조적 부재(Structural Absence)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73352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3 — 모델 중립성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중립성: 같은 스키마, 모든 모델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프롬프트 엔지니어링은 본질적으로 모델 종속적이다. Function calling 스키마는 아니다.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❌  프롬프트 엔지니어링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GPT에 최적화 → Claude에서 다르게 동작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Claude 프롬프트 → Qwen에서 또 달라짐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새 모델 = 처음부터 재작성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962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모델 업데이트마다 재튜닝 필요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393192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✅  Function Calling 스키마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JSON Schema는 어떤 모델이든 같은 의미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267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모델 간 성능 차이는 feedback 루프가 흡수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강한 모델: 1-2번, 약한 모델: 10-15번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962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둘 다 결국 100%에 수렴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30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모델 선택의 성격이 바뀐다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"이 모델이 이 작업을 할 수 있는가?"  →  "어떤 모델이 비용 대비 효율적인가?"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224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비용 공식: 평균 재시도 횟수  ×  시도당 토큰  ×  토큰 가격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AutoBe 실증: Qwen, GLM, DeepSeek, OpenAI 모델 — 동일한 스키마, 동일한 파이프라인, 전부 100% 컴파일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89227" cy="274320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589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3 — 핵심 원리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Calling의 핵심: 검증 가능성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LLM의 출력을 소프트웨어 엔지니어링의 영역으로 가져온다.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자유 텍스트 생성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파싱이 퍼지함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검증도 퍼지함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교정도 퍼지함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모든 것이 불확실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평가 자체가 또 다른 AI 문제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393192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Function Calling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출력이 구조화된 데이터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검증이 결정론적 (맞다/틀리다)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피드백이 정밀 (필드 단위)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교정이 수렴 (재시도 → 100%)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소프트웨어 엔지니어링 도구 사용 가능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</a:rPr>
              <a:t>Typed Schema</a:t>
            </a:r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  +  </a:t>
            </a:r>
            <a:pPr algn="ctr" indent="0" marL="0">
              <a:buNone/>
            </a:pPr>
            <a:r>
              <a:rPr lang="en-US" sz="1500" b="1" dirty="0">
                <a:solidFill>
                  <a:srgbClr val="BC8CFF"/>
                </a:solidFill>
              </a:rPr>
              <a:t>Deterministic Validator</a:t>
            </a:r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  +  </a:t>
            </a:r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</a:rPr>
              <a:t>Structured Error Feedback</a:t>
            </a:r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  =  </a:t>
            </a:r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Reliable LLM Output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25726" cy="274320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3 — 적용 스펙트럼 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출력을 검증할 수 있는 영역: 소프트웨어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컴파일러가 validator 역할을 하여 100% 정합성을 보장한다. AutoBe가 이미 증명한 영역.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검증 계층 (빠른 것부터 실행)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0604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019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빠름 (ms)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타입 체크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226771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260604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019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보통 (sec)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267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컴파일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226771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0604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9019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깊음 (min+)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2267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테스트 실행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41080" y="226771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피드백 루프 전략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83280"/>
            <a:ext cx="822960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493008"/>
            <a:ext cx="8010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가장 싼 validator부터 실행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typeCheck  = await runTypeCheck(output);    // ms — 실패 시 즉시 피드백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compile    = await runCompile(output);       // sec — 타입 통과 시 실행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testResult = await runE2ETests(output);      // min — 컴파일 통과 시 실행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각 단계 실패 시 해당 단계의 에러를 LLM에게 피드백 → 재시도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25726" cy="274320"/>
          </a:xfrm>
          <a:prstGeom prst="roundRect">
            <a:avLst>
              <a:gd name="adj" fmla="val 16667"/>
            </a:avLst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3 — 적용 스펙트럼 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추상성과 정합성이 공존하는 영역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출력의 일부는 자유롭게, 일부는 엄격하게 검증하는 패턴. AutoBe Analyze 페이즈가 이미 이 방식이다.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8229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36192"/>
            <a:ext cx="54864" cy="9601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093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⚖️  법률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1609344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8B949E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609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자유 텍스트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591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reasoning: string  // 자유로운 법적 논거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20240" y="19202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58A6FF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1920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타입 검증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901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"obligation" | "condition" | "warranty"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 "termination" | "confidentiality"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8229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87752"/>
            <a:ext cx="54864" cy="9601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6609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📊  회계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20240" y="2660904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8B949E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920240" y="2660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자유 텍스트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2642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string  // 자유로운 설명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297180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BC8CFF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92024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</a:rPr>
              <a:t>타입 검증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2953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account_code: string &amp; Pattern&lt;"^[0-9]{4}$"&gt;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0" y="31821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classification: "current_asset" | "equity" | 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639312"/>
            <a:ext cx="8229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639312"/>
            <a:ext cx="54864" cy="9601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712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🏥  의료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920240" y="3712464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8B949E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920240" y="37124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자유 텍스트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0" y="36941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condition: string  // 자유로운 임상 판단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920240" y="402336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3FB950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920240" y="4023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타입 검증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0" y="40050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icd_code: string &amp; Pattern&lt;"^[A-Z][0-9]{2}..."&gt;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0" y="42336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number &amp; Minimum&lt;0&gt; &amp; Maximum&lt;1&gt;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</a:rPr>
              <a:t>핵심 논리: 해당 분야에 맞다/틀리다를 판정하는 규칙이 존재하면,  이 패턴은 적용 가능하다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25726" cy="274320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3 — 적용 스펙트럼 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도메인별 검증 계층 비교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011680" cy="457200"/>
          </a:xfrm>
          <a:prstGeom prst="rect">
            <a:avLst/>
          </a:prstGeom>
          <a:solidFill>
            <a:srgbClr val="2D333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508760"/>
            <a:ext cx="2011680" cy="457200"/>
          </a:xfrm>
          <a:prstGeom prst="rect">
            <a:avLst/>
          </a:prstGeom>
          <a:solidFill>
            <a:srgbClr val="2D333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빠름 (ms)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2011680" cy="457200"/>
          </a:xfrm>
          <a:prstGeom prst="rect">
            <a:avLst/>
          </a:prstGeom>
          <a:solidFill>
            <a:srgbClr val="2D333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(sec)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508760"/>
            <a:ext cx="2194560" cy="457200"/>
          </a:xfrm>
          <a:prstGeom prst="rect">
            <a:avLst/>
          </a:prstGeom>
          <a:solidFill>
            <a:srgbClr val="2D333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깊음 (min+)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011680"/>
            <a:ext cx="201168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체크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011680"/>
            <a:ext cx="201168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컴파일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011680"/>
            <a:ext cx="219456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실행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20116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2514600"/>
            <a:ext cx="20116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2514600"/>
            <a:ext cx="20116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2514600"/>
            <a:ext cx="219456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시뮬레이션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3017520"/>
            <a:ext cx="201168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산술 검증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3017520"/>
            <a:ext cx="201168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코드 유효성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3017520"/>
            <a:ext cx="219456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 감사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520440"/>
            <a:ext cx="20116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법률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3520440"/>
            <a:ext cx="20116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검증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80560" y="3520440"/>
            <a:ext cx="201168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일관성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92240" y="3520440"/>
            <a:ext cx="219456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관할권 규칙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023360"/>
            <a:ext cx="201168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68880" y="4023360"/>
            <a:ext cx="201168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 코드 유효성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80560" y="4023360"/>
            <a:ext cx="201168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트리 완전성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92240" y="4023360"/>
            <a:ext cx="219456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임상 가이드라인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피드백 루프 전략: 가장 싼 validator부터 실행하고, 에러를 고친 뒤 다음 수준으로 넘어간다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109728" cy="201168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F78166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7816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Qwen인가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R&amp;D 비용 · 엣지케이스 발굴 · 열린 생태계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73352" cy="274320"/>
          </a:xfrm>
          <a:prstGeom prst="roundRect">
            <a:avLst>
              <a:gd name="adj" fmla="val 16667"/>
            </a:avLst>
          </a:prstGeom>
          <a:solidFill>
            <a:srgbClr val="F781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4 — R&amp;D 비용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사용자와 개발자: 완전히 다른 비용 구조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👤  AutoBe 사용자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모델 비용 = 문제 없음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백엔드 개발자 고용 비용 &gt;&gt; 모델 비용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816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GPT-4o 써도 경제적으로 이득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2552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결과가 나오면 그만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393192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🔬  AutoBe 개발자 (우리)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938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새 타입 설계 시마다 전체 파이프라인 실행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수천 번의 생성-컴파일-피드백 사이클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816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매번 상용 모델 쓰면 파산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2552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로컬 모델 = 비용 걱정 없는 무한 실험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95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6.75% → 100%까지 가는 과정에서 수백 번의 실험 사이클이 필요했다.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343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로컬 모델이기에 가능했다. Qwen이기에 가능했다.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25726" cy="274320"/>
          </a:xfrm>
          <a:prstGeom prst="roundRect">
            <a:avLst>
              <a:gd name="adj" fmla="val 16667"/>
            </a:avLst>
          </a:prstGeom>
          <a:solidFill>
            <a:srgbClr val="FFA6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4 — 작은 모델의 가치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모델이 최고의 QA 엔지니어다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큰 모델은 실수가 적다. 이것은 장점이지만, 동시에 단점이다.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큰 모델 (GPT-4, Claude 3.5 등)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모호한 스키마를 "적절히 추측해서" 맞춤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우리의 실수가 숨겨진다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validation 사각지대 발견 어려움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→  모름을 모른다 (unknown unknowns)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393192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</a:rPr>
              <a:t>작은 모델 (35B급)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반례가 팍팍 튀어나온다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모든 실패가 시스템 빈틈을 가리킨다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각 수정이 전체 파이프라인을 강화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→  약점을 알 수 있다 (known unknowns)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2377440" cy="320040"/>
          </a:xfrm>
          <a:prstGeom prst="rect">
            <a:avLst/>
          </a:prstGeom>
          <a:solidFill>
            <a:srgbClr val="2D333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65760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모델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3657600"/>
            <a:ext cx="1005840" cy="320040"/>
          </a:xfrm>
          <a:prstGeom prst="rect">
            <a:avLst/>
          </a:prstGeom>
          <a:solidFill>
            <a:srgbClr val="2D333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07792" y="3657600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성공률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3657600"/>
            <a:ext cx="4846320" cy="320040"/>
          </a:xfrm>
          <a:prstGeom prst="rect">
            <a:avLst/>
          </a:prstGeom>
          <a:solidFill>
            <a:srgbClr val="2D333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13632" y="3657600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발견한 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95928"/>
            <a:ext cx="237744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99592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qwen3-30b-a3b-thinking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3995928"/>
            <a:ext cx="100584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3995928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8166"/>
                </a:solidFill>
              </a:rPr>
              <a:t>~10%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3995928"/>
            <a:ext cx="484632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13632" y="3995928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근본적인 스키마 모호성, 누락된 필수 필드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334256"/>
            <a:ext cx="23774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334256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qwen3-next-80b-a3b-instruct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4334256"/>
            <a:ext cx="10058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07792" y="4334256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8166"/>
                </a:solidFill>
              </a:rPr>
              <a:t>~20%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4334256"/>
            <a:ext cx="484632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13632" y="4334256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복잡한 중첩 관계의 미묘한 타입 불일치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657"/>
                </a:solidFill>
              </a:rPr>
              <a:t>스키마가 35B 모델도 오해할 수 없을 만큼 정밀해지면,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A657"/>
                </a:solidFill>
              </a:rPr>
              <a:t>강한 모델이 틀릴 확률은 사실상 0에 수렴한다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841602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41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4 — 벤더 종속 없음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벤더 종속 없음: 자유로운 모델 선택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상용 API의 가격 변경, 모델 deprecation, rate limit은 전부 벤더의 결정에 달려 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💸 가격 변경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오늘 쓰는 모델 가격이 내일 2배가 될 수 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36192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🚫 모델 Deprecation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오늘 쓰는 모델이 내일 사라질 수 있다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536192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⏱️ Rate Limit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급하게 처리해야 할 때 제한에 걸릴 수 있다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98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AutoBe의 설계 원칙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특정 모델에 최적화된 프롬프트 트릭을 사용하지 않는다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JSON Schema와 타입 기반 validation은 업계 표준 — 모델이 바뀌어도 코드는 그대로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·  동일한 스키마로 Qwen, GLM, DeepSeek, OpenAI 전부 100% 달성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773168"/>
            <a:ext cx="8229600" cy="2468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316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오픈웨이트 모델 = 코드 변경 없이 언제든 교체 가능. 최악의 상황에서도 로컬 실행 가능.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73352" cy="274320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4 — 오픈 생태계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+ 오픈웨이트: 열린 생태계의 선순환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AutoBe는 오픈소스(AGPL 3.0)이고, Qwen은 오픈웨이트다. 둘 다 열린 생태계다.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02336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6733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AutoBe가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Qwen으로 시스템을 단련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953512"/>
            <a:ext cx="402336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8CFF"/>
                </a:solidFill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309067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단련된 시스템이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474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Qwen 활용 가능성 증명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536192"/>
            <a:ext cx="402336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49240" y="16733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Qwen의 개선이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2057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AutoBe 전체 성능 향상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402336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8166"/>
                </a:solidFill>
              </a:rPr>
              <a:t>④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309067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AutoBe 발견이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474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Qwen 개선에 기여 가능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544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오픈 생태계가 서로를 강화하는 선순환이 만들어진다.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8006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상용 모델이었다면 이 규모의 실험은 비용적으로 불가능했을 것이다.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346350" cy="274320"/>
          </a:xfrm>
          <a:prstGeom prst="roundRect">
            <a:avLst>
              <a:gd name="adj" fmla="val 16667"/>
            </a:avLst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346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Part 4 — Qwen 3.5 심층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3.5: 0%에서 100%까지, 구체적으로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qwen3.5 시리즈 특유의 이중 stringify 문제와 Typia type coercion의 해결 과정.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문제: Union 타입에서 객체가 문자열로 이중 포장됨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822960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938528"/>
            <a:ext cx="8010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IJsonSchema.IObject | IJsonSchema.IString 같은 union이 등장하면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Qwen 3.5가 객체 값을 통째로 문자열로 stringify해서 반환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"schema": "{\"type\":\"object\",\"properties\":{\"name\":{\"type\":\"string\"}}}"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↑ 이 자리에는 객체가 들어와야 하는데 문자열로 감싸져 있음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해결: Typia coerce()가 JSON Schema를 참조하여 자동 복원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83280"/>
            <a:ext cx="8229600" cy="4572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93008"/>
            <a:ext cx="8010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coerce()가 "이 필드는 스키마상 object여야 한다"는 것을 알고 자동 파싱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func.coerce(qwenOutput);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result.schema === { type: "object", properties: { name: { type: "string" } }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↑ 정상 객체로 복원됨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645152"/>
            <a:ext cx="3931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663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Union 타입 모든 케이스 raw 성공률: 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4645152"/>
            <a:ext cx="3931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4663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coerce() 적용 후 최종 성공률: 100%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FA6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데모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데모: qwen3.5-122b-a10b로 쇼핑몰 백엔드 생성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autobe.dev/images/demonstrate/replay-qwen-qwen3.5-122b-a10b.png 에서 확인 가능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3108960"/>
          </a:xfrm>
          <a:prstGeom prst="rect">
            <a:avLst/>
          </a:prstGeom>
          <a:solidFill>
            <a:srgbClr val="010409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8229600" cy="292608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72768"/>
            <a:ext cx="137160" cy="137160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572768"/>
            <a:ext cx="137160" cy="137160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" y="1572768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5087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AutoBe — qwen/qwen3.5-122b-a10b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874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autobe start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21214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어떤 백엔드를 만들어드릴까요?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23682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쇼핑몰 백엔드. 상품, 장바구니, 주문, 결제 필요.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2615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28620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[1/5] 요구사항 분석 중... ✓ (AutoBeAnalyzeDocument 생성)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3108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[2/5] 데이터베이스 설계 중... ✓ (Prisma schema 컴파일 통과)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3558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[3/5] API 명세서 작성 중... ✓ (OpenAPI 3.1 생성)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360273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[4/5] E2E 테스트 코드 생성 중... ✓ (TypeScript 컴파일 통과)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384962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[5/5] 구현 코드 생성 중... ✓ (모든 모듈 컴파일 통과)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40965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완료! 컴파일 성공. 프로덕션 레디 백엔드가 생성되었습니다.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736592"/>
            <a:ext cx="39319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736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</a:rPr>
              <a:t>github.com/wrtnlabs/autobe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4736592"/>
            <a:ext cx="39319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4736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</a:rPr>
              <a:t>autobe.dev  —  데모 영상 및 문서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핵심 공식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LLM Output을 만드는 방정식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05156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</a:rPr>
              <a:t>Typed Schema</a:t>
            </a:r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BC8CFF"/>
                </a:solidFill>
              </a:rPr>
              <a:t>Deterministic Validator</a:t>
            </a:r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</a:rPr>
              <a:t>Structured Feedback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=   Reliable LLM Output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88920"/>
            <a:ext cx="54864" cy="62179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8346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Typed Schema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8346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TypeScript 인터페이스 하나로 JSON Schema를 정의한다.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309067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JSDoc 주석이 LLM 가이드가 되고, 타입 제약이 검증 규칙이 된다.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02152"/>
            <a:ext cx="82296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02152"/>
            <a:ext cx="54864" cy="62179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54787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Deterministic Validator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54787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JSON Schema validation은 맞다/틀리다가 명확하다.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8039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퍼지한 "비슷하게 맞음"이 없다. 결정론적이다.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15384"/>
            <a:ext cx="82296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15384"/>
            <a:ext cx="54864" cy="62179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26110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Structured Feedback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42611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실패 시 "path + expected + value" 형태의 정밀한 에러를 LLM에게 전달한다.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45171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LLM은 틀린 필드만 교정하여 재시도한다.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919472"/>
            <a:ext cx="8229600" cy="137160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1947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</a:rPr>
              <a:t>프롬프트 엔지니어링이 모델 안쪽을 건드리는 접근이라면, function calling은 모델 바깥을 단단하게 만드는 접근이다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781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수치 요약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수치로 보는 전체 여정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8166"/>
                </a:solidFill>
              </a:rPr>
              <a:t>6.75%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57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qwen3-coder-next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IJsonSchema raw 성공률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508760"/>
            <a:ext cx="192024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8166"/>
                </a:solidFill>
              </a:rPr>
              <a:t>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2157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qwen3.5 시리즈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2359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union 타입 raw 성공률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192024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2157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Typia 적용 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2359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전 모델 최종 성공률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1508760"/>
            <a:ext cx="192024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8A6FF"/>
                </a:solidFill>
              </a:rPr>
              <a:t>4종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66560" y="2157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테스트 완료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66560" y="2359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Qwen 모델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944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해결 과정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3310128"/>
            <a:ext cx="201168" cy="20116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5568" y="3401568"/>
            <a:ext cx="987552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5478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IJsonSchema 타입 설계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3959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10 variant 재귀 구조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03120" y="3310128"/>
            <a:ext cx="201168" cy="20116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304288" y="3401568"/>
            <a:ext cx="987552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8" name="Text 26"/>
          <p:cNvSpPr/>
          <p:nvPr/>
        </p:nvSpPr>
        <p:spPr>
          <a:xfrm>
            <a:off x="1737360" y="35478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raw 6.75% 확인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37360" y="3959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qwen3-coder-next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91840" y="3310128"/>
            <a:ext cx="201168" cy="20116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493008" y="3401568"/>
            <a:ext cx="987552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35478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Validation feedback loop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926080" y="3959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// ❌ 인라인 주석 방식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80560" y="3310128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5" name="Shape 33"/>
          <p:cNvSpPr/>
          <p:nvPr/>
        </p:nvSpPr>
        <p:spPr>
          <a:xfrm>
            <a:off x="4681728" y="3401568"/>
            <a:ext cx="987552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0" y="35478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6.75% → 100%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0" y="3959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qwen3-coder-next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69280" y="3310128"/>
            <a:ext cx="201168" cy="20116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9" name="Shape 37"/>
          <p:cNvSpPr/>
          <p:nvPr/>
        </p:nvSpPr>
        <p:spPr>
          <a:xfrm>
            <a:off x="5870448" y="3401568"/>
            <a:ext cx="987552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0" y="35478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Qwen 3.5 도입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03520" y="3959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union 타입 0% 발견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58000" y="3310128"/>
            <a:ext cx="201168" cy="20116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3" name="Shape 41"/>
          <p:cNvSpPr/>
          <p:nvPr/>
        </p:nvSpPr>
        <p:spPr>
          <a:xfrm>
            <a:off x="7059168" y="3401568"/>
            <a:ext cx="987552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35478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Type Coercion 개발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92240" y="3959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이중 stringify 복원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046720" y="3310128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7" name="Text 45"/>
          <p:cNvSpPr/>
          <p:nvPr/>
        </p:nvSpPr>
        <p:spPr>
          <a:xfrm>
            <a:off x="7680960" y="35478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0% → 100%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680960" y="3959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qwen3.5 시리즈 전체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4315968"/>
            <a:ext cx="822960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43799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교정 가능성은 모델의 속성이 아니라, validation 인프라의 속성이다.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94360" y="46634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</a:rPr>
              <a:t>LLM이 정확할 필요는 없다. 교정 가능하면 된다.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68603" cy="274320"/>
          </a:xfrm>
          <a:prstGeom prst="roundRect">
            <a:avLst>
              <a:gd name="adj" fmla="val 16667"/>
            </a:avLst>
          </a:prstGeom>
          <a:solidFill>
            <a:srgbClr val="8B949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68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Q&amp;A 예상 질문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"그냥 강한 모델 쓰면 되지 않나?"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</a:rPr>
              <a:t>A: 맞다. 하지만 두 가지 문제가 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45720" cy="9144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93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1. 개발 단계와 운영 단계의 비용은 다르다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운영에서는 강한 모델을 써도 된다. 하지만 스키마를 설계하고 검증 로직을 개발하는 단계에서는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수천 번의 실험 사이클이 필요하다. 이 비용은 로컬 모델 없이는 감당하기 어렵다.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3063240"/>
            <a:ext cx="45720" cy="91440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90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2. 강한 모델도 틀린다. 단지 '덜' 틀릴 뿐이다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401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GPT-4도 복잡한 재귀 타입에서 실수한다. "덜 틀린다"는 것은 프로덕션에서 "어쩌다 한 번" 실패를 의미한다.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694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"어쩌다 한 번"이 누적되면 장애다. Validation 인프라가 필요한 이유다.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결론: 강한 모델 + Validation 인프라 = 가장 신뢰할 수 있는 조합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약한 모델로 개발하고, 강한 모델로 운영하면 된다.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68603" cy="274320"/>
          </a:xfrm>
          <a:prstGeom prst="roundRect">
            <a:avLst>
              <a:gd name="adj" fmla="val 16667"/>
            </a:avLst>
          </a:prstGeom>
          <a:solidFill>
            <a:srgbClr val="8B949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68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Q&amp;A 예상 질문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LangChain / Instructor / DSPy와 무엇이 다른가?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81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</a:rPr>
              <a:t>LangChain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563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장점: 광범위한 통합, 큰 생태계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0" y="15636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한계: 추상화가 두꺼워 디버깅 어려움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18379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       function calling 실패 시 피드백 메커니즘 약함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8229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</a:rPr>
              <a:t>Instructor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404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장점: Pydantic 기반, 사용 편리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2404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한계: Python 전용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2679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       재귀 타입 처리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953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       JSDoc 기반 LLM 가이드 없음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64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</a:rPr>
              <a:t>DSPy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장점: 프롬프트 자동 최적화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3246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한계: 학습 기반 → 모델 변경 시 재학습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3520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       결정론적 검증 아님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32504"/>
            <a:ext cx="8229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105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</a:rPr>
              <a:t>Typia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4087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장점: TypeScript 컴파일러 수준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JSDoc → description 자동 변환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재귀 타입 무한 깊이 지원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parse + coerce + validate + feedback 통합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4087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한계: TypeScript 생태계 한정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프로젝트 소개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AutoBe &amp; Typia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393192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</a:rPr>
              <a:t>AutoBe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github.com/wrtnlabs/autobe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autobe.dev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오픈소스 AI 백엔드 에이전트 (AGPL 3.0)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090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자연어 → 프로덕션 레디 백엔드 생성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4381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TypeScript + NestJS + Prisma 기반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85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뤼튼테크놀로지스 개발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393192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508760"/>
            <a:ext cx="393192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8CFF"/>
                </a:solidFill>
              </a:rPr>
              <a:t>Typia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9204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github.com/samchon/typia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typia.io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33472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TypeScript 타입 기반 LLM 인프라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090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스키마 생성 / 파싱 / 교정 / 검증 / 피드백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4381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컴파일러 수준 처리 (런타임 아님)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785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 Anthropic / Vercel AI / LangChain / MCP 지원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두 프로젝트 모두 오픈소스 / 오픈웨이트 생태계에서 자유롭게 사용 가능합니다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371600"/>
            <a:ext cx="5486400" cy="5486400"/>
          </a:xfrm>
          <a:prstGeom prst="ellipse">
            <a:avLst/>
          </a:prstGeom>
          <a:solidFill>
            <a:srgbClr val="58A6FF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BC8CFF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마무리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정확할 필요는 없다.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교정 가능하면 된다.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78608"/>
            <a:ext cx="804672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578608"/>
            <a:ext cx="45720" cy="40233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57860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57860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</a:rPr>
              <a:t>타입으로 말하면 오해가 없다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804672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54096"/>
            <a:ext cx="45720" cy="40233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0540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0540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</a:rPr>
              <a:t>스키마로 제약하면 핑크 코끼리가 없다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804672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529584"/>
            <a:ext cx="45720" cy="40233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52958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52958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</a:rPr>
              <a:t>결정론적 검증 루프가 있으면 6.75%도 100%가 된다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804672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005072"/>
            <a:ext cx="45720" cy="40233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00507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400507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</a:rPr>
              <a:t>교정 가능성은 모델의 속성이 아니라, validation 인프라의 속성이다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645152"/>
            <a:ext cx="37490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6451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</a:rPr>
              <a:t>github.com/wrtnlabs/autobe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4645152"/>
            <a:ext cx="37490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6451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</a:rPr>
              <a:t>github.com/samchon/typia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Calling All-In: AutoBe &amp; Qwen</dc:title>
  <dc:subject>PptxGenJS Presentation</dc:subject>
  <dc:creator>wrtn.io</dc:creator>
  <cp:lastModifiedBy>wrtn.io</cp:lastModifiedBy>
  <cp:revision>1</cp:revision>
  <dcterms:created xsi:type="dcterms:W3CDTF">2026-03-10T09:52:34Z</dcterms:created>
  <dcterms:modified xsi:type="dcterms:W3CDTF">2026-03-10T09:52:34Z</dcterms:modified>
</cp:coreProperties>
</file>