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 id="2147483708" r:id="rId2"/>
  </p:sldMasterIdLst>
  <p:notesMasterIdLst>
    <p:notesMasterId r:id="rId62"/>
  </p:notesMasterIdLst>
  <p:sldIdLst>
    <p:sldId id="1101" r:id="rId3"/>
    <p:sldId id="1102" r:id="rId4"/>
    <p:sldId id="1103" r:id="rId5"/>
    <p:sldId id="1104" r:id="rId6"/>
    <p:sldId id="1105" r:id="rId7"/>
    <p:sldId id="1106" r:id="rId8"/>
    <p:sldId id="1107" r:id="rId9"/>
    <p:sldId id="1108" r:id="rId10"/>
    <p:sldId id="1109" r:id="rId11"/>
    <p:sldId id="1110" r:id="rId12"/>
    <p:sldId id="1111" r:id="rId13"/>
    <p:sldId id="1112" r:id="rId14"/>
    <p:sldId id="1113" r:id="rId15"/>
    <p:sldId id="1114" r:id="rId16"/>
    <p:sldId id="1115" r:id="rId17"/>
    <p:sldId id="1116" r:id="rId18"/>
    <p:sldId id="1117" r:id="rId19"/>
    <p:sldId id="1118" r:id="rId20"/>
    <p:sldId id="1119" r:id="rId21"/>
    <p:sldId id="1120" r:id="rId22"/>
    <p:sldId id="1121" r:id="rId23"/>
    <p:sldId id="1122" r:id="rId24"/>
    <p:sldId id="1099" r:id="rId25"/>
    <p:sldId id="1123" r:id="rId26"/>
    <p:sldId id="1124" r:id="rId27"/>
    <p:sldId id="1125" r:id="rId28"/>
    <p:sldId id="1126" r:id="rId29"/>
    <p:sldId id="1127" r:id="rId30"/>
    <p:sldId id="1128" r:id="rId31"/>
    <p:sldId id="1129" r:id="rId32"/>
    <p:sldId id="1130" r:id="rId33"/>
    <p:sldId id="1131" r:id="rId34"/>
    <p:sldId id="1132" r:id="rId35"/>
    <p:sldId id="1133" r:id="rId36"/>
    <p:sldId id="1134" r:id="rId37"/>
    <p:sldId id="1135" r:id="rId38"/>
    <p:sldId id="1136" r:id="rId39"/>
    <p:sldId id="1137" r:id="rId40"/>
    <p:sldId id="1138" r:id="rId41"/>
    <p:sldId id="1139" r:id="rId42"/>
    <p:sldId id="1140" r:id="rId43"/>
    <p:sldId id="1141" r:id="rId44"/>
    <p:sldId id="1142" r:id="rId45"/>
    <p:sldId id="1143" r:id="rId46"/>
    <p:sldId id="1144" r:id="rId47"/>
    <p:sldId id="1145" r:id="rId48"/>
    <p:sldId id="1146" r:id="rId49"/>
    <p:sldId id="1147" r:id="rId50"/>
    <p:sldId id="1148" r:id="rId51"/>
    <p:sldId id="1149" r:id="rId52"/>
    <p:sldId id="1150" r:id="rId53"/>
    <p:sldId id="1151" r:id="rId54"/>
    <p:sldId id="1152" r:id="rId55"/>
    <p:sldId id="1153" r:id="rId56"/>
    <p:sldId id="1154" r:id="rId57"/>
    <p:sldId id="1155" r:id="rId58"/>
    <p:sldId id="1156" r:id="rId59"/>
    <p:sldId id="1157" r:id="rId60"/>
    <p:sldId id="1083" r:id="rId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11" autoAdjust="0"/>
    <p:restoredTop sz="77106" autoAdjust="0"/>
  </p:normalViewPr>
  <p:slideViewPr>
    <p:cSldViewPr snapToGrid="0">
      <p:cViewPr varScale="1">
        <p:scale>
          <a:sx n="77" d="100"/>
          <a:sy n="77" d="100"/>
        </p:scale>
        <p:origin x="344" y="280"/>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7A8162-2290-455D-95C8-B42E3A61F3C7}" type="datetimeFigureOut">
              <a:rPr lang="en-US" smtClean="0"/>
              <a:t>3/27/2026</a:t>
            </a:fld>
            <a:endParaRPr 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B23B31-05C0-45CF-9342-21BE32BFCBD5}" type="slidenum">
              <a:rPr lang="en-US" smtClean="0"/>
              <a:t>‹#›</a:t>
            </a:fld>
            <a:endParaRPr lang="en-US"/>
          </a:p>
        </p:txBody>
      </p:sp>
    </p:spTree>
    <p:extLst>
      <p:ext uri="{BB962C8B-B14F-4D97-AF65-F5344CB8AC3E}">
        <p14:creationId xmlns:p14="http://schemas.microsoft.com/office/powerpoint/2010/main" val="41246267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ltLang="ko-KR" dirty="0"/>
              <a:t>Hello, I am Samchon, an open-source developer at Wrtn Technologies.</a:t>
            </a:r>
          </a:p>
          <a:p>
            <a:endParaRPr lang="en-US" altLang="ko-KR" dirty="0"/>
          </a:p>
          <a:p>
            <a:r>
              <a:rPr lang="en-US" altLang="ko-KR" dirty="0"/>
              <a:t>Today's topic is Function Calling Harness: the story of raising the success rate from 6.75% to 100%. Let's begin the presentation now.</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First, let me briefly summarize this presentation.</a:t>
            </a:r>
          </a:p>
        </p:txBody>
      </p:sp>
      <p:sp>
        <p:nvSpPr>
          <p:cNvPr id="4" name="슬라이드 번호 개체 틀 3"/>
          <p:cNvSpPr>
            <a:spLocks noGrp="1"/>
          </p:cNvSpPr>
          <p:nvPr>
            <p:ph type="sldNum" sz="quarter" idx="5"/>
          </p:nvPr>
        </p:nvSpPr>
        <p:spPr/>
        <p:txBody>
          <a:bodyPr/>
          <a:lstStyle/>
          <a:p>
            <a:fld id="{EBB23B31-05C0-45CF-9342-21BE32BFCBD5}" type="slidenum">
              <a:rPr lang="en-US" smtClean="0"/>
              <a:t>2</a:t>
            </a:fld>
            <a:endParaRPr lang="en-US"/>
          </a:p>
        </p:txBody>
      </p:sp>
    </p:spTree>
    <p:extLst>
      <p:ext uri="{BB962C8B-B14F-4D97-AF65-F5344CB8AC3E}">
        <p14:creationId xmlns:p14="http://schemas.microsoft.com/office/powerpoint/2010/main" val="2018145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ltLang="ko-KR" dirty="0"/>
              <a:t>AutoBe is an agent that automatically builds backends.</a:t>
            </a:r>
          </a:p>
          <a:p>
            <a:endParaRPr lang="en-US" altLang="ko-KR" dirty="0"/>
          </a:p>
          <a:p>
            <a:r>
              <a:rPr lang="en-US" altLang="ko-KR" dirty="0"/>
              <a:t>Rather than text-based coding with AI, it assembles our custom compiler AST structures through function calling.</a:t>
            </a:r>
          </a:p>
          <a:p>
            <a:endParaRPr lang="en-US" altLang="ko-KR" dirty="0"/>
          </a:p>
          <a:p>
            <a:r>
              <a:rPr lang="en-US" altLang="ko-KR" dirty="0"/>
              <a:t>As a result, the types used in function calling are extremely complex, with infinite recursive and union structures.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And Typia, a compiler library.</a:t>
            </a:r>
          </a:p>
          <a:p>
            <a:endParaRPr lang="en-US" altLang="ko-KR" dirty="0"/>
          </a:p>
          <a:p>
            <a:r>
              <a:rPr lang="en-US" altLang="ko-KR" dirty="0"/>
              <a:t>It analyzes TypeScript types and optimally employs various techniques to improve function calling success rates.</a:t>
            </a:r>
          </a:p>
          <a:p>
            <a:endParaRPr lang="en-US" altLang="ko-KR" dirty="0"/>
          </a:p>
          <a:p>
            <a:r>
              <a:rPr lang="en-US" altLang="ko-KR" dirty="0"/>
              <a:t>This is the secret to raising the function calling success rate from 6.75% to 100%.</a:t>
            </a:r>
          </a:p>
        </p:txBody>
      </p:sp>
      <p:sp>
        <p:nvSpPr>
          <p:cNvPr id="4" name="슬라이드 번호 개체 틀 3"/>
          <p:cNvSpPr>
            <a:spLocks noGrp="1"/>
          </p:cNvSpPr>
          <p:nvPr>
            <p:ph type="sldNum" sz="quarter" idx="5"/>
          </p:nvPr>
        </p:nvSpPr>
        <p:spPr/>
        <p:txBody>
          <a:bodyPr/>
          <a:lstStyle/>
          <a:p>
            <a:fld id="{EBB23B31-05C0-45CF-9342-21BE32BFCBD5}" type="slidenum">
              <a:rPr lang="en-US" smtClean="0"/>
              <a:t>4</a:t>
            </a:fld>
            <a:endParaRPr lang="en-US"/>
          </a:p>
        </p:txBody>
      </p:sp>
    </p:spTree>
    <p:extLst>
      <p:ext uri="{BB962C8B-B14F-4D97-AF65-F5344CB8AC3E}">
        <p14:creationId xmlns:p14="http://schemas.microsoft.com/office/powerpoint/2010/main" val="2674924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ltLang="ko-KR" dirty="0"/>
              <a:t>And Function Calling.</a:t>
            </a:r>
          </a:p>
          <a:p>
            <a:endParaRPr lang="en-US" altLang="ko-KR" dirty="0"/>
          </a:p>
          <a:p>
            <a:r>
              <a:rPr lang="en-US" altLang="ko-KR" dirty="0"/>
              <a:t>It has no ambiguity, is AI model-neutral, is mechanically verifiable, and therefore converges deterministically.</a:t>
            </a:r>
          </a:p>
          <a:p>
            <a:endParaRPr lang="en-US" altLang="ko-KR" dirty="0"/>
          </a:p>
          <a:p>
            <a:r>
              <a:rPr lang="en-US" altLang="ko-KR" dirty="0"/>
              <a:t>Thus, it is essential when introducing AI into the field of engineering design.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dirty="0"/>
              <a:t>Lastly, the Qwen series.</a:t>
            </a:r>
          </a:p>
          <a:p>
            <a:endParaRPr lang="en-US" altLang="ko-KR" dirty="0"/>
          </a:p>
          <a:p>
            <a:r>
              <a:rPr lang="en-US" altLang="ko-KR" dirty="0"/>
              <a:t>They demonstrate the best function calling performance in small/medium sizes.</a:t>
            </a:r>
          </a:p>
          <a:p>
            <a:endParaRPr lang="en-US" altLang="ko-KR" dirty="0"/>
          </a:p>
          <a:p>
            <a:r>
              <a:rPr lang="en-US" altLang="ko-KR" dirty="0"/>
              <a:t>And because these smaller models make mistakes more frequently, they actually expose system and logic vulnerabilities better, making them the best choice for debugging and QA.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Now let's begin the main story.</a:t>
            </a:r>
          </a:p>
        </p:txBody>
      </p:sp>
      <p:sp>
        <p:nvSpPr>
          <p:cNvPr id="4" name="슬라이드 번호 개체 틀 3"/>
          <p:cNvSpPr>
            <a:spLocks noGrp="1"/>
          </p:cNvSpPr>
          <p:nvPr>
            <p:ph type="sldNum" sz="quarter" idx="5"/>
          </p:nvPr>
        </p:nvSpPr>
        <p:spPr/>
        <p:txBody>
          <a:bodyPr/>
          <a:lstStyle/>
          <a:p>
            <a:fld id="{EBB23B31-05C0-45CF-9342-21BE32BFCBD5}" type="slidenum">
              <a:rPr lang="en-US" smtClean="0"/>
              <a:t>7</a:t>
            </a:fld>
            <a:endParaRPr lang="en-US"/>
          </a:p>
        </p:txBody>
      </p:sp>
    </p:spTree>
    <p:extLst>
      <p:ext uri="{BB962C8B-B14F-4D97-AF65-F5344CB8AC3E}">
        <p14:creationId xmlns:p14="http://schemas.microsoft.com/office/powerpoint/2010/main" val="37114918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dirty="0"/>
              <a:t>The industry consensus is quite skeptical about function calling, especially function calling with complex types.</a:t>
            </a:r>
          </a:p>
          <a:p>
            <a:endParaRPr lang="en-US" altLang="ko-KR" dirty="0"/>
          </a:p>
          <a:p>
            <a:r>
              <a:rPr lang="en-US" altLang="ko-KR" dirty="0"/>
              <a:t>Simple types work, but complex types don't.</a:t>
            </a:r>
          </a:p>
          <a:p>
            <a:endParaRPr lang="en-US" altLang="ko-KR" dirty="0"/>
          </a:p>
          <a:p>
            <a:r>
              <a:rPr lang="en-US" altLang="ko-KR" dirty="0"/>
              <a:t>Strict mode, designed to improve function calling success rates, actually degrades the quality of the output.</a:t>
            </a:r>
          </a:p>
          <a:p>
            <a:endParaRPr lang="en-US" altLang="ko-KR" dirty="0"/>
          </a:p>
          <a:p>
            <a:r>
              <a:rPr lang="en-US" altLang="ko-KR" dirty="0"/>
              <a:t>Research and criticism of this kind are dominant.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1"/>
          <p:cNvSpPr>
            <a:spLocks noGrp="1" noRot="1" noChangeAspect="1"/>
          </p:cNvSpPr>
          <p:nvPr>
            <p:ph type="sldImg"/>
          </p:nvPr>
        </p:nvSpPr>
        <p:spPr/>
      </p:sp>
      <p:sp>
        <p:nvSpPr>
          <p:cNvPr id="3" name="NP2"/>
          <p:cNvSpPr>
            <a:spLocks noGrp="1"/>
          </p:cNvSpPr>
          <p:nvPr>
            <p:ph type="body" idx="1"/>
          </p:nvPr>
        </p:nvSpPr>
        <p:spPr/>
        <p:txBody>
          <a:bodyPr/>
          <a:lstStyle/>
          <a:p>
            <a:r>
              <a:rPr lang="en-US" altLang="ko-KR" dirty="0"/>
              <a:t>But in the engineering/design field, there is no alternative.</a:t>
            </a:r>
          </a:p>
          <a:p>
            <a:endParaRPr lang="en-US" altLang="ko-KR" dirty="0"/>
          </a:p>
          <a:p>
            <a:r>
              <a:rPr lang="en-US" altLang="ko-KR" dirty="0"/>
              <a:t>- Free-form text cannot be mechanically verified.</a:t>
            </a:r>
          </a:p>
          <a:p>
            <a:r>
              <a:rPr lang="en-US" altLang="ko-KR" dirty="0"/>
              <a:t>- Without a structured format, logic feedback is also difficult.</a:t>
            </a:r>
          </a:p>
          <a:p>
            <a:r>
              <a:rPr lang="en-US" altLang="ko-KR" dirty="0"/>
              <a:t>Without logic feedback, its stability cannot be guaranteed.</a:t>
            </a:r>
          </a:p>
          <a:p>
            <a:endParaRPr lang="en-US" altLang="ko-KR" dirty="0"/>
          </a:p>
          <a:p>
            <a:r>
              <a:rPr lang="en-US" altLang="ko-KR" dirty="0"/>
              <a:t>So when introducing AI into the engineering/design field, we ultimately have to make function calling work, even though it doesn't.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Our measurements were no different from the papers. The success rates for complex structures were similar across models: 6.75% for qwen3-coder-next and 9.91% for GPT 5.4.</a:t>
            </a:r>
          </a:p>
          <a:p>
            <a:endParaRPr lang="en-US" altLang="ko-KR" dirty="0"/>
          </a:p>
          <a:p>
            <a:r>
              <a:rPr lang="en-US" altLang="ko-KR" dirty="0"/>
              <a:t>Therefore, the answer was not to use bigger and more expensive models or write elegant prompts,</a:t>
            </a:r>
          </a:p>
          <a:p>
            <a:endParaRPr lang="en-US" altLang="ko-KR" dirty="0"/>
          </a:p>
          <a:p>
            <a:r>
              <a:rPr lang="en-US" altLang="ko-KR" dirty="0"/>
              <a:t>but rather powerful harness engineering combined with a compiler.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And once we realized harness engineering through the compiler,</a:t>
            </a:r>
          </a:p>
          <a:p>
            <a:endParaRPr lang="en-US" altLang="ko-KR" dirty="0"/>
          </a:p>
          <a:p>
            <a:r>
              <a:rPr lang="en-US" altLang="ko-KR" dirty="0"/>
              <a:t>based on Qwen 3.5, the function calling success rate reached 100% across all models.</a:t>
            </a:r>
          </a:p>
          <a:p>
            <a:endParaRPr lang="en-US" altLang="ko-KR" dirty="0"/>
          </a:p>
          <a:p>
            <a:r>
              <a:rPr lang="en-US" altLang="ko-KR" dirty="0"/>
              <a:t>Type-based constraints, compiler-based validation, and detailed feedback through them. This is what made it possible.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Now let's learn about this harness engineering in action,</a:t>
            </a:r>
          </a:p>
          <a:p>
            <a:endParaRPr lang="en-US" altLang="ko-KR" dirty="0"/>
          </a:p>
          <a:p>
            <a:r>
              <a:rPr lang="en-US" altLang="ko-KR" dirty="0"/>
              <a:t>the first project that achieved the goal of engineering design:</a:t>
            </a:r>
          </a:p>
          <a:p>
            <a:endParaRPr lang="en-US" altLang="ko-KR" dirty="0"/>
          </a:p>
          <a:p>
            <a:r>
              <a:rPr lang="en-US" altLang="ko-KR" dirty="0"/>
              <a:t>AutoBe.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If you ask AutoBe to build a shopping mall, yes, it actually builds one.</a:t>
            </a:r>
          </a:p>
          <a:p>
            <a:endParaRPr lang="en-US" altLang="ko-KR" dirty="0"/>
          </a:p>
          <a:p>
            <a:r>
              <a:rPr lang="en-US" altLang="ko-KR" dirty="0"/>
              <a:t>From the standard requirements specification, to DB/API design documents and test code, to SDK integration libraries that clients can use.</a:t>
            </a:r>
          </a:p>
          <a:p>
            <a:endParaRPr lang="en-US" altLang="ko-KR" dirty="0"/>
          </a:p>
          <a:p>
            <a:r>
              <a:rPr lang="en-US" altLang="ko-KR" dirty="0"/>
              <a:t>It creates everything related to backend design and logic.</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And in this process, AutoBe does not have the LLM write text-based code.</a:t>
            </a:r>
          </a:p>
          <a:p>
            <a:endParaRPr lang="en-US" altLang="ko-KR" dirty="0"/>
          </a:p>
          <a:p>
            <a:r>
              <a:rPr lang="en-US" altLang="ko-KR" dirty="0"/>
              <a:t>Instead, it has the LLM assemble through function calling against the AST structures of our custom compiler.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en-US" altLang="ko-KR" dirty="0"/>
              <a:t>And the compiler's AST structures are complex.</a:t>
            </a:r>
          </a:p>
          <a:p>
            <a:endParaRPr lang="en-US" altLang="ko-KR" dirty="0"/>
          </a:p>
          <a:p>
            <a:r>
              <a:rPr lang="en-US" altLang="ko-KR" dirty="0"/>
              <a:t>As you can see, the structure is a union type, and each individual type references others recursively in a chain.</a:t>
            </a:r>
          </a:p>
          <a:p>
            <a:endParaRPr lang="en-US" altLang="ko-KR" dirty="0"/>
          </a:p>
          <a:p>
            <a:r>
              <a:rPr lang="en-US" altLang="ko-KR" dirty="0"/>
              <a:t>It has infinite combinations and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It gets even more complex when you get to the compiler for the test program.</a:t>
            </a:r>
          </a:p>
          <a:p>
            <a:endParaRPr lang="en-US" altLang="ko-KR" dirty="0"/>
          </a:p>
          <a:p>
            <a:r>
              <a:rPr lang="en-US" altLang="ko-KR" dirty="0"/>
              <a:t>Over 30 union types are chained together, and they internally contain those union types again recursively.</a:t>
            </a:r>
          </a:p>
          <a:p>
            <a:endParaRPr lang="en-US" altLang="ko-KR" dirty="0"/>
          </a:p>
          <a:p>
            <a:r>
              <a:rPr lang="en-US" altLang="ko-KR" dirty="0"/>
              <a:t>Infinite combinations, infinite breadth and depth.</a:t>
            </a:r>
          </a:p>
          <a:p>
            <a:endParaRPr lang="en-US" altLang="ko-KR" dirty="0"/>
          </a:p>
          <a:p>
            <a:r>
              <a:rPr lang="en-US" altLang="ko-KR" dirty="0"/>
              <a:t>This is the nature of compiler ASTs, and in fact, the nature of all engineering design fields.</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4277843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And even after succeeding in composing AST data through function calling after much trial and error, there is one more step.</a:t>
            </a:r>
          </a:p>
          <a:p>
            <a:endParaRPr lang="en-US" altLang="ko-KR" dirty="0"/>
          </a:p>
          <a:p>
            <a:r>
              <a:rPr lang="en-US" altLang="ko-KR" dirty="0"/>
              <a:t>Validate: verifying whether the AST structure matches the actual type.</a:t>
            </a:r>
          </a:p>
          <a:p>
            <a:r>
              <a:rPr lang="en-US" altLang="ko-KR" dirty="0"/>
              <a:t>Diagnose: checking whether the data is compilably valid.</a:t>
            </a:r>
          </a:p>
          <a:p>
            <a:r>
              <a:rPr lang="en-US" altLang="ko-KR" dirty="0"/>
              <a:t>Corrector: correcting it when it is not valid.</a:t>
            </a:r>
          </a:p>
          <a:p>
            <a:endParaRPr lang="en-US" altLang="ko-KR" dirty="0"/>
          </a:p>
          <a:p>
            <a:r>
              <a:rPr lang="en-US" altLang="ko-KR" dirty="0"/>
              <a:t>Through these self-healing loops, the data generated by AI is progressively improved and repeated until it succeeds.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And building a coding agent with AST specs has many advantages over text-based coding agents.</a:t>
            </a:r>
          </a:p>
          <a:p>
            <a:endParaRPr lang="en-US" altLang="ko-KR" dirty="0"/>
          </a:p>
          <a:p>
            <a:r>
              <a:rPr lang="en-US" altLang="ko-KR" dirty="0"/>
              <a:t>Instead of flooding with prohibition rules, you can constrain through specifications,</a:t>
            </a:r>
          </a:p>
          <a:p>
            <a:endParaRPr lang="en-US" altLang="ko-KR" dirty="0"/>
          </a:p>
          <a:p>
            <a:r>
              <a:rPr lang="en-US" altLang="ko-KR" dirty="0"/>
              <a:t>and the compile error messages issued by the Diagnoser can be made more AI-friendly to improve precision.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So when generating backends with AutoBe, all five Qwen models achieve 100% or near-100% compilation success.</a:t>
            </a:r>
          </a:p>
          <a:p>
            <a:endParaRPr lang="en-US" altLang="ko-KR" dirty="0"/>
          </a:p>
          <a:p>
            <a:r>
              <a:rPr lang="en-US" altLang="ko-KR" dirty="0"/>
              <a:t>From 397B down to 35B. Even a 3B active parameter model can complete an Amazon or Coupang-level shopping mall backend.</a:t>
            </a:r>
          </a:p>
          <a:p>
            <a:endParaRPr lang="en-US" altLang="ko-KR" dirty="0"/>
          </a:p>
          <a:p>
            <a:r>
              <a:rPr lang="en-US" altLang="ko-KR" dirty="0"/>
              <a:t>Same schema, same pipeline, same results.</a:t>
            </a:r>
          </a:p>
          <a:p>
            <a:endParaRPr lang="en-US" altLang="ko-KR" dirty="0"/>
          </a:p>
          <a:p>
            <a:r>
              <a:rPr lang="en-US" altLang="ko-KR" dirty="0"/>
              <a:t>Even when using frontier models, the distribution of code quality is uniform.</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This is the DB design document and guide created by AutoBe through function calling.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And its ORM schema definition.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This is the DTO spec definition and test code.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BB23B31-05C0-45CF-9342-21BE32BFCBD5}" type="slidenum">
              <a:rPr lang="en-US" smtClean="0"/>
              <a:t>23</a:t>
            </a:fld>
            <a:endParaRPr lang="en-US"/>
          </a:p>
        </p:txBody>
      </p:sp>
    </p:spTree>
    <p:extLst>
      <p:ext uri="{BB962C8B-B14F-4D97-AF65-F5344CB8AC3E}">
        <p14:creationId xmlns:p14="http://schemas.microsoft.com/office/powerpoint/2010/main" val="2043088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Now, let's talk about Typia,</a:t>
            </a:r>
          </a:p>
          <a:p>
            <a:endParaRPr lang="en-US" altLang="ko-KR" dirty="0"/>
          </a:p>
          <a:p>
            <a:r>
              <a:rPr lang="en-US" altLang="ko-KR" dirty="0"/>
              <a:t>the story of raising the function calling success rate from 6.75% to 100%.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Typia is a plugin library for the TypeScript compiler.</a:t>
            </a:r>
          </a:p>
          <a:p>
            <a:endParaRPr lang="en-US" altLang="ko-KR" dirty="0"/>
          </a:p>
          <a:p>
            <a:r>
              <a:rPr lang="en-US" altLang="ko-KR" dirty="0"/>
              <a:t>It analyzes TypeScript source code at the compiler level and automatically generates optimal logic code for each type.</a:t>
            </a:r>
          </a:p>
          <a:p>
            <a:endParaRPr lang="en-US" altLang="ko-KR" dirty="0"/>
          </a:p>
          <a:p>
            <a:r>
              <a:rPr lang="en-US" altLang="ko-KR" dirty="0"/>
              <a:t>It was once famous under the title of a validator that is 20,000 times faster.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And this is what the optimal code generated by Typia looks like.</a:t>
            </a:r>
          </a:p>
          <a:p>
            <a:endParaRPr lang="en-US" altLang="ko-KR" dirty="0"/>
          </a:p>
          <a:p>
            <a:r>
              <a:rPr lang="en-US" altLang="ko-KR" dirty="0"/>
              <a:t>When you use Typia's is function, it automatically transforms into optimal type-checking code at compile time.</a:t>
            </a:r>
          </a:p>
          <a:p>
            <a:endParaRPr lang="en-US" altLang="ko-KR" dirty="0"/>
          </a:p>
          <a:p>
            <a:r>
              <a:rPr lang="en-US" altLang="ko-KR" dirty="0"/>
              <a:t>This is called a transformer.</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And when you use the typia.llm.parameters function, as you can see, TS types are automatically converted into structured output schemas.</a:t>
            </a:r>
          </a:p>
          <a:p>
            <a:endParaRPr lang="en-US" altLang="ko-KR" dirty="0"/>
          </a:p>
          <a:p>
            <a:r>
              <a:rPr lang="en-US" altLang="ko-KR" dirty="0"/>
              <a:t>Comments also become the description in the structured output.</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22870592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And when you apply this to a class, all functions in that class are automatically converted into function calling schemas.</a:t>
            </a:r>
          </a:p>
          <a:p>
            <a:endParaRPr lang="en-US" altLang="ko-KR" dirty="0"/>
          </a:p>
          <a:p>
            <a:r>
              <a:rPr lang="en-US" altLang="ko-KR" dirty="0"/>
              <a:t>And for each function, in addition to the structured output schema, three more features are added:</a:t>
            </a:r>
          </a:p>
          <a:p>
            <a:endParaRPr lang="en-US" altLang="ko-KR" dirty="0"/>
          </a:p>
          <a:p>
            <a:r>
              <a:rPr lang="en-US" altLang="ko-KR" dirty="0"/>
              <a:t>parse(): a lenient JSON parser</a:t>
            </a:r>
          </a:p>
          <a:p>
            <a:r>
              <a:rPr lang="en-US" altLang="ko-KR" dirty="0"/>
              <a:t>coerce(): automatically corrects types</a:t>
            </a:r>
          </a:p>
          <a:p>
            <a:r>
              <a:rPr lang="en-US" altLang="ko-KR" dirty="0"/>
              <a:t>validate(): finds incorrect types and issues detailed feedback messages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And this is what type coercion means.</a:t>
            </a:r>
          </a:p>
          <a:p>
            <a:endParaRPr lang="en-US" altLang="ko-KR" dirty="0"/>
          </a:p>
          <a:p>
            <a:r>
              <a:rPr lang="en-US" altLang="ko-KR" dirty="0"/>
              <a:t>On the right side, the payment type IPayment is a union type of card payment and bank payment. That is, a customer can pay by card or by bank transfer.</a:t>
            </a:r>
          </a:p>
          <a:p>
            <a:endParaRPr lang="en-US" altLang="ko-KR" dirty="0"/>
          </a:p>
          <a:p>
            <a:r>
              <a:rPr lang="en-US" altLang="ko-KR" dirty="0"/>
              <a:t>However, Qwen 3.5 and Anthropic Claude, with 100% probability, apply double JSON.stringify on this union type, producing incorrect types.</a:t>
            </a:r>
          </a:p>
          <a:p>
            <a:endParaRPr lang="en-US" altLang="ko-KR" dirty="0"/>
          </a:p>
          <a:p>
            <a:r>
              <a:rPr lang="en-US" altLang="ko-KR" dirty="0"/>
              <a:t>Typia identifies the correct type information at the compiler level and forcefully corrects it. This is coerce.</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And this is what lenient JSON parsing means.</a:t>
            </a:r>
          </a:p>
          <a:p>
            <a:endParaRPr lang="en-US" altLang="ko-KR" dirty="0"/>
          </a:p>
          <a:p>
            <a:r>
              <a:rPr lang="en-US" altLang="ko-KR" dirty="0"/>
              <a:t>As you can see, there are many things wrong here. This is one of the most common issues with small/medium models like Qwen.</a:t>
            </a:r>
          </a:p>
          <a:p>
            <a:endParaRPr lang="en-US" altLang="ko-KR" dirty="0"/>
          </a:p>
          <a:p>
            <a:r>
              <a:rPr lang="en-US" altLang="ko-KR" dirty="0"/>
              <a:t>First, it returned markdown instead of JSON.</a:t>
            </a:r>
          </a:p>
          <a:p>
            <a:r>
              <a:rPr lang="en-US" altLang="ko-KR" dirty="0"/>
              <a:t>Second, looking at order.payment, yes, the double JSON.stringify issue from earlier occurred. And that inline JSON string itself is also malformed.</a:t>
            </a:r>
          </a:p>
          <a:p>
            <a:r>
              <a:rPr lang="en-US" altLang="ko-KR" dirty="0"/>
              <a:t>Third, looking at the member properties of product, keys are not wrapped in quotes, strings are used instead of numbers, and there is a trailing comma after quantity.</a:t>
            </a:r>
          </a:p>
          <a:p>
            <a:r>
              <a:rPr lang="en-US" altLang="ko-KR" dirty="0"/>
              <a:t>Lastly, customer.vip was left incomplete, and after that, brackets were not closed and the markdown JSON block was not closed either.</a:t>
            </a:r>
          </a:p>
          <a:p>
            <a:endParaRPr lang="en-US" altLang="ko-KR" dirty="0"/>
          </a:p>
          <a:p>
            <a:r>
              <a:rPr lang="en-US" altLang="ko-KR" dirty="0"/>
              <a:t>Typia restores this by recursively alternating between parse and coerce. This is lenient JSON parsing.</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However, even after parsing and coercion, incorrectly typed values may still remain.</a:t>
            </a:r>
          </a:p>
          <a:p>
            <a:endParaRPr lang="en-US" altLang="ko-KR" dirty="0"/>
          </a:p>
          <a:p>
            <a:r>
              <a:rPr lang="en-US" altLang="ko-KR" dirty="0"/>
              <a:t>This happens when properties were never filled in from the start, or when values are created that are impossible to correct.</a:t>
            </a:r>
          </a:p>
          <a:p>
            <a:endParaRPr lang="en-US" altLang="ko-KR" dirty="0"/>
          </a:p>
          <a:p>
            <a:r>
              <a:rPr lang="en-US" altLang="ko-KR" dirty="0"/>
              <a:t>In this case, Typia reports exactly where and how each one is wrong, as shown above, providing feedback to the AI.</a:t>
            </a:r>
          </a:p>
          <a:p>
            <a:endParaRPr lang="en-US" altLang="ko-KR" dirty="0"/>
          </a:p>
          <a:p>
            <a:r>
              <a:rPr lang="en-US" altLang="ko-KR" dirty="0"/>
              <a:t>This is Typia's validation feedback.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And let me take a moment to brag here.</a:t>
            </a:r>
          </a:p>
          <a:p>
            <a:r>
              <a:rPr lang="en-US" altLang="ko-KR" dirty="0"/>
              <a:t>Typia is the only one that provides integrated support and stabilization for all four features we've covered at the compiler level.</a:t>
            </a:r>
          </a:p>
          <a:p>
            <a:endParaRPr lang="en-US" altLang="ko-KR" dirty="0"/>
          </a:p>
          <a:p>
            <a:r>
              <a:rPr lang="en-US" altLang="ko-KR" dirty="0"/>
              <a:t>And for each individual feature as well, Typia is the only one that supports union types.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Now, let me summarize the function calling harness.</a:t>
            </a:r>
          </a:p>
          <a:p>
            <a:endParaRPr lang="en-US" altLang="ko-KR" dirty="0"/>
          </a:p>
          <a:p>
            <a:r>
              <a:rPr lang="en-US" altLang="ko-KR" dirty="0"/>
              <a:t>Typia layer: type-to-schema, parsing, coercion, validation feedback</a:t>
            </a:r>
          </a:p>
          <a:p>
            <a:r>
              <a:rPr lang="en-US" altLang="ko-KR" dirty="0"/>
              <a:t>AutoBe layer: 4 ASTs + 4-stage compiler verification, self-healing loop</a:t>
            </a:r>
          </a:p>
          <a:p>
            <a:endParaRPr lang="en-US" altLang="ko-KR" dirty="0"/>
          </a:p>
          <a:p>
            <a:r>
              <a:rPr lang="en-US" altLang="ko-KR" dirty="0"/>
              <a:t>Typia makes function call I/O robust; AutoBe guarantees system consistency.</a:t>
            </a:r>
          </a:p>
          <a:p>
            <a:r>
              <a:rPr lang="en-US" altLang="ko-KR" dirty="0"/>
              <a:t>A deterministic loop wrapping a probabilistic model -- that is the harness.</a:t>
            </a:r>
          </a:p>
          <a:p>
            <a:endParaRPr lang="en-US" altLang="ko-KR" dirty="0"/>
          </a:p>
          <a:p>
            <a:r>
              <a:rPr lang="en-US" altLang="ko-KR" dirty="0"/>
              <a:t>A climbing harness does not make you stronger. It makes your strength safe.</a:t>
            </a:r>
          </a:p>
          <a:p>
            <a:r>
              <a:rPr lang="en-US" altLang="ko-KR" dirty="0"/>
              <a:t>A test harness does not make code correct. It makes bugs visible.</a:t>
            </a:r>
          </a:p>
          <a:p>
            <a:r>
              <a:rPr lang="en-US" altLang="ko-KR" dirty="0"/>
              <a:t>A function calling harness does not make the LLM smarter. It makes the LLM's mistakes correctable.</a:t>
            </a:r>
          </a:p>
          <a:p>
            <a:endParaRPr lang="en-US" altLang="ko-KR"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The type is the schema, the validator, and the prompt.</a:t>
            </a:r>
          </a:p>
          <a:p>
            <a:endParaRPr lang="en-US" altLang="ko-KR" dirty="0"/>
          </a:p>
          <a:p>
            <a:r>
              <a:rPr lang="en-US" altLang="ko-KR" dirty="0"/>
              <a:t>The harness is everything around it.</a:t>
            </a:r>
          </a:p>
          <a:p>
            <a:endParaRPr lang="en-US" altLang="ko-KR" dirty="0"/>
          </a:p>
          <a:p>
            <a:r>
              <a:rPr lang="en-US" altLang="ko-KR" dirty="0"/>
              <a:t>This is the philosophy of Typia.</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So far, we have seen how AutoBe automated backend coding through the function calling harness,</a:t>
            </a:r>
          </a:p>
          <a:p>
            <a:endParaRPr lang="en-US" altLang="ko-KR" dirty="0"/>
          </a:p>
          <a:p>
            <a:r>
              <a:rPr lang="en-US" altLang="ko-KR" dirty="0"/>
              <a:t>and learned how Typia underpins the function calling harness.</a:t>
            </a:r>
          </a:p>
          <a:p>
            <a:endParaRPr lang="en-US" altLang="ko-KR" dirty="0"/>
          </a:p>
          <a:p>
            <a:r>
              <a:rPr lang="en-US" altLang="ko-KR" dirty="0"/>
              <a:t>In this section, we will explore the strengths of function calling and its applications in industry.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Natural language evolved to be ambiguous. Metaphor, nuance, humor -- they all operate on top of ambiguity.</a:t>
            </a:r>
          </a:p>
          <a:p>
            <a:endParaRPr lang="en-US" altLang="ko-KR" dirty="0"/>
          </a:p>
          <a:p>
            <a:r>
              <a:rPr lang="en-US" altLang="ko-KR" dirty="0"/>
              <a:t>Conversely, programming languages were designed to eliminate ambiguity.</a:t>
            </a:r>
          </a:p>
          <a:p>
            <a:endParaRPr lang="en-US" altLang="ko-KR" dirty="0"/>
          </a:p>
          <a:p>
            <a:r>
              <a:rPr lang="en-US" altLang="ko-KR" dirty="0"/>
              <a:t>That is why types are model-neutral, can be verified through constraints, and converge deterministically.</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It becomes even clearer when you look at the code.</a:t>
            </a:r>
          </a:p>
          <a:p>
            <a:endParaRPr lang="en-US" altLang="ko-KR" dirty="0"/>
          </a:p>
          <a:p>
            <a:r>
              <a:rPr lang="en-US" altLang="ko-KR" dirty="0"/>
              <a:t>Expressing the same condition of being 18 years or older, natural language and types are this different.</a:t>
            </a:r>
          </a:p>
          <a:p>
            <a:endParaRPr lang="en-US" altLang="ko-KR" dirty="0"/>
          </a:p>
          <a:p>
            <a:r>
              <a:rPr lang="en-US" altLang="ko-KR" dirty="0"/>
              <a:t>In domains that require precision, type constraints provide the certainty that natural language instructions cannot.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The pink elephant problem -- very famous, right?</a:t>
            </a:r>
          </a:p>
          <a:p>
            <a:endParaRPr lang="en-US" altLang="ko-KR" dirty="0"/>
          </a:p>
          <a:p>
            <a:r>
              <a:rPr lang="en-US" altLang="ko-KR" dirty="0"/>
              <a:t>The moment you say "Don't think of a pink elephant," you end up thinking of a pink elephant.</a:t>
            </a:r>
          </a:p>
          <a:p>
            <a:endParaRPr lang="en-US" altLang="ko-KR" dirty="0"/>
          </a:p>
          <a:p>
            <a:r>
              <a:rPr lang="en-US" altLang="ko-KR" dirty="0"/>
              <a:t>And for those who have built agents, this might be a word that triggers trauma.</a:t>
            </a:r>
          </a:p>
          <a:p>
            <a:endParaRPr lang="en-US" altLang="ko-KR" dirty="0"/>
          </a:p>
          <a:p>
            <a:r>
              <a:rPr lang="en-US" altLang="ko-KR" dirty="0"/>
              <a:t>When writing prompts, can you really avoid using prohibition rules? You write prompts diligently, but the AI behaves unexpectedly, and as you try to block it, you inevitably end up creating prohibition rules. But then, through vector search, the pink elephant appears at the forefront of patterns, and paradoxically, the AI ends up doing more of the very thing you prohibited.</a:t>
            </a:r>
          </a:p>
          <a:p>
            <a:endParaRPr lang="en-US" altLang="ko-K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For example, in a coding agent, you might instruct via prompt: "Don't use the 'any' type." And then the AI uses the any type even more aggressively.</a:t>
            </a:r>
          </a:p>
          <a:p>
            <a:endParaRPr lang="en-US" altLang="ko-KR" dirty="0"/>
          </a:p>
          <a:p>
            <a:r>
              <a:rPr lang="en-US" altLang="ko-KR" dirty="0"/>
              <a:t>But with schemas, you simply don't create the any type spec in the first place. Then the any type is fundamentally blocked. Because that is the spec.</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If you write a prompt saying "Don't define inline object types," it creates inline object types even more aggressively.</a:t>
            </a:r>
          </a:p>
          <a:p>
            <a:endParaRPr lang="en-US" altLang="ko-KR" dirty="0"/>
          </a:p>
          <a:p>
            <a:r>
              <a:rPr lang="en-US" altLang="ko-KR" dirty="0"/>
              <a:t>But if you define it as a schema using the Exclude type, the AI will never create inline object types. Why? Because that is the spec.</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Prompt engineering is inherently model-dependent. A prompt optimized for GPT behaves differently on Claude, and differently again on Qwen. Rewriting prompts every time you switch models -- that's everyday life.</a:t>
            </a:r>
          </a:p>
          <a:p>
            <a:endParaRPr lang="en-US" altLang="ko-KR" dirty="0"/>
          </a:p>
          <a:p>
            <a:r>
              <a:rPr lang="en-US" altLang="ko-KR" dirty="0"/>
              <a:t>However, the function calling-based approach is model-neutral. JSON Schema means the same thing regardless of which model reads it.</a:t>
            </a:r>
          </a:p>
          <a:p>
            <a:endParaRPr lang="en-US" altLang="ko-KR" dirty="0"/>
          </a:p>
          <a:p>
            <a:r>
              <a:rPr lang="en-US" altLang="ko-KR" dirty="0"/>
              <a:t>The validation feedback loop absorbs performance differences between models.</a:t>
            </a:r>
          </a:p>
          <a:p>
            <a:endParaRPr lang="en-US" altLang="ko-KR" dirty="0"/>
          </a:p>
          <a:p>
            <a:r>
              <a:rPr lang="en-US" altLang="ko-KR" dirty="0"/>
              <a:t>Strong models take 1-2 iterations, weak models take 3-4 -- both converge to 100%.</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The fact that AutoBe achieved 100% compilation across Qwen, GLM, DeepSeek, and OpenAI -- with the same schema, same pipeline -- is proof of this neutrality. Model-specific prompt tuning was never done, not even once.</a:t>
            </a:r>
          </a:p>
          <a:p>
            <a:endParaRPr lang="en-US" altLang="ko-KR" dirty="0"/>
          </a:p>
          <a:p>
            <a:r>
              <a:rPr lang="en-US" altLang="ko-KR" dirty="0"/>
              <a:t>The nature of model selection changes.</a:t>
            </a:r>
          </a:p>
          <a:p>
            <a:r>
              <a:rPr lang="en-US" altLang="ko-KR" dirty="0"/>
              <a:t>"Can this model do this task?" -- from a capability question</a:t>
            </a:r>
          </a:p>
          <a:p>
            <a:r>
              <a:rPr lang="en-US" altLang="ko-KR" dirty="0"/>
              <a:t>"Which model is the most cost-efficient?" -- to a cost optimization problem.</a:t>
            </a:r>
          </a:p>
          <a:p>
            <a:endParaRPr lang="en-US" altLang="ko-KR" dirty="0"/>
          </a:p>
          <a:p>
            <a:r>
              <a:rPr lang="en-US" altLang="ko-KR" dirty="0"/>
              <a:t>Average retry count x tokens per attempt x cost per token.</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This is an actual results comparison table.</a:t>
            </a:r>
          </a:p>
          <a:p>
            <a:r>
              <a:rPr lang="en-US" altLang="ko-KR" dirty="0"/>
              <a:t>Qwen, DeepSeek, OpenAI -- even with different models, all achieve 100% in the same pipeline.</a:t>
            </a:r>
          </a:p>
          <a:p>
            <a:r>
              <a:rPr lang="en-US" altLang="ko-KR" dirty="0"/>
              <a:t>Zero model-specific prompt tuning. The schema and feedback loop absorb the differences.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The key: verifiability.</a:t>
            </a:r>
          </a:p>
          <a:p>
            <a:endParaRPr lang="en-US" altLang="ko-KR" dirty="0"/>
          </a:p>
          <a:p>
            <a:r>
              <a:rPr lang="en-US" altLang="ko-KR" dirty="0"/>
              <a:t>The fundamental advantage of function calling is that it brings LLM output into the domain of software engineering.</a:t>
            </a:r>
          </a:p>
          <a:p>
            <a:endParaRPr lang="en-US" altLang="ko-KR" dirty="0"/>
          </a:p>
          <a:p>
            <a:r>
              <a:rPr lang="en-US" altLang="ko-KR" dirty="0"/>
              <a:t>Free-form text output makes accuracy an AI problem. Parsing is fuzzy, validation is fuzzy, correction is fuzzy.</a:t>
            </a:r>
          </a:p>
          <a:p>
            <a:endParaRPr lang="en-US" altLang="ko-KR" dirty="0"/>
          </a:p>
          <a:p>
            <a:r>
              <a:rPr lang="en-US" altLang="ko-KR" dirty="0"/>
              <a:t>In contrast, structured output makes accuracy an engineering problem.</a:t>
            </a:r>
          </a:p>
          <a:p>
            <a:endParaRPr lang="en-US" altLang="ko-KR" dirty="0"/>
          </a:p>
          <a:p>
            <a:r>
              <a:rPr lang="en-US" altLang="ko-KR" dirty="0"/>
              <a:t>Validation is deterministic -- JSON Schema validation gives a clear pass/fail.</a:t>
            </a:r>
          </a:p>
          <a:p>
            <a:r>
              <a:rPr lang="en-US" altLang="ko-KR" dirty="0"/>
              <a:t>Feedback is precise -- "Field X should be type Y, but you gave Z."</a:t>
            </a:r>
          </a:p>
          <a:p>
            <a:r>
              <a:rPr lang="en-US" altLang="ko-KR" dirty="0"/>
              <a:t>Correction converges -- precise feedback makes the model fix only that part.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The model is still probabilistic. It still makes mistakes.</a:t>
            </a:r>
          </a:p>
          <a:p>
            <a:endParaRPr lang="en-US" altLang="ko-KR" dirty="0"/>
          </a:p>
          <a:p>
            <a:r>
              <a:rPr lang="en-US" altLang="ko-KR" dirty="0"/>
              <a:t>But because the structure wrapping the model is deterministic, the process converges to 100%.</a:t>
            </a:r>
          </a:p>
          <a:p>
            <a:endParaRPr lang="en-US" altLang="ko-KR" dirty="0"/>
          </a:p>
          <a:p>
            <a:r>
              <a:rPr lang="en-US" altLang="ko-KR" dirty="0"/>
              <a:t>Type schema + deterministic validator + structured feedback = harness.</a:t>
            </a:r>
          </a:p>
          <a:p>
            <a:endParaRPr lang="en-US" altLang="ko-KR" dirty="0"/>
          </a:p>
          <a:p>
            <a:r>
              <a:rPr lang="en-US" altLang="ko-KR" dirty="0"/>
              <a:t>Prompt engineering tries to make the probabilistic part reliable.</a:t>
            </a:r>
          </a:p>
          <a:p>
            <a:r>
              <a:rPr lang="en-US" altLang="ko-KR" dirty="0"/>
              <a:t>Function calling makes the deterministic part perfect.</a:t>
            </a:r>
          </a:p>
          <a:p>
            <a:r>
              <a:rPr lang="en-US" altLang="ko-KR" dirty="0"/>
              <a:t>In domains that require precision, the latter wins. 6.75% becomes 100%.</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This pattern is universal.</a:t>
            </a:r>
          </a:p>
          <a:p>
            <a:endParaRPr lang="en-US" altLang="ko-KR" dirty="0"/>
          </a:p>
          <a:p>
            <a:r>
              <a:rPr lang="en-US" altLang="ko-KR" dirty="0"/>
              <a:t>Semiconductors: DRC(ms) &gt; LVS(sec) &gt; SPICE simulation(min+). All deterministic.</a:t>
            </a:r>
          </a:p>
          <a:p>
            <a:r>
              <a:rPr lang="en-US" altLang="ko-KR" dirty="0"/>
              <a:t>Chemical processes: mass conservation &gt; energy balance &gt; process simulation. Laws of physics are the validator.</a:t>
            </a:r>
          </a:p>
          <a:p>
            <a:r>
              <a:rPr lang="en-US" altLang="ko-KR" dirty="0"/>
              <a:t>Architecture/BIM: dimensional clash &gt; building codes &gt; lighting/HVAC simulation.</a:t>
            </a:r>
          </a:p>
          <a:p>
            <a:r>
              <a:rPr lang="en-US" altLang="ko-KR" dirty="0"/>
              <a:t>Control systems: transfer function validity &gt; stability analysis &gt; time-domain simulation.</a:t>
            </a:r>
          </a:p>
          <a:p>
            <a:endParaRPr lang="en-US" altLang="ko-KR" dirty="0"/>
          </a:p>
          <a:p>
            <a:r>
              <a:rPr lang="en-US" altLang="ko-KR" dirty="0"/>
              <a:t>The same structure is possible in every engineering field that has had verification tools for over 40 years.</a:t>
            </a:r>
          </a:p>
          <a:p>
            <a:r>
              <a:rPr lang="en-US" altLang="ko-KR" dirty="0"/>
              <a:t>Let's look at the specific types.</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Semiconductor chip layout.</a:t>
            </a:r>
          </a:p>
          <a:p>
            <a:r>
              <a:rPr lang="en-US" altLang="ko-KR" dirty="0"/>
              <a:t>IChipLayout -- technology_node is "5nm" | "7nm" | "14nm" | "28nm". IBlock's type is "logic" | "memory" | "io" | "analog" | "pll".</a:t>
            </a:r>
          </a:p>
          <a:p>
            <a:r>
              <a:rPr lang="en-US" altLang="ko-KR" dirty="0"/>
              <a:t>sub_blocks is recursive. It's the same union + tree structure as AutoBe's IJsonSchema.</a:t>
            </a:r>
          </a:p>
          <a:p>
            <a:endParaRPr lang="en-US" altLang="ko-KR" dirty="0"/>
          </a:p>
          <a:p>
            <a:r>
              <a:rPr lang="en-US" altLang="ko-KR" dirty="0"/>
              <a:t>DRC is fast, LVS is medium, SPICE is deep verification. All deterministic.</a:t>
            </a:r>
          </a:p>
          <a:p>
            <a:r>
              <a:rPr lang="en-US" altLang="ko-KR" dirty="0"/>
              <a:t>Same pattern, different domain.</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Chemical processes.</a:t>
            </a:r>
          </a:p>
          <a:p>
            <a:r>
              <a:rPr lang="en-US" altLang="ko-KR" dirty="0"/>
              <a:t>IProcessStream -- temperature, pressure, composition, phase, flow_rate.</a:t>
            </a:r>
          </a:p>
          <a:p>
            <a:r>
              <a:rPr lang="en-US" altLang="ko-KR" dirty="0"/>
              <a:t>IUnitOperation -- type is "reactor" | "distillation" | "heat_exchanger" | "compressor", etc.</a:t>
            </a:r>
          </a:p>
          <a:p>
            <a:endParaRPr lang="en-US" altLang="ko-KR" dirty="0"/>
          </a:p>
          <a:p>
            <a:r>
              <a:rPr lang="en-US" altLang="ko-KR" dirty="0"/>
              <a:t>Mass conservation: sum of inlets = sum of outlets. Energy balance. Thermodynamic consistency.</a:t>
            </a:r>
          </a:p>
          <a:p>
            <a:r>
              <a:rPr lang="en-US" altLang="ko-KR" dirty="0"/>
              <a:t>The laws of physics are the validator. ASPEN and HYSYS have provided deterministic verification for over 40 years.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Architecture/BIM -- IFC element hierarchy.</a:t>
            </a:r>
          </a:p>
          <a:p>
            <a:r>
              <a:rPr lang="en-US" altLang="ko-KR" dirty="0"/>
              <a:t>IRoom, IOpening, IFixture. Door width 900mm or more (accessibility), minimum corridor width 800mm, fire compartments.</a:t>
            </a:r>
          </a:p>
          <a:p>
            <a:endParaRPr lang="en-US" altLang="ko-KR" dirty="0"/>
          </a:p>
          <a:p>
            <a:r>
              <a:rPr lang="en-US" altLang="ko-KR" dirty="0"/>
              <a:t>BIM tools like Revit have provided clash detection for decades.</a:t>
            </a:r>
          </a:p>
          <a:p>
            <a:r>
              <a:rPr lang="en-US" altLang="ko-KR" dirty="0"/>
              <a:t>Here too, the type field has enumerated variants -- "bedroom" | "living" | "kitchen"...</a:t>
            </a:r>
          </a:p>
          <a:p>
            <a:r>
              <a:rPr lang="en-US" altLang="ko-KR" dirty="0"/>
              <a:t>Recursive tree structure. Same pattern as AutoBe.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Control systems.</a:t>
            </a:r>
          </a:p>
          <a:p>
            <a:r>
              <a:rPr lang="en-US" altLang="ko-KR" dirty="0"/>
              <a:t>IControlLoop -- "PID" | "MPC" | "LQR" | "feedforward" | "cascade".</a:t>
            </a:r>
          </a:p>
          <a:p>
            <a:r>
              <a:rPr lang="en-US" altLang="ko-KR" dirty="0"/>
              <a:t>ITransferFunction -- polynomial coefficients, delays.</a:t>
            </a:r>
          </a:p>
          <a:p>
            <a:endParaRPr lang="en-US" altLang="ko-KR" dirty="0"/>
          </a:p>
          <a:p>
            <a:r>
              <a:rPr lang="en-US" altLang="ko-KR" dirty="0"/>
              <a:t>Bode plot, Nyquist plot, pole placement: over 60 years of analysis tool history.</a:t>
            </a:r>
          </a:p>
          <a:p>
            <a:r>
              <a:rPr lang="en-US" altLang="ko-KR" dirty="0"/>
              <a:t>Transfer function validity (fast) &gt; stability margin analysis (medium) &gt; time-domain simulation (deep).</a:t>
            </a:r>
          </a:p>
          <a:p>
            <a:endParaRPr lang="en-US" altLang="ko-KR" dirty="0"/>
          </a:p>
          <a:p>
            <a:r>
              <a:rPr lang="en-US" altLang="ko-KR" dirty="0"/>
              <a:t>Every type has a type field and enumerated variants. They nest recursively.</a:t>
            </a:r>
          </a:p>
          <a:p>
            <a:r>
              <a:rPr lang="en-US" altLang="ko-KR" dirty="0"/>
              <a:t>This is not a coincidence -- it is the nature of engineering data.</a:t>
            </a:r>
          </a:p>
          <a:p>
            <a:endParaRPr lang="en-US" altLang="ko-KR" dirty="0"/>
          </a:p>
          <a:p>
            <a:r>
              <a:rPr lang="en-US" altLang="ko-KR" dirty="0"/>
              <a:t>However, the limitations are also clear. It cannot be applied to domains without deterministic validators -- creativity, emotion, strategy.</a:t>
            </a:r>
          </a:p>
          <a:p>
            <a:r>
              <a:rPr lang="en-US" altLang="ko-KR" dirty="0"/>
              <a:t>This is not a universal solution. It is a solution for domains where precision is essential and mechanical verification is possible.</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Chapter 5. The Qwen Series.</a:t>
            </a:r>
          </a:p>
          <a:p>
            <a:endParaRPr lang="en-US" altLang="ko-KR" dirty="0"/>
          </a:p>
          <a:p>
            <a:r>
              <a:rPr lang="en-US" altLang="ko-KR" dirty="0"/>
              <a:t>Let me talk about why this is a Qwen meetup today.</a:t>
            </a:r>
          </a:p>
          <a:p>
            <a:r>
              <a:rPr lang="en-US" altLang="ko-KR" dirty="0"/>
              <a:t>Small models and QA engineering -- why small models were the most important testing tool for AutoBe.</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AutoBe's entire pipeline is function calling.</a:t>
            </a:r>
          </a:p>
          <a:p>
            <a:r>
              <a:rPr lang="en-US" altLang="ko-KR" dirty="0"/>
              <a:t>Whether the model writes good prose or converses naturally is irrelevant.</a:t>
            </a:r>
          </a:p>
          <a:p>
            <a:r>
              <a:rPr lang="en-US" altLang="ko-KR" dirty="0"/>
              <a:t>The only criterion is how accurately it fills complex JSON Schemas.</a:t>
            </a:r>
          </a:p>
          <a:p>
            <a:endParaRPr lang="en-US" altLang="ko-KR" dirty="0"/>
          </a:p>
          <a:p>
            <a:r>
              <a:rPr lang="en-US" altLang="ko-KR" dirty="0"/>
              <a:t>It's not that only Qwen is good at function calling. GLM and Kimi are also strong with large models.</a:t>
            </a:r>
          </a:p>
          <a:p>
            <a:r>
              <a:rPr lang="en-US" altLang="ko-KR" dirty="0"/>
              <a:t>But at the small/medium scale, Qwen was the only one that could handle function calling at this level of complexity.</a:t>
            </a:r>
          </a:p>
          <a:p>
            <a:r>
              <a:rPr lang="en-US" altLang="ko-KR" dirty="0"/>
              <a:t>A MoE model with 3B active parameters supports tool choice and handles 10+ recursive union variants.</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R&amp;D cost -- users vs developers.</a:t>
            </a:r>
          </a:p>
          <a:p>
            <a:endParaRPr lang="en-US" altLang="ko-KR" dirty="0"/>
          </a:p>
          <a:p>
            <a:r>
              <a:rPr lang="en-US" altLang="ko-KR" dirty="0"/>
              <a:t>For customers using AutoBe, model cost is not an issue. Even the most expensive model is cheaper than one backend developer's salary.</a:t>
            </a:r>
          </a:p>
          <a:p>
            <a:endParaRPr lang="en-US" altLang="ko-KR" dirty="0"/>
          </a:p>
          <a:p>
            <a:r>
              <a:rPr lang="en-US" altLang="ko-KR" dirty="0"/>
              <a:t>The problem is on our side -- the ones developing AutoBe.</a:t>
            </a:r>
          </a:p>
          <a:p>
            <a:r>
              <a:rPr lang="en-US" altLang="ko-KR" dirty="0"/>
              <a:t>Every time we add a new type design or validation rule, we have to run the entire pipeline from start to finish.</a:t>
            </a:r>
          </a:p>
          <a:p>
            <a:r>
              <a:rPr lang="en-US" altLang="ko-KR" dirty="0"/>
              <a:t>Thousands of generate-compile-feedback cycles. Doing this at scale with commercial models would bankrupt us.</a:t>
            </a:r>
          </a:p>
          <a:p>
            <a:endParaRPr lang="en-US" altLang="ko-KR" dirty="0"/>
          </a:p>
          <a:p>
            <a:r>
              <a:rPr lang="en-US" altLang="ko-KR" dirty="0"/>
              <a:t>Local models make the R&amp;D cycle possible.</a:t>
            </a:r>
          </a:p>
          <a:p>
            <a:r>
              <a:rPr lang="en-US" altLang="ko-KR" dirty="0"/>
              <a:t>The journey from 6.75% to 100% required hundreds of experimental cycles, and it would have been impossible without local models.</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Why small models are the best QA engineers.</a:t>
            </a:r>
          </a:p>
          <a:p>
            <a:endParaRPr lang="en-US" altLang="ko-KR" dirty="0"/>
          </a:p>
          <a:p>
            <a:r>
              <a:rPr lang="en-US" altLang="ko-KR" dirty="0"/>
              <a:t>Large models make fewer mistakes. That is both an advantage and a blind spot.</a:t>
            </a:r>
          </a:p>
          <a:p>
            <a:r>
              <a:rPr lang="en-US" altLang="ko-KR" dirty="0"/>
              <a:t>Even when our system has vulnerabilities, large models rarely trigger those failures.</a:t>
            </a:r>
          </a:p>
          <a:p>
            <a:r>
              <a:rPr lang="en-US" altLang="ko-KR" dirty="0"/>
              <a:t>They "correctly guess" the ambiguous parts of the schema and pass through. Our mistakes stay hidden.</a:t>
            </a:r>
          </a:p>
          <a:p>
            <a:endParaRPr lang="en-US" altLang="ko-KR" dirty="0"/>
          </a:p>
          <a:p>
            <a:r>
              <a:rPr lang="en-US" altLang="ko-KR" dirty="0"/>
              <a:t>When you switch to a small model, the story changes.</a:t>
            </a:r>
          </a:p>
          <a:p>
            <a:r>
              <a:rPr lang="en-US" altLang="ko-KR" dirty="0"/>
              <a:t>qwen3-30b-a3b-thinking -- 3B active, success rate around 10%. Every failure pointed to a system vulnerability, and each fix strengthened the pipeline for all models.</a:t>
            </a:r>
          </a:p>
          <a:p>
            <a:endParaRPr lang="en-US" altLang="ko-KR" dirty="0"/>
          </a:p>
          <a:p>
            <a:r>
              <a:rPr lang="en-US" altLang="ko-KR" dirty="0"/>
              <a:t>AI is probabilistic. Large models make mistakes "less often," not "never."</a:t>
            </a:r>
          </a:p>
          <a:p>
            <a:r>
              <a:rPr lang="en-US" altLang="ko-KR" dirty="0"/>
              <a:t>In production, "rarely" means outages.</a:t>
            </a:r>
          </a:p>
          <a:p>
            <a:r>
              <a:rPr lang="en-US" altLang="ko-KR" dirty="0"/>
              <a:t>Once the system becomes robust enough that even a 35B model cannot find vulnerabilities, the failure probability converges to zero for any model.</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Now, let me wrap things up.</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Each argument is as follows.</a:t>
            </a:r>
          </a:p>
          <a:p>
            <a:endParaRPr lang="en-US" altLang="ko-KR" dirty="0"/>
          </a:p>
          <a:p>
            <a:r>
              <a:rPr lang="en-US" altLang="ko-KR" dirty="0"/>
              <a:t>Types have no ambiguity.</a:t>
            </a:r>
          </a:p>
          <a:p>
            <a:r>
              <a:rPr lang="en-US" altLang="ko-KR" dirty="0"/>
              <a:t>Schema constraints have no pink elephant effect.</a:t>
            </a:r>
          </a:p>
          <a:p>
            <a:r>
              <a:rPr lang="en-US" altLang="ko-KR" dirty="0"/>
              <a:t>Deterministic loops converge to 100%.</a:t>
            </a:r>
          </a:p>
          <a:p>
            <a:r>
              <a:rPr lang="en-US" altLang="ko-KR" dirty="0"/>
              <a:t>This logic is applicable to every industry where a validator exists.</a:t>
            </a:r>
          </a:p>
          <a:p>
            <a:endParaRPr lang="en-US" altLang="ko-KR" dirty="0"/>
          </a:p>
          <a:p>
            <a:r>
              <a:rPr lang="en-US" altLang="ko-KR" dirty="0"/>
              <a:t>Combined, through type schemas and logic feedback, we can create deterministic loops.</a:t>
            </a:r>
          </a:p>
          <a:p>
            <a:endParaRPr lang="en-US" altLang="ko-KR" dirty="0"/>
          </a:p>
          <a:p>
            <a:r>
              <a:rPr lang="en-US" altLang="ko-KR" dirty="0"/>
              <a:t>This is the essence of harness engineering.</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And based on this theoretical foundation,</a:t>
            </a:r>
          </a:p>
          <a:p>
            <a:endParaRPr lang="en-US" altLang="ko-KR" dirty="0"/>
          </a:p>
          <a:p>
            <a:r>
              <a:rPr lang="en-US" altLang="ko-KR" dirty="0"/>
              <a:t>we took the initial 6.75% success rate</a:t>
            </a:r>
          </a:p>
          <a:p>
            <a:endParaRPr lang="en-US" altLang="ko-KR" dirty="0"/>
          </a:p>
          <a:p>
            <a:r>
              <a:rPr lang="en-US" altLang="ko-KR" dirty="0"/>
              <a:t>- Lenient JSON Parsing</a:t>
            </a:r>
          </a:p>
          <a:p>
            <a:r>
              <a:rPr lang="en-US" altLang="ko-KR" dirty="0"/>
              <a:t>- Type-based Coercion</a:t>
            </a:r>
          </a:p>
          <a:p>
            <a:r>
              <a:rPr lang="en-US" altLang="ko-KR" dirty="0"/>
              <a:t>- Validation</a:t>
            </a:r>
          </a:p>
          <a:p>
            <a:r>
              <a:rPr lang="en-US" altLang="ko-KR" dirty="0"/>
              <a:t>- Feedback</a:t>
            </a:r>
          </a:p>
          <a:p>
            <a:endParaRPr lang="en-US" altLang="ko-KR" dirty="0"/>
          </a:p>
          <a:p>
            <a:r>
              <a:rPr lang="en-US" altLang="ko-KR" dirty="0"/>
              <a:t>Through these procedures, by turning probabilistic AI into deterministic processes,</a:t>
            </a:r>
          </a:p>
          <a:p>
            <a:endParaRPr lang="en-US" altLang="ko-KR" dirty="0"/>
          </a:p>
          <a:p>
            <a:r>
              <a:rPr lang="en-US" altLang="ko-KR" dirty="0"/>
              <a:t>we achieved a 100% success rate and accomplished the engineering design mission with Qwen models.</a:t>
            </a:r>
          </a:p>
          <a:p>
            <a:endParaRPr lang="en-US" altLang="ko-KR" dirty="0"/>
          </a:p>
          <a:p>
            <a:r>
              <a:rPr lang="en-US" altLang="ko-KR" dirty="0"/>
              <a:t>And this is a general principle applicable to all fields.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6.75% is not a failure.</a:t>
            </a:r>
          </a:p>
          <a:p>
            <a:endParaRPr lang="en-US" altLang="ko-KR" dirty="0"/>
          </a:p>
          <a:p>
            <a:r>
              <a:rPr lang="en-US" altLang="ko-KR" dirty="0"/>
              <a:t>It is the first input to the loop.</a:t>
            </a:r>
          </a:p>
          <a:p>
            <a:r>
              <a:rPr lang="en-US" altLang="ko-KR" dirty="0"/>
              <a:t>If you can verify it, it converges.</a:t>
            </a:r>
          </a:p>
          <a:p>
            <a:endParaRPr lang="en-US" altLang="ko-KR" dirty="0"/>
          </a:p>
          <a:p>
            <a:r>
              <a:rPr lang="en-US" altLang="ko-KR" dirty="0"/>
              <a:t>Everyone, take on the challenge of engineering design.</a:t>
            </a:r>
          </a:p>
          <a:p>
            <a:endParaRPr lang="en-US" altLang="ko-KR" dirty="0"/>
          </a:p>
          <a:p>
            <a:r>
              <a:rPr lang="en-US" altLang="ko-KR" dirty="0"/>
              <a:t>You can do it too.</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en-US" altLang="ko-KR" dirty="0"/>
              <a:t>Thank you for your attention. That's all I've prepared for today — I'll now take any questions.</a:t>
            </a:r>
          </a:p>
          <a:p>
            <a:endParaRPr lang="en-US" altLang="ko-KR" dirty="0"/>
          </a:p>
          <a:p>
            <a:r>
              <a:rPr lang="en-US" altLang="ko-KR" dirty="0"/>
              <a:t>Any further questions? If not, that concludes our presentation on the Function Calling Harness. Thank you!</a:t>
            </a:r>
            <a:endParaRPr lang="ko-K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F864E9F2-A8EE-4CDC-ABC8-B4149FF8DC8F}" type="slidenum">
              <a:rPr lang="en-US" smtClean="0"/>
              <a:t>‹#›</a:t>
            </a:fld>
            <a:endParaRPr 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04880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5358356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2624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82B2B681-DACA-4D89-9D8A-94ED0431FFA9}"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155169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82B2B681-DACA-4D89-9D8A-94ED0431FFA9}" type="datetimeFigureOut">
              <a:rPr lang="en-US" smtClean="0"/>
              <a:t>3/27/2026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3477538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82B2B681-DACA-4D89-9D8A-94ED0431FFA9}" type="datetimeFigureOut">
              <a:rPr lang="en-US" smtClean="0"/>
              <a:t>3/27/2026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751456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2B2B681-DACA-4D89-9D8A-94ED0431FFA9}" type="datetimeFigureOut">
              <a:rPr lang="en-US" smtClean="0"/>
              <a:t>3/27/2026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80779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849673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406813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421163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645369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ko-KR" alt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F79BD98-6794-46E2-8E86-251C3D6F4DAE}" type="slidenum">
              <a:rPr lang="ko-KR" altLang="en-US" smtClean="0"/>
              <a:t>‹#›</a:t>
            </a:fld>
            <a:endParaRPr lang="ko-KR" alt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12370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222243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28834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1700261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bg>
      <p:bgRef idx="1001">
        <a:schemeClr val="bg1"/>
      </p:bgRef>
    </p:bg>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2138636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5719112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bg>
      <p:bgRef idx="1001">
        <a:schemeClr val="bg1"/>
      </p:bgRef>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8545481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4891077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792565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7875200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81770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82B2B681-DACA-4D89-9D8A-94ED0431FFA9}" type="datetimeFigureOut">
              <a:rPr lang="en-US" smtClean="0"/>
              <a:t>3/27/2026</a:t>
            </a:fld>
            <a:endParaRPr 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F864E9F2-A8EE-4CDC-ABC8-B4149FF8DC8F}" type="slidenum">
              <a:rPr lang="en-US" smtClean="0"/>
              <a:t>‹#›</a:t>
            </a:fld>
            <a:endParaRPr lang="en-US"/>
          </a:p>
        </p:txBody>
      </p:sp>
    </p:spTree>
    <p:extLst>
      <p:ext uri="{BB962C8B-B14F-4D97-AF65-F5344CB8AC3E}">
        <p14:creationId xmlns:p14="http://schemas.microsoft.com/office/powerpoint/2010/main" val="25290906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ADAB3498-A523-4A42-BB38-782B1991896F}" type="datetimeFigureOut">
              <a:rPr lang="ko-KR" altLang="en-US" smtClean="0"/>
              <a:t>2026-03-27</a:t>
            </a:fld>
            <a:endParaRPr lang="ko-KR" alt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ko-KR" alt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9510862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1" hangingPunct="1">
        <a:lnSpc>
          <a:spcPct val="90000"/>
        </a:lnSpc>
        <a:spcBef>
          <a:spcPct val="0"/>
        </a:spcBef>
        <a:buNone/>
        <a:defRPr sz="4400" kern="1200">
          <a:solidFill>
            <a:srgbClr val="F0F0F0"/>
          </a:solidFill>
          <a:latin typeface="+mj-lt"/>
          <a:ea typeface="+mj-ea"/>
          <a:cs typeface="+mj-cs"/>
        </a:defRPr>
      </a:lvl1pPr>
    </p:titleStyle>
    <p:bodyStyle>
      <a:lvl1pPr marL="228600" indent="-182880" algn="l" defTabSz="914400" rtl="0" eaLnBrk="1" latinLnBrk="1" hangingPunct="1">
        <a:lnSpc>
          <a:spcPct val="90000"/>
        </a:lnSpc>
        <a:spcBef>
          <a:spcPts val="1400"/>
        </a:spcBef>
        <a:buClr>
          <a:schemeClr val="tx1"/>
        </a:buClr>
        <a:buSzPct val="80000"/>
        <a:buFont typeface="Corbel" pitchFamily="34" charset="0"/>
        <a:buChar char="•"/>
        <a:defRPr sz="2200" kern="1200">
          <a:solidFill>
            <a:srgbClr val="D0D0D0"/>
          </a:solidFill>
          <a:latin typeface="+mn-lt"/>
          <a:ea typeface="+mn-ea"/>
          <a:cs typeface="+mn-cs"/>
        </a:defRPr>
      </a:lvl1pPr>
      <a:lvl2pPr marL="45720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2000" kern="1200">
          <a:solidFill>
            <a:srgbClr val="B0B0B0"/>
          </a:solidFill>
          <a:latin typeface="+mn-lt"/>
          <a:ea typeface="+mn-ea"/>
          <a:cs typeface="+mn-cs"/>
        </a:defRPr>
      </a:lvl2pPr>
      <a:lvl3pPr marL="73152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800" kern="1200">
          <a:solidFill>
            <a:srgbClr val="B0B0B0"/>
          </a:solidFill>
          <a:latin typeface="+mn-lt"/>
          <a:ea typeface="+mn-ea"/>
          <a:cs typeface="+mn-cs"/>
        </a:defRPr>
      </a:lvl3pPr>
      <a:lvl4pPr marL="100584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4pPr>
      <a:lvl5pPr marL="128016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5pPr>
      <a:lvl6pPr marL="16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6pPr>
      <a:lvl7pPr marL="19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7pPr>
      <a:lvl8pPr marL="22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8pPr>
      <a:lvl9pPr marL="25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9pPr>
    </p:bodyStyle>
    <p:otherStyle>
      <a:defPPr>
        <a:defRPr lang="en-US"/>
      </a:defPPr>
      <a:lvl1pPr marL="0" algn="l" defTabSz="914400" rtl="0" eaLnBrk="1" latinLnBrk="1" hangingPunct="1">
        <a:defRPr sz="1800" kern="1200">
          <a:solidFill>
            <a:srgbClr val="D0D0D0"/>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hyperlink" Target="https://whatever99.tistory.com/entry/2025%EB%85%84-%EB%B0%98%EB%8F%84%EC%B2%B4-%EC%82%B0%EC%97%85-%EC%A0%84%EB%A7%9D-%EC%82%BC%EC%84%B1%EC%A0%84%EC%9E%90-vs-SK-hynix-%EC%96%B4%EB%8A%90-%ED%9A%8C%EC%82%AC%EA%B0%80-%EB%8D%94-%EC%9C%A0%EB%A7%9D%ED%95%A0%EA%B9%8C"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et-a-position.tistory.com/entry/ISTP-%EC%84%B1%EA%B2%A9-%EC%9C%A0%ED%98%95%EC%9D%98-%EB%8A%A5%EB%A0%A5%EC%9D%84-%EB%B0%9C%ED%9C%98%ED%95%98%EB%8A%94-%EA%B5%AC%EC%A1%B0-%EC%97%94%EC%A7%80%EB%8B%88%EC%96%B4-%EC%A7%81%EC%97%85"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hyperlink" Target="https://boundaryml.com/blog/structured-outputs-create-false-confidence" TargetMode="Externa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hyperlink" Target="https://arxiv.org/abs/2501.10868" TargetMode="External"/><Relationship Id="rId5" Type="http://schemas.openxmlformats.org/officeDocument/2006/relationships/hyperlink" Target="https://arxiv.org/abs/2409.03797" TargetMode="External"/><Relationship Id="rId4" Type="http://schemas.openxmlformats.org/officeDocument/2006/relationships/hyperlink" Target="https://www.editage.co.kr/insights/writing-for-science-journals-tips-tricks-and-a-learning-plan"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hyperlink" Target="https://flyingjs.tistory.com/entry/%EA%B1%B4%EC%84%A4%EA%B8%B0%EA%B3%84%EC%84%A4%EB%B9%84%EA%B8%B0%EC%82%AC-2024-%EC%8B%9C%ED%97%98%EC%9D%BC%EC%A0%95-%EC%9D%91%EC%8B%9C%EC%9E%90%EA%B2%A9-%ED%95%84%EA%B8%B0-%EC%8B%A4%EA%B8%B0-%EB%82%9C%EC%9D%B4%EB%8F%84-%ED%95%A9%EA%B2%A9%EB%A5%A0-%EC%B7%A8%EC%97%85-%EC%A0%84%EB%A7%9D-%EC%B4%9D%EC%A0%95%EB%A6%AC"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wrtnlabs/autobe/blob/main/packages/interface/src/analyze/AutoBeAnalyze.t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github.com/wrtnlabs/autobe/blob/main/packages/interface/src/test/AutoBeTest.ts" TargetMode="External"/><Relationship Id="rId5" Type="http://schemas.openxmlformats.org/officeDocument/2006/relationships/hyperlink" Target="https://github.com/wrtnlabs/autobe/blob/main/packages/interface/src/interface/AutoBeInterface.ts" TargetMode="External"/><Relationship Id="rId4" Type="http://schemas.openxmlformats.org/officeDocument/2006/relationships/hyperlink" Target="https://github.com/wrtnlabs/autobe/blob/main/packages/interface/src/database/AutoBeDatabase.ts"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hyperlink" Target="https://pixabay.com/ko/vectors/%EC%BD%94%EB%81%BC%EB%A6%AC-%EC%95%84%EA%B8%B0-%ED%95%91%ED%81%AC-%EB%8F%99%EB%AC%BC-303409/"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A4D4CC-6480-8350-D0FB-01F3803CB8C3}"/>
              </a:ext>
            </a:extLst>
          </p:cNvPr>
          <p:cNvSpPr>
            <a:spLocks noGrp="1"/>
          </p:cNvSpPr>
          <p:nvPr>
            <p:ph type="ctrTitle"/>
          </p:nvPr>
        </p:nvSpPr>
        <p:spPr/>
        <p:txBody>
          <a:bodyPr/>
          <a:lstStyle/>
          <a:p>
            <a:r>
              <a:rPr lang="en-US" dirty="0"/>
              <a:t>Function Calling Harness</a:t>
            </a:r>
          </a:p>
        </p:txBody>
      </p:sp>
      <p:sp>
        <p:nvSpPr>
          <p:cNvPr id="3" name="부제목 2">
            <a:extLst>
              <a:ext uri="{FF2B5EF4-FFF2-40B4-BE49-F238E27FC236}">
                <a16:creationId xmlns:a16="http://schemas.microsoft.com/office/drawing/2014/main" id="{58016CA8-3627-A3DE-00A7-FFDDD7F52487}"/>
              </a:ext>
            </a:extLst>
          </p:cNvPr>
          <p:cNvSpPr>
            <a:spLocks noGrp="1"/>
          </p:cNvSpPr>
          <p:nvPr>
            <p:ph type="subTitle" idx="1"/>
          </p:nvPr>
        </p:nvSpPr>
        <p:spPr/>
        <p:txBody>
          <a:bodyPr/>
          <a:lstStyle/>
          <a:p>
            <a:r>
              <a:rPr lang="en-US" dirty="0"/>
              <a:t>Function Calling From 6.75% to 100%</a:t>
            </a:r>
          </a:p>
          <a:p>
            <a:r>
              <a:rPr lang="en-US" dirty="0"/>
              <a:t>Qwen Meetup Korea</a:t>
            </a:r>
          </a:p>
          <a:p>
            <a:r>
              <a:rPr lang="en-US" dirty="0"/>
              <a:t>Samchon, Wrtn Technologies</a:t>
            </a:r>
          </a:p>
        </p:txBody>
      </p:sp>
    </p:spTree>
    <p:extLst>
      <p:ext uri="{BB962C8B-B14F-4D97-AF65-F5344CB8AC3E}">
        <p14:creationId xmlns:p14="http://schemas.microsoft.com/office/powerpoint/2010/main" val="3907540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22">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8" name="Rectangle 24">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36" name="Straight Connector 26">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44" name="Rectangle 28">
            <a:extLst>
              <a:ext uri="{FF2B5EF4-FFF2-40B4-BE49-F238E27FC236}">
                <a16:creationId xmlns:a16="http://schemas.microsoft.com/office/drawing/2014/main" id="{308371E6-9986-4C28-BCFA-32466833DD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856"/>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52" name="Rectangle 30">
            <a:extLst>
              <a:ext uri="{FF2B5EF4-FFF2-40B4-BE49-F238E27FC236}">
                <a16:creationId xmlns:a16="http://schemas.microsoft.com/office/drawing/2014/main" id="{97551C13-2ACD-4DFA-B9BD-0E3D39F463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pic>
        <p:nvPicPr>
          <p:cNvPr id="14" name="Picture 6">
            <a:extLst>
              <a:ext uri="{FF2B5EF4-FFF2-40B4-BE49-F238E27FC236}">
                <a16:creationId xmlns:a16="http://schemas.microsoft.com/office/drawing/2014/main" id="{DE52893F-5CC7-76F1-1F41-9C3D2A28DFE3}"/>
              </a:ext>
            </a:extLst>
          </p:cNvPr>
          <p:cNvPicPr>
            <a:picLocks noChangeAspect="1"/>
          </p:cNvPicPr>
          <p:nvPr/>
        </p:nvPicPr>
        <p:blipFill>
          <a:blip r:embed="rId3"/>
          <a:srcRect l="14381" r="18937"/>
          <a:stretch>
            <a:fillRect/>
          </a:stretch>
        </p:blipFill>
        <p:spPr>
          <a:xfrm>
            <a:off x="872064" y="878118"/>
            <a:ext cx="6045576" cy="5099782"/>
          </a:xfrm>
          <a:prstGeom prst="rect">
            <a:avLst/>
          </a:prstGeom>
        </p:spPr>
      </p:pic>
      <p:sp>
        <p:nvSpPr>
          <p:cNvPr id="61" name="Rectangle 32">
            <a:extLst>
              <a:ext uri="{FF2B5EF4-FFF2-40B4-BE49-F238E27FC236}">
                <a16:creationId xmlns:a16="http://schemas.microsoft.com/office/drawing/2014/main" id="{DBF29E0A-B341-42AC-9B86-B650643A7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2944" y="246887"/>
            <a:ext cx="4397755"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62" name="Straight Connector 34">
            <a:extLst>
              <a:ext uri="{FF2B5EF4-FFF2-40B4-BE49-F238E27FC236}">
                <a16:creationId xmlns:a16="http://schemas.microsoft.com/office/drawing/2014/main" id="{407A2A6E-3F51-42E6-9F72-2F86245CC1C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70284" y="4405863"/>
            <a:ext cx="276307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제목 3">
            <a:extLst>
              <a:ext uri="{FF2B5EF4-FFF2-40B4-BE49-F238E27FC236}">
                <a16:creationId xmlns:a16="http://schemas.microsoft.com/office/drawing/2014/main" id="{42402928-118F-1B5E-23BC-469E991D838B}"/>
              </a:ext>
            </a:extLst>
          </p:cNvPr>
          <p:cNvSpPr>
            <a:spLocks noGrp="1"/>
          </p:cNvSpPr>
          <p:nvPr>
            <p:ph type="title"/>
          </p:nvPr>
        </p:nvSpPr>
        <p:spPr>
          <a:xfrm>
            <a:off x="8195138" y="857675"/>
            <a:ext cx="3113366" cy="3622844"/>
          </a:xfrm>
        </p:spPr>
        <p:txBody>
          <a:bodyPr vert="horz" lIns="91440" tIns="45720" rIns="91440" bIns="45720" rtlCol="0" anchor="b">
            <a:normAutofit/>
          </a:bodyPr>
          <a:lstStyle/>
          <a:p>
            <a:r>
              <a:rPr lang="en-US" altLang="ko-KR" sz="5400" b="1"/>
              <a:t>Tr;dr</a:t>
            </a:r>
            <a:endParaRPr lang="en-US" altLang="ko-KR" sz="5400" b="1" dirty="0"/>
          </a:p>
        </p:txBody>
      </p:sp>
      <p:sp>
        <p:nvSpPr>
          <p:cNvPr id="5" name="텍스트 개체 틀 4">
            <a:extLst>
              <a:ext uri="{FF2B5EF4-FFF2-40B4-BE49-F238E27FC236}">
                <a16:creationId xmlns:a16="http://schemas.microsoft.com/office/drawing/2014/main" id="{B201B5AB-8350-99C6-A3B3-4E10B9833CF9}"/>
              </a:ext>
            </a:extLst>
          </p:cNvPr>
          <p:cNvSpPr>
            <a:spLocks noGrp="1"/>
          </p:cNvSpPr>
          <p:nvPr>
            <p:ph type="body" idx="1"/>
          </p:nvPr>
        </p:nvSpPr>
        <p:spPr>
          <a:xfrm>
            <a:off x="8210328" y="4541696"/>
            <a:ext cx="3082986" cy="1874601"/>
          </a:xfrm>
        </p:spPr>
        <p:txBody>
          <a:bodyPr vert="horz" lIns="91440" tIns="45720" rIns="91440" bIns="45720" rtlCol="0">
            <a:normAutofit/>
          </a:bodyPr>
          <a:lstStyle/>
          <a:p>
            <a:r>
              <a:rPr lang="en-US" altLang="ko-KR" sz="2000" dirty="0"/>
              <a:t>AutoBE</a:t>
            </a:r>
          </a:p>
          <a:p>
            <a:r>
              <a:rPr lang="en-US" altLang="ko-KR" sz="2000" dirty="0"/>
              <a:t>Typia</a:t>
            </a:r>
          </a:p>
          <a:p>
            <a:r>
              <a:rPr lang="en-US" altLang="ko-KR" sz="2000" dirty="0"/>
              <a:t>Function Calling</a:t>
            </a:r>
          </a:p>
          <a:p>
            <a:r>
              <a:rPr lang="en-US" altLang="ko-KR" sz="2000" dirty="0"/>
              <a:t>Qwen Series</a:t>
            </a:r>
          </a:p>
        </p:txBody>
      </p:sp>
    </p:spTree>
    <p:extLst>
      <p:ext uri="{BB962C8B-B14F-4D97-AF65-F5344CB8AC3E}">
        <p14:creationId xmlns:p14="http://schemas.microsoft.com/office/powerpoint/2010/main" val="12304866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044573B-7CF6-ED2E-E36D-99092E11AA96}"/>
              </a:ext>
            </a:extLst>
          </p:cNvPr>
          <p:cNvSpPr>
            <a:spLocks noGrp="1"/>
          </p:cNvSpPr>
          <p:nvPr>
            <p:ph type="title"/>
          </p:nvPr>
        </p:nvSpPr>
        <p:spPr/>
        <p:txBody>
          <a:bodyPr/>
          <a:lstStyle/>
          <a:p>
            <a:r>
              <a:rPr lang="en-US" dirty="0" err="1"/>
              <a:t>AutoBe</a:t>
            </a:r>
            <a:endParaRPr lang="en-US" dirty="0"/>
          </a:p>
        </p:txBody>
      </p:sp>
      <p:sp>
        <p:nvSpPr>
          <p:cNvPr id="3" name="내용 개체 틀 2">
            <a:extLst>
              <a:ext uri="{FF2B5EF4-FFF2-40B4-BE49-F238E27FC236}">
                <a16:creationId xmlns:a16="http://schemas.microsoft.com/office/drawing/2014/main" id="{3525E5B0-5203-DA1F-04D7-67E07F82EE3A}"/>
              </a:ext>
            </a:extLst>
          </p:cNvPr>
          <p:cNvSpPr>
            <a:spLocks noGrp="1"/>
          </p:cNvSpPr>
          <p:nvPr>
            <p:ph sz="half" idx="1"/>
          </p:nvPr>
        </p:nvSpPr>
        <p:spPr/>
        <p:txBody>
          <a:bodyPr/>
          <a:lstStyle/>
          <a:p>
            <a:r>
              <a:rPr lang="en-US" dirty="0"/>
              <a:t>AI backend generator</a:t>
            </a:r>
          </a:p>
          <a:p>
            <a:endParaRPr lang="en-US" dirty="0"/>
          </a:p>
          <a:p>
            <a:r>
              <a:rPr lang="en-US" dirty="0"/>
              <a:t>Do not write text codes</a:t>
            </a:r>
          </a:p>
          <a:p>
            <a:r>
              <a:rPr lang="en-US" dirty="0"/>
              <a:t>Instead, make AST structured data</a:t>
            </a:r>
          </a:p>
          <a:p>
            <a:r>
              <a:rPr lang="en-US" b="1" dirty="0"/>
              <a:t>Function Calling All-in</a:t>
            </a:r>
          </a:p>
          <a:p>
            <a:endParaRPr lang="en-US" dirty="0"/>
          </a:p>
          <a:p>
            <a:r>
              <a:rPr lang="en-US" dirty="0"/>
              <a:t>Types are extremely complicated</a:t>
            </a:r>
          </a:p>
          <a:p>
            <a:r>
              <a:rPr lang="en-US" dirty="0"/>
              <a:t>Recursive union types</a:t>
            </a:r>
          </a:p>
        </p:txBody>
      </p:sp>
      <p:pic>
        <p:nvPicPr>
          <p:cNvPr id="6" name="내용 개체 틀 5">
            <a:extLst>
              <a:ext uri="{FF2B5EF4-FFF2-40B4-BE49-F238E27FC236}">
                <a16:creationId xmlns:a16="http://schemas.microsoft.com/office/drawing/2014/main" id="{23DA82D9-A41B-6FDC-50C1-0EFD3BD86B8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5675085" y="318618"/>
            <a:ext cx="6214291" cy="6220764"/>
          </a:xfrm>
          <a:prstGeom prst="rect">
            <a:avLst/>
          </a:prstGeom>
        </p:spPr>
      </p:pic>
    </p:spTree>
    <p:extLst>
      <p:ext uri="{BB962C8B-B14F-4D97-AF65-F5344CB8AC3E}">
        <p14:creationId xmlns:p14="http://schemas.microsoft.com/office/powerpoint/2010/main" val="25706392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67C6C5-61AC-DD51-F144-97BB7C5B56B0}"/>
              </a:ext>
            </a:extLst>
          </p:cNvPr>
          <p:cNvSpPr>
            <a:spLocks noGrp="1"/>
          </p:cNvSpPr>
          <p:nvPr>
            <p:ph type="title"/>
          </p:nvPr>
        </p:nvSpPr>
        <p:spPr>
          <a:xfrm>
            <a:off x="1143000" y="609600"/>
            <a:ext cx="4953000" cy="1356360"/>
          </a:xfrm>
        </p:spPr>
        <p:txBody>
          <a:bodyPr/>
          <a:lstStyle/>
          <a:p>
            <a:r>
              <a:rPr lang="en-US" dirty="0"/>
              <a:t>Typia</a:t>
            </a:r>
          </a:p>
        </p:txBody>
      </p:sp>
      <p:sp>
        <p:nvSpPr>
          <p:cNvPr id="3" name="내용 개체 틀 2">
            <a:extLst>
              <a:ext uri="{FF2B5EF4-FFF2-40B4-BE49-F238E27FC236}">
                <a16:creationId xmlns:a16="http://schemas.microsoft.com/office/drawing/2014/main" id="{8ABF0164-86B9-517E-5417-BEF1B78E9C05}"/>
              </a:ext>
            </a:extLst>
          </p:cNvPr>
          <p:cNvSpPr>
            <a:spLocks noGrp="1"/>
          </p:cNvSpPr>
          <p:nvPr>
            <p:ph sz="half" idx="1"/>
          </p:nvPr>
        </p:nvSpPr>
        <p:spPr/>
        <p:txBody>
          <a:bodyPr/>
          <a:lstStyle/>
          <a:p>
            <a:r>
              <a:rPr lang="en-US" dirty="0"/>
              <a:t>TypeScript Compiler Plugin</a:t>
            </a:r>
          </a:p>
          <a:p>
            <a:endParaRPr lang="en-US" dirty="0"/>
          </a:p>
          <a:p>
            <a:r>
              <a:rPr lang="en-US" dirty="0"/>
              <a:t>Analyze TypeScript Source Code</a:t>
            </a:r>
          </a:p>
          <a:p>
            <a:pPr lvl="1"/>
            <a:r>
              <a:rPr lang="en-US" dirty="0"/>
              <a:t>Lenient JSON Parsing</a:t>
            </a:r>
          </a:p>
          <a:p>
            <a:pPr lvl="1"/>
            <a:r>
              <a:rPr lang="en-US" dirty="0"/>
              <a:t>Type Coercion</a:t>
            </a:r>
          </a:p>
          <a:p>
            <a:pPr lvl="1"/>
            <a:r>
              <a:rPr lang="en-US" dirty="0"/>
              <a:t>Validation Feedback</a:t>
            </a:r>
          </a:p>
          <a:p>
            <a:pPr lvl="1"/>
            <a:endParaRPr lang="en-US" dirty="0"/>
          </a:p>
          <a:p>
            <a:r>
              <a:rPr lang="en-US" dirty="0"/>
              <a:t>Function Calling Success Rate</a:t>
            </a:r>
          </a:p>
          <a:p>
            <a:pPr lvl="1"/>
            <a:r>
              <a:rPr lang="en-US" dirty="0"/>
              <a:t>6.75% -&gt; 100%</a:t>
            </a:r>
          </a:p>
        </p:txBody>
      </p:sp>
      <p:sp>
        <p:nvSpPr>
          <p:cNvPr id="29" name="사각형: 둥근 모서리 28">
            <a:extLst>
              <a:ext uri="{FF2B5EF4-FFF2-40B4-BE49-F238E27FC236}">
                <a16:creationId xmlns:a16="http://schemas.microsoft.com/office/drawing/2014/main" id="{F7805EAE-4696-49E6-8CA3-FD570313EA3C}"/>
              </a:ext>
            </a:extLst>
          </p:cNvPr>
          <p:cNvSpPr/>
          <p:nvPr/>
        </p:nvSpPr>
        <p:spPr>
          <a:xfrm>
            <a:off x="6223000" y="133551"/>
            <a:ext cx="5005438" cy="2816125"/>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50" b="1" dirty="0">
                <a:solidFill>
                  <a:srgbClr val="888888"/>
                </a:solidFill>
                <a:latin typeface="Consolas"/>
              </a:rPr>
              <a:t>TypeScript</a:t>
            </a:r>
            <a:r>
              <a:rPr lang="en-US" sz="1200" dirty="0">
                <a:solidFill>
                  <a:srgbClr val="D4D4D4"/>
                </a:solidFill>
                <a:latin typeface="Consolas"/>
              </a:rPr>
              <a:t>
</a:t>
            </a:r>
            <a:r>
              <a:rPr lang="en-US" sz="1200" dirty="0">
                <a:solidFill>
                  <a:srgbClr val="C586C0"/>
                </a:solidFill>
                <a:latin typeface="Consolas"/>
              </a:rPr>
              <a:t>import</a:t>
            </a:r>
            <a:r>
              <a:rPr lang="en-US" sz="1200" dirty="0">
                <a:solidFill>
                  <a:srgbClr val="D4D4D4"/>
                </a:solidFill>
                <a:latin typeface="Consolas"/>
              </a:rPr>
              <a:t> </a:t>
            </a:r>
            <a:r>
              <a:rPr lang="en-US" sz="1200" dirty="0">
                <a:solidFill>
                  <a:srgbClr val="9CDCFE"/>
                </a:solidFill>
                <a:latin typeface="Consolas"/>
              </a:rPr>
              <a:t>typia</a:t>
            </a:r>
            <a:r>
              <a:rPr lang="en-US" sz="1200" dirty="0">
                <a:solidFill>
                  <a:srgbClr val="D4D4D4"/>
                </a:solidFill>
                <a:latin typeface="Consolas"/>
              </a:rPr>
              <a:t>, { </a:t>
            </a:r>
            <a:r>
              <a:rPr lang="en-US" sz="1200" dirty="0">
                <a:solidFill>
                  <a:srgbClr val="9CDCFE"/>
                </a:solidFill>
                <a:latin typeface="Consolas"/>
              </a:rPr>
              <a:t>tags</a:t>
            </a:r>
            <a:r>
              <a:rPr lang="en-US" sz="1200" dirty="0">
                <a:solidFill>
                  <a:srgbClr val="D4D4D4"/>
                </a:solidFill>
                <a:latin typeface="Consolas"/>
              </a:rPr>
              <a:t> } </a:t>
            </a:r>
            <a:r>
              <a:rPr lang="en-US" sz="1200" dirty="0">
                <a:solidFill>
                  <a:srgbClr val="C586C0"/>
                </a:solidFill>
                <a:latin typeface="Consolas"/>
              </a:rPr>
              <a:t>from</a:t>
            </a:r>
            <a:r>
              <a:rPr lang="en-US" sz="1200" dirty="0">
                <a:solidFill>
                  <a:srgbClr val="D4D4D4"/>
                </a:solidFill>
                <a:latin typeface="Consolas"/>
              </a:rPr>
              <a:t> </a:t>
            </a:r>
            <a:r>
              <a:rPr lang="en-US" sz="1200" dirty="0">
                <a:solidFill>
                  <a:srgbClr val="CE9178"/>
                </a:solidFill>
                <a:latin typeface="Consolas"/>
              </a:rPr>
              <a:t>"typia"</a:t>
            </a:r>
            <a:r>
              <a:rPr lang="en-US" sz="1200" dirty="0">
                <a:solidFill>
                  <a:srgbClr val="D4D4D4"/>
                </a:solidFill>
                <a:latin typeface="Consolas"/>
              </a:rPr>
              <a:t>;
</a:t>
            </a:r>
            <a:r>
              <a:rPr lang="en-US" sz="1200" dirty="0">
                <a:solidFill>
                  <a:srgbClr val="569CD6"/>
                </a:solidFill>
                <a:latin typeface="Consolas"/>
              </a:rPr>
              <a:t>interface</a:t>
            </a:r>
            <a:r>
              <a:rPr lang="en-US" sz="1200" dirty="0">
                <a:solidFill>
                  <a:srgbClr val="D4D4D4"/>
                </a:solidFill>
                <a:latin typeface="Consolas"/>
              </a:rPr>
              <a:t> </a:t>
            </a:r>
            <a:r>
              <a:rPr lang="en-US" sz="1200" dirty="0" err="1">
                <a:solidFill>
                  <a:srgbClr val="4EC9B0"/>
                </a:solidFill>
                <a:latin typeface="Consolas"/>
              </a:rPr>
              <a:t>IMember</a:t>
            </a:r>
            <a:r>
              <a:rPr lang="en-US" sz="1200" dirty="0">
                <a:solidFill>
                  <a:srgbClr val="D4D4D4"/>
                </a:solidFill>
                <a:latin typeface="Consolas"/>
              </a:rPr>
              <a:t> {
  </a:t>
            </a:r>
            <a:r>
              <a:rPr lang="en-US" sz="1200" dirty="0">
                <a:solidFill>
                  <a:srgbClr val="9CDCFE"/>
                </a:solidFill>
                <a:latin typeface="Consolas"/>
              </a:rPr>
              <a:t>id</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a:t>
            </a:r>
            <a:r>
              <a:rPr lang="en-US" sz="1200" dirty="0" err="1">
                <a:solidFill>
                  <a:srgbClr val="CE9178"/>
                </a:solidFill>
                <a:latin typeface="Consolas"/>
              </a:rPr>
              <a:t>uuid</a:t>
            </a:r>
            <a:r>
              <a:rPr lang="en-US" sz="1200" dirty="0">
                <a:solidFill>
                  <a:srgbClr val="CE9178"/>
                </a:solidFill>
                <a:latin typeface="Consolas"/>
              </a:rPr>
              <a:t>"</a:t>
            </a:r>
            <a:r>
              <a:rPr lang="en-US" sz="1200" dirty="0">
                <a:solidFill>
                  <a:srgbClr val="D4D4D4"/>
                </a:solidFill>
                <a:latin typeface="Consolas"/>
              </a:rPr>
              <a:t>&gt;;
  </a:t>
            </a:r>
            <a:r>
              <a:rPr lang="en-US" sz="1200" dirty="0">
                <a:solidFill>
                  <a:srgbClr val="9CDCFE"/>
                </a:solidFill>
                <a:latin typeface="Consolas"/>
              </a:rPr>
              <a:t>email</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"email"</a:t>
            </a:r>
            <a:r>
              <a:rPr lang="en-US" sz="1200" dirty="0">
                <a:solidFill>
                  <a:srgbClr val="D4D4D4"/>
                </a:solidFill>
                <a:latin typeface="Consolas"/>
              </a:rPr>
              <a:t>&gt;;
  </a:t>
            </a:r>
            <a:r>
              <a:rPr lang="en-US" sz="1200" dirty="0">
                <a:solidFill>
                  <a:srgbClr val="9CDCFE"/>
                </a:solidFill>
                <a:latin typeface="Consolas"/>
              </a:rPr>
              <a:t>age</a:t>
            </a:r>
            <a:r>
              <a:rPr lang="en-US" sz="1200" dirty="0">
                <a:solidFill>
                  <a:srgbClr val="D4D4D4"/>
                </a:solidFill>
                <a:latin typeface="Consolas"/>
              </a:rPr>
              <a:t>: </a:t>
            </a:r>
            <a:r>
              <a:rPr lang="en-US" sz="1200" dirty="0">
                <a:solidFill>
                  <a:srgbClr val="4EC9B0"/>
                </a:solidFill>
                <a:latin typeface="Consolas"/>
              </a:rPr>
              <a:t>number</a:t>
            </a:r>
            <a:r>
              <a:rPr lang="en-US" sz="1200" dirty="0">
                <a:solidFill>
                  <a:srgbClr val="D4D4D4"/>
                </a:solidFill>
                <a:latin typeface="Consolas"/>
              </a:rPr>
              <a:t> &amp;
    </a:t>
            </a:r>
            <a:r>
              <a:rPr lang="en-US" sz="1200" dirty="0" err="1">
                <a:solidFill>
                  <a:srgbClr val="D4D4D4"/>
                </a:solidFill>
                <a:latin typeface="Consolas"/>
              </a:rPr>
              <a:t>tags.Type</a:t>
            </a:r>
            <a:r>
              <a:rPr lang="en-US" sz="1200" dirty="0">
                <a:solidFill>
                  <a:srgbClr val="D4D4D4"/>
                </a:solidFill>
                <a:latin typeface="Consolas"/>
              </a:rPr>
              <a:t>&lt;</a:t>
            </a:r>
            <a:r>
              <a:rPr lang="en-US" sz="1200" dirty="0">
                <a:solidFill>
                  <a:srgbClr val="CE9178"/>
                </a:solidFill>
                <a:latin typeface="Consolas"/>
              </a:rPr>
              <a:t>"uint32"</a:t>
            </a:r>
            <a:r>
              <a:rPr lang="en-US" sz="1200" dirty="0">
                <a:solidFill>
                  <a:srgbClr val="D4D4D4"/>
                </a:solidFill>
                <a:latin typeface="Consolas"/>
              </a:rPr>
              <a:t>&gt; &amp;
    </a:t>
            </a:r>
            <a:r>
              <a:rPr lang="en-US" sz="1200" dirty="0" err="1">
                <a:solidFill>
                  <a:srgbClr val="D4D4D4"/>
                </a:solidFill>
                <a:latin typeface="Consolas"/>
              </a:rPr>
              <a:t>tags.ExclusiveMinimum</a:t>
            </a:r>
            <a:r>
              <a:rPr lang="en-US" sz="1200" dirty="0">
                <a:solidFill>
                  <a:srgbClr val="D4D4D4"/>
                </a:solidFill>
                <a:latin typeface="Consolas"/>
              </a:rPr>
              <a:t>&lt;</a:t>
            </a:r>
            <a:r>
              <a:rPr lang="en-US" sz="1200" dirty="0">
                <a:solidFill>
                  <a:srgbClr val="B5CEA8"/>
                </a:solidFill>
                <a:latin typeface="Consolas"/>
              </a:rPr>
              <a:t>19</a:t>
            </a:r>
            <a:r>
              <a:rPr lang="en-US" sz="1200" dirty="0">
                <a:solidFill>
                  <a:srgbClr val="D4D4D4"/>
                </a:solidFill>
                <a:latin typeface="Consolas"/>
              </a:rPr>
              <a:t>&gt; &amp;
    </a:t>
            </a:r>
            <a:r>
              <a:rPr lang="en-US" sz="1200" dirty="0" err="1">
                <a:solidFill>
                  <a:srgbClr val="D4D4D4"/>
                </a:solidFill>
                <a:latin typeface="Consolas"/>
              </a:rPr>
              <a:t>tags.Maximum</a:t>
            </a:r>
            <a:r>
              <a:rPr lang="en-US" sz="1200" dirty="0">
                <a:solidFill>
                  <a:srgbClr val="D4D4D4"/>
                </a:solidFill>
                <a:latin typeface="Consolas"/>
              </a:rPr>
              <a:t>&lt;</a:t>
            </a:r>
            <a:r>
              <a:rPr lang="en-US" sz="1200" dirty="0">
                <a:solidFill>
                  <a:srgbClr val="B5CEA8"/>
                </a:solidFill>
                <a:latin typeface="Consolas"/>
              </a:rPr>
              <a:t>100</a:t>
            </a:r>
            <a:r>
              <a:rPr lang="en-US" sz="1200" dirty="0">
                <a:solidFill>
                  <a:srgbClr val="D4D4D4"/>
                </a:solidFill>
                <a:latin typeface="Consolas"/>
              </a:rPr>
              <a:t>&gt;;
}
</a:t>
            </a:r>
            <a:r>
              <a:rPr lang="en-US" sz="1200" dirty="0">
                <a:solidFill>
                  <a:srgbClr val="569CD6"/>
                </a:solidFill>
                <a:latin typeface="Consolas"/>
              </a:rPr>
              <a:t>const</a:t>
            </a:r>
            <a:r>
              <a:rPr lang="en-US" sz="1200" dirty="0">
                <a:solidFill>
                  <a:srgbClr val="D4D4D4"/>
                </a:solidFill>
                <a:latin typeface="Consolas"/>
              </a:rPr>
              <a:t> </a:t>
            </a:r>
            <a:r>
              <a:rPr lang="en-US" sz="1200" dirty="0">
                <a:solidFill>
                  <a:srgbClr val="9CDCFE"/>
                </a:solidFill>
                <a:latin typeface="Consolas"/>
              </a:rPr>
              <a:t>check</a:t>
            </a:r>
            <a:r>
              <a:rPr lang="en-US" sz="1200" dirty="0">
                <a:solidFill>
                  <a:srgbClr val="D4D4D4"/>
                </a:solidFill>
                <a:latin typeface="Consolas"/>
              </a:rPr>
              <a:t>: </a:t>
            </a:r>
            <a:r>
              <a:rPr lang="en-US" sz="1200" dirty="0" err="1">
                <a:solidFill>
                  <a:srgbClr val="4EC9B0"/>
                </a:solidFill>
                <a:latin typeface="Consolas"/>
              </a:rPr>
              <a:t>boolean</a:t>
            </a:r>
            <a:r>
              <a:rPr lang="en-US" sz="1200" dirty="0">
                <a:solidFill>
                  <a:srgbClr val="D4D4D4"/>
                </a:solidFill>
                <a:latin typeface="Consolas"/>
              </a:rPr>
              <a:t> = </a:t>
            </a:r>
            <a:r>
              <a:rPr lang="en-US" sz="1200" dirty="0">
                <a:solidFill>
                  <a:srgbClr val="9CDCFE"/>
                </a:solidFill>
                <a:latin typeface="Consolas"/>
              </a:rPr>
              <a:t>typia</a:t>
            </a:r>
            <a:r>
              <a:rPr lang="en-US" sz="1200" dirty="0">
                <a:solidFill>
                  <a:srgbClr val="DCDCAA"/>
                </a:solidFill>
                <a:latin typeface="Consolas"/>
              </a:rPr>
              <a:t>.is</a:t>
            </a:r>
            <a:r>
              <a:rPr lang="en-US" sz="1200" dirty="0">
                <a:solidFill>
                  <a:srgbClr val="D4D4D4"/>
                </a:solidFill>
                <a:latin typeface="Consolas"/>
              </a:rPr>
              <a:t>&lt;</a:t>
            </a:r>
            <a:r>
              <a:rPr lang="en-US" sz="1200" dirty="0" err="1">
                <a:solidFill>
                  <a:srgbClr val="4EC9B0"/>
                </a:solidFill>
                <a:latin typeface="Consolas"/>
              </a:rPr>
              <a:t>IMember</a:t>
            </a:r>
            <a:r>
              <a:rPr lang="en-US" sz="1200" dirty="0">
                <a:solidFill>
                  <a:srgbClr val="D4D4D4"/>
                </a:solidFill>
                <a:latin typeface="Consolas"/>
              </a:rPr>
              <a:t>&gt;(input);</a:t>
            </a:r>
          </a:p>
        </p:txBody>
      </p:sp>
      <p:sp>
        <p:nvSpPr>
          <p:cNvPr id="30" name="사각형: 둥근 모서리 29">
            <a:extLst>
              <a:ext uri="{FF2B5EF4-FFF2-40B4-BE49-F238E27FC236}">
                <a16:creationId xmlns:a16="http://schemas.microsoft.com/office/drawing/2014/main" id="{8EF8A5A4-C8B1-4276-8042-7EC81861297B}"/>
              </a:ext>
            </a:extLst>
          </p:cNvPr>
          <p:cNvSpPr/>
          <p:nvPr/>
        </p:nvSpPr>
        <p:spPr>
          <a:xfrm>
            <a:off x="6222999" y="3677676"/>
            <a:ext cx="5005439" cy="3081179"/>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00" b="1">
                <a:solidFill>
                  <a:srgbClr val="888888"/>
                </a:solidFill>
                <a:latin typeface="Consolas"/>
              </a:rPr>
              <a:t>JavaScript (compiled)</a:t>
            </a:r>
            <a:r>
              <a:rPr lang="en-US" sz="1100">
                <a:solidFill>
                  <a:srgbClr val="D4D4D4"/>
                </a:solidFill>
                <a:latin typeface="Consolas"/>
              </a:rPr>
              <a:t>
((</a:t>
            </a:r>
            <a:r>
              <a:rPr lang="en-US" sz="1100">
                <a:solidFill>
                  <a:srgbClr val="9CDCFE"/>
                </a:solidFill>
                <a:latin typeface="Consolas"/>
              </a:rPr>
              <a:t>input</a:t>
            </a:r>
            <a:r>
              <a:rPr lang="en-US" sz="1100">
                <a:solidFill>
                  <a:srgbClr val="D4D4D4"/>
                </a:solidFill>
                <a:latin typeface="Consolas"/>
              </a:rPr>
              <a:t>) </a:t>
            </a:r>
            <a:r>
              <a:rPr lang="en-US" sz="1100">
                <a:solidFill>
                  <a:srgbClr val="569CD6"/>
                </a:solidFill>
                <a:latin typeface="Consolas"/>
              </a:rPr>
              <a:t>=&gt;</a:t>
            </a:r>
            <a:r>
              <a:rPr lang="en-US" sz="1100">
                <a:solidFill>
                  <a:srgbClr val="D4D4D4"/>
                </a:solidFill>
                <a:latin typeface="Consolas"/>
              </a:rPr>
              <a:t> {
  </a:t>
            </a:r>
            <a:r>
              <a:rPr lang="en-US" sz="1100">
                <a:solidFill>
                  <a:srgbClr val="C586C0"/>
                </a:solidFill>
                <a:latin typeface="Consolas"/>
              </a:rPr>
              <a:t>return</a:t>
            </a:r>
            <a:r>
              <a:rPr lang="en-US" sz="1100">
                <a:solidFill>
                  <a:srgbClr val="D4D4D4"/>
                </a:solidFill>
                <a:latin typeface="Consolas"/>
              </a:rPr>
              <a:t> (
    </a:t>
            </a:r>
            <a:r>
              <a:rPr lang="en-US" sz="1100">
                <a:solidFill>
                  <a:srgbClr val="569CD6"/>
                </a:solidFill>
                <a:latin typeface="Consolas"/>
              </a:rPr>
              <a:t>typeof</a:t>
            </a:r>
            <a:r>
              <a:rPr lang="en-US" sz="1100">
                <a:solidFill>
                  <a:srgbClr val="D4D4D4"/>
                </a:solidFill>
                <a:latin typeface="Consolas"/>
              </a:rPr>
              <a:t> input === </a:t>
            </a:r>
            <a:r>
              <a:rPr lang="en-US" sz="1100">
                <a:solidFill>
                  <a:srgbClr val="CE9178"/>
                </a:solidFill>
                <a:latin typeface="Consolas"/>
              </a:rPr>
              <a:t>"object"</a:t>
            </a:r>
            <a:r>
              <a:rPr lang="en-US" sz="1100">
                <a:solidFill>
                  <a:srgbClr val="D4D4D4"/>
                </a:solidFill>
                <a:latin typeface="Consolas"/>
              </a:rPr>
              <a:t> &amp;&amp;
    </a:t>
            </a:r>
            <a:r>
              <a:rPr lang="en-US" sz="1100">
                <a:solidFill>
                  <a:srgbClr val="569CD6"/>
                </a:solidFill>
                <a:latin typeface="Consolas"/>
              </a:rPr>
              <a:t>null</a:t>
            </a:r>
            <a:r>
              <a:rPr lang="en-US" sz="1100">
                <a:solidFill>
                  <a:srgbClr val="D4D4D4"/>
                </a:solidFill>
                <a:latin typeface="Consolas"/>
              </a:rPr>
              <a:t> !== input &amp;&amp;
    </a:t>
            </a:r>
            <a:r>
              <a:rPr lang="en-US" sz="1100">
                <a:solidFill>
                  <a:srgbClr val="569CD6"/>
                </a:solidFill>
                <a:latin typeface="Consolas"/>
              </a:rPr>
              <a:t>typeof</a:t>
            </a:r>
            <a:r>
              <a:rPr lang="en-US" sz="1100">
                <a:solidFill>
                  <a:srgbClr val="D4D4D4"/>
                </a:solidFill>
                <a:latin typeface="Consolas"/>
              </a:rPr>
              <a:t> input.id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/^[0-9a-f]{8}-.../</a:t>
            </a:r>
            <a:r>
              <a:rPr lang="en-US" sz="1100">
                <a:solidFill>
                  <a:srgbClr val="D4D4D4"/>
                </a:solidFill>
                <a:latin typeface="Consolas"/>
              </a:rPr>
              <a:t>.test(input.id) &amp;&amp;
    </a:t>
            </a:r>
            <a:r>
              <a:rPr lang="en-US" sz="1100">
                <a:solidFill>
                  <a:srgbClr val="569CD6"/>
                </a:solidFill>
                <a:latin typeface="Consolas"/>
              </a:rPr>
              <a:t>typeof</a:t>
            </a:r>
            <a:r>
              <a:rPr lang="en-US" sz="1100">
                <a:solidFill>
                  <a:srgbClr val="D4D4D4"/>
                </a:solidFill>
                <a:latin typeface="Consolas"/>
              </a:rPr>
              <a:t> input.email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/^[a-z0-9._%+]+@.../</a:t>
            </a:r>
            <a:r>
              <a:rPr lang="en-US" sz="1100">
                <a:solidFill>
                  <a:srgbClr val="D4D4D4"/>
                </a:solidFill>
                <a:latin typeface="Consolas"/>
              </a:rPr>
              <a:t>.test(input.email) &amp;&amp;
    Number.isInteger(input.age) &amp;&amp;
    input.age &gt;= </a:t>
            </a:r>
            <a:r>
              <a:rPr lang="en-US" sz="1100">
                <a:solidFill>
                  <a:srgbClr val="B5CEA8"/>
                </a:solidFill>
                <a:latin typeface="Consolas"/>
              </a:rPr>
              <a:t>0</a:t>
            </a:r>
            <a:r>
              <a:rPr lang="en-US" sz="1100">
                <a:solidFill>
                  <a:srgbClr val="D4D4D4"/>
                </a:solidFill>
                <a:latin typeface="Consolas"/>
              </a:rPr>
              <a:t> &amp;&amp;
    </a:t>
            </a:r>
            <a:r>
              <a:rPr lang="en-US" sz="1100">
                <a:solidFill>
                  <a:srgbClr val="B5CEA8"/>
                </a:solidFill>
                <a:latin typeface="Consolas"/>
              </a:rPr>
              <a:t>19</a:t>
            </a:r>
            <a:r>
              <a:rPr lang="en-US" sz="1100">
                <a:solidFill>
                  <a:srgbClr val="D4D4D4"/>
                </a:solidFill>
                <a:latin typeface="Consolas"/>
              </a:rPr>
              <a:t> &lt; input.age &amp;&amp;
    </a:t>
            </a:r>
            <a:r>
              <a:rPr lang="en-US" sz="1100">
                <a:solidFill>
                  <a:srgbClr val="B5CEA8"/>
                </a:solidFill>
                <a:latin typeface="Consolas"/>
              </a:rPr>
              <a:t>100</a:t>
            </a:r>
            <a:r>
              <a:rPr lang="en-US" sz="1100">
                <a:solidFill>
                  <a:srgbClr val="D4D4D4"/>
                </a:solidFill>
                <a:latin typeface="Consolas"/>
              </a:rPr>
              <a:t> &gt;= input.age
  )
})</a:t>
            </a:r>
          </a:p>
        </p:txBody>
      </p:sp>
      <p:sp>
        <p:nvSpPr>
          <p:cNvPr id="34" name="화살표: 아래쪽 33">
            <a:extLst>
              <a:ext uri="{FF2B5EF4-FFF2-40B4-BE49-F238E27FC236}">
                <a16:creationId xmlns:a16="http://schemas.microsoft.com/office/drawing/2014/main" id="{A5892466-05D4-4295-8D70-333E08009259}"/>
              </a:ext>
            </a:extLst>
          </p:cNvPr>
          <p:cNvSpPr/>
          <p:nvPr/>
        </p:nvSpPr>
        <p:spPr>
          <a:xfrm>
            <a:off x="8331200" y="3131576"/>
            <a:ext cx="635000" cy="381000"/>
          </a:xfrm>
          <a:prstGeom prst="downArrow">
            <a:avLst/>
          </a:prstGeom>
          <a:solidFill>
            <a:srgbClr val="E8A3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712F32BB-8390-4586-AE6E-087056DA5419}"/>
              </a:ext>
            </a:extLst>
          </p:cNvPr>
          <p:cNvSpPr txBox="1"/>
          <p:nvPr/>
        </p:nvSpPr>
        <p:spPr>
          <a:xfrm>
            <a:off x="9042400" y="3131576"/>
            <a:ext cx="1524000" cy="381000"/>
          </a:xfrm>
          <a:prstGeom prst="rect">
            <a:avLst/>
          </a:prstGeom>
          <a:noFill/>
        </p:spPr>
        <p:txBody>
          <a:bodyPr vertOverflow="overflow" vert="horz" wrap="square" rtlCol="0" anchor="ctr" anchorCtr="0">
            <a:noAutofit/>
          </a:bodyPr>
          <a:lstStyle/>
          <a:p>
            <a:pPr algn="l"/>
            <a:r>
              <a:rPr lang="en-US" sz="1600" b="1">
                <a:solidFill>
                  <a:srgbClr val="E8A317"/>
                </a:solidFill>
              </a:rPr>
              <a:t>transform</a:t>
            </a:r>
          </a:p>
        </p:txBody>
      </p:sp>
    </p:spTree>
    <p:extLst>
      <p:ext uri="{BB962C8B-B14F-4D97-AF65-F5344CB8AC3E}">
        <p14:creationId xmlns:p14="http://schemas.microsoft.com/office/powerpoint/2010/main" val="779180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6F7E1FAF-75C5-FC3D-963F-5F77D744713B}"/>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Function Calling</a:t>
            </a:r>
          </a:p>
        </p:txBody>
      </p:sp>
      <p:sp>
        <p:nvSpPr>
          <p:cNvPr id="3" name="내용 개체 틀 2">
            <a:extLst>
              <a:ext uri="{FF2B5EF4-FFF2-40B4-BE49-F238E27FC236}">
                <a16:creationId xmlns:a16="http://schemas.microsoft.com/office/drawing/2014/main" id="{1C4DE4F3-BCCF-FE54-AE5D-CF4606D911A2}"/>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No ambiguity</a:t>
            </a:r>
          </a:p>
          <a:p>
            <a:r>
              <a:rPr lang="en-US" dirty="0"/>
              <a:t>Model neutral</a:t>
            </a:r>
          </a:p>
          <a:p>
            <a:r>
              <a:rPr lang="en-US" dirty="0"/>
              <a:t>Mechanically Verifiable</a:t>
            </a:r>
          </a:p>
          <a:p>
            <a:r>
              <a:rPr lang="en-US" dirty="0"/>
              <a:t>Deterministically Convergent</a:t>
            </a:r>
          </a:p>
          <a:p>
            <a:pPr marL="45720" indent="0">
              <a:buNone/>
            </a:pPr>
            <a:endParaRPr lang="en-US" dirty="0"/>
          </a:p>
          <a:p>
            <a:r>
              <a:rPr lang="ko-KR" dirty="0"/>
              <a:t>Essential for AI in Engineering Design</a:t>
            </a:r>
          </a:p>
          <a:p>
            <a:endParaRPr lang="en-US" dirty="0"/>
          </a:p>
        </p:txBody>
      </p:sp>
      <p:pic>
        <p:nvPicPr>
          <p:cNvPr id="9" name="내용 개체 틀 8">
            <a:extLst>
              <a:ext uri="{FF2B5EF4-FFF2-40B4-BE49-F238E27FC236}">
                <a16:creationId xmlns:a16="http://schemas.microsoft.com/office/drawing/2014/main" id="{A550F7D4-6F8E-527E-61E1-F261BAE5FE2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5226" r="26607" b="-2"/>
          <a:stretch>
            <a:fillRect/>
          </a:stretch>
        </p:blipFill>
        <p:spPr>
          <a:xfrm>
            <a:off x="8301386" y="243840"/>
            <a:ext cx="3646837" cy="6377939"/>
          </a:xfrm>
          <a:prstGeom prst="rect">
            <a:avLst/>
          </a:prstGeom>
        </p:spPr>
      </p:pic>
      <p:sp>
        <p:nvSpPr>
          <p:cNvPr id="19" name="Rectangle 18">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326451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3" name="Rectangle 2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E44119D-98CF-2E7F-ABA4-781698F3DAA0}"/>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Qwen Series</a:t>
            </a:r>
          </a:p>
        </p:txBody>
      </p:sp>
      <p:sp>
        <p:nvSpPr>
          <p:cNvPr id="3" name="내용 개체 틀 2">
            <a:extLst>
              <a:ext uri="{FF2B5EF4-FFF2-40B4-BE49-F238E27FC236}">
                <a16:creationId xmlns:a16="http://schemas.microsoft.com/office/drawing/2014/main" id="{1E33D8BE-A99B-5643-CE6D-077D2B2ED721}"/>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The best performance for tool calling</a:t>
            </a:r>
          </a:p>
          <a:p>
            <a:pPr lvl="1"/>
            <a:r>
              <a:rPr lang="en-US" dirty="0"/>
              <a:t>In small/middle sized models</a:t>
            </a:r>
          </a:p>
          <a:p>
            <a:endParaRPr lang="en-US" dirty="0"/>
          </a:p>
          <a:p>
            <a:r>
              <a:rPr lang="en-US" dirty="0"/>
              <a:t>Smaller models are the Best for QA</a:t>
            </a:r>
          </a:p>
          <a:p>
            <a:pPr lvl="1"/>
            <a:r>
              <a:rPr lang="en-US" dirty="0"/>
              <a:t>Take more mistakes</a:t>
            </a:r>
          </a:p>
          <a:p>
            <a:pPr lvl="1"/>
            <a:r>
              <a:rPr lang="en-US" dirty="0"/>
              <a:t>Expose system vulnerabilities</a:t>
            </a:r>
          </a:p>
          <a:p>
            <a:pPr lvl="1"/>
            <a:r>
              <a:rPr lang="en-US" dirty="0"/>
              <a:t>Suitable for debugging</a:t>
            </a:r>
          </a:p>
        </p:txBody>
      </p:sp>
      <p:pic>
        <p:nvPicPr>
          <p:cNvPr id="7" name="내용 개체 틀 6">
            <a:extLst>
              <a:ext uri="{FF2B5EF4-FFF2-40B4-BE49-F238E27FC236}">
                <a16:creationId xmlns:a16="http://schemas.microsoft.com/office/drawing/2014/main" id="{C991E99E-2170-AA7E-758F-E7D5C75FD6A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9093" r="42739" b="-2"/>
          <a:stretch>
            <a:fillRect/>
          </a:stretch>
        </p:blipFill>
        <p:spPr>
          <a:xfrm>
            <a:off x="8301386" y="243840"/>
            <a:ext cx="3646837" cy="6377939"/>
          </a:xfrm>
          <a:prstGeom prst="rect">
            <a:avLst/>
          </a:prstGeom>
        </p:spPr>
      </p:pic>
      <p:sp>
        <p:nvSpPr>
          <p:cNvPr id="25" name="Rectangle 2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742412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4" name="Rectangle 13">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6" name="Straight Connector 15">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536C624B-ED18-4865-996C-E1304AA1D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solidFill>
            <a:schemeClr val="bg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sp>
        <p:nvSpPr>
          <p:cNvPr id="5" name="제목 4">
            <a:extLst>
              <a:ext uri="{FF2B5EF4-FFF2-40B4-BE49-F238E27FC236}">
                <a16:creationId xmlns:a16="http://schemas.microsoft.com/office/drawing/2014/main" id="{9601C168-5FD2-89D5-F54F-C268949B13D8}"/>
              </a:ext>
            </a:extLst>
          </p:cNvPr>
          <p:cNvSpPr>
            <a:spLocks noGrp="1"/>
          </p:cNvSpPr>
          <p:nvPr>
            <p:ph type="title"/>
          </p:nvPr>
        </p:nvSpPr>
        <p:spPr>
          <a:xfrm>
            <a:off x="8369995" y="688255"/>
            <a:ext cx="3133839" cy="4118255"/>
          </a:xfrm>
          <a:noFill/>
          <a:ln w="12700" cmpd="sng">
            <a:noFill/>
          </a:ln>
        </p:spPr>
        <p:txBody>
          <a:bodyPr vert="horz" lIns="91440" tIns="45720" rIns="91440" bIns="45720" rtlCol="0" anchor="ctr">
            <a:normAutofit/>
          </a:bodyPr>
          <a:lstStyle/>
          <a:p>
            <a:pPr algn="r"/>
            <a:r>
              <a:rPr lang="en-US" altLang="ko-KR" sz="3600" b="1"/>
              <a:t>Preface</a:t>
            </a:r>
          </a:p>
        </p:txBody>
      </p:sp>
      <p:sp>
        <p:nvSpPr>
          <p:cNvPr id="6" name="텍스트 개체 틀 5">
            <a:extLst>
              <a:ext uri="{FF2B5EF4-FFF2-40B4-BE49-F238E27FC236}">
                <a16:creationId xmlns:a16="http://schemas.microsoft.com/office/drawing/2014/main" id="{66F6175C-D960-8A4D-F7F5-E484D96607BF}"/>
              </a:ext>
            </a:extLst>
          </p:cNvPr>
          <p:cNvSpPr>
            <a:spLocks noGrp="1"/>
          </p:cNvSpPr>
          <p:nvPr>
            <p:ph type="body" idx="1"/>
          </p:nvPr>
        </p:nvSpPr>
        <p:spPr>
          <a:xfrm>
            <a:off x="8369995" y="5190814"/>
            <a:ext cx="3133839" cy="1496706"/>
          </a:xfrm>
        </p:spPr>
        <p:txBody>
          <a:bodyPr vert="horz" lIns="91440" tIns="45720" rIns="91440" bIns="45720" rtlCol="0" anchor="t">
            <a:normAutofit/>
          </a:bodyPr>
          <a:lstStyle/>
          <a:p>
            <a:pPr algn="r"/>
            <a:r>
              <a:rPr lang="en-US" altLang="ko-KR" sz="2000" dirty="0"/>
              <a:t>Industrial Consensus</a:t>
            </a:r>
          </a:p>
          <a:p>
            <a:pPr algn="r"/>
            <a:r>
              <a:rPr lang="en-US" altLang="ko-KR" sz="2000" dirty="0"/>
              <a:t>No Alternative Solution</a:t>
            </a:r>
          </a:p>
          <a:p>
            <a:pPr algn="r"/>
            <a:r>
              <a:rPr lang="en-US" altLang="ko-KR" sz="2000" dirty="0"/>
              <a:t>Harness Engineering</a:t>
            </a:r>
          </a:p>
        </p:txBody>
      </p:sp>
      <p:pic>
        <p:nvPicPr>
          <p:cNvPr id="8" name="Picture 7" descr="천연가스 직화식 발전소">
            <a:extLst>
              <a:ext uri="{FF2B5EF4-FFF2-40B4-BE49-F238E27FC236}">
                <a16:creationId xmlns:a16="http://schemas.microsoft.com/office/drawing/2014/main" id="{7026ED6F-777F-01AC-E877-7D86A934E73B}"/>
              </a:ext>
            </a:extLst>
          </p:cNvPr>
          <p:cNvPicPr>
            <a:picLocks noChangeAspect="1"/>
          </p:cNvPicPr>
          <p:nvPr/>
        </p:nvPicPr>
        <p:blipFill>
          <a:blip r:embed="rId3"/>
          <a:srcRect r="20870" b="-1"/>
          <a:stretch>
            <a:fillRect/>
          </a:stretch>
        </p:blipFill>
        <p:spPr>
          <a:xfrm>
            <a:off x="20" y="10"/>
            <a:ext cx="8129852" cy="6857990"/>
          </a:xfrm>
          <a:prstGeom prst="rect">
            <a:avLst/>
          </a:prstGeom>
        </p:spPr>
      </p:pic>
      <p:sp>
        <p:nvSpPr>
          <p:cNvPr id="20" name="Rectangle 19">
            <a:extLst>
              <a:ext uri="{FF2B5EF4-FFF2-40B4-BE49-F238E27FC236}">
                <a16:creationId xmlns:a16="http://schemas.microsoft.com/office/drawing/2014/main" id="{D4A0D997-BC4A-4DB2-B8DB-093486DC5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7670768"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22" name="Straight Connector 21">
            <a:extLst>
              <a:ext uri="{FF2B5EF4-FFF2-40B4-BE49-F238E27FC236}">
                <a16:creationId xmlns:a16="http://schemas.microsoft.com/office/drawing/2014/main" id="{6DB4DA53-D7AC-481E-B130-9C190E76CA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3991" y="5044695"/>
            <a:ext cx="53689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5679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5" name="내용 개체 틀 4">
            <a:extLst>
              <a:ext uri="{FF2B5EF4-FFF2-40B4-BE49-F238E27FC236}">
                <a16:creationId xmlns:a16="http://schemas.microsoft.com/office/drawing/2014/main" id="{D2011417-BF60-8960-E3B9-4B0212957168}"/>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15413"/>
          <a:stretch>
            <a:fillRect/>
          </a:stretch>
        </p:blipFill>
        <p:spPr>
          <a:xfrm>
            <a:off x="20" y="10"/>
            <a:ext cx="12191980" cy="6857990"/>
          </a:xfrm>
          <a:prstGeom prst="rect">
            <a:avLst/>
          </a:prstGeom>
        </p:spPr>
      </p:pic>
      <p:sp>
        <p:nvSpPr>
          <p:cNvPr id="29" name="Rectangle 28">
            <a:extLst>
              <a:ext uri="{FF2B5EF4-FFF2-40B4-BE49-F238E27FC236}">
                <a16:creationId xmlns:a16="http://schemas.microsoft.com/office/drawing/2014/main" id="{F60C7704-7D68-4C16-8EA9-2E13DDE0C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alpha val="92000"/>
            </a:schemeClr>
          </a:solidFill>
          <a:ln w="12700">
            <a:solidFill>
              <a:schemeClr val="tx1">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3034AA81-6371-8F31-0BD7-FCBE65BE1E84}"/>
              </a:ext>
            </a:extLst>
          </p:cNvPr>
          <p:cNvSpPr>
            <a:spLocks noGrp="1"/>
          </p:cNvSpPr>
          <p:nvPr>
            <p:ph type="title"/>
          </p:nvPr>
        </p:nvSpPr>
        <p:spPr>
          <a:xfrm>
            <a:off x="1143000" y="609600"/>
            <a:ext cx="9875520" cy="1356360"/>
          </a:xfrm>
        </p:spPr>
        <p:txBody>
          <a:bodyPr vert="horz" lIns="91440" tIns="45720" rIns="91440" bIns="45720" rtlCol="0" anchor="ctr">
            <a:normAutofit/>
          </a:bodyPr>
          <a:lstStyle/>
          <a:p>
            <a:r>
              <a:rPr lang="en-US" dirty="0"/>
              <a:t>1. Industrial Consensus</a:t>
            </a:r>
          </a:p>
        </p:txBody>
      </p:sp>
      <p:sp>
        <p:nvSpPr>
          <p:cNvPr id="6" name="내용 개체 틀 5">
            <a:extLst>
              <a:ext uri="{FF2B5EF4-FFF2-40B4-BE49-F238E27FC236}">
                <a16:creationId xmlns:a16="http://schemas.microsoft.com/office/drawing/2014/main" id="{8B2ACF5B-317C-63CE-466D-2768FA0EF1EF}"/>
              </a:ext>
            </a:extLst>
          </p:cNvPr>
          <p:cNvSpPr>
            <a:spLocks noGrp="1"/>
          </p:cNvSpPr>
          <p:nvPr>
            <p:ph sz="half" idx="1"/>
          </p:nvPr>
        </p:nvSpPr>
        <p:spPr>
          <a:xfrm>
            <a:off x="1143000" y="2057400"/>
            <a:ext cx="9872871" cy="4038600"/>
          </a:xfrm>
        </p:spPr>
        <p:txBody>
          <a:bodyPr vert="horz" lIns="91440" tIns="45720" rIns="91440" bIns="45720" rtlCol="0">
            <a:normAutofit/>
          </a:bodyPr>
          <a:lstStyle/>
          <a:p>
            <a:r>
              <a:rPr lang="en-US" dirty="0"/>
              <a:t>NESTFUL (EMNLP 2025)</a:t>
            </a:r>
          </a:p>
          <a:p>
            <a:pPr lvl="1"/>
            <a:r>
              <a:rPr lang="en-US" dirty="0"/>
              <a:t>GPT-4o: 28% accuracy on nested tool call sequences</a:t>
            </a:r>
          </a:p>
          <a:p>
            <a:pPr lvl="1"/>
            <a:r>
              <a:rPr lang="en-US" dirty="0">
                <a:hlinkClick r:id="rId5"/>
              </a:rPr>
              <a:t>https://arxiv.org/abs/2409.03797</a:t>
            </a:r>
            <a:endParaRPr lang="en-US" dirty="0"/>
          </a:p>
          <a:p>
            <a:r>
              <a:rPr lang="en-US"/>
              <a:t>JSONSchemaBench</a:t>
            </a:r>
            <a:r>
              <a:rPr lang="en-US" dirty="0"/>
              <a:t> (ICLR 2025)</a:t>
            </a:r>
          </a:p>
          <a:p>
            <a:pPr lvl="1"/>
            <a:r>
              <a:rPr lang="en-US" dirty="0"/>
              <a:t>3~41% </a:t>
            </a:r>
            <a:r>
              <a:rPr lang="en-US"/>
              <a:t>converage</a:t>
            </a:r>
            <a:r>
              <a:rPr lang="en-US" dirty="0"/>
              <a:t> on 10,000 real-world schemas (hardest tier)</a:t>
            </a:r>
          </a:p>
          <a:p>
            <a:pPr lvl="1"/>
            <a:r>
              <a:rPr lang="en-US" dirty="0">
                <a:hlinkClick r:id="rId6"/>
              </a:rPr>
              <a:t>https://arxiv.org/abs/2501.10868</a:t>
            </a:r>
            <a:endParaRPr lang="en-US" dirty="0"/>
          </a:p>
          <a:p>
            <a:r>
              <a:rPr lang="en-US"/>
              <a:t>BoundaryML</a:t>
            </a:r>
            <a:r>
              <a:rPr lang="en-US" dirty="0"/>
              <a:t> (Blog)</a:t>
            </a:r>
          </a:p>
          <a:p>
            <a:pPr lvl="1"/>
            <a:r>
              <a:rPr lang="en-US" dirty="0"/>
              <a:t>Structured outputs actively degrade model reasoning</a:t>
            </a:r>
          </a:p>
          <a:p>
            <a:pPr lvl="1"/>
            <a:r>
              <a:rPr lang="en-US" dirty="0">
                <a:hlinkClick r:id="rId7"/>
              </a:rPr>
              <a:t>https://boundaryml.com/blog/structured-outputs-create-false-confidence</a:t>
            </a:r>
            <a:endParaRPr lang="en-US" dirty="0"/>
          </a:p>
        </p:txBody>
      </p:sp>
    </p:spTree>
    <p:extLst>
      <p:ext uri="{BB962C8B-B14F-4D97-AF65-F5344CB8AC3E}">
        <p14:creationId xmlns:p14="http://schemas.microsoft.com/office/powerpoint/2010/main" val="4979372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10BB0A13-3BEC-0A01-5B45-4B8D50ED58DB}"/>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2. No Alternative Solution</a:t>
            </a:r>
          </a:p>
        </p:txBody>
      </p:sp>
      <p:pic>
        <p:nvPicPr>
          <p:cNvPr id="9" name="내용 개체 틀 8">
            <a:extLst>
              <a:ext uri="{FF2B5EF4-FFF2-40B4-BE49-F238E27FC236}">
                <a16:creationId xmlns:a16="http://schemas.microsoft.com/office/drawing/2014/main" id="{9CE5FFA4-4316-6ABB-80C9-3BE97DA914AA}"/>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0014" r="22808" b="1"/>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0B2450DD-D731-869C-D857-BF2966BAE39B}"/>
              </a:ext>
            </a:extLst>
          </p:cNvPr>
          <p:cNvSpPr>
            <a:spLocks noGrp="1"/>
          </p:cNvSpPr>
          <p:nvPr>
            <p:ph sz="half" idx="1"/>
          </p:nvPr>
        </p:nvSpPr>
        <p:spPr>
          <a:xfrm>
            <a:off x="4439242" y="2057400"/>
            <a:ext cx="6576629" cy="4038600"/>
          </a:xfrm>
        </p:spPr>
        <p:txBody>
          <a:bodyPr vert="horz" lIns="91440" tIns="45720" rIns="91440" bIns="45720" rtlCol="0">
            <a:normAutofit/>
          </a:bodyPr>
          <a:lstStyle/>
          <a:p>
            <a:r>
              <a:rPr lang="en-US" sz="2000"/>
              <a:t>In Engineering Field,</a:t>
            </a:r>
          </a:p>
          <a:p>
            <a:endParaRPr lang="en-US" sz="2000"/>
          </a:p>
          <a:p>
            <a:r>
              <a:rPr lang="en-US" sz="2000"/>
              <a:t>Free-form text cannot be mechanically verified</a:t>
            </a:r>
          </a:p>
          <a:p>
            <a:r>
              <a:rPr lang="en-US" sz="2000"/>
              <a:t>Without structure, there can't be mechanical feedback</a:t>
            </a:r>
          </a:p>
          <a:p>
            <a:r>
              <a:rPr lang="en-US" sz="2000"/>
              <a:t>Without mechanical feedback, no guarantee</a:t>
            </a:r>
          </a:p>
          <a:p>
            <a:endParaRPr lang="en-US" sz="2000"/>
          </a:p>
          <a:p>
            <a:r>
              <a:rPr lang="en-US" sz="2000"/>
              <a:t>So we have to make function calling work</a:t>
            </a:r>
          </a:p>
          <a:p>
            <a:r>
              <a:rPr lang="en-US" sz="2000"/>
              <a:t>There's no other path for engineering purpose</a:t>
            </a:r>
          </a:p>
        </p:txBody>
      </p:sp>
      <p:sp>
        <p:nvSpPr>
          <p:cNvPr id="27" name="Rectangle 26">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3788241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Success Rate for extremely complicate type</a:t>
            </a:r>
          </a:p>
          <a:p>
            <a:pPr lvl="1"/>
            <a:r>
              <a:rPr lang="en-US" dirty="0"/>
              <a:t>Qwen3-coder-next for DTO schema design: 6.75%</a:t>
            </a:r>
          </a:p>
          <a:p>
            <a:pPr lvl="1"/>
            <a:r>
              <a:rPr lang="en-US" dirty="0"/>
              <a:t>GPT 5.4 for API specification reviewing: 9.91%</a:t>
            </a:r>
          </a:p>
          <a:p>
            <a:r>
              <a:rPr lang="en-US" dirty="0"/>
              <a:t>The answer was not a better model or a smarter prompt</a:t>
            </a:r>
          </a:p>
          <a:p>
            <a:pPr lvl="1"/>
            <a:r>
              <a:rPr lang="en-US" dirty="0"/>
              <a:t>It was on the harness engineering</a:t>
            </a:r>
          </a:p>
          <a:p>
            <a:pPr lvl="1"/>
            <a:r>
              <a:rPr lang="en-US" dirty="0"/>
              <a:t>Combined with Compiler Skills</a:t>
            </a:r>
          </a:p>
          <a:p>
            <a:endParaRPr lang="en-US" dirty="0"/>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24839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100% success — all four Qwen models</a:t>
            </a:r>
          </a:p>
          <a:p>
            <a:endParaRPr lang="en-US" dirty="0"/>
          </a:p>
          <a:p>
            <a:r>
              <a:rPr lang="en-US" dirty="0"/>
              <a:t>The answer was not a better model or a smarter prompt.</a:t>
            </a:r>
          </a:p>
          <a:p>
            <a:r>
              <a:rPr lang="en-US" b="1" dirty="0"/>
              <a:t>It was a harness.</a:t>
            </a:r>
          </a:p>
          <a:p>
            <a:endParaRPr lang="en-US" dirty="0"/>
          </a:p>
          <a:p>
            <a:r>
              <a:rPr lang="en-US" dirty="0"/>
              <a:t>Type schemas that constrain</a:t>
            </a:r>
          </a:p>
          <a:p>
            <a:r>
              <a:rPr lang="en-US" dirty="0"/>
              <a:t>+ compilers that verify</a:t>
            </a:r>
          </a:p>
          <a:p>
            <a:r>
              <a:rPr lang="en-US" dirty="0"/>
              <a:t>+ feedback that corrects</a:t>
            </a:r>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98907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94F6BCA3-D77A-2C83-4220-DA6D396D56F3}"/>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a:t>AutoBe</a:t>
            </a:r>
          </a:p>
        </p:txBody>
      </p:sp>
      <p:sp>
        <p:nvSpPr>
          <p:cNvPr id="5" name="텍스트 개체 틀 4">
            <a:extLst>
              <a:ext uri="{FF2B5EF4-FFF2-40B4-BE49-F238E27FC236}">
                <a16:creationId xmlns:a16="http://schemas.microsoft.com/office/drawing/2014/main" id="{F21A9C84-B10D-A982-2F57-31A2A4DFE2F8}"/>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AI Backend Auto-Generation Agent</a:t>
            </a:r>
          </a:p>
          <a:p>
            <a:r>
              <a:rPr lang="en-US" dirty="0"/>
              <a:t>Not text code, but AST data</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화면에 표시된 컴퓨터 스크립트">
            <a:extLst>
              <a:ext uri="{FF2B5EF4-FFF2-40B4-BE49-F238E27FC236}">
                <a16:creationId xmlns:a16="http://schemas.microsoft.com/office/drawing/2014/main" id="{E39303BC-0B34-4912-CC8B-C2B8F06E5309}"/>
              </a:ext>
            </a:extLst>
          </p:cNvPr>
          <p:cNvPicPr>
            <a:picLocks noChangeAspect="1"/>
          </p:cNvPicPr>
          <p:nvPr/>
        </p:nvPicPr>
        <p:blipFill>
          <a:blip r:embed="rId3"/>
          <a:srcRect l="7502" r="47275"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30788837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79E2A4-24E2-51F7-AF8E-3DD5EF17CC83}"/>
              </a:ext>
            </a:extLst>
          </p:cNvPr>
          <p:cNvSpPr>
            <a:spLocks noGrp="1"/>
          </p:cNvSpPr>
          <p:nvPr>
            <p:ph type="title"/>
          </p:nvPr>
        </p:nvSpPr>
        <p:spPr/>
        <p:txBody>
          <a:bodyPr/>
          <a:lstStyle/>
          <a:p>
            <a:r>
              <a:rPr lang="en-US" dirty="0"/>
              <a:t>2.1. What </a:t>
            </a:r>
            <a:r>
              <a:rPr lang="en-US" dirty="0" err="1"/>
              <a:t>AutoBe</a:t>
            </a:r>
            <a:r>
              <a:rPr lang="en-US" dirty="0"/>
              <a:t> Does</a:t>
            </a:r>
          </a:p>
        </p:txBody>
      </p:sp>
      <p:sp>
        <p:nvSpPr>
          <p:cNvPr id="3" name="내용 개체 틀 2">
            <a:extLst>
              <a:ext uri="{FF2B5EF4-FFF2-40B4-BE49-F238E27FC236}">
                <a16:creationId xmlns:a16="http://schemas.microsoft.com/office/drawing/2014/main" id="{FC1ECA45-DEAE-12CC-50B8-CB8E3111D8EF}"/>
              </a:ext>
            </a:extLst>
          </p:cNvPr>
          <p:cNvSpPr>
            <a:spLocks noGrp="1"/>
          </p:cNvSpPr>
          <p:nvPr>
            <p:ph idx="1"/>
          </p:nvPr>
        </p:nvSpPr>
        <p:spPr/>
        <p:txBody>
          <a:bodyPr/>
          <a:lstStyle/>
          <a:p>
            <a:r>
              <a:rPr lang="en-US" dirty="0"/>
              <a:t>Build an e-commerce backend with products, carts, orders, and payments</a:t>
            </a:r>
          </a:p>
          <a:p>
            <a:endParaRPr lang="en-US" dirty="0"/>
          </a:p>
          <a:p>
            <a:r>
              <a:rPr lang="en-US" dirty="0"/>
              <a:t>Requirements Analysis (SRS)</a:t>
            </a:r>
          </a:p>
          <a:p>
            <a:r>
              <a:rPr lang="en-US" dirty="0"/>
              <a:t>Database Schema (ERD)</a:t>
            </a:r>
          </a:p>
          <a:p>
            <a:r>
              <a:rPr lang="en-US" dirty="0"/>
              <a:t>API Specification (OpenAPI v3.2)</a:t>
            </a:r>
          </a:p>
          <a:p>
            <a:r>
              <a:rPr lang="en-US" dirty="0"/>
              <a:t>E2E test code</a:t>
            </a:r>
          </a:p>
          <a:p>
            <a:r>
              <a:rPr lang="en-US" dirty="0"/>
              <a:t>Implementation code</a:t>
            </a:r>
          </a:p>
          <a:p>
            <a:r>
              <a:rPr lang="en-US" dirty="0"/>
              <a:t>Type-safe SDK for clients</a:t>
            </a:r>
          </a:p>
        </p:txBody>
      </p:sp>
    </p:spTree>
    <p:extLst>
      <p:ext uri="{BB962C8B-B14F-4D97-AF65-F5344CB8AC3E}">
        <p14:creationId xmlns:p14="http://schemas.microsoft.com/office/powerpoint/2010/main" val="743100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 name="Rectangle 10">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2" name="Rectangle 12">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3" name="Straight Connector 14">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54" name="Rectangle 16">
            <a:extLst>
              <a:ext uri="{FF2B5EF4-FFF2-40B4-BE49-F238E27FC236}">
                <a16:creationId xmlns:a16="http://schemas.microsoft.com/office/drawing/2014/main" id="{4C4A1CEC-4439-473B-9939-B12503C5E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5" name="Rectangle 18">
            <a:extLst>
              <a:ext uri="{FF2B5EF4-FFF2-40B4-BE49-F238E27FC236}">
                <a16:creationId xmlns:a16="http://schemas.microsoft.com/office/drawing/2014/main" id="{BF85B2CC-AADA-4F42-9F7B-0A4FA3F6CC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4206240"/>
            <a:ext cx="11724640" cy="24155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6" name="Straight Connector 20">
            <a:extLst>
              <a:ext uri="{FF2B5EF4-FFF2-40B4-BE49-F238E27FC236}">
                <a16:creationId xmlns:a16="http://schemas.microsoft.com/office/drawing/2014/main" id="{DD2BE13A-A3B2-4E96-99FC-10C36EDABA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60048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제목 1">
            <a:extLst>
              <a:ext uri="{FF2B5EF4-FFF2-40B4-BE49-F238E27FC236}">
                <a16:creationId xmlns:a16="http://schemas.microsoft.com/office/drawing/2014/main" id="{C12656B8-760A-1BBD-D402-58043E935642}"/>
              </a:ext>
            </a:extLst>
          </p:cNvPr>
          <p:cNvSpPr>
            <a:spLocks noGrp="1"/>
          </p:cNvSpPr>
          <p:nvPr>
            <p:ph type="title"/>
          </p:nvPr>
        </p:nvSpPr>
        <p:spPr>
          <a:xfrm>
            <a:off x="1109980" y="4347758"/>
            <a:ext cx="9966960" cy="1325880"/>
          </a:xfrm>
        </p:spPr>
        <p:txBody>
          <a:bodyPr vert="horz" lIns="91440" tIns="45720" rIns="91440" bIns="45720" rtlCol="0" anchor="b">
            <a:noAutofit/>
          </a:bodyPr>
          <a:lstStyle/>
          <a:p>
            <a:pPr algn="ctr">
              <a:lnSpc>
                <a:spcPct val="85000"/>
              </a:lnSpc>
            </a:pPr>
            <a:r>
              <a:rPr lang="en-US" sz="4000" b="1" cap="all" dirty="0"/>
              <a:t>2.2. LLMs Don’t Write Code</a:t>
            </a:r>
          </a:p>
        </p:txBody>
      </p:sp>
      <p:sp>
        <p:nvSpPr>
          <p:cNvPr id="5" name="TextBox 4">
            <a:extLst>
              <a:ext uri="{FF2B5EF4-FFF2-40B4-BE49-F238E27FC236}">
                <a16:creationId xmlns:a16="http://schemas.microsoft.com/office/drawing/2014/main" id="{1AAF1E83-0BB9-65EB-B3F4-C9025B81592E}"/>
              </a:ext>
            </a:extLst>
          </p:cNvPr>
          <p:cNvSpPr txBox="1"/>
          <p:nvPr/>
        </p:nvSpPr>
        <p:spPr>
          <a:xfrm>
            <a:off x="1709530" y="5644392"/>
            <a:ext cx="8767860" cy="509519"/>
          </a:xfrm>
          <a:prstGeom prst="rect">
            <a:avLst/>
          </a:prstGeom>
        </p:spPr>
        <p:txBody>
          <a:bodyPr vert="horz" lIns="91440" tIns="45720" rIns="91440" bIns="45720" rtlCol="0">
            <a:normAutofit/>
          </a:bodyPr>
          <a:lstStyle/>
          <a:p>
            <a:pPr algn="ctr" defTabSz="914400">
              <a:lnSpc>
                <a:spcPct val="90000"/>
              </a:lnSpc>
              <a:spcBef>
                <a:spcPts val="1400"/>
              </a:spcBef>
              <a:buClr>
                <a:schemeClr val="tx1"/>
              </a:buClr>
              <a:buSzPct val="80000"/>
            </a:pPr>
            <a:r>
              <a:rPr lang="en-US" sz="2000" dirty="0"/>
              <a:t>The LLM fills structures. Compilers write code.</a:t>
            </a:r>
          </a:p>
        </p:txBody>
      </p:sp>
      <p:graphicFrame>
        <p:nvGraphicFramePr>
          <p:cNvPr id="6" name="내용 개체 틀 5">
            <a:extLst>
              <a:ext uri="{FF2B5EF4-FFF2-40B4-BE49-F238E27FC236}">
                <a16:creationId xmlns:a16="http://schemas.microsoft.com/office/drawing/2014/main" id="{A1FC1DE9-C94C-BE10-0747-6F18563EE280}"/>
              </a:ext>
            </a:extLst>
          </p:cNvPr>
          <p:cNvGraphicFramePr>
            <a:graphicFrameLocks noGrp="1"/>
          </p:cNvGraphicFramePr>
          <p:nvPr>
            <p:ph idx="1"/>
          </p:nvPr>
        </p:nvGraphicFramePr>
        <p:xfrm>
          <a:off x="933385" y="741172"/>
          <a:ext cx="10325231" cy="3279648"/>
        </p:xfrm>
        <a:graphic>
          <a:graphicData uri="http://schemas.openxmlformats.org/drawingml/2006/table">
            <a:tbl>
              <a:tblPr firstRow="1" bandRow="1">
                <a:noFill/>
                <a:tableStyleId>{5C22544A-7EE6-4342-B048-85BDC9FD1C3A}</a:tableStyleId>
              </a:tblPr>
              <a:tblGrid>
                <a:gridCol w="1888722">
                  <a:extLst>
                    <a:ext uri="{9D8B030D-6E8A-4147-A177-3AD203B41FA5}">
                      <a16:colId xmlns:a16="http://schemas.microsoft.com/office/drawing/2014/main" val="2197739396"/>
                    </a:ext>
                  </a:extLst>
                </a:gridCol>
                <a:gridCol w="2638776">
                  <a:extLst>
                    <a:ext uri="{9D8B030D-6E8A-4147-A177-3AD203B41FA5}">
                      <a16:colId xmlns:a16="http://schemas.microsoft.com/office/drawing/2014/main" val="3096524490"/>
                    </a:ext>
                  </a:extLst>
                </a:gridCol>
                <a:gridCol w="5797733">
                  <a:extLst>
                    <a:ext uri="{9D8B030D-6E8A-4147-A177-3AD203B41FA5}">
                      <a16:colId xmlns:a16="http://schemas.microsoft.com/office/drawing/2014/main" val="571538464"/>
                    </a:ext>
                  </a:extLst>
                </a:gridCol>
              </a:tblGrid>
              <a:tr h="586918">
                <a:tc>
                  <a:txBody>
                    <a:bodyPr/>
                    <a:lstStyle/>
                    <a:p>
                      <a:r>
                        <a:rPr lang="en-US" sz="1700" b="0" cap="all" spc="150">
                          <a:solidFill>
                            <a:schemeClr val="lt1"/>
                          </a:solidFill>
                        </a:rPr>
                        <a:t>Phase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AST Type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Description</a:t>
                      </a:r>
                    </a:p>
                  </a:txBody>
                  <a:tcPr marL="145117" marR="145117" marT="145117" marB="145117">
                    <a:lnL w="12700" cmpd="sng">
                      <a:noFill/>
                    </a:lnL>
                    <a:lnR w="12700" cmpd="sng">
                      <a:noFill/>
                    </a:lnR>
                    <a:lnT w="12700" cmpd="sng">
                      <a:noFill/>
                    </a:lnT>
                    <a:lnB w="38100" cmpd="sng">
                      <a:noFill/>
                    </a:lnB>
                    <a:solidFill>
                      <a:srgbClr val="505356"/>
                    </a:solidFill>
                  </a:tcPr>
                </a:tc>
                <a:extLst>
                  <a:ext uri="{0D108BD9-81ED-4DB2-BD59-A6C34878D82A}">
                    <a16:rowId xmlns:a16="http://schemas.microsoft.com/office/drawing/2014/main" val="3887477869"/>
                  </a:ext>
                </a:extLst>
              </a:tr>
              <a:tr h="538546">
                <a:tc>
                  <a:txBody>
                    <a:bodyPr/>
                    <a:lstStyle/>
                    <a:p>
                      <a:r>
                        <a:rPr lang="en-US" sz="1400" cap="none" spc="0">
                          <a:solidFill>
                            <a:schemeClr val="tx1"/>
                          </a:solidFill>
                        </a:rPr>
                        <a:t>Analyze</a:t>
                      </a: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u="none" cap="none" spc="0" dirty="0">
                          <a:solidFill>
                            <a:schemeClr val="tx1"/>
                          </a:solidFill>
                          <a:hlinkClick r:id="rId3"/>
                        </a:rPr>
                        <a:t>AutoBeAnalyze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cap="none" spc="0">
                          <a:solidFill>
                            <a:schemeClr val="tx1"/>
                          </a:solidFill>
                        </a:rPr>
                        <a:t>Structured SRS (</a:t>
                      </a:r>
                      <a:r>
                        <a:rPr lang="en-US" sz="1400" cap="none" spc="0" err="1">
                          <a:solidFill>
                            <a:schemeClr val="tx1"/>
                          </a:solidFill>
                        </a:rPr>
                        <a:t>Software</a:t>
                      </a:r>
                      <a:r>
                        <a:rPr lang="en-US" sz="1400" cap="none" spc="0">
                          <a:solidFill>
                            <a:schemeClr val="tx1"/>
                          </a:solidFill>
                        </a:rPr>
                        <a:t> Requirements Specification)</a:t>
                      </a:r>
                    </a:p>
                  </a:txBody>
                  <a:tcPr marL="145117" marR="145117" marT="145117" marB="145117">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4069786596"/>
                  </a:ext>
                </a:extLst>
              </a:tr>
              <a:tr h="538546">
                <a:tc>
                  <a:txBody>
                    <a:bodyPr/>
                    <a:lstStyle/>
                    <a:p>
                      <a:r>
                        <a:rPr lang="en-US" sz="1400" cap="none" spc="0">
                          <a:solidFill>
                            <a:schemeClr val="tx1"/>
                          </a:solidFill>
                        </a:rPr>
                        <a:t>Database</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4"/>
                        </a:rPr>
                        <a:t>AutoBeDatabase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dirty="0">
                          <a:solidFill>
                            <a:schemeClr val="tx1"/>
                          </a:solidFill>
                        </a:rPr>
                        <a:t>Database Compiler ensuring Integrity</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4213482767"/>
                  </a:ext>
                </a:extLst>
              </a:tr>
              <a:tr h="538546">
                <a:tc>
                  <a:txBody>
                    <a:bodyPr/>
                    <a:lstStyle/>
                    <a:p>
                      <a:r>
                        <a:rPr lang="en-US" sz="1400" cap="none" spc="0">
                          <a:solidFill>
                            <a:schemeClr val="tx1"/>
                          </a:solidFill>
                        </a:rPr>
                        <a:t>Interface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u="none" cap="none" spc="0" dirty="0">
                          <a:solidFill>
                            <a:schemeClr val="tx1"/>
                          </a:solidFill>
                          <a:hlinkClick r:id="rId5"/>
                        </a:rPr>
                        <a:t>AutoBeOpenApi</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OpenAPI Compiler for API &amp; DTO Generation</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68858939"/>
                  </a:ext>
                </a:extLst>
              </a:tr>
              <a:tr h="538546">
                <a:tc>
                  <a:txBody>
                    <a:bodyPr/>
                    <a:lstStyle/>
                    <a:p>
                      <a:r>
                        <a:rPr lang="en-US" sz="1400" cap="none" spc="0">
                          <a:solidFill>
                            <a:schemeClr val="tx1"/>
                          </a:solidFill>
                        </a:rPr>
                        <a:t>Test</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6"/>
                        </a:rPr>
                        <a:t>AutoBeTest</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a:solidFill>
                            <a:schemeClr val="tx1"/>
                          </a:solidFill>
                        </a:rPr>
                        <a:t>Test Compiler for API E2E Testing</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2232306712"/>
                  </a:ext>
                </a:extLst>
              </a:tr>
              <a:tr h="538546">
                <a:tc>
                  <a:txBody>
                    <a:bodyPr/>
                    <a:lstStyle/>
                    <a:p>
                      <a:r>
                        <a:rPr lang="en-US" sz="1400" cap="none" spc="0">
                          <a:solidFill>
                            <a:schemeClr val="tx1"/>
                          </a:solidFill>
                        </a:rPr>
                        <a:t>Realize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Modular Code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TypeScript Compiler</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832388765"/>
                  </a:ext>
                </a:extLst>
              </a:tr>
            </a:tbl>
          </a:graphicData>
        </a:graphic>
      </p:graphicFrame>
    </p:spTree>
    <p:extLst>
      <p:ext uri="{BB962C8B-B14F-4D97-AF65-F5344CB8AC3E}">
        <p14:creationId xmlns:p14="http://schemas.microsoft.com/office/powerpoint/2010/main" val="9613934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0" tIns="0" rIns="0" bIns="0" anchor="b"/>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The Forms Are Not Simple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0" tIns="0" rIns="0" bIns="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808080"/>
                </a:solidFill>
                <a:effectLst/>
                <a:uLnTx/>
                <a:uFillTx/>
                <a:latin typeface="Segoe UI"/>
                <a:ea typeface="+mn-ea"/>
                <a:cs typeface="+mn-cs"/>
              </a:rPr>
              <a:t>IJsonSchema: 10 variants, infinitely recursive nesting</a:t>
            </a:r>
          </a:p>
        </p:txBody>
      </p:sp>
      <p:sp>
        <p:nvSpPr>
          <p:cNvPr id="12" name="CodeBg"/>
          <p:cNvSpPr/>
          <p:nvPr/>
        </p:nvSpPr>
        <p:spPr>
          <a:xfrm>
            <a:off x="508000" y="1270000"/>
            <a:ext cx="11176000" cy="4445000"/>
          </a:xfrm>
          <a:prstGeom prst="roundRect">
            <a:avLst>
              <a:gd name="adj" fmla="val 4000"/>
            </a:avLst>
          </a:prstGeom>
          <a:solidFill>
            <a:srgbClr val="1E1E1E"/>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3" name="Code"/>
          <p:cNvSpPr/>
          <p:nvPr/>
        </p:nvSpPr>
        <p:spPr>
          <a:xfrm>
            <a:off x="762000" y="1422400"/>
            <a:ext cx="10795000" cy="4191000"/>
          </a:xfrm>
          <a:prstGeom prst="rect">
            <a:avLst/>
          </a:prstGeom>
          <a:noFill/>
          <a:ln>
            <a:noFill/>
          </a:ln>
        </p:spPr>
        <p:txBody>
          <a:bodyPr wrap="square" lIns="127000" tIns="101600" rIns="127000" bIns="101600" anchor="t"/>
          <a:lstStyle/>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IJsonSchema.IConstant</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IJsonSchema.IBoolean</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IJsonSchema.IInteger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IJsonSchema.INumber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IJsonSchema.IString</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IJsonSchema.IArray</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items: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IJsonSchema.IObject</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properties: Record&lt;string, </a:t>
            </a:r>
            <a:r>
              <a:rPr kumimoji="0" lang="en-US" sz="1800" b="0" i="0" u="sng" strike="noStrike" kern="1200" cap="none" spc="0" normalizeH="0" baseline="0" noProof="0" dirty="0" err="1">
                <a:ln>
                  <a:noFill/>
                </a:ln>
                <a:solidFill>
                  <a:srgbClr val="6A9955"/>
                </a:solidFill>
                <a:effectLst/>
                <a:uLnTx/>
                <a:uFillTx/>
                <a:latin typeface="Consolas"/>
                <a:ea typeface="+mn-ea"/>
                <a:cs typeface="+mn-cs"/>
              </a:rPr>
              <a:t>IJsonSchema</a:t>
            </a:r>
            <a:r>
              <a:rPr kumimoji="0" lang="en-US" sz="1800" b="0" i="0" u="sng" strike="noStrike" kern="1200" cap="none" spc="0" normalizeH="0" baseline="0" noProof="0" dirty="0">
                <a:ln>
                  <a:noFill/>
                </a:ln>
                <a:solidFill>
                  <a:srgbClr val="6A9955"/>
                </a:solidFill>
                <a:effectLst/>
                <a:uLnTx/>
                <a:uFillTx/>
                <a:latin typeface="Consolas"/>
                <a:ea typeface="+mn-ea"/>
                <a:cs typeface="+mn-cs"/>
              </a:rPr>
              <a:t>&gt;</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IJsonSchema.IReference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IJsonSchema.IOneOf</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oneOf: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IJsonSchema.INull</a:t>
            </a:r>
            <a:r>
              <a:rPr kumimoji="0" lang="en-US" sz="18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4" name="Badge"/>
          <p:cNvSpPr/>
          <p:nvPr/>
        </p:nvSpPr>
        <p:spPr>
          <a:xfrm>
            <a:off x="1270000" y="5867400"/>
            <a:ext cx="9652000" cy="508000"/>
          </a:xfrm>
          <a:prstGeom prst="roundRect">
            <a:avLst>
              <a:gd name="adj" fmla="val 20000"/>
            </a:avLst>
          </a:prstGeom>
          <a:solidFill>
            <a:srgbClr val="FF6B6B">
              <a:alpha val="15000"/>
            </a:srgbClr>
          </a:solidFill>
          <a:ln w="9525">
            <a:solidFill>
              <a:srgbClr val="FF6B6B">
                <a:alpha val="50000"/>
              </a:srgbClr>
            </a:solidFill>
          </a:ln>
        </p:spPr>
        <p:txBody>
          <a:bodyPr wrap="square"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6B6B"/>
                </a:solidFill>
                <a:effectLst/>
                <a:uLnTx/>
                <a:uFillTx/>
                <a:latin typeface="Segoe UI Semibold"/>
                <a:ea typeface="+mn-ea"/>
                <a:cs typeface="+mn-cs"/>
              </a:rPr>
              <a:t>First-try success rate: 6.75%</a:t>
            </a:r>
            <a:r>
              <a:rPr kumimoji="0" lang="en-US" sz="1800" b="0" i="0" u="none" strike="noStrike" kern="1200" cap="none" spc="0" normalizeH="0" baseline="0" noProof="0" dirty="0">
                <a:ln>
                  <a:noFill/>
                </a:ln>
                <a:solidFill>
                  <a:srgbClr val="A0A0A0"/>
                </a:solidFill>
                <a:effectLst/>
                <a:uLnTx/>
                <a:uFillTx/>
                <a:latin typeface="Segoe UI"/>
                <a:ea typeface="+mn-ea"/>
                <a:cs typeface="+mn-cs"/>
              </a:rPr>
              <a:t>  —  10 variants × recursive nesting = combinatorial explosion</a:t>
            </a:r>
          </a:p>
        </p:txBody>
      </p:sp>
    </p:spTree>
    <p:extLst>
      <p:ext uri="{BB962C8B-B14F-4D97-AF65-F5344CB8AC3E}">
        <p14:creationId xmlns:p14="http://schemas.microsoft.com/office/powerpoint/2010/main" val="22450723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2400" b="1" i="0" u="none" strike="noStrike" kern="1200" cap="none" spc="0" normalizeH="0" baseline="0" noProof="0">
                <a:ln>
                  <a:noFill/>
                </a:ln>
                <a:solidFill>
                  <a:srgbClr val="F0F0F0"/>
                </a:solidFill>
                <a:effectLst/>
                <a:uLnTx/>
                <a:uFillTx/>
                <a:latin typeface="Segoe UI Semibold"/>
                <a:ea typeface="+mn-ea"/>
                <a:cs typeface="+mn-cs"/>
              </a:rPr>
              <a:t>IExpression — 30+ Variants, Recursive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08080"/>
                </a:solidFill>
                <a:effectLst/>
                <a:uLnTx/>
                <a:uFillTx/>
                <a:latin typeface="Segoe UI"/>
                <a:ea typeface="+mn-ea"/>
                <a:cs typeface="+mn-cs"/>
              </a:rPr>
              <a:t>Test expression type — programming-language-level complexity in a single function call</a:t>
            </a:r>
          </a:p>
        </p:txBody>
      </p:sp>
      <p:sp>
        <p:nvSpPr>
          <p:cNvPr id="13" name="Code"/>
          <p:cNvSpPr/>
          <p:nvPr/>
        </p:nvSpPr>
        <p:spPr>
          <a:xfrm>
            <a:off x="762000" y="1422400"/>
            <a:ext cx="10795000" cy="4191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600" b="0" i="0" u="none" strike="noStrike" kern="1200" cap="none" spc="0" normalizeH="0" baseline="0" noProof="0" dirty="0">
                <a:ln>
                  <a:noFill/>
                </a:ln>
                <a:solidFill>
                  <a:srgbClr val="4EC9B0"/>
                </a:solidFill>
                <a:effectLst/>
                <a:uLnTx/>
                <a:uFillTx/>
                <a:latin typeface="Consolas"/>
                <a:ea typeface="+mn-ea"/>
                <a:cs typeface="+mn-cs"/>
              </a:rPr>
              <a:t>IExpression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INumericLiteral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IObjectLiteralExpression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compound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INullLiteral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IUndefinedKeyword</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null/undefined</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IIdentifier</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IPropertyAccessExpression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accessors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IElementAccessExpression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ITypeOfExpression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IPrefixUnaryExpression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IPostfixUnaryExpression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unary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IBinaryExpression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binary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IArrowFunction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ICallExpression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INewExpression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functions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IArrayFilterExpression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IArrayForEachExpression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IArrayMapExpression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IArrayRepeatExpression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IPickRandom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ISampleRandom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IIntegerRandom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INumberRandom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IPatternRandom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IFormatRandom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IKeywordRandom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INotEqualPredicate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IConditionalPredicate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IErrorPredicate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p:txBody>
      </p:sp>
      <p:sp>
        <p:nvSpPr>
          <p:cNvPr id="14" name="Badge"/>
          <p:cNvSpPr/>
          <p:nvPr/>
        </p:nvSpPr>
        <p:spPr>
          <a:xfrm>
            <a:off x="1270000" y="5867400"/>
            <a:ext cx="9652000" cy="5080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30+ variants with recursive nesting</a:t>
            </a:r>
            <a:br>
              <a:rPr kumimoji="0" lang="en-US" sz="1800" b="1" i="0" u="none" strike="noStrike" kern="1200" cap="none" spc="0" normalizeH="0" baseline="0" noProof="0" dirty="0">
                <a:ln>
                  <a:noFill/>
                </a:ln>
                <a:solidFill>
                  <a:srgbClr val="FFD93D"/>
                </a:solidFill>
                <a:effectLst/>
                <a:uLnTx/>
                <a:uFillTx/>
                <a:latin typeface="Segoe UI Semibold"/>
                <a:ea typeface="+mn-ea"/>
                <a:cs typeface="+mn-cs"/>
              </a:rPr>
            </a:b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programming-language complexity in one function call</a:t>
            </a:r>
          </a:p>
        </p:txBody>
      </p:sp>
    </p:spTree>
    <p:extLst>
      <p:ext uri="{BB962C8B-B14F-4D97-AF65-F5344CB8AC3E}">
        <p14:creationId xmlns:p14="http://schemas.microsoft.com/office/powerpoint/2010/main" val="37785217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BEB7520-46D6-F1A1-FB4B-0CA1EAD7EEB0}"/>
              </a:ext>
            </a:extLst>
          </p:cNvPr>
          <p:cNvSpPr>
            <a:spLocks noGrp="1"/>
          </p:cNvSpPr>
          <p:nvPr>
            <p:ph type="title"/>
          </p:nvPr>
        </p:nvSpPr>
        <p:spPr/>
        <p:txBody>
          <a:bodyPr/>
          <a:lstStyle/>
          <a:p>
            <a:r>
              <a:rPr lang="en-US" dirty="0"/>
              <a:t>2.3. Self-Healing Loops</a:t>
            </a:r>
          </a:p>
        </p:txBody>
      </p:sp>
      <p:sp>
        <p:nvSpPr>
          <p:cNvPr id="3" name="내용 개체 틀 2">
            <a:extLst>
              <a:ext uri="{FF2B5EF4-FFF2-40B4-BE49-F238E27FC236}">
                <a16:creationId xmlns:a16="http://schemas.microsoft.com/office/drawing/2014/main" id="{0E41761D-E93C-E0BD-6C2B-B48C4AE1E0D6}"/>
              </a:ext>
            </a:extLst>
          </p:cNvPr>
          <p:cNvSpPr>
            <a:spLocks noGrp="1"/>
          </p:cNvSpPr>
          <p:nvPr>
            <p:ph idx="1"/>
          </p:nvPr>
        </p:nvSpPr>
        <p:spPr>
          <a:xfrm>
            <a:off x="1143000" y="3683000"/>
            <a:ext cx="9872338" cy="2540000"/>
          </a:xfrm>
        </p:spPr>
        <p:txBody>
          <a:bodyPr>
            <a:normAutofit/>
          </a:bodyPr>
          <a:lstStyle/>
          <a:p>
            <a:pPr>
              <a:buFont typeface="Arial"/>
              <a:buChar char="•"/>
            </a:pPr>
            <a:r>
              <a:rPr lang="en-US" sz="2000" b="1" dirty="0"/>
              <a:t>Write</a:t>
            </a:r>
            <a:r>
              <a:rPr lang="en-US" sz="2000" dirty="0"/>
              <a:t> — LLM fills AST-typed data via function calling</a:t>
            </a:r>
          </a:p>
          <a:p>
            <a:pPr>
              <a:buFont typeface="Arial"/>
              <a:buChar char="•"/>
            </a:pPr>
            <a:r>
              <a:rPr lang="en-US" sz="2000" b="1" dirty="0"/>
              <a:t>Validate</a:t>
            </a:r>
            <a:r>
              <a:rPr lang="en-US" sz="2000" dirty="0"/>
              <a:t> — Typia checks if value conforms to the AST type</a:t>
            </a:r>
          </a:p>
          <a:p>
            <a:pPr>
              <a:buFont typeface="Arial"/>
              <a:buChar char="•"/>
            </a:pPr>
            <a:r>
              <a:rPr lang="en-US" sz="2000" b="1" dirty="0"/>
              <a:t>Diagnose</a:t>
            </a:r>
            <a:r>
              <a:rPr lang="en-US" sz="2000" dirty="0"/>
              <a:t> — Compiler verifies the AST data (DB, OpenAPI, TS)</a:t>
            </a:r>
          </a:p>
          <a:p>
            <a:pPr>
              <a:buFont typeface="Arial"/>
              <a:buChar char="•"/>
            </a:pPr>
            <a:r>
              <a:rPr lang="en-US" sz="2000" b="1" dirty="0"/>
              <a:t>Correct</a:t>
            </a:r>
            <a:r>
              <a:rPr lang="en-US" sz="2000" dirty="0"/>
              <a:t> — On failure, feed precise diagnostics back to the LLM</a:t>
            </a:r>
          </a:p>
          <a:p>
            <a:pPr>
              <a:buFont typeface="Arial"/>
              <a:buChar char="•"/>
            </a:pPr>
            <a:r>
              <a:rPr lang="en-US" sz="2000" b="1" dirty="0"/>
              <a:t>Generate</a:t>
            </a:r>
            <a:r>
              <a:rPr lang="en-US" sz="2000" dirty="0"/>
              <a:t> — Once all checks pass, compiler emits final code</a:t>
            </a:r>
          </a:p>
        </p:txBody>
      </p:sp>
      <p:sp>
        <p:nvSpPr>
          <p:cNvPr id="100" name="Step100"/>
          <p:cNvSpPr/>
          <p:nvPr/>
        </p:nvSpPr>
        <p:spPr>
          <a:xfrm>
            <a:off x="1473200" y="2222500"/>
            <a:ext cx="1524000" cy="533400"/>
          </a:xfrm>
          <a:prstGeom prst="roundRect">
            <a:avLst>
              <a:gd name="adj" fmla="val 16667"/>
            </a:avLst>
          </a:prstGeom>
          <a:solidFill>
            <a:srgbClr val="418AB3"/>
          </a:solidFill>
          <a:ln>
            <a:noFill/>
          </a:ln>
        </p:spPr>
        <p:txBody>
          <a:bodyPr wrap="none" lIns="0" tIns="0" rIns="0" bIns="0" anchor="ctr" anchorCtr="1"/>
          <a:lstStyle/>
          <a:p>
            <a:pPr algn="ctr"/>
            <a:r>
              <a:rPr lang="en-US" sz="1800" b="1" dirty="0">
                <a:solidFill>
                  <a:srgbClr val="FFFFFF"/>
                </a:solidFill>
              </a:rPr>
              <a:t>Write</a:t>
            </a:r>
          </a:p>
        </p:txBody>
      </p:sp>
      <p:sp>
        <p:nvSpPr>
          <p:cNvPr id="101" name="Arr101"/>
          <p:cNvSpPr/>
          <p:nvPr/>
        </p:nvSpPr>
        <p:spPr>
          <a:xfrm>
            <a:off x="3048000" y="2387600"/>
            <a:ext cx="304800" cy="203200"/>
          </a:xfrm>
          <a:prstGeom prst="rightArrow">
            <a:avLst/>
          </a:prstGeom>
          <a:solidFill>
            <a:srgbClr val="565349"/>
          </a:solidFill>
          <a:ln>
            <a:noFill/>
          </a:ln>
        </p:spPr>
        <p:txBody>
          <a:bodyPr/>
          <a:lstStyle/>
          <a:p>
            <a:endParaRPr lang="en-US"/>
          </a:p>
        </p:txBody>
      </p:sp>
      <p:sp>
        <p:nvSpPr>
          <p:cNvPr id="102" name="Step102"/>
          <p:cNvSpPr/>
          <p:nvPr/>
        </p:nvSpPr>
        <p:spPr>
          <a:xfrm>
            <a:off x="3403600" y="2222500"/>
            <a:ext cx="1524000" cy="533400"/>
          </a:xfrm>
          <a:prstGeom prst="roundRect">
            <a:avLst>
              <a:gd name="adj" fmla="val 16667"/>
            </a:avLst>
          </a:prstGeom>
          <a:solidFill>
            <a:srgbClr val="A6B727"/>
          </a:solidFill>
          <a:ln>
            <a:noFill/>
          </a:ln>
        </p:spPr>
        <p:txBody>
          <a:bodyPr wrap="none" lIns="0" tIns="0" rIns="0" bIns="0" anchor="ctr" anchorCtr="1"/>
          <a:lstStyle/>
          <a:p>
            <a:pPr algn="ctr"/>
            <a:r>
              <a:rPr lang="en-US" sz="1800" b="1" dirty="0">
                <a:solidFill>
                  <a:srgbClr val="FFFFFF"/>
                </a:solidFill>
              </a:rPr>
              <a:t>Validate</a:t>
            </a:r>
          </a:p>
        </p:txBody>
      </p:sp>
      <p:sp>
        <p:nvSpPr>
          <p:cNvPr id="103" name="Arr103"/>
          <p:cNvSpPr/>
          <p:nvPr/>
        </p:nvSpPr>
        <p:spPr>
          <a:xfrm>
            <a:off x="4978400" y="2387600"/>
            <a:ext cx="304800" cy="203200"/>
          </a:xfrm>
          <a:prstGeom prst="rightArrow">
            <a:avLst/>
          </a:prstGeom>
          <a:solidFill>
            <a:srgbClr val="565349"/>
          </a:solidFill>
          <a:ln>
            <a:noFill/>
          </a:ln>
        </p:spPr>
        <p:txBody>
          <a:bodyPr/>
          <a:lstStyle/>
          <a:p>
            <a:endParaRPr lang="en-US"/>
          </a:p>
        </p:txBody>
      </p:sp>
      <p:sp>
        <p:nvSpPr>
          <p:cNvPr id="104" name="Step104"/>
          <p:cNvSpPr/>
          <p:nvPr/>
        </p:nvSpPr>
        <p:spPr>
          <a:xfrm>
            <a:off x="5334000" y="2222500"/>
            <a:ext cx="1524000" cy="533400"/>
          </a:xfrm>
          <a:prstGeom prst="roundRect">
            <a:avLst>
              <a:gd name="adj" fmla="val 16667"/>
            </a:avLst>
          </a:prstGeom>
          <a:solidFill>
            <a:srgbClr val="FE9E00"/>
          </a:solidFill>
          <a:ln>
            <a:noFill/>
          </a:ln>
        </p:spPr>
        <p:txBody>
          <a:bodyPr wrap="none" lIns="0" tIns="0" rIns="0" bIns="0" anchor="ctr" anchorCtr="1"/>
          <a:lstStyle/>
          <a:p>
            <a:pPr algn="ctr"/>
            <a:r>
              <a:rPr lang="en-US" sz="1800" b="1" dirty="0">
                <a:solidFill>
                  <a:srgbClr val="FFFFFF"/>
                </a:solidFill>
              </a:rPr>
              <a:t>Diagnose</a:t>
            </a:r>
          </a:p>
        </p:txBody>
      </p:sp>
      <p:sp>
        <p:nvSpPr>
          <p:cNvPr id="105" name="Arr105"/>
          <p:cNvSpPr/>
          <p:nvPr/>
        </p:nvSpPr>
        <p:spPr>
          <a:xfrm>
            <a:off x="6908800" y="2387600"/>
            <a:ext cx="304800" cy="203200"/>
          </a:xfrm>
          <a:prstGeom prst="rightArrow">
            <a:avLst/>
          </a:prstGeom>
          <a:solidFill>
            <a:srgbClr val="565349"/>
          </a:solidFill>
          <a:ln>
            <a:noFill/>
          </a:ln>
        </p:spPr>
        <p:txBody>
          <a:bodyPr/>
          <a:lstStyle/>
          <a:p>
            <a:endParaRPr lang="en-US"/>
          </a:p>
        </p:txBody>
      </p:sp>
      <p:sp>
        <p:nvSpPr>
          <p:cNvPr id="106" name="Step106"/>
          <p:cNvSpPr/>
          <p:nvPr/>
        </p:nvSpPr>
        <p:spPr>
          <a:xfrm>
            <a:off x="7264400" y="2222500"/>
            <a:ext cx="1524000" cy="533400"/>
          </a:xfrm>
          <a:prstGeom prst="roundRect">
            <a:avLst>
              <a:gd name="adj" fmla="val 16667"/>
            </a:avLst>
          </a:prstGeom>
          <a:solidFill>
            <a:srgbClr val="DF5327"/>
          </a:solidFill>
          <a:ln>
            <a:noFill/>
          </a:ln>
        </p:spPr>
        <p:txBody>
          <a:bodyPr wrap="none" lIns="0" tIns="0" rIns="0" bIns="0" anchor="ctr" anchorCtr="1"/>
          <a:lstStyle/>
          <a:p>
            <a:pPr algn="ctr"/>
            <a:r>
              <a:rPr lang="en-US" sz="1800" b="1" dirty="0">
                <a:solidFill>
                  <a:srgbClr val="FFFFFF"/>
                </a:solidFill>
              </a:rPr>
              <a:t>Correct</a:t>
            </a:r>
          </a:p>
        </p:txBody>
      </p:sp>
      <p:sp>
        <p:nvSpPr>
          <p:cNvPr id="107" name="Arr107"/>
          <p:cNvSpPr/>
          <p:nvPr/>
        </p:nvSpPr>
        <p:spPr>
          <a:xfrm>
            <a:off x="8839200" y="2387600"/>
            <a:ext cx="304800" cy="203200"/>
          </a:xfrm>
          <a:prstGeom prst="rightArrow">
            <a:avLst/>
          </a:prstGeom>
          <a:solidFill>
            <a:srgbClr val="565349"/>
          </a:solidFill>
          <a:ln>
            <a:noFill/>
          </a:ln>
        </p:spPr>
        <p:txBody>
          <a:bodyPr/>
          <a:lstStyle/>
          <a:p>
            <a:endParaRPr lang="en-US"/>
          </a:p>
        </p:txBody>
      </p:sp>
      <p:sp>
        <p:nvSpPr>
          <p:cNvPr id="108" name="Step108"/>
          <p:cNvSpPr/>
          <p:nvPr/>
        </p:nvSpPr>
        <p:spPr>
          <a:xfrm>
            <a:off x="9194800" y="2222500"/>
            <a:ext cx="1524000" cy="533400"/>
          </a:xfrm>
          <a:prstGeom prst="roundRect">
            <a:avLst>
              <a:gd name="adj" fmla="val 16667"/>
            </a:avLst>
          </a:prstGeom>
          <a:solidFill>
            <a:srgbClr val="818183"/>
          </a:solidFill>
          <a:ln>
            <a:noFill/>
          </a:ln>
        </p:spPr>
        <p:txBody>
          <a:bodyPr wrap="none" lIns="0" tIns="0" rIns="0" bIns="0" anchor="ctr" anchorCtr="1"/>
          <a:lstStyle/>
          <a:p>
            <a:pPr algn="ctr"/>
            <a:r>
              <a:rPr lang="en-US" sz="1800" b="1" dirty="0">
                <a:solidFill>
                  <a:srgbClr val="FFFFFF"/>
                </a:solidFill>
              </a:rPr>
              <a:t>Generate</a:t>
            </a:r>
          </a:p>
        </p:txBody>
      </p:sp>
      <p:sp>
        <p:nvSpPr>
          <p:cNvPr id="109" name="Bracket109"/>
          <p:cNvSpPr/>
          <p:nvPr/>
        </p:nvSpPr>
        <p:spPr>
          <a:xfrm>
            <a:off x="3352800" y="2044700"/>
            <a:ext cx="5486400" cy="889000"/>
          </a:xfrm>
          <a:prstGeom prst="roundRect">
            <a:avLst>
              <a:gd name="adj" fmla="val 16667"/>
            </a:avLst>
          </a:prstGeom>
          <a:noFill/>
          <a:ln w="19050">
            <a:solidFill>
              <a:srgbClr val="A6B727"/>
            </a:solidFill>
            <a:prstDash val="dash"/>
          </a:ln>
        </p:spPr>
        <p:txBody>
          <a:bodyPr/>
          <a:lstStyle/>
          <a:p>
            <a:endParaRPr lang="en-US"/>
          </a:p>
        </p:txBody>
      </p:sp>
      <p:sp>
        <p:nvSpPr>
          <p:cNvPr id="110" name="Label110"/>
          <p:cNvSpPr/>
          <p:nvPr/>
        </p:nvSpPr>
        <p:spPr>
          <a:xfrm>
            <a:off x="3352800" y="2959100"/>
            <a:ext cx="5486400" cy="279400"/>
          </a:xfrm>
          <a:prstGeom prst="rect">
            <a:avLst/>
          </a:prstGeom>
          <a:noFill/>
          <a:ln>
            <a:noFill/>
          </a:ln>
        </p:spPr>
        <p:txBody>
          <a:bodyPr wrap="square" lIns="0" tIns="0" rIns="0" bIns="0" anchor="t" anchorCtr="1"/>
          <a:lstStyle/>
          <a:p>
            <a:pPr algn="ctr"/>
            <a:r>
              <a:rPr lang="en-US" sz="1400" b="1" dirty="0">
                <a:solidFill>
                  <a:srgbClr val="A6B727"/>
                </a:solidFill>
              </a:rPr>
              <a:t>↻ repeat until success</a:t>
            </a:r>
          </a:p>
        </p:txBody>
      </p:sp>
    </p:spTree>
    <p:extLst>
      <p:ext uri="{BB962C8B-B14F-4D97-AF65-F5344CB8AC3E}">
        <p14:creationId xmlns:p14="http://schemas.microsoft.com/office/powerpoint/2010/main" val="13346130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2.4. AST Specs Are Better</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noAutofit/>
          </a:bodyPr>
          <a:lstStyle/>
          <a:p>
            <a:pPr>
              <a:buNone/>
            </a:pPr>
            <a:r>
              <a:rPr lang="en-US" sz="2000" b="1" dirty="0"/>
              <a:t>Constraint by Absence, Not Prohibition</a:t>
            </a:r>
          </a:p>
          <a:p>
            <a:pPr>
              <a:buFont typeface="Arial"/>
              <a:buChar char="•"/>
            </a:pPr>
            <a:r>
              <a:rPr lang="en-US" sz="2000" dirty="0"/>
              <a:t>Prompts say “don’t do X” — model must recall X to avoid it</a:t>
            </a:r>
          </a:p>
          <a:p>
            <a:pPr>
              <a:buFont typeface="Arial"/>
              <a:buChar char="•"/>
            </a:pPr>
            <a:r>
              <a:rPr lang="en-US" sz="2000" dirty="0"/>
              <a:t>AST specs define only what’s allowed — everything else doesn’t exist</a:t>
            </a:r>
          </a:p>
          <a:p>
            <a:pPr>
              <a:buFont typeface="Arial"/>
              <a:buChar char="•"/>
            </a:pPr>
            <a:r>
              <a:rPr lang="en-US" sz="2000" dirty="0"/>
              <a:t>Output space shrinks to valid-only → higher accuracy per attempt</a:t>
            </a:r>
          </a:p>
          <a:p>
            <a:pPr>
              <a:buNone/>
            </a:pPr>
            <a:endParaRPr lang="en-US" sz="2000" dirty="0"/>
          </a:p>
          <a:p>
            <a:pPr>
              <a:buNone/>
            </a:pPr>
            <a:r>
              <a:rPr lang="en-US" sz="2000" b="1" dirty="0"/>
              <a:t>Custom Compilers = Custom Diagnosers</a:t>
            </a:r>
          </a:p>
          <a:p>
            <a:pPr>
              <a:buFont typeface="Arial"/>
              <a:buChar char="•"/>
            </a:pPr>
            <a:r>
              <a:rPr lang="en-US" sz="2000" dirty="0"/>
              <a:t>Generic validators: “invalid JSON” — no actionable information</a:t>
            </a:r>
          </a:p>
          <a:p>
            <a:pPr>
              <a:buFont typeface="Arial"/>
              <a:buChar char="•"/>
            </a:pPr>
            <a:r>
              <a:rPr lang="en-US" sz="2000" dirty="0"/>
              <a:t>AST-aware compilers: exact path, expected type, actual value</a:t>
            </a:r>
          </a:p>
          <a:p>
            <a:pPr>
              <a:buFont typeface="Arial"/>
              <a:buChar char="•"/>
            </a:pPr>
            <a:r>
              <a:rPr lang="en-US" sz="2000" dirty="0"/>
              <a:t>Precise diagnostics → targeted correction → faster convergence</a:t>
            </a:r>
          </a:p>
        </p:txBody>
      </p:sp>
    </p:spTree>
    <p:extLst>
      <p:ext uri="{BB962C8B-B14F-4D97-AF65-F5344CB8AC3E}">
        <p14:creationId xmlns:p14="http://schemas.microsoft.com/office/powerpoint/2010/main" val="40933609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2.5. Four Qwen Models, All 99.8%</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lstStyle/>
          <a:p>
            <a:pPr>
              <a:buNone/>
            </a:pPr>
            <a:r>
              <a:rPr lang="en-US" sz="1800" b="1" dirty="0"/>
              <a:t>Compilation success rate across all tested Qwen models</a:t>
            </a:r>
          </a:p>
          <a:p>
            <a:pPr>
              <a:buNone/>
            </a:pPr>
            <a:endParaRPr lang="en-US" sz="800" dirty="0"/>
          </a:p>
          <a:p>
            <a:pPr>
              <a:buFont typeface="Arial"/>
              <a:buChar char="•"/>
            </a:pPr>
            <a:r>
              <a:rPr lang="en-US" sz="1800" b="1" dirty="0"/>
              <a:t>qwen3.5-397b-a17b</a:t>
            </a:r>
            <a:r>
              <a:rPr lang="en-US" sz="1800" dirty="0"/>
              <a:t>  (17B / 397B) — Largest MoE → 100%</a:t>
            </a:r>
          </a:p>
          <a:p>
            <a:pPr>
              <a:buFont typeface="Arial"/>
              <a:buChar char="•"/>
            </a:pPr>
            <a:r>
              <a:rPr lang="en-US" sz="1800" b="1" dirty="0"/>
              <a:t>qwen3.5-122b-a10b</a:t>
            </a:r>
            <a:r>
              <a:rPr lang="en-US" sz="1800" dirty="0"/>
              <a:t>  (10B / 122B) — Medium MoE → 100%</a:t>
            </a:r>
          </a:p>
          <a:p>
            <a:pPr>
              <a:buFont typeface="Arial"/>
              <a:buChar char="•"/>
            </a:pPr>
            <a:r>
              <a:rPr lang="en-US" sz="1800" b="1" dirty="0"/>
              <a:t>qwen3.5-27b</a:t>
            </a:r>
            <a:r>
              <a:rPr lang="en-US" sz="1800" dirty="0"/>
              <a:t>  (27B Dense) — Medium Dense → 100%</a:t>
            </a:r>
          </a:p>
          <a:p>
            <a:pPr>
              <a:buFont typeface="Arial"/>
              <a:buChar char="•"/>
            </a:pPr>
            <a:r>
              <a:rPr lang="en-US" sz="1800" b="1" dirty="0"/>
              <a:t>qwen3.5-35b-a3b</a:t>
            </a:r>
            <a:r>
              <a:rPr lang="en-US" sz="1800" dirty="0"/>
              <a:t>  (3B / 35B) — Small MoE → 99.8%</a:t>
            </a:r>
          </a:p>
          <a:p>
            <a:pPr>
              <a:buFont typeface="Arial"/>
              <a:buChar char="•"/>
            </a:pPr>
            <a:r>
              <a:rPr lang="en-US" altLang="ko-KR" sz="1800" b="1" dirty="0"/>
              <a:t>qwen3-coder-next</a:t>
            </a:r>
            <a:r>
              <a:rPr lang="en-US" altLang="ko-KR" sz="1800" dirty="0"/>
              <a:t>  (3B / 80B) — Coding-specialized → 99.8%</a:t>
            </a:r>
            <a:endParaRPr lang="en-US" sz="1800" dirty="0"/>
          </a:p>
          <a:p>
            <a:pPr>
              <a:buNone/>
            </a:pPr>
            <a:endParaRPr lang="en-US" sz="800" dirty="0"/>
          </a:p>
          <a:p>
            <a:pPr>
              <a:buNone/>
            </a:pPr>
            <a:r>
              <a:rPr lang="en-US" sz="1800" b="1" dirty="0"/>
              <a:t>From 397B to 35B. Same schema, same pipeline, same result.</a:t>
            </a:r>
          </a:p>
        </p:txBody>
      </p:sp>
    </p:spTree>
    <p:extLst>
      <p:ext uri="{BB962C8B-B14F-4D97-AF65-F5344CB8AC3E}">
        <p14:creationId xmlns:p14="http://schemas.microsoft.com/office/powerpoint/2010/main" val="14600128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2F8B4D0-7BAB-1B37-4945-71881B2C5A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546" b="14036"/>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851631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93B686DA-38FC-7B33-58FC-491F29CE66D4}"/>
              </a:ext>
            </a:extLst>
          </p:cNvPr>
          <p:cNvPicPr>
            <a:picLocks noChangeAspect="1"/>
          </p:cNvPicPr>
          <p:nvPr/>
        </p:nvPicPr>
        <p:blipFill>
          <a:blip r:embed="rId3"/>
          <a:srcRect t="6639"/>
          <a:stretch>
            <a:fillRect/>
          </a:stretch>
        </p:blipFill>
        <p:spPr>
          <a:xfrm>
            <a:off x="20" y="10"/>
            <a:ext cx="12191980" cy="6857990"/>
          </a:xfrm>
          <a:prstGeom prst="rect">
            <a:avLst/>
          </a:prstGeom>
        </p:spPr>
      </p:pic>
      <p:sp>
        <p:nvSpPr>
          <p:cNvPr id="8" name="Rectangle 7">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04846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4" name="그림 3">
            <a:extLst>
              <a:ext uri="{FF2B5EF4-FFF2-40B4-BE49-F238E27FC236}">
                <a16:creationId xmlns:a16="http://schemas.microsoft.com/office/drawing/2014/main" id="{1AAF891C-34D8-D001-7475-0AAC30B1525D}"/>
              </a:ext>
            </a:extLst>
          </p:cNvPr>
          <p:cNvPicPr>
            <a:picLocks noChangeAspect="1"/>
          </p:cNvPicPr>
          <p:nvPr/>
        </p:nvPicPr>
        <p:blipFill>
          <a:blip r:embed="rId3"/>
          <a:srcRect t="1807" b="4832"/>
          <a:stretch>
            <a:fillRect/>
          </a:stretch>
        </p:blipFill>
        <p:spPr>
          <a:xfrm>
            <a:off x="20" y="10"/>
            <a:ext cx="12191980" cy="6857990"/>
          </a:xfrm>
          <a:prstGeom prst="rect">
            <a:avLst/>
          </a:prstGeom>
        </p:spPr>
      </p:pic>
      <p:sp>
        <p:nvSpPr>
          <p:cNvPr id="14" name="Rectangle 13">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6240067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203E66-A23E-4143-B157-7393A3E91C54}"/>
              </a:ext>
            </a:extLst>
          </p:cNvPr>
          <p:cNvSpPr txBox="1"/>
          <p:nvPr/>
        </p:nvSpPr>
        <p:spPr>
          <a:xfrm>
            <a:off x="1524000" y="1524000"/>
            <a:ext cx="9144000" cy="1107996"/>
          </a:xfrm>
          <a:prstGeom prst="rect">
            <a:avLst/>
          </a:prstGeom>
          <a:noFill/>
          <a:ln>
            <a:noFill/>
          </a:ln>
        </p:spPr>
        <p:txBody>
          <a:bodyPr vertOverflow="overflow" vert="horz" wrap="square" rtlCol="0" anchor="ctr" anchorCtr="0">
            <a:spAutoFit/>
          </a:bodyPr>
          <a:lstStyle/>
          <a:p>
            <a:pPr algn="l"/>
            <a:r>
              <a:rPr lang="en-US" sz="6600" b="1" dirty="0">
                <a:solidFill>
                  <a:srgbClr val="FFFFFF"/>
                </a:solidFill>
              </a:rPr>
              <a:t>AutoBe</a:t>
            </a:r>
          </a:p>
        </p:txBody>
      </p:sp>
      <p:sp>
        <p:nvSpPr>
          <p:cNvPr id="3" name="TextBox 2">
            <a:extLst>
              <a:ext uri="{FF2B5EF4-FFF2-40B4-BE49-F238E27FC236}">
                <a16:creationId xmlns:a16="http://schemas.microsoft.com/office/drawing/2014/main" id="{22886461-4AA6-4C7C-96FF-A1C61F3FDB88}"/>
              </a:ext>
            </a:extLst>
          </p:cNvPr>
          <p:cNvSpPr txBox="1"/>
          <p:nvPr/>
        </p:nvSpPr>
        <p:spPr>
          <a:xfrm>
            <a:off x="1524000" y="2603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DDDDDD"/>
                </a:solidFill>
              </a:rPr>
              <a:t>AI Backend Auto-Generation Agent</a:t>
            </a:r>
          </a:p>
        </p:txBody>
      </p:sp>
      <p:sp>
        <p:nvSpPr>
          <p:cNvPr id="4" name="TextBox 3">
            <a:extLst>
              <a:ext uri="{FF2B5EF4-FFF2-40B4-BE49-F238E27FC236}">
                <a16:creationId xmlns:a16="http://schemas.microsoft.com/office/drawing/2014/main" id="{66AAC959-3B37-4EDA-B308-4300ACAA6C54}"/>
              </a:ext>
            </a:extLst>
          </p:cNvPr>
          <p:cNvSpPr txBox="1"/>
          <p:nvPr/>
        </p:nvSpPr>
        <p:spPr>
          <a:xfrm>
            <a:off x="1524000" y="3746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https://autobe.dev</a:t>
            </a:r>
          </a:p>
        </p:txBody>
      </p:sp>
      <p:sp>
        <p:nvSpPr>
          <p:cNvPr id="5" name="TextBox 4">
            <a:extLst>
              <a:ext uri="{FF2B5EF4-FFF2-40B4-BE49-F238E27FC236}">
                <a16:creationId xmlns:a16="http://schemas.microsoft.com/office/drawing/2014/main" id="{A76D7441-5BB3-463B-AD3A-E8241175C15E}"/>
              </a:ext>
            </a:extLst>
          </p:cNvPr>
          <p:cNvSpPr txBox="1"/>
          <p:nvPr/>
        </p:nvSpPr>
        <p:spPr>
          <a:xfrm>
            <a:off x="1524000" y="45720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a:t>
            </a:r>
          </a:p>
        </p:txBody>
      </p:sp>
      <p:sp>
        <p:nvSpPr>
          <p:cNvPr id="6" name="TextBox 5">
            <a:extLst>
              <a:ext uri="{FF2B5EF4-FFF2-40B4-BE49-F238E27FC236}">
                <a16:creationId xmlns:a16="http://schemas.microsoft.com/office/drawing/2014/main" id="{185F3E37-26D5-4045-9134-595BF1F51A42}"/>
              </a:ext>
            </a:extLst>
          </p:cNvPr>
          <p:cNvSpPr txBox="1"/>
          <p:nvPr/>
        </p:nvSpPr>
        <p:spPr>
          <a:xfrm>
            <a:off x="1524000" y="5397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https://github.com/wrtnlabs/autobe-examples</a:t>
            </a:r>
          </a:p>
        </p:txBody>
      </p:sp>
    </p:spTree>
    <p:extLst>
      <p:ext uri="{BB962C8B-B14F-4D97-AF65-F5344CB8AC3E}">
        <p14:creationId xmlns:p14="http://schemas.microsoft.com/office/powerpoint/2010/main" val="39532277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7A39217E-66D0-0BC8-CBF8-F13215E6FAFF}"/>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a:t>Typia</a:t>
            </a:r>
          </a:p>
        </p:txBody>
      </p:sp>
      <p:sp>
        <p:nvSpPr>
          <p:cNvPr id="5" name="텍스트 개체 틀 4">
            <a:extLst>
              <a:ext uri="{FF2B5EF4-FFF2-40B4-BE49-F238E27FC236}">
                <a16:creationId xmlns:a16="http://schemas.microsoft.com/office/drawing/2014/main" id="{394D4894-558C-5CAA-E572-E3EC3FD9BC20}"/>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The Infrastructure for LLM Function Calling</a:t>
            </a:r>
          </a:p>
          <a:p>
            <a:r>
              <a:rPr lang="en-US" dirty="0"/>
              <a:t>Turns 6.75% into 100% by Compiler Skills</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원소 주기율표">
            <a:extLst>
              <a:ext uri="{FF2B5EF4-FFF2-40B4-BE49-F238E27FC236}">
                <a16:creationId xmlns:a16="http://schemas.microsoft.com/office/drawing/2014/main" id="{CA825924-3992-6D11-C5B0-80F1B48A013C}"/>
              </a:ext>
            </a:extLst>
          </p:cNvPr>
          <p:cNvPicPr>
            <a:picLocks noChangeAspect="1"/>
          </p:cNvPicPr>
          <p:nvPr/>
        </p:nvPicPr>
        <p:blipFill>
          <a:blip r:embed="rId3"/>
          <a:srcRect l="28563" r="26384"/>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7797818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E53FEA-569B-4423-64DE-8221C07D5464}"/>
              </a:ext>
            </a:extLst>
          </p:cNvPr>
          <p:cNvSpPr>
            <a:spLocks noGrp="1"/>
          </p:cNvSpPr>
          <p:nvPr>
            <p:ph type="title"/>
          </p:nvPr>
        </p:nvSpPr>
        <p:spPr/>
        <p:txBody>
          <a:bodyPr>
            <a:normAutofit/>
          </a:bodyPr>
          <a:lstStyle/>
          <a:p>
            <a:r>
              <a:rPr lang="en-US" dirty="0"/>
              <a:t>3.1. What Is Typia</a:t>
            </a:r>
          </a:p>
        </p:txBody>
      </p:sp>
      <p:sp>
        <p:nvSpPr>
          <p:cNvPr id="3" name="내용 개체 틀 2">
            <a:extLst>
              <a:ext uri="{FF2B5EF4-FFF2-40B4-BE49-F238E27FC236}">
                <a16:creationId xmlns:a16="http://schemas.microsoft.com/office/drawing/2014/main" id="{E0E8E6B4-4C10-FBBD-69EB-EC2C19883F9F}"/>
              </a:ext>
            </a:extLst>
          </p:cNvPr>
          <p:cNvSpPr>
            <a:spLocks noGrp="1"/>
          </p:cNvSpPr>
          <p:nvPr>
            <p:ph sz="half" idx="1"/>
          </p:nvPr>
        </p:nvSpPr>
        <p:spPr/>
        <p:txBody>
          <a:bodyPr>
            <a:normAutofit/>
          </a:bodyPr>
          <a:lstStyle/>
          <a:p>
            <a:pPr>
              <a:buNone/>
            </a:pPr>
            <a:r>
              <a:rPr lang="en-US" sz="1800" dirty="0"/>
              <a:t>A TypeScript compiler plugin</a:t>
            </a:r>
          </a:p>
          <a:p>
            <a:pPr>
              <a:buNone/>
            </a:pPr>
            <a:r>
              <a:rPr lang="en-US" sz="1800" dirty="0"/>
              <a:t>analyzes source code at compile time</a:t>
            </a:r>
          </a:p>
          <a:p>
            <a:pPr>
              <a:buNone/>
            </a:pPr>
            <a:endParaRPr lang="en-US" sz="800" dirty="0"/>
          </a:p>
          <a:p>
            <a:pPr>
              <a:buFont typeface="Arial"/>
              <a:buChar char="•"/>
            </a:pPr>
            <a:r>
              <a:rPr lang="en-US" sz="1800" dirty="0"/>
              <a:t>Overcomes TypeScript's runtime type erasure</a:t>
            </a:r>
          </a:p>
          <a:p>
            <a:pPr>
              <a:buFont typeface="Arial"/>
              <a:buChar char="•"/>
            </a:pPr>
            <a:r>
              <a:rPr lang="en-US" sz="1800" dirty="0"/>
              <a:t>Generates optimal validation code (AOT — Ahead of Time)</a:t>
            </a:r>
          </a:p>
          <a:p>
            <a:pPr>
              <a:buFont typeface="Arial"/>
              <a:buChar char="•"/>
            </a:pPr>
            <a:r>
              <a:rPr lang="en-US" sz="1800" dirty="0"/>
              <a:t>20,000× faster than class-validator</a:t>
            </a:r>
          </a:p>
          <a:p>
            <a:pPr>
              <a:buFont typeface="Arial"/>
              <a:buChar char="•"/>
            </a:pPr>
            <a:r>
              <a:rPr lang="en-US" sz="1800" dirty="0"/>
              <a:t>One line of code — no extra schema definitions needed</a:t>
            </a:r>
          </a:p>
          <a:p>
            <a:pPr>
              <a:buNone/>
            </a:pPr>
            <a:endParaRPr lang="en-US" sz="800" dirty="0"/>
          </a:p>
          <a:p>
            <a:pPr>
              <a:buNone/>
            </a:pPr>
            <a:r>
              <a:rPr lang="en-US" sz="1800" b="1" dirty="0"/>
              <a:t>typia.validate&lt;T&gt;(input) — that's it</a:t>
            </a:r>
          </a:p>
        </p:txBody>
      </p:sp>
      <p:pic>
        <p:nvPicPr>
          <p:cNvPr id="6" name="내용 개체 틀 5">
            <a:extLst>
              <a:ext uri="{FF2B5EF4-FFF2-40B4-BE49-F238E27FC236}">
                <a16:creationId xmlns:a16="http://schemas.microsoft.com/office/drawing/2014/main" id="{90504929-B81A-E009-9149-D3C2DB160B0D}"/>
              </a:ext>
            </a:extLst>
          </p:cNvPr>
          <p:cNvPicPr>
            <a:picLocks noGrp="1" noChangeAspect="1"/>
          </p:cNvPicPr>
          <p:nvPr>
            <p:ph sz="half" idx="2"/>
          </p:nvPr>
        </p:nvPicPr>
        <p:blipFill>
          <a:blip r:embed="rId3"/>
          <a:stretch>
            <a:fillRect/>
          </a:stretch>
        </p:blipFill>
        <p:spPr>
          <a:xfrm>
            <a:off x="6031908" y="407019"/>
            <a:ext cx="5763376" cy="6045820"/>
          </a:xfrm>
          <a:prstGeom prst="rect">
            <a:avLst/>
          </a:prstGeom>
        </p:spPr>
      </p:pic>
    </p:spTree>
    <p:extLst>
      <p:ext uri="{BB962C8B-B14F-4D97-AF65-F5344CB8AC3E}">
        <p14:creationId xmlns:p14="http://schemas.microsoft.com/office/powerpoint/2010/main" val="32080880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Typia's Core: TS → JS Transform</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Before Compilation: TypeScript</a:t>
            </a:r>
          </a:p>
        </p:txBody>
      </p:sp>
      <p:sp>
        <p:nvSpPr>
          <p:cNvPr id="13" name="LBg"/>
          <p:cNvSpPr/>
          <p:nvPr/>
        </p:nvSpPr>
        <p:spPr>
          <a:xfrm>
            <a:off x="762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id: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"uuid"</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check: </a:t>
            </a:r>
            <a:r>
              <a:rPr kumimoji="0" lang="en-US" sz="1400" b="1" i="0" u="sng" strike="noStrike" kern="1200" cap="none" spc="0" normalizeH="0" baseline="0" noProof="0" dirty="0">
                <a:ln>
                  <a:noFill/>
                </a:ln>
                <a:solidFill>
                  <a:srgbClr val="569CD6"/>
                </a:solidFill>
                <a:effectLst/>
                <a:uLnTx/>
                <a:uFillTx/>
                <a:latin typeface="Consolas"/>
                <a:ea typeface="+mn-ea"/>
                <a:cs typeface="+mn-cs"/>
              </a:rPr>
              <a:t>boolean</a:t>
            </a:r>
            <a:r>
              <a:rPr kumimoji="0" lang="en-US" sz="1400" b="1" i="0" u="sng" strike="noStrike" kern="1200" cap="none" spc="0" normalizeH="0" baseline="0" noProof="0" dirty="0">
                <a:ln>
                  <a:noFill/>
                </a:ln>
                <a:solidFill>
                  <a:srgbClr val="D4D4D4"/>
                </a:solidFill>
                <a:effectLst/>
                <a:uLnTx/>
                <a:uFillTx/>
                <a:latin typeface="Consolas"/>
                <a:ea typeface="+mn-ea"/>
                <a:cs typeface="+mn-cs"/>
              </a:rPr>
              <a:t> = typia.</a:t>
            </a:r>
            <a:r>
              <a:rPr kumimoji="0" lang="en-US" sz="1400" b="1" i="0" u="sng" strike="noStrike" kern="1200" cap="none" spc="0" normalizeH="0" baseline="0" noProof="0" dirty="0">
                <a:ln>
                  <a:noFill/>
                </a:ln>
                <a:solidFill>
                  <a:srgbClr val="4EC9B0"/>
                </a:solidFill>
                <a:effectLst/>
                <a:uLnTx/>
                <a:uFillTx/>
                <a:latin typeface="Consolas"/>
                <a:ea typeface="+mn-ea"/>
                <a:cs typeface="+mn-cs"/>
              </a:rPr>
              <a:t>is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&gt;(input);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After Compilation: JavaScript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=&gt;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return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null</a:t>
            </a:r>
            <a:r>
              <a:rPr kumimoji="0" lang="en-US" sz="1400" b="0" i="0" u="none" strike="noStrike" kern="1200" cap="none" spc="0" normalizeH="0" baseline="0" noProof="0" dirty="0">
                <a:ln>
                  <a:noFill/>
                </a:ln>
                <a:solidFill>
                  <a:srgbClr val="D4D4D4"/>
                </a:solidFill>
                <a:effectLst/>
                <a:uLnTx/>
                <a:uFillTx/>
                <a:latin typeface="Consolas"/>
                <a:ea typeface="+mn-ea"/>
                <a:cs typeface="+mn-cs"/>
              </a:rPr>
              <a:t> !==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/^[0-9a-f]{8}-.../.</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/^[a-z0-9._%+-]+@.../.</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Number.</a:t>
            </a:r>
            <a:r>
              <a:rPr kumimoji="0" lang="en-US" sz="1400" b="0" i="0" u="none" strike="noStrike" kern="1200" cap="none" spc="0" normalizeH="0" baseline="0" noProof="0" dirty="0">
                <a:ln>
                  <a:noFill/>
                </a:ln>
                <a:solidFill>
                  <a:srgbClr val="4EC9B0"/>
                </a:solidFill>
                <a:effectLst/>
                <a:uLnTx/>
                <a:uFillTx/>
                <a:latin typeface="Consolas"/>
                <a:ea typeface="+mn-ea"/>
                <a:cs typeface="+mn-cs"/>
              </a:rPr>
              <a:t>isInteger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&gt;= </a:t>
            </a:r>
            <a:r>
              <a:rPr kumimoji="0" lang="en-US" sz="1400" b="0" i="0" u="none" strike="noStrike" kern="1200" cap="none" spc="0" normalizeH="0" baseline="0" noProof="0" dirty="0">
                <a:ln>
                  <a:noFill/>
                </a:ln>
                <a:solidFill>
                  <a:srgbClr val="B5CEA8"/>
                </a:solidFill>
                <a:effectLst/>
                <a:uLnTx/>
                <a:uFillTx/>
                <a:latin typeface="Consolas"/>
                <a:ea typeface="+mn-ea"/>
                <a:cs typeface="+mn-cs"/>
              </a:rPr>
              <a:t>0</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 &lt;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 &gt;= input.age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0D0D0"/>
                </a:solidFill>
                <a:effectLst/>
                <a:uLnTx/>
                <a:uFillTx/>
                <a:latin typeface="Segoe UI"/>
                <a:ea typeface="+mn-ea"/>
                <a:cs typeface="+mn-cs"/>
              </a:rPr>
              <a:t>A single line — </a:t>
            </a:r>
            <a:r>
              <a:rPr kumimoji="0" lang="en-US" sz="1800" b="1" i="0" u="none" strike="noStrike" kern="1200" cap="none" spc="0" normalizeH="0" baseline="0" noProof="0" dirty="0">
                <a:ln>
                  <a:noFill/>
                </a:ln>
                <a:solidFill>
                  <a:srgbClr val="00D4AA"/>
                </a:solidFill>
                <a:effectLst/>
                <a:uLnTx/>
                <a:uFillTx/>
                <a:latin typeface="Consolas"/>
                <a:ea typeface="+mn-ea"/>
                <a:cs typeface="+mn-cs"/>
              </a:rPr>
              <a:t>typia.is&lt;IMember&gt;(input)</a:t>
            </a:r>
            <a:br>
              <a:rPr kumimoji="0" lang="en-US" sz="1800" b="1" i="0" u="none" strike="noStrike" kern="1200" cap="none" spc="0" normalizeH="0" baseline="0" noProof="0" dirty="0">
                <a:ln>
                  <a:noFill/>
                </a:ln>
                <a:solidFill>
                  <a:srgbClr val="D0D0D0"/>
                </a:solidFill>
                <a:effectLst/>
                <a:uLnTx/>
                <a:uFillTx/>
                <a:latin typeface="Segoe UI"/>
                <a:ea typeface="+mn-ea"/>
                <a:cs typeface="+mn-cs"/>
              </a:rPr>
            </a:br>
            <a:r>
              <a:rPr kumimoji="0" lang="en-US" sz="1800" b="0" i="0" u="none" strike="noStrike" kern="1200" cap="none" spc="0" normalizeH="0" baseline="0" noProof="0" dirty="0">
                <a:ln>
                  <a:noFill/>
                </a:ln>
                <a:solidFill>
                  <a:srgbClr val="D0D0D0"/>
                </a:solidFill>
                <a:effectLst/>
                <a:uLnTx/>
                <a:uFillTx/>
                <a:latin typeface="Segoe UI"/>
                <a:ea typeface="+mn-ea"/>
                <a:cs typeface="+mn-cs"/>
              </a:rPr>
              <a:t>transforms into UUID regex, email regex, integer + range checks</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8506676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400" b="1" i="0" u="none" strike="noStrike" kern="1200" cap="none" spc="0" normalizeH="0" baseline="0" noProof="0">
                <a:ln>
                  <a:noFill/>
                </a:ln>
                <a:solidFill>
                  <a:srgbClr val="F0F0F0"/>
                </a:solidFill>
                <a:effectLst/>
                <a:uLnTx/>
                <a:uFillTx/>
                <a:latin typeface="Segoe UI Semibold"/>
                <a:ea typeface="+mn-ea"/>
                <a:cs typeface="+mn-cs"/>
              </a:rPr>
              <a:t>Type → Schema: Automatic Generation</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TypeScript Type (input)</a:t>
            </a:r>
          </a:p>
        </p:txBody>
      </p:sp>
      <p:sp>
        <p:nvSpPr>
          <p:cNvPr id="13" name="LBg"/>
          <p:cNvSpPr/>
          <p:nvPr/>
        </p:nvSpPr>
        <p:spPr>
          <a:xfrm>
            <a:off x="762000" y="16256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Member's age.</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Only adults aged 19 or older</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can register.</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lang="en-US" sz="1400" dirty="0">
                <a:solidFill>
                  <a:srgbClr val="D4D4D4"/>
                </a:solidFill>
                <a:latin typeface="Consola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name: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lang="en-US" sz="1400" dirty="0">
                <a:solidFill>
                  <a:srgbClr val="D4D4D4"/>
                </a:solidFill>
                <a:latin typeface="Consola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schema = typia.llm.</a:t>
            </a:r>
            <a:r>
              <a:rPr kumimoji="0" lang="en-US" sz="1400" b="1" i="0" u="sng" strike="noStrike" kern="1200" cap="none" spc="0" normalizeH="0" baseline="0" noProof="0" dirty="0">
                <a:ln>
                  <a:noFill/>
                </a:ln>
                <a:solidFill>
                  <a:srgbClr val="4EC9B0"/>
                </a:solidFill>
                <a:effectLst/>
                <a:uLnTx/>
                <a:uFillTx/>
                <a:latin typeface="Consolas"/>
                <a:ea typeface="+mn-ea"/>
                <a:cs typeface="+mn-cs"/>
              </a:rPr>
              <a:t>parameters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Generated JSON Schema (output)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ON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"properties"</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"description"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"Member's age.\n...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"required"</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D93D"/>
                </a:solidFill>
                <a:effectLst/>
                <a:uLnTx/>
                <a:uFillTx/>
                <a:latin typeface="Segoe UI Semibold"/>
                <a:ea typeface="+mn-ea"/>
                <a:cs typeface="+mn-cs"/>
              </a:rPr>
              <a:t>JSDoc comments → description fields  |  Type constraints → validation rules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D0D0D0"/>
                </a:solidFill>
                <a:effectLst/>
                <a:uLnTx/>
                <a:uFillTx/>
                <a:latin typeface="Segoe UI"/>
                <a:ea typeface="+mn-ea"/>
                <a:cs typeface="+mn-cs"/>
              </a:rPr>
              <a:t>One type = LLM guidance + validation rules</a:t>
            </a:r>
          </a:p>
        </p:txBody>
      </p:sp>
      <p:sp>
        <p:nvSpPr>
          <p:cNvPr id="2" name="AL">
            <a:extLst>
              <a:ext uri="{FF2B5EF4-FFF2-40B4-BE49-F238E27FC236}">
                <a16:creationId xmlns:a16="http://schemas.microsoft.com/office/drawing/2014/main" id="{10E637CF-DE1E-4A7C-871C-04334855BCA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36858773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a:xfrm>
            <a:off x="1143000" y="381000"/>
            <a:ext cx="9880600" cy="762000"/>
          </a:xfrm>
        </p:spPr>
        <p:txBody>
          <a:bodyPr>
            <a:normAutofit/>
          </a:bodyPr>
          <a:lstStyle/>
          <a:p>
            <a:r>
              <a:rPr lang="en-US" dirty="0"/>
              <a:t>3.2. </a:t>
            </a:r>
            <a:r>
              <a:rPr lang="en-US" dirty="0" err="1"/>
              <a:t>typia.llm.application</a:t>
            </a:r>
            <a:r>
              <a:rPr lang="en-US" dirty="0"/>
              <a:t>&lt;Class&gt;()</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a:xfrm>
            <a:off x="776748" y="1397000"/>
            <a:ext cx="5954252" cy="4826000"/>
          </a:xfrm>
        </p:spPr>
        <p:txBody>
          <a:bodyPr>
            <a:normAutofit/>
          </a:bodyPr>
          <a:lstStyle/>
          <a:p>
            <a:pPr>
              <a:buNone/>
            </a:pPr>
            <a:r>
              <a:rPr lang="en-US" sz="1800" dirty="0"/>
              <a:t>Scales schema generation to entire classes — every method becomes a function calling schema</a:t>
            </a:r>
          </a:p>
          <a:p>
            <a:pPr>
              <a:buNone/>
            </a:pPr>
            <a:endParaRPr lang="en-US" sz="800" dirty="0"/>
          </a:p>
          <a:p>
            <a:pPr>
              <a:buNone/>
            </a:pPr>
            <a:r>
              <a:rPr lang="en-US" sz="1800" b="1" dirty="0"/>
              <a:t>Each ILlmFunction automatically provides:</a:t>
            </a:r>
          </a:p>
          <a:p>
            <a:pPr>
              <a:buFont typeface="Arial"/>
              <a:buChar char="•"/>
            </a:pPr>
            <a:r>
              <a:rPr lang="en-US" sz="1800" b="1" dirty="0"/>
              <a:t>parameters</a:t>
            </a:r>
            <a:r>
              <a:rPr lang="en-US" sz="1800" dirty="0"/>
              <a:t> — JSON Schema for the LLM to fill</a:t>
            </a:r>
          </a:p>
          <a:p>
            <a:pPr>
              <a:buFont typeface="Arial"/>
              <a:buChar char="•"/>
            </a:pPr>
            <a:r>
              <a:rPr lang="en-US" sz="1800" b="1" dirty="0"/>
              <a:t>parse()</a:t>
            </a:r>
            <a:r>
              <a:rPr lang="en-US" sz="1800" dirty="0"/>
              <a:t> — lenient JSON parsing + type coercion</a:t>
            </a:r>
          </a:p>
          <a:p>
            <a:pPr>
              <a:buFont typeface="Arial"/>
              <a:buChar char="•"/>
            </a:pPr>
            <a:r>
              <a:rPr lang="en-US" sz="1800" b="1" dirty="0"/>
              <a:t>coerce()</a:t>
            </a:r>
            <a:r>
              <a:rPr lang="en-US" sz="1800" dirty="0"/>
              <a:t> — schema-based type conversion</a:t>
            </a:r>
          </a:p>
          <a:p>
            <a:pPr>
              <a:buFont typeface="Arial"/>
              <a:buChar char="•"/>
            </a:pPr>
            <a:r>
              <a:rPr lang="en-US" sz="1800" b="1" dirty="0"/>
              <a:t>validate()</a:t>
            </a:r>
            <a:r>
              <a:rPr lang="en-US" sz="1800" dirty="0"/>
              <a:t> — precise error detection with exact paths</a:t>
            </a:r>
          </a:p>
          <a:p>
            <a:pPr>
              <a:buNone/>
            </a:pPr>
            <a:endParaRPr lang="en-US" sz="800" dirty="0"/>
          </a:p>
          <a:p>
            <a:pPr>
              <a:buNone/>
            </a:pPr>
            <a:r>
              <a:rPr lang="en-US" sz="1800" b="1" dirty="0"/>
              <a:t>Define one class → get the full function calling pipeline</a:t>
            </a:r>
          </a:p>
        </p:txBody>
      </p:sp>
      <p:grpSp>
        <p:nvGrpSpPr>
          <p:cNvPr id="4" name="그룹 3">
            <a:extLst>
              <a:ext uri="{FF2B5EF4-FFF2-40B4-BE49-F238E27FC236}">
                <a16:creationId xmlns:a16="http://schemas.microsoft.com/office/drawing/2014/main" id="{635A3A35-FA13-F844-235E-C80912BA854A}"/>
              </a:ext>
            </a:extLst>
          </p:cNvPr>
          <p:cNvGrpSpPr/>
          <p:nvPr/>
        </p:nvGrpSpPr>
        <p:grpSpPr>
          <a:xfrm>
            <a:off x="7112000" y="1714091"/>
            <a:ext cx="3937000" cy="4356100"/>
            <a:chOff x="6667500" y="1016000"/>
            <a:chExt cx="3937000" cy="4356100"/>
          </a:xfrm>
        </p:grpSpPr>
        <p:sp>
          <p:nvSpPr>
            <p:cNvPr id="200" name="Compile"/>
            <p:cNvSpPr/>
            <p:nvPr/>
          </p:nvSpPr>
          <p:spPr>
            <a:xfrm>
              <a:off x="6731000" y="1016000"/>
              <a:ext cx="3810000" cy="698500"/>
            </a:xfrm>
            <a:prstGeom prst="roundRect">
              <a:avLst/>
            </a:prstGeom>
            <a:solidFill>
              <a:srgbClr val="4A90D9"/>
            </a:solidFill>
            <a:ln w="0">
              <a:noFill/>
            </a:ln>
          </p:spPr>
          <p:txBody>
            <a:bodyPr wrap="square" lIns="54000" tIns="36000" rIns="54000" bIns="36000" anchor="ctr"/>
            <a:lstStyle/>
            <a:p>
              <a:pPr algn="ctr">
                <a:buNone/>
              </a:pPr>
              <a:r>
                <a:rPr lang="en-US" sz="1800" b="1" dirty="0">
                  <a:solidFill>
                    <a:srgbClr val="FFFFFF"/>
                  </a:solidFill>
                  <a:latin typeface="Consolas"/>
                </a:rPr>
                <a:t>Compile</a:t>
              </a:r>
            </a:p>
            <a:p>
              <a:pPr algn="ctr">
                <a:buNone/>
              </a:pPr>
              <a:r>
                <a:rPr lang="en-US" sz="1400" dirty="0">
                  <a:solidFill>
                    <a:srgbClr val="FFFFFF">
                      <a:alpha val="80000"/>
                    </a:srgbClr>
                  </a:solidFill>
                  <a:latin typeface="Segoe UI"/>
                </a:rPr>
                <a:t>TS Class → Schema</a:t>
              </a:r>
            </a:p>
          </p:txBody>
        </p:sp>
        <p:sp>
          <p:nvSpPr>
            <p:cNvPr id="201" name="Arr1"/>
            <p:cNvSpPr/>
            <p:nvPr/>
          </p:nvSpPr>
          <p:spPr>
            <a:xfrm>
              <a:off x="8534400" y="1752600"/>
              <a:ext cx="203200" cy="254000"/>
            </a:xfrm>
            <a:prstGeom prst="downArrow">
              <a:avLst/>
            </a:prstGeom>
            <a:solidFill>
              <a:srgbClr val="666666"/>
            </a:solidFill>
            <a:ln w="0">
              <a:noFill/>
            </a:ln>
          </p:spPr>
          <p:txBody>
            <a:bodyPr/>
            <a:lstStyle/>
            <a:p>
              <a:endParaRPr lang="en-US"/>
            </a:p>
          </p:txBody>
        </p:sp>
        <p:sp>
          <p:nvSpPr>
            <p:cNvPr id="210" name="Parse"/>
            <p:cNvSpPr/>
            <p:nvPr/>
          </p:nvSpPr>
          <p:spPr>
            <a:xfrm>
              <a:off x="6731000" y="2095500"/>
              <a:ext cx="1714500" cy="698500"/>
            </a:xfrm>
            <a:prstGeom prst="roundRect">
              <a:avLst/>
            </a:prstGeom>
            <a:solidFill>
              <a:srgbClr val="FF9F43"/>
            </a:solidFill>
            <a:ln w="0">
              <a:noFill/>
            </a:ln>
          </p:spPr>
          <p:txBody>
            <a:bodyPr wrap="square" lIns="54000" tIns="36000" rIns="54000" bIns="36000" anchor="ctr"/>
            <a:lstStyle/>
            <a:p>
              <a:pPr algn="ctr">
                <a:buNone/>
              </a:pPr>
              <a:r>
                <a:rPr lang="en-US" sz="1800" b="1" dirty="0">
                  <a:solidFill>
                    <a:srgbClr val="FFFFFF"/>
                  </a:solidFill>
                  <a:latin typeface="Consolas"/>
                </a:rPr>
                <a:t>parse()</a:t>
              </a:r>
            </a:p>
            <a:p>
              <a:pPr algn="ctr">
                <a:buNone/>
              </a:pPr>
              <a:r>
                <a:rPr lang="en-US" sz="1400" dirty="0">
                  <a:solidFill>
                    <a:srgbClr val="FFFFFF">
                      <a:alpha val="80000"/>
                    </a:srgbClr>
                  </a:solidFill>
                  <a:latin typeface="Segoe UI"/>
                </a:rPr>
                <a:t>Lenient parsing</a:t>
              </a:r>
            </a:p>
          </p:txBody>
        </p:sp>
        <p:sp>
          <p:nvSpPr>
            <p:cNvPr id="211" name="Coerce"/>
            <p:cNvSpPr/>
            <p:nvPr/>
          </p:nvSpPr>
          <p:spPr>
            <a:xfrm>
              <a:off x="8826500" y="2095500"/>
              <a:ext cx="1714500" cy="698500"/>
            </a:xfrm>
            <a:prstGeom prst="roundRect">
              <a:avLst/>
            </a:prstGeom>
            <a:solidFill>
              <a:srgbClr val="A855F7"/>
            </a:solidFill>
            <a:ln w="0">
              <a:noFill/>
            </a:ln>
          </p:spPr>
          <p:txBody>
            <a:bodyPr wrap="square" lIns="54000" tIns="36000" rIns="54000" bIns="36000" anchor="ctr"/>
            <a:lstStyle/>
            <a:p>
              <a:pPr algn="ctr">
                <a:buNone/>
              </a:pPr>
              <a:r>
                <a:rPr lang="en-US" sz="1800" b="1" dirty="0">
                  <a:solidFill>
                    <a:srgbClr val="FFFFFF"/>
                  </a:solidFill>
                  <a:latin typeface="Consolas"/>
                </a:rPr>
                <a:t>coerce()</a:t>
              </a:r>
            </a:p>
            <a:p>
              <a:pPr algn="ctr">
                <a:buNone/>
              </a:pPr>
              <a:r>
                <a:rPr lang="en-US" sz="1400" dirty="0">
                  <a:solidFill>
                    <a:srgbClr val="FFFFFF">
                      <a:alpha val="80000"/>
                    </a:srgbClr>
                  </a:solidFill>
                  <a:latin typeface="Segoe UI"/>
                </a:rPr>
                <a:t>Type conversion</a:t>
              </a:r>
            </a:p>
          </p:txBody>
        </p:sp>
        <p:sp>
          <p:nvSpPr>
            <p:cNvPr id="212" name="PC_R"/>
            <p:cNvSpPr/>
            <p:nvPr/>
          </p:nvSpPr>
          <p:spPr>
            <a:xfrm>
              <a:off x="8470900" y="2273300"/>
              <a:ext cx="330200" cy="152400"/>
            </a:xfrm>
            <a:prstGeom prst="rightArrow">
              <a:avLst/>
            </a:prstGeom>
            <a:solidFill>
              <a:srgbClr val="808080"/>
            </a:solidFill>
            <a:ln w="0">
              <a:noFill/>
            </a:ln>
          </p:spPr>
          <p:txBody>
            <a:bodyPr/>
            <a:lstStyle/>
            <a:p>
              <a:endParaRPr lang="en-US"/>
            </a:p>
          </p:txBody>
        </p:sp>
        <p:sp>
          <p:nvSpPr>
            <p:cNvPr id="213" name="PC_L"/>
            <p:cNvSpPr/>
            <p:nvPr/>
          </p:nvSpPr>
          <p:spPr>
            <a:xfrm>
              <a:off x="8470900" y="2476500"/>
              <a:ext cx="330200" cy="152400"/>
            </a:xfrm>
            <a:prstGeom prst="leftArrow">
              <a:avLst/>
            </a:prstGeom>
            <a:solidFill>
              <a:srgbClr val="808080"/>
            </a:solidFill>
            <a:ln w="0">
              <a:noFill/>
            </a:ln>
          </p:spPr>
          <p:txBody>
            <a:bodyPr/>
            <a:lstStyle/>
            <a:p>
              <a:endParaRPr lang="en-US"/>
            </a:p>
          </p:txBody>
        </p:sp>
        <p:sp>
          <p:nvSpPr>
            <p:cNvPr id="214" name="Loop1Label"/>
            <p:cNvSpPr/>
            <p:nvPr/>
          </p:nvSpPr>
          <p:spPr>
            <a:xfrm>
              <a:off x="6667500" y="2832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Correction Loop</a:t>
              </a:r>
            </a:p>
          </p:txBody>
        </p:sp>
        <p:sp>
          <p:nvSpPr>
            <p:cNvPr id="220" name="Arr2"/>
            <p:cNvSpPr/>
            <p:nvPr/>
          </p:nvSpPr>
          <p:spPr>
            <a:xfrm>
              <a:off x="8534400" y="3149600"/>
              <a:ext cx="203200" cy="254000"/>
            </a:xfrm>
            <a:prstGeom prst="downArrow">
              <a:avLst/>
            </a:prstGeom>
            <a:solidFill>
              <a:srgbClr val="666666"/>
            </a:solidFill>
            <a:ln w="0">
              <a:noFill/>
            </a:ln>
          </p:spPr>
          <p:txBody>
            <a:bodyPr/>
            <a:lstStyle/>
            <a:p>
              <a:endParaRPr lang="en-US"/>
            </a:p>
          </p:txBody>
        </p:sp>
        <p:sp>
          <p:nvSpPr>
            <p:cNvPr id="230" name="Validate"/>
            <p:cNvSpPr/>
            <p:nvPr/>
          </p:nvSpPr>
          <p:spPr>
            <a:xfrm>
              <a:off x="6731000" y="3492500"/>
              <a:ext cx="1714500" cy="698500"/>
            </a:xfrm>
            <a:prstGeom prst="roundRect">
              <a:avLst/>
            </a:prstGeom>
            <a:solidFill>
              <a:srgbClr val="EF4444"/>
            </a:solidFill>
            <a:ln w="0">
              <a:noFill/>
            </a:ln>
          </p:spPr>
          <p:txBody>
            <a:bodyPr wrap="square" lIns="54000" tIns="36000" rIns="54000" bIns="36000" anchor="ctr"/>
            <a:lstStyle/>
            <a:p>
              <a:pPr algn="ctr">
                <a:buNone/>
              </a:pPr>
              <a:r>
                <a:rPr lang="en-US" sz="1800" b="1" dirty="0">
                  <a:solidFill>
                    <a:srgbClr val="FFFFFF"/>
                  </a:solidFill>
                  <a:latin typeface="Consolas"/>
                </a:rPr>
                <a:t>validate()</a:t>
              </a:r>
            </a:p>
            <a:p>
              <a:pPr algn="ctr">
                <a:buNone/>
              </a:pPr>
              <a:r>
                <a:rPr lang="en-US" sz="1400" dirty="0">
                  <a:solidFill>
                    <a:srgbClr val="FFFFFF">
                      <a:alpha val="80000"/>
                    </a:srgbClr>
                  </a:solidFill>
                  <a:latin typeface="Segoe UI"/>
                </a:rPr>
                <a:t>Error feedback</a:t>
              </a:r>
            </a:p>
          </p:txBody>
        </p:sp>
        <p:sp>
          <p:nvSpPr>
            <p:cNvPr id="231" name="Execute"/>
            <p:cNvSpPr/>
            <p:nvPr/>
          </p:nvSpPr>
          <p:spPr>
            <a:xfrm>
              <a:off x="8826500" y="3492500"/>
              <a:ext cx="1714500" cy="698500"/>
            </a:xfrm>
            <a:prstGeom prst="roundRect">
              <a:avLst/>
            </a:prstGeom>
            <a:solidFill>
              <a:srgbClr val="10B981"/>
            </a:solidFill>
            <a:ln w="0">
              <a:noFill/>
            </a:ln>
          </p:spPr>
          <p:txBody>
            <a:bodyPr wrap="square" lIns="54000" tIns="36000" rIns="54000" bIns="36000" anchor="ctr"/>
            <a:lstStyle/>
            <a:p>
              <a:pPr algn="ctr">
                <a:buNone/>
              </a:pPr>
              <a:r>
                <a:rPr lang="en-US" sz="1800" b="1" dirty="0">
                  <a:solidFill>
                    <a:srgbClr val="FFFFFF"/>
                  </a:solidFill>
                  <a:latin typeface="Consolas"/>
                </a:rPr>
                <a:t>execute()</a:t>
              </a:r>
            </a:p>
            <a:p>
              <a:pPr algn="ctr">
                <a:buNone/>
              </a:pPr>
              <a:r>
                <a:rPr lang="en-US" sz="1400" dirty="0">
                  <a:solidFill>
                    <a:srgbClr val="FFFFFF">
                      <a:alpha val="80000"/>
                    </a:srgbClr>
                  </a:solidFill>
                  <a:latin typeface="Segoe UI"/>
                </a:rPr>
                <a:t>Function call</a:t>
              </a:r>
            </a:p>
          </p:txBody>
        </p:sp>
        <p:sp>
          <p:nvSpPr>
            <p:cNvPr id="232" name="VE_R"/>
            <p:cNvSpPr/>
            <p:nvPr/>
          </p:nvSpPr>
          <p:spPr>
            <a:xfrm>
              <a:off x="8470900" y="3670300"/>
              <a:ext cx="330200" cy="152400"/>
            </a:xfrm>
            <a:prstGeom prst="rightArrow">
              <a:avLst/>
            </a:prstGeom>
            <a:solidFill>
              <a:srgbClr val="808080"/>
            </a:solidFill>
            <a:ln w="0">
              <a:noFill/>
            </a:ln>
          </p:spPr>
          <p:txBody>
            <a:bodyPr/>
            <a:lstStyle/>
            <a:p>
              <a:endParaRPr lang="en-US"/>
            </a:p>
          </p:txBody>
        </p:sp>
        <p:sp>
          <p:nvSpPr>
            <p:cNvPr id="233" name="VE_L"/>
            <p:cNvSpPr/>
            <p:nvPr/>
          </p:nvSpPr>
          <p:spPr>
            <a:xfrm>
              <a:off x="8470900" y="3873500"/>
              <a:ext cx="330200" cy="152400"/>
            </a:xfrm>
            <a:prstGeom prst="leftArrow">
              <a:avLst/>
            </a:prstGeom>
            <a:solidFill>
              <a:srgbClr val="808080"/>
            </a:solidFill>
            <a:ln w="0">
              <a:noFill/>
            </a:ln>
          </p:spPr>
          <p:txBody>
            <a:bodyPr/>
            <a:lstStyle/>
            <a:p>
              <a:endParaRPr lang="en-US"/>
            </a:p>
          </p:txBody>
        </p:sp>
        <p:sp>
          <p:nvSpPr>
            <p:cNvPr id="234" name="Loop2Label"/>
            <p:cNvSpPr/>
            <p:nvPr/>
          </p:nvSpPr>
          <p:spPr>
            <a:xfrm>
              <a:off x="6667500" y="4229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Feedback Loop</a:t>
              </a:r>
            </a:p>
          </p:txBody>
        </p:sp>
        <p:sp>
          <p:nvSpPr>
            <p:cNvPr id="240" name="Arr3"/>
            <p:cNvSpPr/>
            <p:nvPr/>
          </p:nvSpPr>
          <p:spPr>
            <a:xfrm>
              <a:off x="8534400" y="4546600"/>
              <a:ext cx="203200" cy="254000"/>
            </a:xfrm>
            <a:prstGeom prst="downArrow">
              <a:avLst/>
            </a:prstGeom>
            <a:solidFill>
              <a:srgbClr val="666666"/>
            </a:solidFill>
            <a:ln w="0">
              <a:noFill/>
            </a:ln>
          </p:spPr>
          <p:txBody>
            <a:bodyPr/>
            <a:lstStyle/>
            <a:p>
              <a:endParaRPr lang="en-US"/>
            </a:p>
          </p:txBody>
        </p:sp>
        <p:sp>
          <p:nvSpPr>
            <p:cNvPr id="250" name="Result"/>
            <p:cNvSpPr/>
            <p:nvPr/>
          </p:nvSpPr>
          <p:spPr>
            <a:xfrm>
              <a:off x="7366000" y="4864100"/>
              <a:ext cx="2540000" cy="508000"/>
            </a:xfrm>
            <a:prstGeom prst="roundRect">
              <a:avLst/>
            </a:prstGeom>
            <a:solidFill>
              <a:srgbClr val="00D4AA"/>
            </a:solidFill>
            <a:ln w="0">
              <a:noFill/>
            </a:ln>
          </p:spPr>
          <p:txBody>
            <a:bodyPr wrap="square" lIns="54000" tIns="36000" rIns="54000" bIns="36000" anchor="ctr"/>
            <a:lstStyle/>
            <a:p>
              <a:pPr algn="ctr">
                <a:buNone/>
              </a:pPr>
              <a:r>
                <a:rPr lang="en-US" sz="1800" b="1" dirty="0">
                  <a:solidFill>
                    <a:srgbClr val="FFFFFF"/>
                  </a:solidFill>
                  <a:latin typeface="Consolas"/>
                </a:rPr>
                <a:t>Result</a:t>
              </a:r>
            </a:p>
          </p:txBody>
        </p:sp>
      </p:grpSp>
    </p:spTree>
    <p:extLst>
      <p:ext uri="{BB962C8B-B14F-4D97-AF65-F5344CB8AC3E}">
        <p14:creationId xmlns:p14="http://schemas.microsoft.com/office/powerpoint/2010/main" val="25733692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buNone/>
            </a:pPr>
            <a:r>
              <a:rPr lang="en-US" sz="2400" b="1" dirty="0">
                <a:solidFill>
                  <a:srgbClr val="F0F0F0"/>
                </a:solidFill>
                <a:latin typeface="Segoe UI Semibold"/>
              </a:rPr>
              <a:t>Type Coercion</a:t>
            </a: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algn="ctr">
              <a:buNone/>
            </a:pPr>
            <a:r>
              <a:rPr lang="en-US" sz="1800" b="1" dirty="0">
                <a:solidFill>
                  <a:srgbClr val="00D4AA"/>
                </a:solidFill>
                <a:latin typeface="Segoe UI Semibold"/>
              </a:rPr>
              <a:t>LLM Output</a:t>
            </a:r>
          </a:p>
        </p:txBody>
      </p:sp>
      <p:sp>
        <p:nvSpPr>
          <p:cNvPr id="14" name="TSCode"/>
          <p:cNvSpPr/>
          <p:nvPr/>
        </p:nvSpPr>
        <p:spPr>
          <a:xfrm>
            <a:off x="889000" y="1714500"/>
            <a:ext cx="4826000" cy="2621526"/>
          </a:xfrm>
          <a:prstGeom prst="rect">
            <a:avLst/>
          </a:prstGeom>
          <a:noFill/>
          <a:ln>
            <a:noFill/>
          </a:ln>
        </p:spPr>
        <p:txBody>
          <a:bodyPr wrap="square" lIns="36000" tIns="36000" rIns="36000" bIns="36000"/>
          <a:lstStyle/>
          <a:p>
            <a:pPr>
              <a:spcBef>
                <a:spcPts val="0"/>
              </a:spcBef>
              <a:spcAft>
                <a:spcPts val="0"/>
              </a:spcAft>
              <a:buNone/>
            </a:pPr>
            <a:r>
              <a:rPr lang="en-US" sz="1400" dirty="0">
                <a:solidFill>
                  <a:srgbClr val="6A9955"/>
                </a:solidFill>
                <a:latin typeface="Consolas"/>
              </a:rPr>
              <a:t>// Expected</a:t>
            </a:r>
          </a:p>
          <a:p>
            <a:pPr>
              <a:spcBef>
                <a:spcPts val="0"/>
              </a:spcBef>
              <a:spcAft>
                <a:spcPts val="0"/>
              </a:spcAft>
              <a:buNone/>
            </a:pPr>
            <a:r>
              <a:rPr lang="en-US" sz="1400" dirty="0">
                <a:solidFill>
                  <a:srgbClr val="D4D4D4"/>
                </a:solidFill>
                <a:latin typeface="Consolas"/>
              </a:rPr>
              <a:t>{</a:t>
            </a:r>
          </a:p>
          <a:p>
            <a:pPr>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t>
            </a:r>
            <a:r>
              <a:rPr lang="en-US" sz="1400" dirty="0" err="1">
                <a:solidFill>
                  <a:srgbClr val="9CDCFE"/>
                </a:solidFill>
                <a:latin typeface="Consolas"/>
              </a:rPr>
              <a:t>cardNumber</a:t>
            </a:r>
            <a:r>
              <a:rPr lang="en-US" sz="1400" dirty="0">
                <a:solidFill>
                  <a:srgbClr val="9CDCFE"/>
                </a:solidFill>
                <a:latin typeface="Consolas"/>
              </a:rPr>
              <a:t>"</a:t>
            </a:r>
            <a:r>
              <a:rPr lang="en-US" sz="1400" dirty="0">
                <a:solidFill>
                  <a:srgbClr val="D4D4D4"/>
                </a:solidFill>
                <a:latin typeface="Consolas"/>
              </a:rPr>
              <a:t>: </a:t>
            </a:r>
            <a:r>
              <a:rPr lang="en-US" sz="1400" dirty="0">
                <a:solidFill>
                  <a:srgbClr val="CE9178"/>
                </a:solidFill>
                <a:latin typeface="Consolas"/>
              </a:rPr>
              <a:t>"1234-5678“</a:t>
            </a:r>
          </a:p>
          <a:p>
            <a:pPr>
              <a:spcBef>
                <a:spcPts val="0"/>
              </a:spcBef>
              <a:spcAft>
                <a:spcPts val="0"/>
              </a:spcAft>
              <a:buNone/>
            </a:pPr>
            <a:r>
              <a:rPr lang="en-US" sz="1400" dirty="0">
                <a:solidFill>
                  <a:srgbClr val="D4D4D4"/>
                </a:solidFill>
                <a:latin typeface="Consolas"/>
              </a:rPr>
              <a:t>}</a:t>
            </a:r>
          </a:p>
          <a:p>
            <a:pPr>
              <a:spcBef>
                <a:spcPts val="0"/>
              </a:spcBef>
              <a:spcAft>
                <a:spcPts val="0"/>
              </a:spcAft>
              <a:buNone/>
            </a:pPr>
            <a:endParaRPr lang="en-US" sz="1400" dirty="0">
              <a:solidFill>
                <a:srgbClr val="D4D4D4"/>
              </a:solidFill>
              <a:latin typeface="Consolas"/>
            </a:endParaRPr>
          </a:p>
          <a:p>
            <a:pPr>
              <a:spcBef>
                <a:spcPts val="0"/>
              </a:spcBef>
              <a:spcAft>
                <a:spcPts val="0"/>
              </a:spcAft>
              <a:buNone/>
            </a:pPr>
            <a:r>
              <a:rPr lang="en-US" sz="1400" dirty="0">
                <a:solidFill>
                  <a:srgbClr val="6A9955"/>
                </a:solidFill>
                <a:latin typeface="Consolas"/>
              </a:rPr>
              <a:t>// Actual LLM output</a:t>
            </a:r>
          </a:p>
          <a:p>
            <a:pPr>
              <a:spcBef>
                <a:spcPts val="0"/>
              </a:spcBef>
              <a:spcAft>
                <a:spcPts val="0"/>
              </a:spcAft>
              <a:buNone/>
            </a:pPr>
            <a:r>
              <a:rPr lang="en-US" sz="1400" dirty="0">
                <a:solidFill>
                  <a:srgbClr val="FF6B6B"/>
                </a:solidFill>
                <a:latin typeface="Consolas"/>
              </a:rPr>
              <a:t>"{</a:t>
            </a:r>
          </a:p>
          <a:p>
            <a:pPr>
              <a:spcBef>
                <a:spcPts val="0"/>
              </a:spcBef>
              <a:spcAft>
                <a:spcPts val="0"/>
              </a:spcAft>
              <a:buNone/>
            </a:pPr>
            <a:r>
              <a:rPr lang="en-US" sz="1400" dirty="0">
                <a:solidFill>
                  <a:srgbClr val="FF6B6B"/>
                </a:solidFill>
                <a:latin typeface="Consolas"/>
              </a:rPr>
              <a:t>   \"type\":\"card\",</a:t>
            </a:r>
          </a:p>
          <a:p>
            <a:pPr>
              <a:spcBef>
                <a:spcPts val="0"/>
              </a:spcBef>
              <a:spcAft>
                <a:spcPts val="0"/>
              </a:spcAft>
              <a:buNone/>
            </a:pPr>
            <a:r>
              <a:rPr lang="en-US" sz="1400" dirty="0">
                <a:solidFill>
                  <a:srgbClr val="FF6B6B"/>
                </a:solidFill>
                <a:latin typeface="Consolas"/>
              </a:rPr>
              <a:t>   \"cardNumber\":\"1234-5678\“</a:t>
            </a:r>
          </a:p>
          <a:p>
            <a:pPr>
              <a:spcBef>
                <a:spcPts val="0"/>
              </a:spcBef>
              <a:spcAft>
                <a:spcPts val="0"/>
              </a:spcAft>
              <a:buNone/>
            </a:pPr>
            <a:r>
              <a:rPr lang="en-US" sz="1400" dirty="0">
                <a:solidFill>
                  <a:srgbClr val="FF6B6B"/>
                </a:solidFill>
                <a:latin typeface="Consolas"/>
              </a:rPr>
              <a: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algn="ctr">
              <a:buNone/>
            </a:pPr>
            <a:r>
              <a:rPr lang="en-US" sz="1800" b="1" dirty="0">
                <a:solidFill>
                  <a:srgbClr val="FFD93D"/>
                </a:solidFill>
                <a:latin typeface="Segoe UI Semibold"/>
              </a:rPr>
              <a:t>Type Definition</a:t>
            </a:r>
          </a:p>
        </p:txBody>
      </p:sp>
      <p:sp>
        <p:nvSpPr>
          <p:cNvPr id="16" name="RBg"/>
          <p:cNvSpPr/>
          <p:nvPr/>
        </p:nvSpPr>
        <p:spPr>
          <a:xfrm>
            <a:off x="6350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714500"/>
            <a:ext cx="4826000" cy="2159000"/>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Union type occurs double JSON stringified</a:t>
            </a:r>
            <a:endParaRPr lang="en-US" sz="1400" dirty="0">
              <a:solidFill>
                <a:srgbClr val="569CD6"/>
              </a:solidFill>
              <a:latin typeface="Consolas"/>
            </a:endParaRPr>
          </a:p>
          <a:p>
            <a:pPr>
              <a:lnSpc>
                <a:spcPct val="100000"/>
              </a:lnSpc>
              <a:spcBef>
                <a:spcPts val="0"/>
              </a:spcBef>
              <a:spcAft>
                <a:spcPts val="0"/>
              </a:spcAft>
              <a:buNone/>
            </a:pPr>
            <a:r>
              <a:rPr lang="en-US" sz="1400" dirty="0">
                <a:solidFill>
                  <a:srgbClr val="569CD6"/>
                </a:solidFill>
                <a:latin typeface="Consolas"/>
              </a:rPr>
              <a:t>type </a:t>
            </a:r>
            <a:r>
              <a:rPr lang="en-US" sz="1400" dirty="0">
                <a:solidFill>
                  <a:srgbClr val="4EC9B0"/>
                </a:solidFill>
                <a:latin typeface="Consolas"/>
              </a:rPr>
              <a:t>IPayment</a:t>
            </a:r>
            <a:r>
              <a:rPr lang="en-US" sz="1400" dirty="0">
                <a:solidFill>
                  <a:srgbClr val="D4D4D4"/>
                </a:solidFill>
                <a:latin typeface="Consolas"/>
              </a:rPr>
              <a:t> = </a:t>
            </a:r>
            <a:r>
              <a:rPr lang="en-US" sz="1400" dirty="0">
                <a:solidFill>
                  <a:srgbClr val="4EC9B0"/>
                </a:solidFill>
                <a:latin typeface="Consolas"/>
              </a:rPr>
              <a:t>ICardPayment</a:t>
            </a:r>
            <a:r>
              <a:rPr lang="en-US" sz="1400" dirty="0">
                <a:solidFill>
                  <a:srgbClr val="D4D4D4"/>
                </a:solidFill>
                <a:latin typeface="Consolas"/>
              </a:rPr>
              <a:t> | </a:t>
            </a:r>
            <a:r>
              <a:rPr lang="en-US" sz="1400" dirty="0">
                <a:solidFill>
                  <a:srgbClr val="4EC9B0"/>
                </a:solidFill>
                <a:latin typeface="Consolas"/>
              </a:rPr>
              <a:t>IBankPayment</a:t>
            </a: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ICardPayment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IBankPayment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"bank"</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accountNumber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p:txBody>
      </p:sp>
      <p:sp>
        <p:nvSpPr>
          <p:cNvPr id="18" name="Arr"/>
          <p:cNvSpPr/>
          <p:nvPr/>
        </p:nvSpPr>
        <p:spPr>
          <a:xfrm>
            <a:off x="5867400" y="2540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
        <p:nvSpPr>
          <p:cNvPr id="20" name="Desc"/>
          <p:cNvSpPr/>
          <p:nvPr/>
        </p:nvSpPr>
        <p:spPr>
          <a:xfrm>
            <a:off x="762000" y="4670322"/>
            <a:ext cx="10668000" cy="1806677"/>
          </a:xfrm>
          <a:prstGeom prst="rect">
            <a:avLst/>
          </a:prstGeom>
          <a:noFill/>
          <a:ln>
            <a:noFill/>
          </a:ln>
        </p:spPr>
        <p:txBody>
          <a:bodyPr wrap="square" lIns="72000" tIns="36000" rIns="72000" bIns="36000" anchor="t"/>
          <a:lstStyle/>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LLM returns a </a:t>
            </a:r>
            <a:r>
              <a:rPr lang="en-US" sz="1600" b="1" dirty="0">
                <a:solidFill>
                  <a:srgbClr val="FF6B6B"/>
                </a:solidFill>
                <a:latin typeface="Segoe UI Semibold"/>
              </a:rPr>
              <a:t>string</a:t>
            </a:r>
            <a:r>
              <a:rPr lang="en-US" sz="1600" dirty="0">
                <a:solidFill>
                  <a:srgbClr val="D0D0D0"/>
                </a:solidFill>
                <a:latin typeface="Segoe UI"/>
              </a:rPr>
              <a:t> containing JSON — not the object itself</a:t>
            </a:r>
          </a:p>
          <a:p>
            <a:pPr>
              <a:lnSpc>
                <a:spcPct val="115000"/>
              </a:lnSpc>
              <a:spcBef>
                <a:spcPts val="400"/>
              </a:spcBef>
              <a:buNone/>
            </a:pPr>
            <a:r>
              <a:rPr lang="en-US" sz="1600" dirty="0">
                <a:solidFill>
                  <a:srgbClr val="808080"/>
                </a:solidFill>
                <a:latin typeface="Segoe UI"/>
              </a:rPr>
              <a:t>•  </a:t>
            </a:r>
            <a:r>
              <a:rPr lang="en-US" sz="1600" b="1" dirty="0">
                <a:solidFill>
                  <a:srgbClr val="FE9E00"/>
                </a:solidFill>
                <a:latin typeface="Segoe UI Semibold"/>
              </a:rPr>
              <a:t>Valid JSON</a:t>
            </a:r>
            <a:r>
              <a:rPr lang="en-US" sz="1600" dirty="0">
                <a:solidFill>
                  <a:srgbClr val="D0D0D0"/>
                </a:solidFill>
                <a:latin typeface="Segoe UI"/>
              </a:rPr>
              <a:t> — jsonrepair, dirty-json, LangChain all pass it through</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Qwen 3.5: </a:t>
            </a:r>
            <a:r>
              <a:rPr lang="en-US" sz="1600" b="1" dirty="0">
                <a:solidFill>
                  <a:srgbClr val="FF6B6B"/>
                </a:solidFill>
                <a:latin typeface="Segoe UI Semibold"/>
              </a:rPr>
              <a:t>100%</a:t>
            </a:r>
            <a:r>
              <a:rPr lang="en-US" sz="1600" dirty="0">
                <a:solidFill>
                  <a:srgbClr val="D0D0D0"/>
                </a:solidFill>
                <a:latin typeface="Segoe UI"/>
              </a:rPr>
              <a:t> of </a:t>
            </a:r>
            <a:r>
              <a:rPr lang="en-US" sz="1600" u="sng" dirty="0">
                <a:solidFill>
                  <a:srgbClr val="D0D0D0"/>
                </a:solidFill>
                <a:latin typeface="Segoe UI"/>
              </a:rPr>
              <a:t>anyOf</a:t>
            </a:r>
            <a:r>
              <a:rPr lang="en-US" sz="1600" dirty="0">
                <a:solidFill>
                  <a:srgbClr val="D0D0D0"/>
                </a:solidFill>
                <a:latin typeface="Segoe UI"/>
              </a:rPr>
              <a:t> fields. Claude: same on </a:t>
            </a:r>
            <a:r>
              <a:rPr lang="en-US" sz="1600" u="sng" dirty="0">
                <a:solidFill>
                  <a:srgbClr val="D0D0D0"/>
                </a:solidFill>
                <a:latin typeface="Segoe UI"/>
              </a:rPr>
              <a:t>oneOf</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Only </a:t>
            </a:r>
            <a:r>
              <a:rPr lang="en-US" sz="1600" b="1" dirty="0">
                <a:solidFill>
                  <a:srgbClr val="00D4AA"/>
                </a:solidFill>
                <a:latin typeface="Segoe UI Semibold"/>
              </a:rPr>
              <a:t>type-aware</a:t>
            </a:r>
            <a:r>
              <a:rPr lang="en-US" sz="1600" dirty="0">
                <a:solidFill>
                  <a:srgbClr val="D0D0D0"/>
                </a:solidFill>
                <a:latin typeface="Segoe UI"/>
              </a:rPr>
              <a:t> parsing can detect and unwrap it</a:t>
            </a:r>
          </a:p>
        </p:txBody>
      </p:sp>
    </p:spTree>
    <p:extLst>
      <p:ext uri="{BB962C8B-B14F-4D97-AF65-F5344CB8AC3E}">
        <p14:creationId xmlns:p14="http://schemas.microsoft.com/office/powerpoint/2010/main" val="21833997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9A19F7BE-8E98-4792-93FA-813F56ED5601}"/>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Seven Sins in One Output</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Markdown wrapper, prefix text, wrong types, incomplete keywords, unclosed brackets</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r>
              <a:rPr lang="en-US" sz="1400" dirty="0">
                <a:solidFill>
                  <a:srgbClr val="569CD6"/>
                </a:solidFill>
                <a:latin typeface="Consolas"/>
              </a:rPr>
              <a:t>const </a:t>
            </a:r>
            <a:r>
              <a:rPr lang="en-US" sz="1400" dirty="0">
                <a:solidFill>
                  <a:srgbClr val="D4D4D4"/>
                </a:solidFill>
                <a:latin typeface="Consolas"/>
              </a:rPr>
              <a:t>llmOutput = </a:t>
            </a:r>
            <a:r>
              <a:rPr lang="en-US" sz="1400" dirty="0">
                <a:solidFill>
                  <a:srgbClr val="CE9178"/>
                </a:solidFill>
                <a:latin typeface="Consolas"/>
              </a:rPr>
              <a:t>`</a:t>
            </a:r>
          </a:p>
          <a:p>
            <a:r>
              <a:rPr lang="en-US" sz="1400" dirty="0">
                <a:solidFill>
                  <a:srgbClr val="CE9178"/>
                </a:solidFill>
                <a:latin typeface="Consolas"/>
              </a:rPr>
              <a:t>  I'd be happy to help! </a:t>
            </a:r>
            <a:r>
              <a:rPr lang="en-US" sz="1400" dirty="0">
                <a:solidFill>
                  <a:srgbClr val="6A9955"/>
                </a:solidFill>
                <a:latin typeface="Consolas"/>
              </a:rPr>
              <a:t>← 1. prefix text</a:t>
            </a:r>
          </a:p>
          <a:p>
            <a:endParaRPr lang="en-US" sz="1400" dirty="0">
              <a:solidFill>
                <a:srgbClr val="6A9955"/>
              </a:solidFill>
              <a:latin typeface="Consolas"/>
            </a:endParaRPr>
          </a:p>
          <a:p>
            <a:r>
              <a:rPr lang="en-US" sz="1400" dirty="0">
                <a:solidFill>
                  <a:srgbClr val="CE9178"/>
                </a:solidFill>
                <a:latin typeface="Consolas"/>
              </a:rPr>
              <a:t>  ```</a:t>
            </a:r>
            <a:r>
              <a:rPr lang="en-US" sz="1400" dirty="0" err="1">
                <a:solidFill>
                  <a:srgbClr val="CE9178"/>
                </a:solidFill>
                <a:latin typeface="Consolas"/>
              </a:rPr>
              <a:t>json</a:t>
            </a:r>
            <a:r>
              <a:rPr lang="en-US" sz="1400" dirty="0">
                <a:solidFill>
                  <a:srgbClr val="6A9955"/>
                </a:solidFill>
                <a:latin typeface="Consolas"/>
              </a:rPr>
              <a:t> ← 1. markdown block</a:t>
            </a:r>
          </a:p>
          <a:p>
            <a:r>
              <a:rPr lang="en-US" sz="1400" dirty="0">
                <a:solidFill>
                  <a:srgbClr val="CE9178"/>
                </a:solidFill>
                <a:latin typeface="Consolas"/>
              </a:rPr>
              <a:t>  {</a:t>
            </a:r>
          </a:p>
          <a:p>
            <a:r>
              <a:rPr lang="en-US" sz="1400" dirty="0">
                <a:solidFill>
                  <a:srgbClr val="CE9178"/>
                </a:solidFill>
                <a:latin typeface="Consolas"/>
              </a:rPr>
              <a:t>    "order": {</a:t>
            </a:r>
          </a:p>
          <a:p>
            <a:r>
              <a:rPr lang="en-US" sz="1400" dirty="0">
                <a:solidFill>
                  <a:srgbClr val="CE9178"/>
                </a:solidFill>
                <a:latin typeface="Consolas"/>
              </a:rPr>
              <a:t>      "payment": </a:t>
            </a:r>
            <a:r>
              <a:rPr lang="en-US" sz="1400" dirty="0">
                <a:solidFill>
                  <a:srgbClr val="FF6B6B"/>
                </a:solidFill>
                <a:latin typeface="Consolas"/>
              </a:rPr>
              <a:t>"{\"type\":\"card\“, </a:t>
            </a:r>
            <a:r>
              <a:rPr lang="en-US" sz="1400" dirty="0" err="1">
                <a:solidFill>
                  <a:srgbClr val="FF6B6B"/>
                </a:solidFill>
                <a:latin typeface="Consolas"/>
              </a:rPr>
              <a:t>cardNumber</a:t>
            </a:r>
            <a:r>
              <a:rPr lang="en-US" sz="1400" dirty="0">
                <a:solidFill>
                  <a:srgbClr val="FF6B6B"/>
                </a:solidFill>
                <a:latin typeface="Consolas"/>
              </a:rPr>
              <a:t>: “\1234"</a:t>
            </a:r>
            <a:r>
              <a:rPr lang="en-US" sz="1400" dirty="0">
                <a:solidFill>
                  <a:srgbClr val="6A9955"/>
                </a:solidFill>
                <a:latin typeface="Consolas"/>
              </a:rPr>
              <a:t>  ← 2. double-stringify, but broken</a:t>
            </a:r>
          </a:p>
          <a:p>
            <a:r>
              <a:rPr lang="en-US" sz="1400" dirty="0">
                <a:solidFill>
                  <a:srgbClr val="CE9178"/>
                </a:solidFill>
                <a:latin typeface="Consolas"/>
              </a:rPr>
              <a:t>      "product": {</a:t>
            </a:r>
          </a:p>
          <a:p>
            <a:r>
              <a:rPr lang="en-US" sz="1400" dirty="0">
                <a:solidFill>
                  <a:srgbClr val="FF6B6B"/>
                </a:solidFill>
                <a:latin typeface="Consolas"/>
              </a:rPr>
              <a:t>        name</a:t>
            </a:r>
            <a:r>
              <a:rPr lang="en-US" sz="1400" dirty="0">
                <a:solidFill>
                  <a:srgbClr val="CE9178"/>
                </a:solidFill>
                <a:latin typeface="Consolas"/>
              </a:rPr>
              <a:t>: "Laptop",</a:t>
            </a:r>
            <a:r>
              <a:rPr lang="en-US" sz="1400" dirty="0">
                <a:solidFill>
                  <a:srgbClr val="6A9955"/>
                </a:solidFill>
                <a:latin typeface="Consolas"/>
              </a:rPr>
              <a:t>    ← 3. unquoted key</a:t>
            </a:r>
          </a:p>
          <a:p>
            <a:r>
              <a:rPr lang="en-US" sz="1400" dirty="0">
                <a:solidFill>
                  <a:srgbClr val="CE9178"/>
                </a:solidFill>
                <a:latin typeface="Consolas"/>
              </a:rPr>
              <a:t>        price: </a:t>
            </a:r>
            <a:r>
              <a:rPr lang="en-US" sz="1400" dirty="0">
                <a:solidFill>
                  <a:srgbClr val="FF6B6B"/>
                </a:solidFill>
                <a:latin typeface="Consolas"/>
              </a:rPr>
              <a:t>“1299.99”</a:t>
            </a:r>
            <a:r>
              <a:rPr lang="en-US" sz="1400" dirty="0">
                <a:solidFill>
                  <a:srgbClr val="CE9178"/>
                </a:solidFill>
                <a:latin typeface="Consolas"/>
              </a:rPr>
              <a:t>,</a:t>
            </a:r>
            <a:r>
              <a:rPr lang="en-US" sz="1400" dirty="0">
                <a:solidFill>
                  <a:srgbClr val="6A9955"/>
                </a:solidFill>
                <a:latin typeface="Consolas"/>
              </a:rPr>
              <a:t>  ← 3. </a:t>
            </a:r>
            <a:r>
              <a:rPr lang="en-US" altLang="ko-KR" sz="1400" dirty="0">
                <a:solidFill>
                  <a:srgbClr val="6A9955"/>
                </a:solidFill>
                <a:latin typeface="Consolas"/>
              </a:rPr>
              <a:t>not number</a:t>
            </a:r>
            <a:endParaRPr lang="en-US" sz="1400" dirty="0">
              <a:solidFill>
                <a:srgbClr val="6A9955"/>
              </a:solidFill>
              <a:latin typeface="Consolas"/>
            </a:endParaRPr>
          </a:p>
          <a:p>
            <a:r>
              <a:rPr lang="en-US" sz="1400" dirty="0">
                <a:solidFill>
                  <a:srgbClr val="CE9178"/>
                </a:solidFill>
                <a:latin typeface="Consolas"/>
              </a:rPr>
              <a:t>        quantity: 2</a:t>
            </a:r>
            <a:r>
              <a:rPr lang="en-US" sz="1400" dirty="0">
                <a:solidFill>
                  <a:srgbClr val="FF6B6B"/>
                </a:solidFill>
                <a:latin typeface="Consolas"/>
              </a:rPr>
              <a:t>,</a:t>
            </a:r>
            <a:r>
              <a:rPr lang="en-US" sz="1400" dirty="0">
                <a:solidFill>
                  <a:srgbClr val="6A9955"/>
                </a:solidFill>
                <a:latin typeface="Consolas"/>
              </a:rPr>
              <a:t>       ← 3. trailing comma</a:t>
            </a:r>
          </a:p>
          <a:p>
            <a:r>
              <a:rPr lang="en-US" sz="1400" dirty="0">
                <a:solidFill>
                  <a:srgbClr val="CE9178"/>
                </a:solidFill>
                <a:latin typeface="Consolas"/>
              </a:rPr>
              <a:t>      },</a:t>
            </a:r>
          </a:p>
          <a:p>
            <a:r>
              <a:rPr lang="en-US" sz="1400" dirty="0">
                <a:solidFill>
                  <a:srgbClr val="CE9178"/>
                </a:solidFill>
                <a:latin typeface="Consolas"/>
              </a:rPr>
              <a:t>      "customer": {</a:t>
            </a:r>
          </a:p>
          <a:p>
            <a:r>
              <a:rPr lang="en-US" sz="1400" dirty="0">
                <a:solidFill>
                  <a:srgbClr val="CE9178"/>
                </a:solidFill>
                <a:latin typeface="Consolas"/>
              </a:rPr>
              <a:t>        vip: </a:t>
            </a:r>
            <a:r>
              <a:rPr lang="en-US" sz="1400" dirty="0" err="1">
                <a:solidFill>
                  <a:srgbClr val="CE9178"/>
                </a:solidFill>
                <a:latin typeface="Consolas"/>
              </a:rPr>
              <a:t>tru</a:t>
            </a:r>
            <a:r>
              <a:rPr lang="en-US" sz="1400" dirty="0">
                <a:solidFill>
                  <a:srgbClr val="6A9955"/>
                </a:solidFill>
                <a:latin typeface="Consolas"/>
              </a:rPr>
              <a:t> ← 4. incomplete keyword</a:t>
            </a:r>
          </a:p>
          <a:p>
            <a:r>
              <a:rPr lang="en-US" sz="1400" dirty="0">
                <a:solidFill>
                  <a:srgbClr val="6A9955"/>
                </a:solidFill>
                <a:latin typeface="Consolas"/>
              </a:rPr>
              <a:t>  ← 4. unclosed brackets</a:t>
            </a:r>
          </a:p>
          <a:p>
            <a:r>
              <a:rPr lang="en-US" sz="1400" dirty="0">
                <a:solidFill>
                  <a:srgbClr val="6A9955"/>
                </a:solidFill>
                <a:latin typeface="Consolas"/>
              </a:rPr>
              <a:t>  ← 4. unclosed markdown block</a:t>
            </a:r>
          </a:p>
          <a:p>
            <a:r>
              <a:rPr lang="en-US" sz="1400" dirty="0">
                <a:solidFill>
                  <a:srgbClr val="CE9178"/>
                </a:solidFill>
                <a:latin typeface="Consolas"/>
              </a:rPr>
              <a:t>`</a:t>
            </a:r>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569CD6"/>
                </a:solidFill>
                <a:latin typeface="Consolas"/>
              </a:rPr>
              <a:t>const </a:t>
            </a:r>
            <a:r>
              <a:rPr lang="en-US" sz="1400" dirty="0">
                <a:solidFill>
                  <a:srgbClr val="D4D4D4"/>
                </a:solidFill>
                <a:latin typeface="Consolas"/>
              </a:rPr>
              <a:t>result = func</a:t>
            </a:r>
            <a:r>
              <a:rPr lang="en-US" sz="1400" dirty="0">
                <a:solidFill>
                  <a:srgbClr val="9CDCFE"/>
                </a:solidFill>
                <a:latin typeface="Consolas"/>
              </a:rPr>
              <a:t>.parse</a:t>
            </a:r>
            <a:r>
              <a:rPr lang="en-US" sz="1400" dirty="0">
                <a:solidFill>
                  <a:srgbClr val="D4D4D4"/>
                </a:solidFill>
                <a:latin typeface="Consolas"/>
              </a:rPr>
              <a:t>(llmOutput);</a:t>
            </a:r>
            <a:r>
              <a:rPr lang="en-US" sz="1400" dirty="0">
                <a:solidFill>
                  <a:srgbClr val="4EC9B0"/>
                </a:solidFill>
                <a:latin typeface="Consolas"/>
              </a:rPr>
              <a:t> // ✓ all 7 fixed</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A6B727"/>
                </a:solidFill>
                <a:latin typeface="Segoe UI Semibold"/>
                <a:ea typeface="+mn-ea"/>
                <a:cs typeface="+mn-cs"/>
              </a:rPr>
              <a:t>One call to func.parse()</a:t>
            </a:r>
            <a:r>
              <a:rPr lang="en-US" sz="1800" dirty="0">
                <a:ln>
                  <a:noFill/>
                </a:ln>
                <a:solidFill>
                  <a:srgbClr val="A0A0A0"/>
                </a:solidFill>
                <a:latin typeface="Segoe UI"/>
                <a:ea typeface="+mn-ea"/>
                <a:cs typeface="+mn-cs"/>
              </a:rPr>
              <a:t>  —  all 7 problems fixed, zero model changes</a:t>
            </a:r>
          </a:p>
        </p:txBody>
      </p:sp>
      <p:sp>
        <p:nvSpPr>
          <p:cNvPr id="3" name="AL">
            <a:extLst>
              <a:ext uri="{FF2B5EF4-FFF2-40B4-BE49-F238E27FC236}">
                <a16:creationId xmlns:a16="http://schemas.microsoft.com/office/drawing/2014/main" id="{5DF2FFDE-C7D0-496E-96EF-59AE99EE4224}"/>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81884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298AA57F-AEB2-4790-A8B7-B62A0F532266}"/>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Validation Feedback</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The LLM sees exactly where it went wrong — on its own JSON</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254500"/>
          </a:xfrm>
          <a:prstGeom prst="rect">
            <a:avLst/>
          </a:prstGeom>
          <a:noFill/>
          <a:ln>
            <a:noFill/>
          </a:ln>
        </p:spPr>
        <p:txBody>
          <a:bodyPr wrap="square" lIns="0" tIns="0" rIns="0" bIns="0"/>
          <a:lstStyle/>
          <a:p>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"order"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"payment"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 </a:t>
            </a:r>
            <a:r>
              <a:rPr lang="en-US" sz="1400" dirty="0">
                <a:solidFill>
                  <a:srgbClr val="FF6B6B"/>
                </a:solidFill>
                <a:latin typeface="Consolas"/>
              </a:rPr>
              <a:t>// ❌ [{"path":"$input.order.payment.cardNumber","expected":"string"}]</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"product"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"Laptop"</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B5CEA8"/>
                </a:solidFill>
                <a:latin typeface="Consolas"/>
              </a:rPr>
              <a:t>-100, </a:t>
            </a:r>
            <a:r>
              <a:rPr lang="en-US" sz="1400" dirty="0">
                <a:solidFill>
                  <a:srgbClr val="FF6B6B"/>
                </a:solidFill>
                <a:latin typeface="Consolas"/>
              </a:rPr>
              <a:t>// ❌ [{"path":"$input.order.product.price","expected":"number &amp; Minimum&lt;0&gt;"}]</a:t>
            </a:r>
          </a:p>
          <a:p>
            <a:r>
              <a:rPr lang="en-US" sz="1400" dirty="0">
                <a:solidFill>
                  <a:srgbClr val="D4D4D4"/>
                </a:solidFill>
                <a:latin typeface="Consolas"/>
              </a:rPr>
              <a:t>      </a:t>
            </a:r>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B5CEA8"/>
                </a:solidFill>
                <a:latin typeface="Consolas"/>
              </a:rPr>
              <a:t>2.5 </a:t>
            </a:r>
            <a:r>
              <a:rPr lang="en-US" sz="1400" dirty="0">
                <a:solidFill>
                  <a:srgbClr val="FF6B6B"/>
                </a:solidFill>
                <a:latin typeface="Consolas"/>
              </a:rPr>
              <a:t>// ❌ [{"path":"$input.order.product.quantity","expected":"number &amp; Type&lt;\"uint32\"&gt;"}]</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"customer"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"John Doe"</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"email"</a:t>
            </a:r>
            <a:r>
              <a:rPr lang="en-US" sz="1400" dirty="0">
                <a:solidFill>
                  <a:srgbClr val="D4D4D4"/>
                </a:solidFill>
                <a:latin typeface="Consolas"/>
              </a:rPr>
              <a:t>: </a:t>
            </a:r>
            <a:r>
              <a:rPr lang="en-US" sz="1400" dirty="0">
                <a:solidFill>
                  <a:srgbClr val="CE9178"/>
                </a:solidFill>
                <a:latin typeface="Consolas"/>
              </a:rPr>
              <a:t>"invalid-email", </a:t>
            </a:r>
            <a:r>
              <a:rPr lang="en-US" sz="1400" dirty="0">
                <a:solidFill>
                  <a:srgbClr val="FF6B6B"/>
                </a:solidFill>
                <a:latin typeface="Consolas"/>
              </a:rPr>
              <a:t>// ❌ [{"path":"$input.order.customer.email","expected":"string &amp; Format&lt;\"email\"&gt;"}]</a:t>
            </a:r>
          </a:p>
          <a:p>
            <a:r>
              <a:rPr lang="en-US" sz="1400" dirty="0">
                <a:solidFill>
                  <a:srgbClr val="D4D4D4"/>
                </a:solidFill>
                <a:latin typeface="Consolas"/>
              </a:rPr>
              <a:t>      </a:t>
            </a:r>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"yes" </a:t>
            </a:r>
            <a:r>
              <a:rPr lang="en-US" sz="1400" dirty="0">
                <a:solidFill>
                  <a:srgbClr val="FF6B6B"/>
                </a:solidFill>
                <a:latin typeface="Consolas"/>
              </a:rPr>
              <a:t>// ❌ [{"path":"$input.order.customer.vip","expected":"boolean"}]</a:t>
            </a:r>
          </a:p>
          <a:p>
            <a:r>
              <a:rPr lang="en-US" sz="1400" dirty="0">
                <a:solidFill>
                  <a:srgbClr val="D4D4D4"/>
                </a:solidFill>
                <a:latin typeface="Consolas"/>
              </a:rPr>
              <a:t>    }</a:t>
            </a:r>
          </a:p>
          <a:p>
            <a:r>
              <a:rPr lang="en-US" sz="1400" dirty="0">
                <a:solidFill>
                  <a:srgbClr val="D4D4D4"/>
                </a:solidFill>
                <a:latin typeface="Consolas"/>
              </a:rPr>
              <a:t>  }</a:t>
            </a:r>
          </a:p>
          <a:p>
            <a:r>
              <a:rPr lang="en-US" sz="1400" dirty="0">
                <a:solidFill>
                  <a:srgbClr val="D4D4D4"/>
                </a:solidFill>
                <a:latin typeface="Consolas"/>
              </a:rPr>
              <a:t>}</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DF5327"/>
                </a:solidFill>
                <a:latin typeface="Segoe UI Semibold"/>
                <a:ea typeface="+mn-ea"/>
                <a:cs typeface="+mn-cs"/>
              </a:rPr>
              <a:t>5 errors, 5 exact paths</a:t>
            </a:r>
            <a:r>
              <a:rPr lang="en-US" sz="1800" dirty="0">
                <a:ln>
                  <a:noFill/>
                </a:ln>
                <a:solidFill>
                  <a:srgbClr val="A0A0A0"/>
                </a:solidFill>
                <a:latin typeface="Segoe UI"/>
                <a:ea typeface="+mn-ea"/>
                <a:cs typeface="+mn-cs"/>
              </a:rPr>
              <a:t>  —  fix only what’s broken, keep everything else</a:t>
            </a:r>
          </a:p>
        </p:txBody>
      </p:sp>
      <p:sp>
        <p:nvSpPr>
          <p:cNvPr id="3" name="AL">
            <a:extLst>
              <a:ext uri="{FF2B5EF4-FFF2-40B4-BE49-F238E27FC236}">
                <a16:creationId xmlns:a16="http://schemas.microsoft.com/office/drawing/2014/main" id="{5AAB71ED-8F04-4FD9-9941-57A8837F6261}"/>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1548338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4024-5850-4C2B-1D47-1E40A9357DA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FB0B2D8-6AAF-F6FA-71CE-16D43D3F6F4F}"/>
              </a:ext>
            </a:extLst>
          </p:cNvPr>
          <p:cNvSpPr>
            <a:spLocks noGrp="1"/>
          </p:cNvSpPr>
          <p:nvPr>
            <p:ph type="title"/>
          </p:nvPr>
        </p:nvSpPr>
        <p:spPr/>
        <p:txBody>
          <a:bodyPr/>
          <a:lstStyle/>
          <a:p>
            <a:pPr>
              <a:buNone/>
            </a:pPr>
            <a:r>
              <a:rPr lang="en-US" sz="2800" b="1" dirty="0">
                <a:solidFill>
                  <a:srgbClr val="222222"/>
                </a:solidFill>
                <a:latin typeface="Segoe UI Semibold"/>
              </a:rPr>
              <a:t>The Only Compiler-Level Solution</a:t>
            </a:r>
          </a:p>
        </p:txBody>
      </p:sp>
      <p:sp>
        <p:nvSpPr>
          <p:cNvPr id="3" name="내용 개체 틀 2">
            <a:extLst>
              <a:ext uri="{FF2B5EF4-FFF2-40B4-BE49-F238E27FC236}">
                <a16:creationId xmlns:a16="http://schemas.microsoft.com/office/drawing/2014/main" id="{B5B743BA-3E45-D5E4-43F6-0E70D319E0DE}"/>
              </a:ext>
            </a:extLst>
          </p:cNvPr>
          <p:cNvSpPr>
            <a:spLocks noGrp="1"/>
          </p:cNvSpPr>
          <p:nvPr>
            <p:ph idx="1"/>
          </p:nvPr>
        </p:nvSpPr>
        <p:spPr/>
        <p:txBody>
          <a:bodyPr/>
          <a:lstStyle/>
          <a:p>
            <a:pPr>
              <a:buNone/>
            </a:pPr>
            <a:r>
              <a:rPr lang="en-US" sz="1800" dirty="0">
                <a:solidFill>
                  <a:srgbClr val="555555"/>
                </a:solidFill>
                <a:latin typeface="Segoe UI"/>
              </a:rPr>
              <a:t>Typia is the only framework that operates at the compiler level</a:t>
            </a:r>
          </a:p>
          <a:p>
            <a:pPr>
              <a:buNone/>
            </a:pPr>
            <a:r>
              <a:rPr lang="en-US" sz="1800" dirty="0">
                <a:solidFill>
                  <a:srgbClr val="555555"/>
                </a:solidFill>
                <a:latin typeface="Segoe UI"/>
              </a:rPr>
              <a:t>and supports all four in a single integrated pipeline:</a:t>
            </a:r>
          </a:p>
          <a:p>
            <a:pPr>
              <a:buNone/>
            </a:pPr>
            <a:endParaRPr lang="en-US" sz="1400" dirty="0"/>
          </a:p>
          <a:p>
            <a:pPr marL="457200" indent="-457200">
              <a:buFont typeface="Segoe UI Semibold"/>
              <a:buAutoNum type="arabicPeriod"/>
            </a:pPr>
            <a:r>
              <a:rPr lang="en-US" sz="2000" b="1" dirty="0">
                <a:solidFill>
                  <a:srgbClr val="222222"/>
                </a:solidFill>
                <a:latin typeface="Segoe UI Semibold"/>
              </a:rPr>
              <a:t>Schema Generation</a:t>
            </a:r>
            <a:r>
              <a:rPr lang="en-US" sz="2000" dirty="0">
                <a:solidFill>
                  <a:srgbClr val="555555"/>
                </a:solidFill>
                <a:latin typeface="Segoe UI"/>
              </a:rPr>
              <a:t>  —  from TypeScript types at compile time</a:t>
            </a:r>
          </a:p>
          <a:p>
            <a:pPr marL="457200" indent="-457200">
              <a:buFont typeface="Segoe UI Semibold"/>
              <a:buAutoNum type="arabicPeriod"/>
            </a:pPr>
            <a:r>
              <a:rPr lang="en-US" sz="2000" b="1" dirty="0">
                <a:solidFill>
                  <a:srgbClr val="222222"/>
                </a:solidFill>
                <a:latin typeface="Segoe UI Semibold"/>
              </a:rPr>
              <a:t>Lenient Parsing</a:t>
            </a:r>
            <a:r>
              <a:rPr lang="en-US" sz="2000" dirty="0">
                <a:solidFill>
                  <a:srgbClr val="555555"/>
                </a:solidFill>
                <a:latin typeface="Segoe UI"/>
              </a:rPr>
              <a:t>  —  broken JSON recovery + type coercion</a:t>
            </a:r>
          </a:p>
          <a:p>
            <a:pPr marL="457200" indent="-457200">
              <a:buFont typeface="Segoe UI Semibold"/>
              <a:buAutoNum type="arabicPeriod"/>
            </a:pPr>
            <a:r>
              <a:rPr lang="en-US" sz="2000" b="1" dirty="0">
                <a:solidFill>
                  <a:srgbClr val="222222"/>
                </a:solidFill>
                <a:latin typeface="Segoe UI Semibold"/>
              </a:rPr>
              <a:t>Validation</a:t>
            </a:r>
            <a:r>
              <a:rPr lang="en-US" sz="2000" dirty="0">
                <a:solidFill>
                  <a:srgbClr val="555555"/>
                </a:solidFill>
                <a:latin typeface="Segoe UI"/>
              </a:rPr>
              <a:t>  —  exact path + expected type for every error</a:t>
            </a:r>
          </a:p>
          <a:p>
            <a:pPr marL="457200" indent="-457200">
              <a:buFont typeface="Segoe UI Semibold"/>
              <a:buAutoNum type="arabicPeriod"/>
            </a:pPr>
            <a:r>
              <a:rPr lang="en-US" sz="2000" b="1" dirty="0">
                <a:solidFill>
                  <a:srgbClr val="222222"/>
                </a:solidFill>
                <a:latin typeface="Segoe UI Semibold"/>
              </a:rPr>
              <a:t>Feedback Generation</a:t>
            </a:r>
            <a:r>
              <a:rPr lang="en-US" sz="2000" dirty="0">
                <a:solidFill>
                  <a:srgbClr val="555555"/>
                </a:solidFill>
                <a:latin typeface="Segoe UI"/>
              </a:rPr>
              <a:t>  —  LLM-readable structured error report</a:t>
            </a:r>
          </a:p>
          <a:p>
            <a:pPr>
              <a:buNone/>
            </a:pPr>
            <a:endParaRPr lang="en-US" sz="1400" dirty="0"/>
          </a:p>
        </p:txBody>
      </p:sp>
    </p:spTree>
    <p:extLst>
      <p:ext uri="{BB962C8B-B14F-4D97-AF65-F5344CB8AC3E}">
        <p14:creationId xmlns:p14="http://schemas.microsoft.com/office/powerpoint/2010/main" val="27764702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Harness Engineering: AutoBe + Typia</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20000"/>
          </a:bodyPr>
          <a:lstStyle/>
          <a:p>
            <a:pPr>
              <a:buNone/>
            </a:pPr>
            <a:r>
              <a:rPr lang="en-US" sz="1800" b="1" dirty="0"/>
              <a:t>Typia Layer (Function Calling level)</a:t>
            </a:r>
          </a:p>
          <a:p>
            <a:pPr>
              <a:buFont typeface="Arial"/>
              <a:buChar char="•"/>
            </a:pPr>
            <a:r>
              <a:rPr lang="en-US" sz="1800" dirty="0"/>
              <a:t>Type → auto schema generation</a:t>
            </a:r>
          </a:p>
          <a:p>
            <a:pPr>
              <a:buFont typeface="Arial"/>
              <a:buChar char="•"/>
            </a:pPr>
            <a:r>
              <a:rPr lang="en-US" sz="1800" dirty="0"/>
              <a:t>Broken JSON recovery (lenient parsing)</a:t>
            </a:r>
          </a:p>
          <a:p>
            <a:pPr>
              <a:buFont typeface="Arial"/>
              <a:buChar char="•"/>
            </a:pPr>
            <a:r>
              <a:rPr lang="en-US" sz="1800" dirty="0"/>
              <a:t>Schema-based type coercion</a:t>
            </a:r>
          </a:p>
          <a:p>
            <a:pPr>
              <a:buFont typeface="Arial"/>
              <a:buChar char="•"/>
            </a:pPr>
            <a:r>
              <a:rPr lang="en-US" sz="1800" dirty="0"/>
              <a:t>Precise error feedback (validation feedback)</a:t>
            </a:r>
          </a:p>
          <a:p>
            <a:pPr>
              <a:buNone/>
            </a:pPr>
            <a:endParaRPr lang="en-US" sz="800" dirty="0"/>
          </a:p>
          <a:p>
            <a:pPr>
              <a:buNone/>
            </a:pPr>
            <a:r>
              <a:rPr lang="en-US" sz="1800" b="1" dirty="0"/>
              <a:t>AutoBe Layer (system level)</a:t>
            </a:r>
          </a:p>
          <a:p>
            <a:pPr>
              <a:buFont typeface="Arial"/>
              <a:buChar char="•"/>
            </a:pPr>
            <a:r>
              <a:rPr lang="en-US" sz="1800" dirty="0"/>
              <a:t>4 AST types + 4-tier compiler validation</a:t>
            </a:r>
          </a:p>
          <a:p>
            <a:pPr>
              <a:buFont typeface="Arial"/>
              <a:buChar char="•"/>
            </a:pPr>
            <a:r>
              <a:rPr lang="en-US" sz="1800" dirty="0"/>
              <a:t>Self-healing loops (diagnostics → correction)</a:t>
            </a:r>
          </a:p>
          <a:p>
            <a:pPr>
              <a:buFont typeface="Arial"/>
              <a:buChar char="•"/>
            </a:pPr>
            <a:r>
              <a:rPr lang="en-US" sz="1800" dirty="0"/>
              <a:t>40+ agent collaboration + batch + prompt caching</a:t>
            </a:r>
          </a:p>
          <a:p>
            <a:pPr>
              <a:buNone/>
            </a:pPr>
            <a:endParaRPr lang="en-US" sz="800" dirty="0"/>
          </a:p>
          <a:p>
            <a:pPr>
              <a:buNone/>
            </a:pPr>
            <a:r>
              <a:rPr lang="en-US" sz="1800" b="1" dirty="0"/>
              <a:t>Typia makes FC I/O robust. AutoBe ensures system-wide consistency. Together = the harness.</a:t>
            </a:r>
          </a:p>
        </p:txBody>
      </p:sp>
    </p:spTree>
    <p:extLst>
      <p:ext uri="{BB962C8B-B14F-4D97-AF65-F5344CB8AC3E}">
        <p14:creationId xmlns:p14="http://schemas.microsoft.com/office/powerpoint/2010/main" val="33165693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 </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lgn="ctr">
              <a:buNone/>
            </a:pPr>
            <a:endParaRPr lang="en-US" sz="1800" dirty="0"/>
          </a:p>
          <a:p>
            <a:pPr algn="ctr">
              <a:buNone/>
            </a:pPr>
            <a:r>
              <a:rPr lang="en-US" sz="2400" i="1" dirty="0"/>
              <a:t>"The type is the schema,</a:t>
            </a:r>
          </a:p>
          <a:p>
            <a:pPr algn="ctr">
              <a:buNone/>
            </a:pPr>
            <a:r>
              <a:rPr lang="en-US" sz="2400" i="1" dirty="0"/>
              <a:t>the validator,</a:t>
            </a:r>
          </a:p>
          <a:p>
            <a:pPr algn="ctr">
              <a:buNone/>
            </a:pPr>
            <a:r>
              <a:rPr lang="en-US" sz="2400" i="1" dirty="0"/>
              <a:t>and the prompt."</a:t>
            </a:r>
          </a:p>
          <a:p>
            <a:pPr algn="ctr">
              <a:buNone/>
            </a:pPr>
            <a:endParaRPr lang="en-US" sz="1800" dirty="0"/>
          </a:p>
          <a:p>
            <a:pPr algn="ctr">
              <a:buNone/>
            </a:pPr>
            <a:r>
              <a:rPr lang="en-US" sz="1800" dirty="0"/>
              <a:t>The harness is everything around it.</a:t>
            </a:r>
          </a:p>
        </p:txBody>
      </p:sp>
    </p:spTree>
    <p:extLst>
      <p:ext uri="{BB962C8B-B14F-4D97-AF65-F5344CB8AC3E}">
        <p14:creationId xmlns:p14="http://schemas.microsoft.com/office/powerpoint/2010/main" val="1549045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7F071FCC-F169-B831-AD6A-798DA5EE49B0}"/>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dirty="0"/>
              <a:t>Function calling</a:t>
            </a:r>
          </a:p>
        </p:txBody>
      </p:sp>
      <p:sp>
        <p:nvSpPr>
          <p:cNvPr id="5" name="텍스트 개체 틀 4">
            <a:extLst>
              <a:ext uri="{FF2B5EF4-FFF2-40B4-BE49-F238E27FC236}">
                <a16:creationId xmlns:a16="http://schemas.microsoft.com/office/drawing/2014/main" id="{3BC3F71E-05C6-D697-4F24-D4CF0784978D}"/>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Advantages of Function Calling</a:t>
            </a:r>
            <a:endParaRPr lang="en-US"/>
          </a:p>
          <a:p>
            <a:r>
              <a:rPr lang="en-US" dirty="0"/>
              <a:t>Applications</a:t>
            </a:r>
            <a:r>
              <a:rPr lang="en-US" altLang="ko-KR"/>
              <a:t> </a:t>
            </a:r>
            <a:r>
              <a:rPr lang="en-US" altLang="ko-KR" dirty="0"/>
              <a:t>in</a:t>
            </a:r>
            <a:r>
              <a:rPr lang="en-US" altLang="ko-KR"/>
              <a:t> </a:t>
            </a:r>
            <a:r>
              <a:rPr lang="en-US" altLang="ko-KR" dirty="0"/>
              <a:t>Engineering</a:t>
            </a:r>
            <a:r>
              <a:rPr lang="en-US" altLang="ko-KR"/>
              <a:t> </a:t>
            </a:r>
            <a:r>
              <a:rPr lang="en-US" altLang="ko-KR" dirty="0"/>
              <a:t>Designs</a:t>
            </a:r>
            <a:endParaRPr lang="en-US"/>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펜과 자">
            <a:extLst>
              <a:ext uri="{FF2B5EF4-FFF2-40B4-BE49-F238E27FC236}">
                <a16:creationId xmlns:a16="http://schemas.microsoft.com/office/drawing/2014/main" id="{45DCFBD0-4F6D-65C4-DD7E-39E9E3008F84}"/>
              </a:ext>
            </a:extLst>
          </p:cNvPr>
          <p:cNvPicPr>
            <a:picLocks noChangeAspect="1"/>
          </p:cNvPicPr>
          <p:nvPr/>
        </p:nvPicPr>
        <p:blipFill>
          <a:blip r:embed="rId3"/>
          <a:srcRect l="24153" r="30624"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39259672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8A5411-B2F4-5F32-6EB1-19BE2AEC747C}"/>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1FBA0717-BF22-A901-5514-2746EC8C428E}"/>
              </a:ext>
            </a:extLst>
          </p:cNvPr>
          <p:cNvSpPr>
            <a:spLocks noGrp="1"/>
          </p:cNvSpPr>
          <p:nvPr>
            <p:ph idx="1"/>
          </p:nvPr>
        </p:nvSpPr>
        <p:spPr/>
        <p:txBody>
          <a:bodyPr>
            <a:normAutofit/>
          </a:bodyPr>
          <a:lstStyle/>
          <a:p>
            <a:r>
              <a:rPr lang="en-US" dirty="0"/>
              <a:t>Types eliminate ambiguity</a:t>
            </a:r>
          </a:p>
          <a:p>
            <a:pPr lvl="1"/>
            <a:r>
              <a:rPr lang="en-US" dirty="0">
                <a:solidFill>
                  <a:srgbClr val="267F99"/>
                </a:solidFill>
                <a:latin typeface="Consolas"/>
              </a:rPr>
              <a:t>ExclusiveMinimum</a:t>
            </a:r>
            <a:r>
              <a:rPr lang="en-US" dirty="0">
                <a:solidFill>
                  <a:srgbClr val="000000"/>
                </a:solidFill>
                <a:latin typeface="Consolas"/>
              </a:rPr>
              <a:t>&lt;</a:t>
            </a:r>
            <a:r>
              <a:rPr lang="en-US" dirty="0">
                <a:solidFill>
                  <a:srgbClr val="098658"/>
                </a:solidFill>
                <a:latin typeface="Consolas"/>
              </a:rPr>
              <a:t>18</a:t>
            </a:r>
            <a:r>
              <a:rPr lang="en-US" dirty="0">
                <a:solidFill>
                  <a:srgbClr val="000000"/>
                </a:solidFill>
                <a:latin typeface="Consolas"/>
              </a:rPr>
              <a:t>&gt;</a:t>
            </a:r>
            <a:r>
              <a:rPr lang="en-US" dirty="0"/>
              <a:t> vs "greater than 18"</a:t>
            </a:r>
          </a:p>
          <a:p>
            <a:endParaRPr lang="en-US" dirty="0"/>
          </a:p>
          <a:p>
            <a:r>
              <a:rPr lang="en-US" dirty="0"/>
              <a:t>Schemas constrain by absence, not prohibition</a:t>
            </a:r>
          </a:p>
          <a:p>
            <a:pPr lvl="1"/>
            <a:r>
              <a:rPr lang="en-US" dirty="0"/>
              <a:t>No "any" in schema → can't generate it</a:t>
            </a:r>
          </a:p>
          <a:p>
            <a:endParaRPr lang="en-US" dirty="0"/>
          </a:p>
          <a:p>
            <a:r>
              <a:rPr lang="en-US" dirty="0"/>
              <a:t>Model-neutral: same schema, any model</a:t>
            </a:r>
          </a:p>
          <a:p>
            <a:r>
              <a:rPr lang="en-US" dirty="0"/>
              <a:t>Deterministically convergent: 6.75% → 100%</a:t>
            </a:r>
          </a:p>
        </p:txBody>
      </p:sp>
    </p:spTree>
    <p:extLst>
      <p:ext uri="{BB962C8B-B14F-4D97-AF65-F5344CB8AC3E}">
        <p14:creationId xmlns:p14="http://schemas.microsoft.com/office/powerpoint/2010/main" val="15623975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Via Prompt:</a:t>
            </a:r>
          </a:p>
          <a:p>
            <a:pPr lvl="1"/>
            <a:r>
              <a:rPr lang="en-US" dirty="0"/>
              <a:t>"The age field must be a positive integer greater than 18. Don't use string types for numeric fields. All required fields must be present..."</a:t>
            </a:r>
          </a:p>
          <a:p>
            <a:endParaRPr lang="en-US" dirty="0"/>
          </a:p>
          <a:p>
            <a:r>
              <a:rPr lang="en-US" dirty="0"/>
              <a:t>Problems:</a:t>
            </a:r>
          </a:p>
          <a:p>
            <a:pPr lvl="1"/>
            <a:r>
              <a:rPr lang="en-US" dirty="0"/>
              <a:t>Is "&gt;18" or "≥18"? No way to verify</a:t>
            </a:r>
          </a:p>
          <a:p>
            <a:pPr lvl="1"/>
            <a:r>
              <a:rPr lang="en-US" dirty="0"/>
              <a:t>Rules multiply endlessly as schemas grow</a:t>
            </a:r>
          </a:p>
        </p:txBody>
      </p:sp>
      <p:sp>
        <p:nvSpPr>
          <p:cNvPr id="4" name="사각형: 둥근 모서리 3">
            <a:extLst>
              <a:ext uri="{FF2B5EF4-FFF2-40B4-BE49-F238E27FC236}">
                <a16:creationId xmlns:a16="http://schemas.microsoft.com/office/drawing/2014/main" id="{176F7788-94AE-4E05-84B1-A2823EE762E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D4D4D4"/>
                </a:solidFill>
                <a:latin typeface="Consolas"/>
              </a:rPr>
              <a:t>Via Type:</a:t>
            </a:r>
          </a:p>
          <a:p>
            <a:pPr algn="l">
              <a:buNone/>
            </a:pPr>
            <a:r>
              <a:rPr lang="en-US" sz="1600" dirty="0">
                <a:solidFill>
                  <a:srgbClr val="569CD6"/>
                </a:solidFill>
                <a:latin typeface="Consolas"/>
              </a:rPr>
              <a:t>interface </a:t>
            </a:r>
            <a:r>
              <a:rPr lang="en-US" sz="1600" dirty="0">
                <a:solidFill>
                  <a:srgbClr val="4EC9B0"/>
                </a:solidFill>
                <a:latin typeface="Consolas"/>
              </a:rPr>
              <a:t>IMember</a:t>
            </a:r>
            <a:r>
              <a:rPr lang="en-US" sz="1600" dirty="0">
                <a:solidFill>
                  <a:srgbClr val="D4D4D4"/>
                </a:solidFill>
                <a:latin typeface="Consolas"/>
              </a:rPr>
              <a:t> {</a:t>
            </a:r>
          </a:p>
          <a:p>
            <a:pPr algn="l">
              <a:buNone/>
            </a:pPr>
            <a:r>
              <a:rPr lang="en-US" sz="1600" dirty="0">
                <a:solidFill>
                  <a:srgbClr val="D4D4D4"/>
                </a:solidFill>
                <a:latin typeface="Consolas"/>
              </a:rPr>
              <a:t>  age: </a:t>
            </a:r>
            <a:r>
              <a:rPr lang="en-US" sz="1600" dirty="0">
                <a:solidFill>
                  <a:srgbClr val="4EC9B0"/>
                </a:solidFill>
                <a:latin typeface="Consolas"/>
              </a:rPr>
              <a:t>number</a:t>
            </a:r>
          </a:p>
          <a:p>
            <a:pPr algn="l">
              <a:buNone/>
            </a:pPr>
            <a:r>
              <a:rPr lang="en-US" sz="1600" dirty="0">
                <a:solidFill>
                  <a:srgbClr val="D4D4D4"/>
                </a:solidFill>
                <a:latin typeface="Consolas"/>
              </a:rPr>
              <a:t>    &amp; </a:t>
            </a:r>
            <a:r>
              <a:rPr lang="en-US" sz="1600" dirty="0">
                <a:solidFill>
                  <a:srgbClr val="4EC9B0"/>
                </a:solidFill>
                <a:latin typeface="Consolas"/>
              </a:rPr>
              <a:t>Type</a:t>
            </a:r>
            <a:r>
              <a:rPr lang="en-US" sz="1600" dirty="0">
                <a:solidFill>
                  <a:srgbClr val="D4D4D4"/>
                </a:solidFill>
                <a:latin typeface="Consolas"/>
              </a:rPr>
              <a:t>&lt;</a:t>
            </a:r>
            <a:r>
              <a:rPr lang="en-US" sz="1600" dirty="0">
                <a:solidFill>
                  <a:srgbClr val="CE9178"/>
                </a:solidFill>
                <a:latin typeface="Consolas"/>
              </a:rPr>
              <a:t>"uint32"</a:t>
            </a:r>
            <a:r>
              <a:rPr lang="en-US" sz="1600" dirty="0">
                <a:solidFill>
                  <a:srgbClr val="D4D4D4"/>
                </a:solidFill>
                <a:latin typeface="Consolas"/>
              </a:rPr>
              <a:t>&gt;</a:t>
            </a:r>
          </a:p>
          <a:p>
            <a:pPr algn="l">
              <a:buNone/>
            </a:pPr>
            <a:r>
              <a:rPr lang="en-US" sz="1600" dirty="0">
                <a:solidFill>
                  <a:srgbClr val="D4D4D4"/>
                </a:solidFill>
                <a:latin typeface="Consolas"/>
              </a:rPr>
              <a:t>    &amp; </a:t>
            </a:r>
            <a:r>
              <a:rPr lang="en-US" sz="1600" dirty="0">
                <a:solidFill>
                  <a:srgbClr val="4EC9B0"/>
                </a:solidFill>
                <a:latin typeface="Consolas"/>
              </a:rPr>
              <a:t>ExclusiveMinimum</a:t>
            </a:r>
            <a:r>
              <a:rPr lang="en-US" sz="1600" dirty="0">
                <a:solidFill>
                  <a:srgbClr val="D4D4D4"/>
                </a:solidFill>
                <a:latin typeface="Consolas"/>
              </a:rPr>
              <a:t>&lt;18&gt;;</a:t>
            </a:r>
          </a:p>
          <a:p>
            <a:pPr algn="l">
              <a:buNone/>
            </a:pPr>
            <a:r>
              <a:rPr lang="en-US" sz="1600" dirty="0">
                <a:solidFill>
                  <a:srgbClr val="D4D4D4"/>
                </a:solidFill>
                <a:latin typeface="Consolas"/>
              </a:rPr>
              <a:t>}</a:t>
            </a:r>
          </a:p>
          <a:p>
            <a:pPr algn="l">
              <a:buNone/>
            </a:pPr>
            <a:endParaRPr lang="en-US" sz="1600" dirty="0">
              <a:solidFill>
                <a:srgbClr val="D4D4D4"/>
              </a:solidFill>
              <a:latin typeface="Consolas"/>
            </a:endParaRPr>
          </a:p>
          <a:p>
            <a:pPr algn="l">
              <a:buNone/>
            </a:pPr>
            <a:r>
              <a:rPr lang="en-US" sz="1600" dirty="0">
                <a:solidFill>
                  <a:srgbClr val="6A9955"/>
                </a:solidFill>
                <a:latin typeface="Consolas"/>
              </a:rPr>
              <a:t>// ✓ Mechanically verifiable</a:t>
            </a:r>
          </a:p>
          <a:p>
            <a:pPr algn="l">
              <a:buNone/>
            </a:pPr>
            <a:r>
              <a:rPr lang="en-US" sz="1600" dirty="0">
                <a:solidFill>
                  <a:srgbClr val="6A9955"/>
                </a:solidFill>
                <a:latin typeface="Consolas"/>
              </a:rPr>
              <a:t>// ExclusiveMinimum&lt;18&gt; is &gt;18.</a:t>
            </a:r>
          </a:p>
          <a:p>
            <a:pPr algn="l">
              <a:buNone/>
            </a:pPr>
            <a:r>
              <a:rPr lang="en-US" sz="1600" dirty="0">
                <a:solidFill>
                  <a:srgbClr val="6A9955"/>
                </a:solidFill>
                <a:latin typeface="Consolas"/>
              </a:rPr>
              <a:t>// It's an integer. It's required.</a:t>
            </a:r>
          </a:p>
          <a:p>
            <a:pPr algn="l">
              <a:buNone/>
            </a:pPr>
            <a:r>
              <a:rPr lang="en-US" sz="1600" dirty="0">
                <a:solidFill>
                  <a:srgbClr val="6A9955"/>
                </a:solidFill>
                <a:latin typeface="Consolas"/>
              </a:rPr>
              <a:t>// No ambiguity.</a:t>
            </a:r>
          </a:p>
        </p:txBody>
      </p:sp>
    </p:spTree>
    <p:extLst>
      <p:ext uri="{BB962C8B-B14F-4D97-AF65-F5344CB8AC3E}">
        <p14:creationId xmlns:p14="http://schemas.microsoft.com/office/powerpoint/2010/main" val="26364247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1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1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sz="1800" dirty="0"/>
              <a:t>"Don't think of a pink elephant“</a:t>
            </a:r>
          </a:p>
          <a:p>
            <a:pPr lvl="1"/>
            <a:r>
              <a:rPr lang="en-US" sz="1600" dirty="0"/>
              <a:t>"Don't do X" places X at the center of attention</a:t>
            </a:r>
          </a:p>
          <a:p>
            <a:pPr lvl="1"/>
            <a:r>
              <a:rPr lang="en-US" sz="1600" dirty="0"/>
              <a:t>Paradoxically</a:t>
            </a:r>
            <a:r>
              <a:rPr lang="ko-KR" altLang="en-US" sz="1600" dirty="0"/>
              <a:t> </a:t>
            </a:r>
            <a:r>
              <a:rPr lang="en-US" altLang="ko-KR" sz="1600" dirty="0"/>
              <a:t>increases</a:t>
            </a:r>
            <a:r>
              <a:rPr lang="ko-KR" altLang="en-US" sz="1600" dirty="0"/>
              <a:t> </a:t>
            </a:r>
            <a:r>
              <a:rPr lang="en-US" altLang="ko-KR" sz="1600" dirty="0"/>
              <a:t>generation</a:t>
            </a:r>
            <a:r>
              <a:rPr lang="ko-KR" altLang="en-US" sz="1600" dirty="0"/>
              <a:t> </a:t>
            </a:r>
            <a:r>
              <a:rPr lang="en-US" altLang="ko-KR" sz="1600" dirty="0"/>
              <a:t>probability</a:t>
            </a:r>
          </a:p>
          <a:p>
            <a:pPr lvl="1"/>
            <a:endParaRPr lang="en-US" sz="1800" dirty="0"/>
          </a:p>
          <a:p>
            <a:r>
              <a:rPr lang="en-US" sz="1800" dirty="0"/>
              <a:t>With schemas, this problem disappears</a:t>
            </a:r>
          </a:p>
          <a:p>
            <a:pPr lvl="1"/>
            <a:r>
              <a:rPr lang="en-US" sz="1600" dirty="0"/>
              <a:t>No "any" in schema → LLM cannot generate it</a:t>
            </a:r>
          </a:p>
          <a:p>
            <a:pPr lvl="1"/>
            <a:r>
              <a:rPr lang="en-US" sz="1600" dirty="0"/>
              <a:t>Field types limited to 7 choices → no "varchar“</a:t>
            </a:r>
          </a:p>
          <a:p>
            <a:pPr lvl="1"/>
            <a:endParaRPr lang="en-US" sz="1800" dirty="0"/>
          </a:p>
          <a:p>
            <a:r>
              <a:rPr lang="en-US" sz="1800" dirty="0"/>
              <a:t>Not prohibition, but absence</a:t>
            </a:r>
          </a:p>
          <a:p>
            <a:pPr lvl="1"/>
            <a:r>
              <a:rPr lang="en-US" sz="1600" dirty="0"/>
              <a:t>Prompts prohibit what you don't want</a:t>
            </a:r>
          </a:p>
          <a:p>
            <a:pPr lvl="1"/>
            <a:r>
              <a:rPr lang="en-US" sz="1600" dirty="0"/>
              <a:t>Schemas allow only what you do want</a:t>
            </a:r>
          </a:p>
        </p:txBody>
      </p:sp>
      <p:pic>
        <p:nvPicPr>
          <p:cNvPr id="6" name="내용 개체 틀 5">
            <a:extLst>
              <a:ext uri="{FF2B5EF4-FFF2-40B4-BE49-F238E27FC236}">
                <a16:creationId xmlns:a16="http://schemas.microsoft.com/office/drawing/2014/main" id="{B5942124-FF8B-D9BD-7304-3FDC6CBF3AD5}"/>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1669" r="26877"/>
          <a:stretch>
            <a:fillRect/>
          </a:stretch>
        </p:blipFill>
        <p:spPr>
          <a:xfrm>
            <a:off x="8301386" y="243840"/>
            <a:ext cx="3646837" cy="6377939"/>
          </a:xfrm>
          <a:prstGeom prst="rect">
            <a:avLst/>
          </a:prstGeom>
        </p:spPr>
      </p:pic>
      <p:sp>
        <p:nvSpPr>
          <p:cNvPr id="10" name="Rectangle 1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12121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use the any type"</a:t>
            </a:r>
          </a:p>
          <a:p>
            <a:endParaRPr lang="en-US" dirty="0"/>
          </a:p>
          <a:p>
            <a:r>
              <a:rPr lang="en-US" dirty="0"/>
              <a:t>Schema:</a:t>
            </a:r>
          </a:p>
          <a:p>
            <a:pPr lvl="1"/>
            <a:r>
              <a:rPr lang="en-US" dirty="0"/>
              <a:t>IJsonSchema = 10 variants</a:t>
            </a:r>
          </a:p>
          <a:p>
            <a:pPr lvl="1"/>
            <a:r>
              <a:rPr lang="en-US" dirty="0"/>
              <a:t>No "any" in the union</a:t>
            </a:r>
          </a:p>
          <a:p>
            <a:pPr lvl="1"/>
            <a:r>
              <a:rPr lang="en-US" dirty="0"/>
              <a:t>→ Can't generate it</a:t>
            </a:r>
          </a:p>
        </p:txBody>
      </p:sp>
      <p:sp>
        <p:nvSpPr>
          <p:cNvPr id="4" name="사각형: 둥근 모서리 3">
            <a:extLst>
              <a:ext uri="{FF2B5EF4-FFF2-40B4-BE49-F238E27FC236}">
                <a16:creationId xmlns:a16="http://schemas.microsoft.com/office/drawing/2014/main" id="{F8702D85-A6E1-4B85-A971-D080F22BD8B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569CD6"/>
                </a:solidFill>
                <a:latin typeface="Consolas"/>
              </a:rPr>
              <a:t>export type </a:t>
            </a:r>
            <a:r>
              <a:rPr lang="en-US" sz="1600" dirty="0">
                <a:solidFill>
                  <a:srgbClr val="4EC9B0"/>
                </a:solidFill>
                <a:latin typeface="Consolas"/>
              </a:rPr>
              <a:t>IJsonSchema</a:t>
            </a:r>
            <a:r>
              <a:rPr lang="en-US" sz="1600" dirty="0">
                <a:solidFill>
                  <a:srgbClr val="D4D4D4"/>
                </a:solidFill>
                <a:latin typeface="Consolas"/>
              </a:rPr>
              <a:t> =</a:t>
            </a:r>
          </a:p>
          <a:p>
            <a:pPr algn="l">
              <a:buNone/>
            </a:pPr>
            <a:r>
              <a:rPr lang="en-US" sz="1600" dirty="0">
                <a:solidFill>
                  <a:srgbClr val="D4D4D4"/>
                </a:solidFill>
                <a:latin typeface="Consolas"/>
              </a:rPr>
              <a:t>  | </a:t>
            </a:r>
            <a:r>
              <a:rPr lang="en-US" sz="1600" dirty="0">
                <a:solidFill>
                  <a:srgbClr val="4EC9B0"/>
                </a:solidFill>
                <a:latin typeface="Consolas"/>
              </a:rPr>
              <a:t>IJsonSchema.IConstant</a:t>
            </a:r>
          </a:p>
          <a:p>
            <a:pPr algn="l">
              <a:buNone/>
            </a:pPr>
            <a:r>
              <a:rPr lang="en-US" sz="1600" dirty="0">
                <a:solidFill>
                  <a:srgbClr val="D4D4D4"/>
                </a:solidFill>
                <a:latin typeface="Consolas"/>
              </a:rPr>
              <a:t>  | </a:t>
            </a:r>
            <a:r>
              <a:rPr lang="en-US" sz="1600" dirty="0">
                <a:solidFill>
                  <a:srgbClr val="4EC9B0"/>
                </a:solidFill>
                <a:latin typeface="Consolas"/>
              </a:rPr>
              <a:t>IJsonSchema.IBoolean</a:t>
            </a:r>
          </a:p>
          <a:p>
            <a:pPr algn="l">
              <a:buNone/>
            </a:pPr>
            <a:r>
              <a:rPr lang="en-US" sz="1600" dirty="0">
                <a:solidFill>
                  <a:srgbClr val="D4D4D4"/>
                </a:solidFill>
                <a:latin typeface="Consolas"/>
              </a:rPr>
              <a:t>  | </a:t>
            </a:r>
            <a:r>
              <a:rPr lang="en-US" sz="1600" dirty="0">
                <a:solidFill>
                  <a:srgbClr val="4EC9B0"/>
                </a:solidFill>
                <a:latin typeface="Consolas"/>
              </a:rPr>
              <a:t>IJsonSchema.IInteger</a:t>
            </a:r>
          </a:p>
          <a:p>
            <a:pPr algn="l">
              <a:buNone/>
            </a:pPr>
            <a:r>
              <a:rPr lang="en-US" sz="1600" dirty="0">
                <a:solidFill>
                  <a:srgbClr val="D4D4D4"/>
                </a:solidFill>
                <a:latin typeface="Consolas"/>
              </a:rPr>
              <a:t>  | </a:t>
            </a:r>
            <a:r>
              <a:rPr lang="en-US" sz="1600" dirty="0">
                <a:solidFill>
                  <a:srgbClr val="4EC9B0"/>
                </a:solidFill>
                <a:latin typeface="Consolas"/>
              </a:rPr>
              <a:t>IJsonSchema.INumber</a:t>
            </a:r>
          </a:p>
          <a:p>
            <a:pPr algn="l">
              <a:buNone/>
            </a:pPr>
            <a:r>
              <a:rPr lang="en-US" sz="1600" dirty="0">
                <a:solidFill>
                  <a:srgbClr val="D4D4D4"/>
                </a:solidFill>
                <a:latin typeface="Consolas"/>
              </a:rPr>
              <a:t>  | </a:t>
            </a:r>
            <a:r>
              <a:rPr lang="en-US" sz="1600" dirty="0">
                <a:solidFill>
                  <a:srgbClr val="4EC9B0"/>
                </a:solidFill>
                <a:latin typeface="Consolas"/>
              </a:rPr>
              <a:t>IJsonSchema.IString</a:t>
            </a:r>
          </a:p>
          <a:p>
            <a:pPr algn="l">
              <a:buNone/>
            </a:pPr>
            <a:r>
              <a:rPr lang="en-US" sz="1600" dirty="0">
                <a:solidFill>
                  <a:srgbClr val="D4D4D4"/>
                </a:solidFill>
                <a:latin typeface="Consolas"/>
              </a:rPr>
              <a:t>  | </a:t>
            </a:r>
            <a:r>
              <a:rPr lang="en-US" sz="1600" dirty="0">
                <a:solidFill>
                  <a:srgbClr val="4EC9B0"/>
                </a:solidFill>
                <a:latin typeface="Consolas"/>
              </a:rPr>
              <a:t>IJsonSchema.IArray</a:t>
            </a:r>
          </a:p>
          <a:p>
            <a:pPr algn="l">
              <a:buNone/>
            </a:pPr>
            <a:r>
              <a:rPr lang="en-US" sz="1600" dirty="0">
                <a:solidFill>
                  <a:srgbClr val="D4D4D4"/>
                </a:solidFill>
                <a:latin typeface="Consolas"/>
              </a:rPr>
              <a:t>  | </a:t>
            </a:r>
            <a:r>
              <a:rPr lang="en-US" sz="1600" dirty="0">
                <a:solidFill>
                  <a:srgbClr val="4EC9B0"/>
                </a:solidFill>
                <a:latin typeface="Consolas"/>
              </a:rPr>
              <a:t>IJsonSchema.IObject</a:t>
            </a:r>
          </a:p>
          <a:p>
            <a:pPr algn="l">
              <a:buNone/>
            </a:pPr>
            <a:r>
              <a:rPr lang="en-US" sz="1600" dirty="0">
                <a:solidFill>
                  <a:srgbClr val="D4D4D4"/>
                </a:solidFill>
                <a:latin typeface="Consolas"/>
              </a:rPr>
              <a:t>  | </a:t>
            </a:r>
            <a:r>
              <a:rPr lang="en-US" sz="1600" dirty="0">
                <a:solidFill>
                  <a:srgbClr val="4EC9B0"/>
                </a:solidFill>
                <a:latin typeface="Consolas"/>
              </a:rPr>
              <a:t>IJsonSchema.IReference</a:t>
            </a:r>
          </a:p>
          <a:p>
            <a:pPr algn="l">
              <a:buNone/>
            </a:pPr>
            <a:r>
              <a:rPr lang="en-US" sz="1600" dirty="0">
                <a:solidFill>
                  <a:srgbClr val="D4D4D4"/>
                </a:solidFill>
                <a:latin typeface="Consolas"/>
              </a:rPr>
              <a:t>  | </a:t>
            </a:r>
            <a:r>
              <a:rPr lang="en-US" sz="1600" dirty="0">
                <a:solidFill>
                  <a:srgbClr val="4EC9B0"/>
                </a:solidFill>
                <a:latin typeface="Consolas"/>
              </a:rPr>
              <a:t>IJsonSchema.IOneOf</a:t>
            </a:r>
          </a:p>
          <a:p>
            <a:pPr algn="l">
              <a:buNone/>
            </a:pPr>
            <a:r>
              <a:rPr lang="en-US" sz="1600" dirty="0">
                <a:solidFill>
                  <a:srgbClr val="D4D4D4"/>
                </a:solidFill>
                <a:latin typeface="Consolas"/>
              </a:rPr>
              <a:t>  | </a:t>
            </a:r>
            <a:r>
              <a:rPr lang="en-US" sz="1600" dirty="0">
                <a:solidFill>
                  <a:srgbClr val="4EC9B0"/>
                </a:solidFill>
                <a:latin typeface="Consolas"/>
              </a:rPr>
              <a:t>IJsonSchema.INull</a:t>
            </a:r>
            <a:r>
              <a:rPr lang="en-US" sz="1600" dirty="0">
                <a:solidFill>
                  <a:srgbClr val="D4D4D4"/>
                </a:solidFill>
                <a:latin typeface="Consolas"/>
              </a:rPr>
              <a:t>;</a:t>
            </a:r>
          </a:p>
          <a:p>
            <a:pPr algn="l">
              <a:buNone/>
            </a:pPr>
            <a:endParaRPr lang="en-US" sz="1600" dirty="0">
              <a:latin typeface="Consolas"/>
            </a:endParaRPr>
          </a:p>
          <a:p>
            <a:pPr algn="l">
              <a:buNone/>
            </a:pPr>
            <a:r>
              <a:rPr lang="en-US" sz="1600" dirty="0">
                <a:solidFill>
                  <a:srgbClr val="6A9955"/>
                </a:solidFill>
                <a:latin typeface="Consolas"/>
              </a:rPr>
              <a:t>// 10 variants. No "any".</a:t>
            </a:r>
          </a:p>
          <a:p>
            <a:pPr algn="l">
              <a:buNone/>
            </a:pPr>
            <a:r>
              <a:rPr lang="en-US" sz="1600" dirty="0">
                <a:solidFill>
                  <a:srgbClr val="6A9955"/>
                </a:solidFill>
                <a:latin typeface="Consolas"/>
              </a:rPr>
              <a:t>// Can't generate what doesn't exist.</a:t>
            </a:r>
          </a:p>
        </p:txBody>
      </p:sp>
    </p:spTree>
    <p:extLst>
      <p:ext uri="{BB962C8B-B14F-4D97-AF65-F5344CB8AC3E}">
        <p14:creationId xmlns:p14="http://schemas.microsoft.com/office/powerpoint/2010/main" val="1259857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make inline</a:t>
            </a:r>
            <a:r>
              <a:rPr lang="ko-KR" altLang="en-US" dirty="0"/>
              <a:t> </a:t>
            </a:r>
            <a:r>
              <a:rPr lang="en-US" dirty="0"/>
              <a:t>object type</a:t>
            </a:r>
          </a:p>
          <a:p>
            <a:pPr lvl="1"/>
            <a:r>
              <a:rPr lang="en-US" dirty="0"/>
              <a:t>(describing what inline object type is)</a:t>
            </a:r>
          </a:p>
          <a:p>
            <a:pPr lvl="1"/>
            <a:r>
              <a:rPr lang="en-US" sz="1800" dirty="0">
                <a:solidFill>
                  <a:srgbClr val="000000"/>
                </a:solidFill>
                <a:latin typeface="Consolas"/>
              </a:rPr>
              <a:t>{</a:t>
            </a:r>
            <a:r>
              <a:rPr lang="en-US" sz="1800" dirty="0">
                <a:solidFill>
                  <a:srgbClr val="001080"/>
                </a:solidFill>
                <a:latin typeface="Consolas"/>
              </a:rPr>
              <a:t>something</a:t>
            </a:r>
            <a:r>
              <a:rPr lang="en-US" sz="1800" dirty="0">
                <a:solidFill>
                  <a:srgbClr val="000000"/>
                </a:solidFill>
                <a:latin typeface="Consolas"/>
              </a:rPr>
              <a:t>:{</a:t>
            </a:r>
            <a:r>
              <a:rPr lang="en-US" sz="1800" dirty="0">
                <a:solidFill>
                  <a:srgbClr val="001080"/>
                </a:solidFill>
                <a:latin typeface="Consolas"/>
              </a:rPr>
              <a:t>nothing</a:t>
            </a:r>
            <a:r>
              <a:rPr lang="en-US" sz="1800" dirty="0">
                <a:solidFill>
                  <a:srgbClr val="000000"/>
                </a:solidFill>
                <a:latin typeface="Consolas"/>
              </a:rPr>
              <a:t>:{</a:t>
            </a:r>
            <a:r>
              <a:rPr lang="en-US" sz="1800" dirty="0">
                <a:solidFill>
                  <a:srgbClr val="001080"/>
                </a:solidFill>
                <a:latin typeface="Consolas"/>
              </a:rPr>
              <a:t>x</a:t>
            </a:r>
            <a:r>
              <a:rPr lang="en-US" sz="1800" dirty="0">
                <a:solidFill>
                  <a:srgbClr val="000000"/>
                </a:solidFill>
                <a:latin typeface="Consolas"/>
              </a:rPr>
              <a:t>: </a:t>
            </a:r>
            <a:r>
              <a:rPr lang="en-US" sz="1800" dirty="0">
                <a:solidFill>
                  <a:srgbClr val="267F99"/>
                </a:solidFill>
                <a:latin typeface="Consolas"/>
              </a:rPr>
              <a:t>number</a:t>
            </a:r>
            <a:r>
              <a:rPr lang="en-US" sz="1800" dirty="0">
                <a:solidFill>
                  <a:srgbClr val="000000"/>
                </a:solidFill>
                <a:latin typeface="Consolas"/>
              </a:rPr>
              <a:t>}}}</a:t>
            </a:r>
            <a:endParaRPr lang="en-US" sz="1800" dirty="0"/>
          </a:p>
          <a:p>
            <a:endParaRPr lang="en-US" dirty="0"/>
          </a:p>
          <a:p>
            <a:r>
              <a:rPr lang="en-US" dirty="0"/>
              <a:t>Schema:</a:t>
            </a:r>
          </a:p>
          <a:p>
            <a:pPr lvl="1"/>
            <a:r>
              <a:rPr lang="en-US" dirty="0">
                <a:solidFill>
                  <a:srgbClr val="795E26"/>
                </a:solidFill>
                <a:latin typeface="Consolas"/>
              </a:rPr>
              <a:t>Exclude</a:t>
            </a:r>
            <a:r>
              <a:rPr lang="en-US" dirty="0">
                <a:solidFill>
                  <a:srgbClr val="000000"/>
                </a:solidFill>
                <a:latin typeface="Consolas"/>
              </a:rPr>
              <a:t>&lt;</a:t>
            </a:r>
            <a:r>
              <a:rPr lang="en-US" dirty="0">
                <a:solidFill>
                  <a:srgbClr val="267F99"/>
                </a:solidFill>
                <a:latin typeface="Consolas"/>
              </a:rPr>
              <a:t>IJsonSchema</a:t>
            </a:r>
            <a:r>
              <a:rPr lang="en-US" dirty="0">
                <a:solidFill>
                  <a:srgbClr val="000000"/>
                </a:solidFill>
                <a:latin typeface="Consolas"/>
              </a:rPr>
              <a:t>, </a:t>
            </a:r>
            <a:r>
              <a:rPr lang="en-US" dirty="0">
                <a:solidFill>
                  <a:srgbClr val="267F99"/>
                </a:solidFill>
                <a:latin typeface="Consolas"/>
              </a:rPr>
              <a:t>IObject</a:t>
            </a:r>
            <a:r>
              <a:rPr lang="en-US" dirty="0">
                <a:solidFill>
                  <a:srgbClr val="000000"/>
                </a:solidFill>
                <a:latin typeface="Consolas"/>
              </a:rPr>
              <a:t>&gt;</a:t>
            </a:r>
            <a:endParaRPr lang="en-US" dirty="0"/>
          </a:p>
          <a:p>
            <a:pPr lvl="1"/>
            <a:r>
              <a:rPr lang="en-US" dirty="0"/>
              <a:t>Inline object excluded by type</a:t>
            </a:r>
          </a:p>
          <a:p>
            <a:pPr lvl="1"/>
            <a:r>
              <a:rPr lang="en-US" dirty="0"/>
              <a:t>→ Can't generate it</a:t>
            </a:r>
          </a:p>
        </p:txBody>
      </p:sp>
      <p:sp>
        <p:nvSpPr>
          <p:cNvPr id="4" name="사각형: 둥근 모서리 3">
            <a:extLst>
              <a:ext uri="{FF2B5EF4-FFF2-40B4-BE49-F238E27FC236}">
                <a16:creationId xmlns:a16="http://schemas.microsoft.com/office/drawing/2014/main" id="{3FF25A35-1385-41C0-8E18-D4F5958DDCF9}"/>
              </a:ext>
            </a:extLst>
          </p:cNvPr>
          <p:cNvSpPr/>
          <p:nvPr/>
        </p:nvSpPr>
        <p:spPr>
          <a:xfrm>
            <a:off x="6080760" y="2057400"/>
            <a:ext cx="5730240" cy="439928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400" dirty="0">
                <a:solidFill>
                  <a:srgbClr val="569CD6"/>
                </a:solidFill>
                <a:latin typeface="Consolas"/>
              </a:rPr>
              <a:t>export namespace </a:t>
            </a:r>
            <a:r>
              <a:rPr lang="en-US" sz="1400" dirty="0">
                <a:solidFill>
                  <a:srgbClr val="4EC9B0"/>
                </a:solidFill>
                <a:latin typeface="Consolas"/>
              </a:rPr>
              <a:t>IJsonSchema</a:t>
            </a:r>
            <a:r>
              <a:rPr lang="en-US" sz="1400" dirty="0">
                <a:solidFill>
                  <a:srgbClr val="D4D4D4"/>
                </a:solidFill>
                <a:latin typeface="Consolas"/>
              </a:rPr>
              <a:t> {</a:t>
            </a:r>
          </a:p>
          <a:p>
            <a:pPr algn="l">
              <a:buNone/>
            </a:pPr>
            <a:r>
              <a:rPr lang="en-US" sz="1400" dirty="0">
                <a:solidFill>
                  <a:srgbClr val="569CD6"/>
                </a:solidFill>
                <a:latin typeface="Consolas"/>
              </a:rPr>
              <a:t>  export interface </a:t>
            </a:r>
            <a:r>
              <a:rPr lang="en-US" sz="1400" dirty="0">
                <a:solidFill>
                  <a:srgbClr val="4EC9B0"/>
                </a:solidFill>
                <a:latin typeface="Consolas"/>
              </a:rPr>
              <a:t>IObject</a:t>
            </a:r>
            <a:r>
              <a:rPr lang="en-US" sz="1400" dirty="0">
                <a:solidFill>
                  <a:srgbClr val="D4D4D4"/>
                </a:solidFill>
                <a:latin typeface="Consolas"/>
              </a:rPr>
              <a:t> {</a:t>
            </a:r>
          </a:p>
          <a:p>
            <a:pPr algn="l">
              <a:buNone/>
            </a:pPr>
            <a:r>
              <a:rPr lang="en-US" sz="1400" dirty="0">
                <a:solidFill>
                  <a:srgbClr val="D4D4D4"/>
                </a:solidFill>
                <a:latin typeface="Consolas"/>
              </a:rPr>
              <a:t>    type: </a:t>
            </a:r>
            <a:r>
              <a:rPr lang="en-US" sz="1400" dirty="0">
                <a:solidFill>
                  <a:srgbClr val="CE9178"/>
                </a:solidFill>
                <a:latin typeface="Consolas"/>
              </a:rPr>
              <a:t>"object"</a:t>
            </a:r>
            <a:r>
              <a:rPr lang="en-US" sz="1400" dirty="0">
                <a:solidFill>
                  <a:srgbClr val="D4D4D4"/>
                </a:solidFill>
                <a:latin typeface="Consolas"/>
              </a:rPr>
              <a:t>;</a:t>
            </a:r>
          </a:p>
          <a:p>
            <a:pPr algn="l">
              <a:buNone/>
            </a:pPr>
            <a:r>
              <a:rPr lang="en-US" sz="1400" dirty="0">
                <a:solidFill>
                  <a:srgbClr val="D4D4D4"/>
                </a:solidFill>
                <a:latin typeface="Consolas"/>
              </a:rPr>
              <a:t>    properties?: </a:t>
            </a:r>
            <a:r>
              <a:rPr lang="en-US" sz="1400" dirty="0">
                <a:solidFill>
                  <a:srgbClr val="4EC9B0"/>
                </a:solidFill>
                <a:latin typeface="Consolas"/>
              </a:rPr>
              <a:t>Record</a:t>
            </a:r>
            <a:r>
              <a:rPr lang="en-US" sz="1400" dirty="0">
                <a:solidFill>
                  <a:srgbClr val="D4D4D4"/>
                </a:solidFill>
                <a:latin typeface="Consolas"/>
              </a:rPr>
              <a:t>&lt;</a:t>
            </a:r>
          </a:p>
          <a:p>
            <a:pPr algn="l">
              <a:buNone/>
            </a:pP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b="1" u="sng" dirty="0">
                <a:solidFill>
                  <a:srgbClr val="4EC9B0"/>
                </a:solidFill>
                <a:latin typeface="Consolas"/>
              </a:rPr>
              <a:t>Exclude</a:t>
            </a:r>
            <a:r>
              <a:rPr lang="en-US" sz="1400" b="1" u="sng" dirty="0">
                <a:solidFill>
                  <a:srgbClr val="D4D4D4"/>
                </a:solidFill>
                <a:latin typeface="Consolas"/>
              </a:rPr>
              <a:t>&lt;</a:t>
            </a:r>
            <a:r>
              <a:rPr lang="en-US" sz="1400" b="1" u="sng" dirty="0" err="1">
                <a:solidFill>
                  <a:srgbClr val="4EC9B0"/>
                </a:solidFill>
                <a:latin typeface="Consolas"/>
              </a:rPr>
              <a:t>IJsonSchema</a:t>
            </a:r>
            <a:r>
              <a:rPr lang="en-US" sz="1400" b="1" u="sng" dirty="0">
                <a:solidFill>
                  <a:srgbClr val="D4D4D4"/>
                </a:solidFill>
                <a:latin typeface="Consolas"/>
              </a:rPr>
              <a:t>, </a:t>
            </a:r>
            <a:r>
              <a:rPr lang="en-US" sz="1400" b="1" u="sng" dirty="0" err="1">
                <a:solidFill>
                  <a:srgbClr val="4EC9B0"/>
                </a:solidFill>
                <a:latin typeface="Consolas"/>
              </a:rPr>
              <a:t>IJsonSchema.IObject</a:t>
            </a:r>
            <a:r>
              <a:rPr lang="en-US" sz="1400" b="1" u="sng" dirty="0">
                <a:solidFill>
                  <a:srgbClr val="D4D4D4"/>
                </a:solidFill>
                <a:latin typeface="Consolas"/>
              </a:rPr>
              <a:t>&gt;</a:t>
            </a:r>
          </a:p>
          <a:p>
            <a:pPr algn="l">
              <a:buNone/>
            </a:pPr>
            <a:r>
              <a:rPr lang="en-US" sz="1400" dirty="0">
                <a:solidFill>
                  <a:srgbClr val="D4D4D4"/>
                </a:solidFill>
                <a:latin typeface="Consolas"/>
              </a:rPr>
              <a:t>    &gt;;</a:t>
            </a:r>
          </a:p>
          <a:p>
            <a:pPr algn="l">
              <a:buNone/>
            </a:pPr>
            <a:r>
              <a:rPr lang="en-US" sz="1400" dirty="0">
                <a:solidFill>
                  <a:srgbClr val="D4D4D4"/>
                </a:solidFill>
                <a:latin typeface="Consolas"/>
              </a:rPr>
              <a:t>    additionalProperties?: </a:t>
            </a:r>
          </a:p>
          <a:p>
            <a:pPr algn="l">
              <a:buNone/>
            </a:pPr>
            <a:r>
              <a:rPr lang="en-US" sz="1400" dirty="0">
                <a:solidFill>
                  <a:srgbClr val="D4D4D4"/>
                </a:solidFill>
                <a:latin typeface="Consolas"/>
              </a:rPr>
              <a:t>      | </a:t>
            </a:r>
            <a:r>
              <a:rPr lang="en-US" sz="1400" dirty="0" err="1">
                <a:solidFill>
                  <a:srgbClr val="4EC9B0"/>
                </a:solidFill>
                <a:latin typeface="Consolas"/>
              </a:rPr>
              <a:t>boolean</a:t>
            </a:r>
            <a:r>
              <a:rPr lang="en-US" sz="1400" dirty="0">
                <a:solidFill>
                  <a:srgbClr val="D4D4D4"/>
                </a:solidFill>
                <a:latin typeface="Consolas"/>
              </a:rPr>
              <a:t> </a:t>
            </a:r>
          </a:p>
          <a:p>
            <a:pPr algn="l">
              <a:buNone/>
            </a:pPr>
            <a:r>
              <a:rPr lang="en-US" sz="1400" dirty="0">
                <a:solidFill>
                  <a:srgbClr val="D4D4D4"/>
                </a:solidFill>
                <a:latin typeface="Consolas"/>
              </a:rPr>
              <a:t>      | </a:t>
            </a:r>
            <a:r>
              <a:rPr lang="en-US" sz="1400" b="1" u="sng" dirty="0">
                <a:solidFill>
                  <a:srgbClr val="4EC9B0"/>
                </a:solidFill>
                <a:latin typeface="Consolas"/>
              </a:rPr>
              <a:t>Exclude</a:t>
            </a:r>
            <a:r>
              <a:rPr lang="en-US" sz="1400" b="1" u="sng" dirty="0">
                <a:solidFill>
                  <a:srgbClr val="D4D4D4"/>
                </a:solidFill>
                <a:latin typeface="Consolas"/>
              </a:rPr>
              <a:t>&lt;</a:t>
            </a:r>
            <a:r>
              <a:rPr lang="en-US" sz="1400" b="1" u="sng" dirty="0" err="1">
                <a:solidFill>
                  <a:srgbClr val="4EC9B0"/>
                </a:solidFill>
                <a:latin typeface="Consolas"/>
              </a:rPr>
              <a:t>IJsonSchema</a:t>
            </a:r>
            <a:r>
              <a:rPr lang="en-US" sz="1400" b="1" u="sng" dirty="0">
                <a:solidFill>
                  <a:srgbClr val="D4D4D4"/>
                </a:solidFill>
                <a:latin typeface="Consolas"/>
              </a:rPr>
              <a:t>, </a:t>
            </a:r>
            <a:r>
              <a:rPr lang="en-US" sz="1400" b="1" u="sng" dirty="0" err="1">
                <a:solidFill>
                  <a:srgbClr val="4EC9B0"/>
                </a:solidFill>
                <a:latin typeface="Consolas"/>
              </a:rPr>
              <a:t>IJsonSchema.IObject</a:t>
            </a:r>
            <a:r>
              <a:rPr lang="en-US" sz="1400" b="1" u="sng" dirty="0">
                <a:solidFill>
                  <a:srgbClr val="D4D4D4"/>
                </a:solidFill>
                <a:latin typeface="Consolas"/>
              </a:rPr>
              <a:t>&gt;</a:t>
            </a:r>
            <a:r>
              <a:rPr lang="en-US" sz="1400" dirty="0">
                <a:solidFill>
                  <a:srgbClr val="D4D4D4"/>
                </a:solidFill>
                <a:latin typeface="Consolas"/>
              </a:rPr>
              <a:t>;</a:t>
            </a:r>
          </a:p>
          <a:p>
            <a:pPr algn="l">
              <a:buNone/>
            </a:pPr>
            <a:r>
              <a:rPr lang="en-US" sz="1400" dirty="0">
                <a:solidFill>
                  <a:srgbClr val="D4D4D4"/>
                </a:solidFill>
                <a:latin typeface="Consolas"/>
              </a:rPr>
              <a:t>    required?: </a:t>
            </a:r>
            <a:r>
              <a:rPr lang="en-US" sz="1400" dirty="0">
                <a:solidFill>
                  <a:srgbClr val="4EC9B0"/>
                </a:solidFill>
                <a:latin typeface="Consolas"/>
              </a:rPr>
              <a:t>string</a:t>
            </a:r>
            <a:r>
              <a:rPr lang="en-US" sz="1400" dirty="0">
                <a:solidFill>
                  <a:srgbClr val="D4D4D4"/>
                </a:solidFill>
                <a:latin typeface="Consolas"/>
              </a:rPr>
              <a:t>[];</a:t>
            </a:r>
          </a:p>
          <a:p>
            <a:pPr algn="l">
              <a:buNone/>
            </a:pPr>
            <a:r>
              <a:rPr lang="en-US" sz="1400" dirty="0">
                <a:solidFill>
                  <a:srgbClr val="D4D4D4"/>
                </a:solidFill>
                <a:latin typeface="Consolas"/>
              </a:rPr>
              <a:t>    description?: </a:t>
            </a:r>
            <a:r>
              <a:rPr lang="en-US" sz="1400" dirty="0">
                <a:solidFill>
                  <a:srgbClr val="4EC9B0"/>
                </a:solidFill>
                <a:latin typeface="Consolas"/>
              </a:rPr>
              <a:t>string</a:t>
            </a:r>
            <a:r>
              <a:rPr lang="en-US" sz="1400" dirty="0">
                <a:solidFill>
                  <a:srgbClr val="D4D4D4"/>
                </a:solidFill>
                <a:latin typeface="Consolas"/>
              </a:rPr>
              <a:t> | </a:t>
            </a:r>
            <a:r>
              <a:rPr lang="en-US" sz="1400" dirty="0">
                <a:solidFill>
                  <a:srgbClr val="4EC9B0"/>
                </a:solidFill>
                <a:latin typeface="Consolas"/>
              </a:rPr>
              <a:t>undefined</a:t>
            </a:r>
            <a:r>
              <a:rPr lang="en-US" sz="1400" dirty="0">
                <a:solidFill>
                  <a:srgbClr val="D4D4D4"/>
                </a:solidFill>
                <a:latin typeface="Consolas"/>
              </a:rPr>
              <a:t>;</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p>
        </p:txBody>
      </p:sp>
    </p:spTree>
    <p:extLst>
      <p:ext uri="{BB962C8B-B14F-4D97-AF65-F5344CB8AC3E}">
        <p14:creationId xmlns:p14="http://schemas.microsoft.com/office/powerpoint/2010/main" val="13888611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r>
              <a:rPr lang="en-US" dirty="0"/>
              <a:t>Prompt engineering is inherently model-dependent</a:t>
            </a:r>
          </a:p>
          <a:p>
            <a:pPr lvl="1"/>
            <a:r>
              <a:rPr lang="en-US" sz="1900" dirty="0"/>
              <a:t>Optimized for GPT ≠ works on Claude ≠ works on Qwen</a:t>
            </a:r>
          </a:p>
          <a:p>
            <a:endParaRPr lang="en-US" dirty="0"/>
          </a:p>
          <a:p>
            <a:r>
              <a:rPr lang="en-US" dirty="0"/>
              <a:t>Function calling is model-neutral</a:t>
            </a:r>
          </a:p>
          <a:p>
            <a:pPr lvl="1"/>
            <a:r>
              <a:rPr lang="en-US" sz="1900" dirty="0"/>
              <a:t>JSON Schema means the same regardless of model</a:t>
            </a:r>
          </a:p>
          <a:p>
            <a:pPr lvl="1"/>
            <a:r>
              <a:rPr lang="en-US" sz="1900" dirty="0"/>
              <a:t>Strong models: 1–2 attempts, weaker: 3–4, both → 100%</a:t>
            </a:r>
          </a:p>
          <a:p>
            <a:endParaRPr lang="en-US" dirty="0"/>
          </a:p>
          <a:p>
            <a:r>
              <a:rPr lang="en-US" dirty="0"/>
              <a:t>Same schema, same pipeline → 100% on all models</a:t>
            </a:r>
          </a:p>
          <a:p>
            <a:pPr lvl="1"/>
            <a:r>
              <a:rPr lang="en-US" sz="1900" dirty="0"/>
              <a:t>Qwen, GLM, DeepSeek, OpenAI — no model-specific tuning</a:t>
            </a:r>
          </a:p>
          <a:p>
            <a:pPr lvl="1"/>
            <a:r>
              <a:rPr lang="en-US" sz="1900" dirty="0"/>
              <a:t>"Can this model do it?" → "Which is most cost-effective?"</a:t>
            </a:r>
          </a:p>
          <a:p>
            <a:pPr lvl="1"/>
            <a:r>
              <a:rPr lang="en-US" sz="1900" dirty="0"/>
              <a:t>Cost = avg retries × tokens/attempt × cost/token</a:t>
            </a:r>
          </a:p>
        </p:txBody>
      </p:sp>
    </p:spTree>
    <p:extLst>
      <p:ext uri="{BB962C8B-B14F-4D97-AF65-F5344CB8AC3E}">
        <p14:creationId xmlns:p14="http://schemas.microsoft.com/office/powerpoint/2010/main" val="372442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OpenAI Cases</a:t>
            </a:r>
          </a:p>
          <a:p>
            <a:endParaRPr lang="en-US" sz="1800" dirty="0"/>
          </a:p>
          <a:p>
            <a:r>
              <a:rPr lang="en-US" sz="1800" dirty="0"/>
              <a:t>GPT-4 → GPT-4o: same prompts suddenly fail</a:t>
            </a:r>
          </a:p>
          <a:p>
            <a:pPr lvl="1"/>
            <a:r>
              <a:rPr lang="en-US" sz="1800" u="sng" dirty="0">
                <a:solidFill>
                  <a:srgbClr val="4A86C8"/>
                </a:solidFill>
              </a:rPr>
              <a:t>github.com/chapman4444/gpt4o-regression-report</a:t>
            </a:r>
            <a:endParaRPr lang="en-US" sz="1800" dirty="0"/>
          </a:p>
          <a:p>
            <a:endParaRPr lang="en-US" sz="1800" dirty="0"/>
          </a:p>
          <a:p>
            <a:r>
              <a:rPr lang="en-US" sz="1800" dirty="0"/>
              <a:t>GPT-4 → GPT-5: prompt rewrite required</a:t>
            </a:r>
          </a:p>
          <a:p>
            <a:pPr lvl="1"/>
            <a:r>
              <a:rPr lang="en-US" sz="1800" dirty="0"/>
              <a:t>OpenAI had to ship a Prompt Optimizer tool</a:t>
            </a:r>
          </a:p>
          <a:p>
            <a:pPr lvl="1"/>
            <a:r>
              <a:rPr lang="en-US" sz="1800" u="sng" dirty="0">
                <a:solidFill>
                  <a:srgbClr val="4A86C8"/>
                </a:solidFill>
              </a:rPr>
              <a:t>cookbook.openai.com/examples/gpt-5</a:t>
            </a:r>
            <a:endParaRPr lang="en-US" sz="1800" dirty="0"/>
          </a:p>
          <a:p>
            <a:endParaRPr lang="en-US" sz="1800" dirty="0"/>
          </a:p>
          <a:p>
            <a:r>
              <a:rPr lang="en-US" sz="1800" dirty="0"/>
              <a:t>GPT-4o retirement (2026.03.31): API endpoints shut down</a:t>
            </a:r>
          </a:p>
          <a:p>
            <a:pPr lvl="1"/>
            <a:r>
              <a:rPr lang="en-US" sz="1800" u="sng" dirty="0">
                <a:solidFill>
                  <a:srgbClr val="4A86C8"/>
                </a:solidFill>
              </a:rPr>
              <a:t>echostash.app/blog/gpt-4o-retirement</a:t>
            </a:r>
            <a:endParaRPr lang="en-US" sz="1800" dirty="0"/>
          </a:p>
        </p:txBody>
      </p:sp>
    </p:spTree>
    <p:extLst>
      <p:ext uri="{BB962C8B-B14F-4D97-AF65-F5344CB8AC3E}">
        <p14:creationId xmlns:p14="http://schemas.microsoft.com/office/powerpoint/2010/main" val="16827869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Anthropic + Conclusion</a:t>
            </a:r>
          </a:p>
          <a:p>
            <a:endParaRPr lang="en-US" sz="1800" dirty="0"/>
          </a:p>
          <a:p>
            <a:r>
              <a:rPr lang="en-US" sz="1800" dirty="0"/>
              <a:t>Claude 3.x → 4.x: breaking changes every major version</a:t>
            </a:r>
          </a:p>
          <a:p>
            <a:pPr lvl="1"/>
            <a:r>
              <a:rPr lang="en-US" sz="1800" dirty="0"/>
              <a:t>Prefill removed, tool versions changed, style shifted</a:t>
            </a:r>
          </a:p>
          <a:p>
            <a:pPr lvl="1"/>
            <a:r>
              <a:rPr lang="en-US" sz="1800" u="sng" dirty="0">
                <a:solidFill>
                  <a:srgbClr val="4A86C8"/>
                </a:solidFill>
              </a:rPr>
              <a:t>docs.anthropic.com/en/docs/about-claude/models/migrating-to-claude-4</a:t>
            </a:r>
            <a:endParaRPr lang="en-US" sz="1800" dirty="0"/>
          </a:p>
          <a:p>
            <a:endParaRPr lang="en-US" sz="1800" dirty="0"/>
          </a:p>
          <a:p>
            <a:r>
              <a:rPr lang="en-US" sz="1800" dirty="0"/>
              <a:t>Every vendor, every version: prompts must be rewritten</a:t>
            </a:r>
          </a:p>
          <a:p>
            <a:pPr lvl="1"/>
            <a:r>
              <a:rPr lang="en-US" sz="1800" dirty="0"/>
              <a:t>Model-specific tricks = vendor lock-in + technical debt</a:t>
            </a:r>
          </a:p>
          <a:p>
            <a:endParaRPr lang="en-US" sz="1800" dirty="0"/>
          </a:p>
          <a:p>
            <a:r>
              <a:rPr lang="en-US" sz="1800" b="1" dirty="0"/>
              <a:t>Type schemas don't break across versions.</a:t>
            </a:r>
          </a:p>
          <a:p>
            <a:r>
              <a:rPr lang="en-US" sz="1800" b="1" dirty="0"/>
              <a:t>JSON Schema is an industry standard — zero rewrite.</a:t>
            </a:r>
          </a:p>
        </p:txBody>
      </p:sp>
    </p:spTree>
    <p:extLst>
      <p:ext uri="{BB962C8B-B14F-4D97-AF65-F5344CB8AC3E}">
        <p14:creationId xmlns:p14="http://schemas.microsoft.com/office/powerpoint/2010/main" val="19546320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Function calling brings LLM output into software engineering</a:t>
            </a:r>
          </a:p>
          <a:p>
            <a:endParaRPr lang="en-US" dirty="0"/>
          </a:p>
          <a:p>
            <a:r>
              <a:rPr lang="en-US" dirty="0"/>
              <a:t>Structured output → engineering problem</a:t>
            </a:r>
          </a:p>
          <a:p>
            <a:pPr lvl="1"/>
            <a:r>
              <a:rPr lang="en-US" dirty="0"/>
              <a:t>Validation is deterministic — pass/fail</a:t>
            </a:r>
          </a:p>
          <a:p>
            <a:pPr lvl="1"/>
            <a:r>
              <a:rPr lang="en-US" dirty="0"/>
              <a:t>Feedback is precise — "Field X should be Y but got Z"</a:t>
            </a:r>
          </a:p>
          <a:p>
            <a:pPr lvl="1"/>
            <a:r>
              <a:rPr lang="en-US" dirty="0"/>
              <a:t>Correction converges — fix only that part</a:t>
            </a:r>
          </a:p>
          <a:p>
            <a:endParaRPr lang="en-US" dirty="0"/>
          </a:p>
          <a:p>
            <a:r>
              <a:rPr lang="en-US" dirty="0"/>
              <a:t>Type schema + deterministic validator + structured feedback</a:t>
            </a:r>
          </a:p>
          <a:p>
            <a:pPr lvl="1"/>
            <a:r>
              <a:rPr lang="en-US" dirty="0"/>
              <a:t>= harness</a:t>
            </a:r>
          </a:p>
          <a:p>
            <a:pPr lvl="1"/>
            <a:r>
              <a:rPr lang="en-US" dirty="0"/>
              <a:t>6.75% → 100%</a:t>
            </a:r>
          </a:p>
        </p:txBody>
      </p:sp>
    </p:spTree>
    <p:extLst>
      <p:ext uri="{BB962C8B-B14F-4D97-AF65-F5344CB8AC3E}">
        <p14:creationId xmlns:p14="http://schemas.microsoft.com/office/powerpoint/2010/main" val="27470824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 Schema</a:t>
            </a:r>
          </a:p>
          <a:p>
            <a:r>
              <a:rPr lang="en-US" dirty="0"/>
              <a:t>+ Deterministic Validator</a:t>
            </a:r>
          </a:p>
          <a:p>
            <a:r>
              <a:rPr lang="en-US" dirty="0"/>
              <a:t>+ Structured Feedback</a:t>
            </a:r>
          </a:p>
          <a:p>
            <a:endParaRPr lang="en-US" dirty="0"/>
          </a:p>
          <a:p>
            <a:r>
              <a:rPr lang="en-US" dirty="0"/>
              <a:t>Prompt engineering tries to make the probabilistic part reliable.</a:t>
            </a:r>
          </a:p>
          <a:p>
            <a:r>
              <a:rPr lang="en-US" dirty="0"/>
              <a:t>The harness makes the deterministic part airtight.</a:t>
            </a:r>
          </a:p>
          <a:p>
            <a:endParaRPr lang="en-US" dirty="0"/>
          </a:p>
          <a:p>
            <a:r>
              <a:rPr lang="en-US" dirty="0"/>
              <a:t>In domains that demand precision: 6.75% → 100%</a:t>
            </a:r>
          </a:p>
        </p:txBody>
      </p:sp>
    </p:spTree>
    <p:extLst>
      <p:ext uri="{BB962C8B-B14F-4D97-AF65-F5344CB8AC3E}">
        <p14:creationId xmlns:p14="http://schemas.microsoft.com/office/powerpoint/2010/main" val="23561694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4.5. This Pattern Is Universal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Every domain where output is mechanically verifiable</a:t>
            </a:r>
          </a:p>
          <a:p>
            <a:endParaRPr lang="en-US" dirty="0"/>
          </a:p>
          <a:p>
            <a:r>
              <a:rPr lang="en-US" dirty="0"/>
              <a:t>Applicable Domains</a:t>
            </a:r>
          </a:p>
          <a:p>
            <a:pPr lvl="1"/>
            <a:r>
              <a:rPr lang="en-US" dirty="0"/>
              <a:t>Software: type check → compilation → test execution</a:t>
            </a:r>
          </a:p>
          <a:p>
            <a:pPr lvl="1"/>
            <a:r>
              <a:rPr lang="en-US" dirty="0"/>
              <a:t>Semiconductor: DRC → LVS → SPICE simulation</a:t>
            </a:r>
          </a:p>
          <a:p>
            <a:pPr lvl="1"/>
            <a:r>
              <a:rPr lang="en-US" dirty="0"/>
              <a:t>Chemical Process: mass balance → energy balance → simulation</a:t>
            </a:r>
          </a:p>
          <a:p>
            <a:pPr lvl="1"/>
            <a:r>
              <a:rPr lang="en-US" dirty="0"/>
              <a:t>Control Systems: transfer function → stability → time-domain</a:t>
            </a:r>
          </a:p>
          <a:p>
            <a:endParaRPr lang="en-US" dirty="0"/>
          </a:p>
          <a:p>
            <a:r>
              <a:rPr lang="en-US" dirty="0"/>
              <a:t>Inapplicable: creative writing, strategic decisions</a:t>
            </a:r>
          </a:p>
          <a:p>
            <a:pPr lvl="1"/>
            <a:r>
              <a:rPr lang="en-US" dirty="0"/>
              <a:t>No validator → no feedback loop → no convergence</a:t>
            </a:r>
          </a:p>
        </p:txBody>
      </p:sp>
    </p:spTree>
    <p:extLst>
      <p:ext uri="{BB962C8B-B14F-4D97-AF65-F5344CB8AC3E}">
        <p14:creationId xmlns:p14="http://schemas.microsoft.com/office/powerpoint/2010/main" val="25423471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13D6CDE0-ED4D-44B9-A561-485A02015F23}"/>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Semiconductors — Chip Layout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DRC (fast) → LVS (med) → SPICE simulation (deep) — all deterministic</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IBlock</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ILogicBlock</a:t>
            </a:r>
            <a:r>
              <a:rPr lang="en-US" sz="1400" dirty="0">
                <a:solidFill>
                  <a:srgbClr val="6A9955"/>
                </a:solidFill>
                <a:latin typeface="Consolas"/>
              </a:rPr>
              <a:t>        // children: IBlock[]  ← recursive</a:t>
            </a:r>
          </a:p>
          <a:p>
            <a:pPr>
              <a:buNone/>
            </a:pPr>
            <a:r>
              <a:rPr lang="en-US" sz="1400" dirty="0">
                <a:solidFill>
                  <a:srgbClr val="D4D4D4"/>
                </a:solidFill>
                <a:latin typeface="Consolas"/>
              </a:rPr>
              <a:t>  | </a:t>
            </a:r>
            <a:r>
              <a:rPr lang="en-US" sz="1400" dirty="0">
                <a:solidFill>
                  <a:srgbClr val="4EC9B0"/>
                </a:solidFill>
                <a:latin typeface="Consolas"/>
              </a:rPr>
              <a:t>IMemoryBlock</a:t>
            </a:r>
            <a:r>
              <a:rPr lang="en-US" sz="1400" dirty="0">
                <a:solidFill>
                  <a:srgbClr val="6A9955"/>
                </a:solidFill>
                <a:latin typeface="Consolas"/>
              </a:rPr>
              <a:t>       // children: IBlock[]  ← SRAM, DRAM, ROM, Flash, MRAM</a:t>
            </a:r>
          </a:p>
          <a:p>
            <a:pPr>
              <a:buNone/>
            </a:pPr>
            <a:r>
              <a:rPr lang="en-US" sz="1400" dirty="0">
                <a:solidFill>
                  <a:srgbClr val="D4D4D4"/>
                </a:solidFill>
                <a:latin typeface="Consolas"/>
              </a:rPr>
              <a:t>  | </a:t>
            </a:r>
            <a:r>
              <a:rPr lang="en-US" sz="1400" dirty="0">
                <a:solidFill>
                  <a:srgbClr val="4EC9B0"/>
                </a:solidFill>
                <a:latin typeface="Consolas"/>
              </a:rPr>
              <a:t>IAnalogBlock</a:t>
            </a:r>
            <a:r>
              <a:rPr lang="en-US" sz="1400" dirty="0">
                <a:solidFill>
                  <a:srgbClr val="6A9955"/>
                </a:solidFill>
                <a:latin typeface="Consolas"/>
              </a:rPr>
              <a:t>       // children: IBlock[]  ← PLL, ADC, DAC, SerDes, LDO</a:t>
            </a:r>
          </a:p>
          <a:p>
            <a:pPr>
              <a:buNone/>
            </a:pPr>
            <a:r>
              <a:rPr lang="en-US" sz="1400" dirty="0">
                <a:solidFill>
                  <a:srgbClr val="D4D4D4"/>
                </a:solidFill>
                <a:latin typeface="Consolas"/>
              </a:rPr>
              <a:t>  | </a:t>
            </a:r>
            <a:r>
              <a:rPr lang="en-US" sz="1400" dirty="0">
                <a:solidFill>
                  <a:srgbClr val="4EC9B0"/>
                </a:solidFill>
                <a:latin typeface="Consolas"/>
              </a:rPr>
              <a:t>IIOBlock</a:t>
            </a:r>
            <a:r>
              <a:rPr lang="en-US" sz="1400" dirty="0">
                <a:solidFill>
                  <a:srgbClr val="D4D4D4"/>
                </a:solidFill>
                <a:latin typeface="Consolas"/>
              </a:rPr>
              <a:t> | </a:t>
            </a:r>
            <a:r>
              <a:rPr lang="en-US" sz="1400" dirty="0">
                <a:solidFill>
                  <a:srgbClr val="4EC9B0"/>
                </a:solidFill>
                <a:latin typeface="Consolas"/>
              </a:rPr>
              <a:t>IClockTree</a:t>
            </a:r>
            <a:r>
              <a:rPr lang="en-US" sz="1400" dirty="0">
                <a:solidFill>
                  <a:srgbClr val="D4D4D4"/>
                </a:solidFill>
                <a:latin typeface="Consolas"/>
              </a:rPr>
              <a:t> | </a:t>
            </a:r>
            <a:r>
              <a:rPr lang="en-US" sz="1400" dirty="0">
                <a:solidFill>
                  <a:srgbClr val="4EC9B0"/>
                </a:solidFill>
                <a:latin typeface="Consolas"/>
              </a:rPr>
              <a:t>IInterconnect</a:t>
            </a:r>
            <a:r>
              <a:rPr lang="en-US" sz="1400" dirty="0">
                <a:solidFill>
                  <a:srgbClr val="D4D4D4"/>
                </a:solidFill>
                <a:latin typeface="Consolas"/>
              </a:rPr>
              <a:t> | </a:t>
            </a:r>
            <a:r>
              <a:rPr lang="en-US" sz="1400" dirty="0">
                <a:solidFill>
                  <a:srgbClr val="4EC9B0"/>
                </a:solidFill>
                <a:latin typeface="Consolas"/>
              </a:rPr>
              <a:t>IPowerGrid</a:t>
            </a:r>
            <a:r>
              <a:rPr lang="en-US" sz="1400" dirty="0">
                <a:solidFill>
                  <a:srgbClr val="D4D4D4"/>
                </a:solidFill>
                <a:latin typeface="Consolas"/>
              </a:rPr>
              <a:t> | </a:t>
            </a:r>
            <a:r>
              <a:rPr lang="en-US" sz="1400" dirty="0">
                <a:solidFill>
                  <a:srgbClr val="4EC9B0"/>
                </a:solidFill>
                <a:latin typeface="Consolas"/>
              </a:rPr>
              <a:t>ICPU</a:t>
            </a:r>
            <a:r>
              <a:rPr lang="en-US" sz="1400" dirty="0">
                <a:solidFill>
                  <a:srgbClr val="D4D4D4"/>
                </a:solidFill>
                <a:latin typeface="Consolas"/>
              </a:rPr>
              <a:t> | </a:t>
            </a:r>
            <a:r>
              <a:rPr lang="en-US" sz="1400" dirty="0">
                <a:solidFill>
                  <a:srgbClr val="4EC9B0"/>
                </a:solidFill>
                <a:latin typeface="Consolas"/>
              </a:rPr>
              <a:t>IGPU</a:t>
            </a:r>
          </a:p>
          <a:p>
            <a:pPr>
              <a:buNone/>
            </a:pPr>
            <a:r>
              <a:rPr lang="en-US" sz="1400" dirty="0">
                <a:solidFill>
                  <a:srgbClr val="D4D4D4"/>
                </a:solidFill>
                <a:latin typeface="Consolas"/>
              </a:rPr>
              <a:t>  | </a:t>
            </a:r>
            <a:r>
              <a:rPr lang="en-US" sz="1400" dirty="0">
                <a:solidFill>
                  <a:srgbClr val="4EC9B0"/>
                </a:solidFill>
                <a:latin typeface="Consolas"/>
              </a:rPr>
              <a:t>INPU</a:t>
            </a:r>
            <a:r>
              <a:rPr lang="en-US" sz="1400" dirty="0">
                <a:solidFill>
                  <a:srgbClr val="D4D4D4"/>
                </a:solidFill>
                <a:latin typeface="Consolas"/>
              </a:rPr>
              <a:t> | </a:t>
            </a:r>
            <a:r>
              <a:rPr lang="en-US" sz="1400" dirty="0">
                <a:solidFill>
                  <a:srgbClr val="4EC9B0"/>
                </a:solidFill>
                <a:latin typeface="Consolas"/>
              </a:rPr>
              <a:t>IDSP</a:t>
            </a:r>
            <a:r>
              <a:rPr lang="en-US" sz="1400" dirty="0">
                <a:solidFill>
                  <a:srgbClr val="D4D4D4"/>
                </a:solidFill>
                <a:latin typeface="Consolas"/>
              </a:rPr>
              <a:t> | </a:t>
            </a:r>
            <a:r>
              <a:rPr lang="en-US" sz="1400" dirty="0">
                <a:solidFill>
                  <a:srgbClr val="4EC9B0"/>
                </a:solidFill>
                <a:latin typeface="Consolas"/>
              </a:rPr>
              <a:t>ISecurityBlock</a:t>
            </a:r>
            <a:r>
              <a:rPr lang="en-US" sz="1400" dirty="0">
                <a:solidFill>
                  <a:srgbClr val="D4D4D4"/>
                </a:solidFill>
                <a:latin typeface="Consolas"/>
              </a:rPr>
              <a:t> | </a:t>
            </a:r>
            <a:r>
              <a:rPr lang="en-US" sz="1400" dirty="0">
                <a:solidFill>
                  <a:srgbClr val="4EC9B0"/>
                </a:solidFill>
                <a:latin typeface="Consolas"/>
              </a:rPr>
              <a:t>IDebugBlock</a:t>
            </a:r>
            <a:r>
              <a:rPr lang="en-US" sz="1400" dirty="0">
                <a:solidFill>
                  <a:srgbClr val="D4D4D4"/>
                </a:solidFill>
                <a:latin typeface="Consolas"/>
              </a:rPr>
              <a:t> | </a:t>
            </a:r>
            <a:r>
              <a:rPr lang="en-US" sz="1400" dirty="0">
                <a:solidFill>
                  <a:srgbClr val="4EC9B0"/>
                </a:solidFill>
                <a:latin typeface="Consolas"/>
              </a:rPr>
              <a:t>IPhyBlock</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IStandardCell</a:t>
            </a:r>
            <a:r>
              <a:rPr lang="en-US" sz="1400" dirty="0">
                <a:solidFill>
                  <a:srgbClr val="D4D4D4"/>
                </a:solidFill>
                <a:latin typeface="Consolas"/>
              </a:rPr>
              <a:t> =</a:t>
            </a:r>
            <a:r>
              <a:rPr lang="en-US" sz="1400" dirty="0">
                <a:solidFill>
                  <a:srgbClr val="6A9955"/>
                </a:solidFill>
                <a:latin typeface="Consolas"/>
              </a:rPr>
              <a:t>                    // hundreds per PDK</a:t>
            </a:r>
          </a:p>
          <a:p>
            <a:pPr>
              <a:buNone/>
            </a:pPr>
            <a:r>
              <a:rPr lang="en-US" sz="1400" dirty="0">
                <a:solidFill>
                  <a:srgbClr val="D4D4D4"/>
                </a:solidFill>
                <a:latin typeface="Consolas"/>
              </a:rPr>
              <a:t>  | </a:t>
            </a:r>
            <a:r>
              <a:rPr lang="en-US" sz="1400" dirty="0">
                <a:solidFill>
                  <a:srgbClr val="4EC9B0"/>
                </a:solidFill>
                <a:latin typeface="Consolas"/>
              </a:rPr>
              <a:t>IAND</a:t>
            </a:r>
            <a:r>
              <a:rPr lang="en-US" sz="1400" dirty="0">
                <a:solidFill>
                  <a:srgbClr val="D4D4D4"/>
                </a:solidFill>
                <a:latin typeface="Consolas"/>
              </a:rPr>
              <a:t> | </a:t>
            </a:r>
            <a:r>
              <a:rPr lang="en-US" sz="1400" dirty="0">
                <a:solidFill>
                  <a:srgbClr val="4EC9B0"/>
                </a:solidFill>
                <a:latin typeface="Consolas"/>
              </a:rPr>
              <a:t>IOR</a:t>
            </a:r>
            <a:r>
              <a:rPr lang="en-US" sz="1400" dirty="0">
                <a:solidFill>
                  <a:srgbClr val="D4D4D4"/>
                </a:solidFill>
                <a:latin typeface="Consolas"/>
              </a:rPr>
              <a:t> | </a:t>
            </a:r>
            <a:r>
              <a:rPr lang="en-US" sz="1400" dirty="0">
                <a:solidFill>
                  <a:srgbClr val="4EC9B0"/>
                </a:solidFill>
                <a:latin typeface="Consolas"/>
              </a:rPr>
              <a:t>INAND</a:t>
            </a:r>
            <a:r>
              <a:rPr lang="en-US" sz="1400" dirty="0">
                <a:solidFill>
                  <a:srgbClr val="D4D4D4"/>
                </a:solidFill>
                <a:latin typeface="Consolas"/>
              </a:rPr>
              <a:t> | </a:t>
            </a:r>
            <a:r>
              <a:rPr lang="en-US" sz="1400" dirty="0">
                <a:solidFill>
                  <a:srgbClr val="4EC9B0"/>
                </a:solidFill>
                <a:latin typeface="Consolas"/>
              </a:rPr>
              <a:t>INOR</a:t>
            </a:r>
            <a:r>
              <a:rPr lang="en-US" sz="1400" dirty="0">
                <a:solidFill>
                  <a:srgbClr val="D4D4D4"/>
                </a:solidFill>
                <a:latin typeface="Consolas"/>
              </a:rPr>
              <a:t> | </a:t>
            </a:r>
            <a:r>
              <a:rPr lang="en-US" sz="1400" dirty="0">
                <a:solidFill>
                  <a:srgbClr val="4EC9B0"/>
                </a:solidFill>
                <a:latin typeface="Consolas"/>
              </a:rPr>
              <a:t>IXOR</a:t>
            </a:r>
            <a:r>
              <a:rPr lang="en-US" sz="1400" dirty="0">
                <a:solidFill>
                  <a:srgbClr val="D4D4D4"/>
                </a:solidFill>
                <a:latin typeface="Consolas"/>
              </a:rPr>
              <a:t> | </a:t>
            </a:r>
            <a:r>
              <a:rPr lang="en-US" sz="1400" dirty="0">
                <a:solidFill>
                  <a:srgbClr val="4EC9B0"/>
                </a:solidFill>
                <a:latin typeface="Consolas"/>
              </a:rPr>
              <a:t>IXNOR</a:t>
            </a:r>
            <a:r>
              <a:rPr lang="en-US" sz="1400" dirty="0">
                <a:solidFill>
                  <a:srgbClr val="D4D4D4"/>
                </a:solidFill>
                <a:latin typeface="Consolas"/>
              </a:rPr>
              <a:t> | </a:t>
            </a:r>
            <a:r>
              <a:rPr lang="en-US" sz="1400" dirty="0">
                <a:solidFill>
                  <a:srgbClr val="4EC9B0"/>
                </a:solidFill>
                <a:latin typeface="Consolas"/>
              </a:rPr>
              <a:t>INOT</a:t>
            </a:r>
            <a:r>
              <a:rPr lang="en-US" sz="1400" dirty="0">
                <a:solidFill>
                  <a:srgbClr val="D4D4D4"/>
                </a:solidFill>
                <a:latin typeface="Consolas"/>
              </a:rPr>
              <a:t> | </a:t>
            </a:r>
            <a:r>
              <a:rPr lang="en-US" sz="1400" dirty="0">
                <a:solidFill>
                  <a:srgbClr val="4EC9B0"/>
                </a:solidFill>
                <a:latin typeface="Consolas"/>
              </a:rPr>
              <a:t>IBUF</a:t>
            </a:r>
            <a:r>
              <a:rPr lang="en-US" sz="1400" dirty="0">
                <a:solidFill>
                  <a:srgbClr val="D4D4D4"/>
                </a:solidFill>
                <a:latin typeface="Consolas"/>
              </a:rPr>
              <a:t> | </a:t>
            </a:r>
            <a:r>
              <a:rPr lang="en-US" sz="1400" dirty="0">
                <a:solidFill>
                  <a:srgbClr val="4EC9B0"/>
                </a:solidFill>
                <a:latin typeface="Consolas"/>
              </a:rPr>
              <a:t>IMUX</a:t>
            </a:r>
            <a:r>
              <a:rPr lang="en-US" sz="1400" dirty="0">
                <a:solidFill>
                  <a:srgbClr val="D4D4D4"/>
                </a:solidFill>
                <a:latin typeface="Consolas"/>
              </a:rPr>
              <a:t> | </a:t>
            </a:r>
            <a:r>
              <a:rPr lang="en-US" sz="1400" dirty="0">
                <a:solidFill>
                  <a:srgbClr val="4EC9B0"/>
                </a:solidFill>
                <a:latin typeface="Consolas"/>
              </a:rPr>
              <a:t>IDEMUX</a:t>
            </a:r>
          </a:p>
          <a:p>
            <a:pPr>
              <a:buNone/>
            </a:pPr>
            <a:r>
              <a:rPr lang="en-US" sz="1400" dirty="0">
                <a:solidFill>
                  <a:srgbClr val="D4D4D4"/>
                </a:solidFill>
                <a:latin typeface="Consolas"/>
              </a:rPr>
              <a:t>  | </a:t>
            </a:r>
            <a:r>
              <a:rPr lang="en-US" sz="1400" dirty="0">
                <a:solidFill>
                  <a:srgbClr val="4EC9B0"/>
                </a:solidFill>
                <a:latin typeface="Consolas"/>
              </a:rPr>
              <a:t>IAOI</a:t>
            </a:r>
            <a:r>
              <a:rPr lang="en-US" sz="1400" dirty="0">
                <a:solidFill>
                  <a:srgbClr val="D4D4D4"/>
                </a:solidFill>
                <a:latin typeface="Consolas"/>
              </a:rPr>
              <a:t> | </a:t>
            </a:r>
            <a:r>
              <a:rPr lang="en-US" sz="1400" dirty="0">
                <a:solidFill>
                  <a:srgbClr val="4EC9B0"/>
                </a:solidFill>
                <a:latin typeface="Consolas"/>
              </a:rPr>
              <a:t>IOAI</a:t>
            </a:r>
            <a:r>
              <a:rPr lang="en-US" sz="1400" dirty="0">
                <a:solidFill>
                  <a:srgbClr val="D4D4D4"/>
                </a:solidFill>
                <a:latin typeface="Consolas"/>
              </a:rPr>
              <a:t> | </a:t>
            </a:r>
            <a:r>
              <a:rPr lang="en-US" sz="1400" dirty="0">
                <a:solidFill>
                  <a:srgbClr val="4EC9B0"/>
                </a:solidFill>
                <a:latin typeface="Consolas"/>
              </a:rPr>
              <a:t>IHA</a:t>
            </a:r>
            <a:r>
              <a:rPr lang="en-US" sz="1400" dirty="0">
                <a:solidFill>
                  <a:srgbClr val="D4D4D4"/>
                </a:solidFill>
                <a:latin typeface="Consolas"/>
              </a:rPr>
              <a:t> | </a:t>
            </a:r>
            <a:r>
              <a:rPr lang="en-US" sz="1400" dirty="0">
                <a:solidFill>
                  <a:srgbClr val="4EC9B0"/>
                </a:solidFill>
                <a:latin typeface="Consolas"/>
              </a:rPr>
              <a:t>IFA</a:t>
            </a:r>
            <a:r>
              <a:rPr lang="en-US" sz="1400" dirty="0">
                <a:solidFill>
                  <a:srgbClr val="D4D4D4"/>
                </a:solidFill>
                <a:latin typeface="Consolas"/>
              </a:rPr>
              <a:t> | </a:t>
            </a:r>
            <a:r>
              <a:rPr lang="en-US" sz="1400" dirty="0">
                <a:solidFill>
                  <a:srgbClr val="4EC9B0"/>
                </a:solidFill>
                <a:latin typeface="Consolas"/>
              </a:rPr>
              <a:t>IDFF</a:t>
            </a:r>
            <a:r>
              <a:rPr lang="en-US" sz="1400" dirty="0">
                <a:solidFill>
                  <a:srgbClr val="D4D4D4"/>
                </a:solidFill>
                <a:latin typeface="Consolas"/>
              </a:rPr>
              <a:t> | </a:t>
            </a:r>
            <a:r>
              <a:rPr lang="en-US" sz="1400" dirty="0">
                <a:solidFill>
                  <a:srgbClr val="4EC9B0"/>
                </a:solidFill>
                <a:latin typeface="Consolas"/>
              </a:rPr>
              <a:t>IJKFF</a:t>
            </a:r>
            <a:r>
              <a:rPr lang="en-US" sz="1400" dirty="0">
                <a:solidFill>
                  <a:srgbClr val="D4D4D4"/>
                </a:solidFill>
                <a:latin typeface="Consolas"/>
              </a:rPr>
              <a:t> | </a:t>
            </a:r>
            <a:r>
              <a:rPr lang="en-US" sz="1400" dirty="0">
                <a:solidFill>
                  <a:srgbClr val="4EC9B0"/>
                </a:solidFill>
                <a:latin typeface="Consolas"/>
              </a:rPr>
              <a:t>ILatch</a:t>
            </a:r>
            <a:r>
              <a:rPr lang="en-US" sz="1400" dirty="0">
                <a:solidFill>
                  <a:srgbClr val="D4D4D4"/>
                </a:solidFill>
                <a:latin typeface="Consolas"/>
              </a:rPr>
              <a:t> | </a:t>
            </a:r>
            <a:r>
              <a:rPr lang="en-US" sz="1400" dirty="0">
                <a:solidFill>
                  <a:srgbClr val="4EC9B0"/>
                </a:solidFill>
                <a:latin typeface="Consolas"/>
              </a:rPr>
              <a:t>IScanFF</a:t>
            </a:r>
            <a:r>
              <a:rPr lang="en-US" sz="1400" dirty="0">
                <a:solidFill>
                  <a:srgbClr val="D4D4D4"/>
                </a:solidFill>
                <a:latin typeface="Consolas"/>
              </a:rPr>
              <a:t> | </a:t>
            </a:r>
            <a:r>
              <a:rPr lang="en-US" sz="1400" dirty="0">
                <a:solidFill>
                  <a:srgbClr val="4EC9B0"/>
                </a:solidFill>
                <a:latin typeface="Consolas"/>
              </a:rPr>
              <a:t>IRetentionFF</a:t>
            </a:r>
          </a:p>
          <a:p>
            <a:pPr>
              <a:buNone/>
            </a:pPr>
            <a:r>
              <a:rPr lang="en-US" sz="1400" dirty="0">
                <a:solidFill>
                  <a:srgbClr val="D4D4D4"/>
                </a:solidFill>
                <a:latin typeface="Consolas"/>
              </a:rPr>
              <a:t>  | </a:t>
            </a:r>
            <a:r>
              <a:rPr lang="en-US" sz="1400" dirty="0">
                <a:solidFill>
                  <a:srgbClr val="4EC9B0"/>
                </a:solidFill>
                <a:latin typeface="Consolas"/>
              </a:rPr>
              <a:t>IICG</a:t>
            </a:r>
            <a:r>
              <a:rPr lang="en-US" sz="1400" dirty="0">
                <a:solidFill>
                  <a:srgbClr val="D4D4D4"/>
                </a:solidFill>
                <a:latin typeface="Consolas"/>
              </a:rPr>
              <a:t> | </a:t>
            </a:r>
            <a:r>
              <a:rPr lang="en-US" sz="1400" dirty="0">
                <a:solidFill>
                  <a:srgbClr val="4EC9B0"/>
                </a:solidFill>
                <a:latin typeface="Consolas"/>
              </a:rPr>
              <a:t>IClkBuf</a:t>
            </a:r>
            <a:r>
              <a:rPr lang="en-US" sz="1400" dirty="0">
                <a:solidFill>
                  <a:srgbClr val="D4D4D4"/>
                </a:solidFill>
                <a:latin typeface="Consolas"/>
              </a:rPr>
              <a:t> | </a:t>
            </a:r>
            <a:r>
              <a:rPr lang="en-US" sz="1400" dirty="0">
                <a:solidFill>
                  <a:srgbClr val="4EC9B0"/>
                </a:solidFill>
                <a:latin typeface="Consolas"/>
              </a:rPr>
              <a:t>IClkInv</a:t>
            </a:r>
            <a:r>
              <a:rPr lang="en-US" sz="1400" dirty="0">
                <a:solidFill>
                  <a:srgbClr val="D4D4D4"/>
                </a:solidFill>
                <a:latin typeface="Consolas"/>
              </a:rPr>
              <a:t> | </a:t>
            </a:r>
            <a:r>
              <a:rPr lang="en-US" sz="1400" dirty="0">
                <a:solidFill>
                  <a:srgbClr val="4EC9B0"/>
                </a:solidFill>
                <a:latin typeface="Consolas"/>
              </a:rPr>
              <a:t>ITieCell</a:t>
            </a:r>
            <a:r>
              <a:rPr lang="en-US" sz="1400" dirty="0">
                <a:solidFill>
                  <a:srgbClr val="D4D4D4"/>
                </a:solidFill>
                <a:latin typeface="Consolas"/>
              </a:rPr>
              <a:t> | </a:t>
            </a:r>
            <a:r>
              <a:rPr lang="en-US" sz="1400" dirty="0">
                <a:solidFill>
                  <a:srgbClr val="4EC9B0"/>
                </a:solidFill>
                <a:latin typeface="Consolas"/>
              </a:rPr>
              <a:t>ITapCell</a:t>
            </a:r>
            <a:r>
              <a:rPr lang="en-US" sz="1400" dirty="0">
                <a:solidFill>
                  <a:srgbClr val="D4D4D4"/>
                </a:solidFill>
                <a:latin typeface="Consolas"/>
              </a:rPr>
              <a:t> | </a:t>
            </a:r>
            <a:r>
              <a:rPr lang="en-US" sz="1400" dirty="0">
                <a:solidFill>
                  <a:srgbClr val="4EC9B0"/>
                </a:solidFill>
                <a:latin typeface="Consolas"/>
              </a:rPr>
              <a:t>IFiller</a:t>
            </a:r>
            <a:r>
              <a:rPr lang="en-US" sz="1400" dirty="0">
                <a:solidFill>
                  <a:srgbClr val="D4D4D4"/>
                </a:solidFill>
                <a:latin typeface="Consolas"/>
              </a:rPr>
              <a:t> | </a:t>
            </a:r>
            <a:r>
              <a:rPr lang="en-US" sz="1400" dirty="0">
                <a:solidFill>
                  <a:srgbClr val="4EC9B0"/>
                </a:solidFill>
                <a:latin typeface="Consolas"/>
              </a:rPr>
              <a:t>IDecap</a:t>
            </a:r>
            <a:r>
              <a:rPr lang="en-US" sz="1400" dirty="0">
                <a:solidFill>
                  <a:srgbClr val="D4D4D4"/>
                </a:solidFill>
                <a:latin typeface="Consolas"/>
              </a:rPr>
              <a:t> | </a:t>
            </a:r>
            <a:r>
              <a:rPr lang="en-US" sz="1400" dirty="0">
                <a:solidFill>
                  <a:srgbClr val="4EC9B0"/>
                </a:solidFill>
                <a:latin typeface="Consolas"/>
              </a:rPr>
              <a:t>IEndcap</a:t>
            </a:r>
          </a:p>
          <a:p>
            <a:pPr>
              <a:buNone/>
            </a:pPr>
            <a:r>
              <a:rPr lang="en-US" sz="1400" dirty="0">
                <a:solidFill>
                  <a:srgbClr val="D4D4D4"/>
                </a:solidFill>
                <a:latin typeface="Consolas"/>
              </a:rPr>
              <a:t>  | </a:t>
            </a:r>
            <a:r>
              <a:rPr lang="en-US" sz="1400" dirty="0">
                <a:solidFill>
                  <a:srgbClr val="4EC9B0"/>
                </a:solidFill>
                <a:latin typeface="Consolas"/>
              </a:rPr>
              <a:t>ILevelShifter</a:t>
            </a:r>
            <a:r>
              <a:rPr lang="en-US" sz="1400" dirty="0">
                <a:solidFill>
                  <a:srgbClr val="D4D4D4"/>
                </a:solidFill>
                <a:latin typeface="Consolas"/>
              </a:rPr>
              <a:t> | </a:t>
            </a:r>
            <a:r>
              <a:rPr lang="en-US" sz="1400" dirty="0">
                <a:solidFill>
                  <a:srgbClr val="4EC9B0"/>
                </a:solidFill>
                <a:latin typeface="Consolas"/>
              </a:rPr>
              <a:t>IIsolationCell</a:t>
            </a:r>
            <a:r>
              <a:rPr lang="en-US" sz="1400" dirty="0">
                <a:solidFill>
                  <a:srgbClr val="D4D4D4"/>
                </a:solidFill>
                <a:latin typeface="Consolas"/>
              </a:rPr>
              <a:t> | </a:t>
            </a:r>
            <a:r>
              <a:rPr lang="en-US" sz="1400" dirty="0">
                <a:solidFill>
                  <a:srgbClr val="4EC9B0"/>
                </a:solidFill>
                <a:latin typeface="Consolas"/>
              </a:rPr>
              <a:t>IPowerGate</a:t>
            </a:r>
            <a:r>
              <a:rPr lang="en-US" sz="1400" dirty="0">
                <a:solidFill>
                  <a:srgbClr val="D4D4D4"/>
                </a:solidFill>
                <a:latin typeface="Consolas"/>
              </a:rPr>
              <a:t> | </a:t>
            </a:r>
            <a:r>
              <a:rPr lang="en-US" sz="1400" dirty="0">
                <a:solidFill>
                  <a:srgbClr val="4EC9B0"/>
                </a:solidFill>
                <a:latin typeface="Consolas"/>
              </a:rPr>
              <a:t>IAntennaCell</a:t>
            </a:r>
            <a:r>
              <a:rPr lang="en-US" sz="1400" dirty="0">
                <a:solidFill>
                  <a:srgbClr val="D4D4D4"/>
                </a:solidFill>
                <a:latin typeface="Consolas"/>
              </a:rPr>
              <a:t> | </a:t>
            </a:r>
            <a:r>
              <a:rPr lang="en-US" sz="1400" dirty="0">
                <a:solidFill>
                  <a:srgbClr val="4EC9B0"/>
                </a:solidFill>
                <a:latin typeface="Consolas"/>
              </a:rPr>
              <a:t>ISpareCell</a:t>
            </a:r>
            <a:r>
              <a:rPr lang="en-US" sz="1400" dirty="0">
                <a:solidFill>
                  <a:srgbClr val="D4D4D4"/>
                </a:solidFill>
                <a:latin typeface="Consolas"/>
              </a:rPr>
              <a:t> | </a:t>
            </a:r>
            <a:r>
              <a:rPr lang="en-US" sz="1400" dirty="0">
                <a:solidFill>
                  <a:srgbClr val="4EC9B0"/>
                </a:solidFill>
                <a:latin typeface="Consolas"/>
              </a:rPr>
              <a:t>IECOCell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IBlock contains IBlock[] — recursive like IJsonSchema</a:t>
            </a:r>
          </a:p>
          <a:p>
            <a:pPr>
              <a:buNone/>
            </a:pPr>
            <a:r>
              <a:rPr lang="en-US" sz="1400" dirty="0">
                <a:solidFill>
                  <a:srgbClr val="6A9955"/>
                </a:solidFill>
                <a:latin typeface="Consolas"/>
              </a:rPr>
              <a:t>// each ILogicBlock.cells: IStandardCell[] — union within union</a:t>
            </a:r>
          </a:p>
          <a:p>
            <a:pPr>
              <a:buNone/>
            </a:pPr>
            <a:r>
              <a:rPr lang="en-US" sz="1400" dirty="0">
                <a:solidFill>
                  <a:srgbClr val="6A9955"/>
                </a:solidFill>
                <a:latin typeface="Consolas"/>
              </a:rPr>
              <a:t>// DRC → LVS → SPICE — all deterministic, all validatable</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4A90D9"/>
                </a:solidFill>
                <a:latin typeface="Segoe UI Semibold"/>
              </a:rPr>
              <a:t>Physical rules of chip design are not negotiable</a:t>
            </a:r>
          </a:p>
        </p:txBody>
      </p:sp>
    </p:spTree>
    <p:extLst>
      <p:ext uri="{BB962C8B-B14F-4D97-AF65-F5344CB8AC3E}">
        <p14:creationId xmlns:p14="http://schemas.microsoft.com/office/powerpoint/2010/main" val="29652197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D1589C49-AEB4-4B73-A923-235E358A5E1F}"/>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Chemical Process — Unit Operations</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Mass balance (fast) → Energy balance (med) → ASPEN simulation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IUnitOperation</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IReactor</a:t>
            </a:r>
            <a:r>
              <a:rPr lang="en-US" sz="1400" dirty="0">
                <a:solidFill>
                  <a:srgbClr val="6A9955"/>
                </a:solidFill>
                <a:latin typeface="Consolas"/>
              </a:rPr>
              <a:t>            // sub_units: IUnitOperation[]  ← recursive flowsheet</a:t>
            </a:r>
          </a:p>
          <a:p>
            <a:pPr>
              <a:buNone/>
            </a:pPr>
            <a:r>
              <a:rPr lang="en-US" sz="1400" dirty="0">
                <a:solidFill>
                  <a:srgbClr val="D4D4D4"/>
                </a:solidFill>
                <a:latin typeface="Consolas"/>
              </a:rPr>
              <a:t>  | </a:t>
            </a:r>
            <a:r>
              <a:rPr lang="en-US" sz="1400" dirty="0">
                <a:solidFill>
                  <a:srgbClr val="4EC9B0"/>
                </a:solidFill>
                <a:latin typeface="Consolas"/>
              </a:rPr>
              <a:t>IDistColumn</a:t>
            </a:r>
            <a:r>
              <a:rPr lang="en-US" sz="1400" dirty="0">
                <a:solidFill>
                  <a:srgbClr val="6A9955"/>
                </a:solidFill>
                <a:latin typeface="Consolas"/>
              </a:rPr>
              <a:t>         // sub_units: IUnitOperation[]  ← condenser + reboiler inside</a:t>
            </a:r>
          </a:p>
          <a:p>
            <a:pPr>
              <a:buNone/>
            </a:pPr>
            <a:r>
              <a:rPr lang="en-US" sz="1400" dirty="0">
                <a:solidFill>
                  <a:srgbClr val="D4D4D4"/>
                </a:solidFill>
                <a:latin typeface="Consolas"/>
              </a:rPr>
              <a:t>  | </a:t>
            </a:r>
            <a:r>
              <a:rPr lang="en-US" sz="1400" dirty="0">
                <a:solidFill>
                  <a:srgbClr val="4EC9B0"/>
                </a:solidFill>
                <a:latin typeface="Consolas"/>
              </a:rPr>
              <a:t>IAbsorber</a:t>
            </a:r>
            <a:r>
              <a:rPr lang="en-US" sz="1400" dirty="0">
                <a:solidFill>
                  <a:srgbClr val="D4D4D4"/>
                </a:solidFill>
                <a:latin typeface="Consolas"/>
              </a:rPr>
              <a:t> | </a:t>
            </a:r>
            <a:r>
              <a:rPr lang="en-US" sz="1400" dirty="0">
                <a:solidFill>
                  <a:srgbClr val="4EC9B0"/>
                </a:solidFill>
                <a:latin typeface="Consolas"/>
              </a:rPr>
              <a:t>IStripper</a:t>
            </a:r>
            <a:r>
              <a:rPr lang="en-US" sz="1400" dirty="0">
                <a:solidFill>
                  <a:srgbClr val="D4D4D4"/>
                </a:solidFill>
                <a:latin typeface="Consolas"/>
              </a:rPr>
              <a:t> | </a:t>
            </a:r>
            <a:r>
              <a:rPr lang="en-US" sz="1400" dirty="0">
                <a:solidFill>
                  <a:srgbClr val="4EC9B0"/>
                </a:solidFill>
                <a:latin typeface="Consolas"/>
              </a:rPr>
              <a:t>IExtractor</a:t>
            </a:r>
            <a:r>
              <a:rPr lang="en-US" sz="1400" dirty="0">
                <a:solidFill>
                  <a:srgbClr val="D4D4D4"/>
                </a:solidFill>
                <a:latin typeface="Consolas"/>
              </a:rPr>
              <a:t> | </a:t>
            </a:r>
            <a:r>
              <a:rPr lang="en-US" sz="1400" dirty="0">
                <a:solidFill>
                  <a:srgbClr val="4EC9B0"/>
                </a:solidFill>
                <a:latin typeface="Consolas"/>
              </a:rPr>
              <a:t>ICrystallizer</a:t>
            </a:r>
            <a:r>
              <a:rPr lang="en-US" sz="1400" dirty="0">
                <a:solidFill>
                  <a:srgbClr val="D4D4D4"/>
                </a:solidFill>
                <a:latin typeface="Consolas"/>
              </a:rPr>
              <a:t> | </a:t>
            </a:r>
            <a:r>
              <a:rPr lang="en-US" sz="1400" dirty="0">
                <a:solidFill>
                  <a:srgbClr val="4EC9B0"/>
                </a:solidFill>
                <a:latin typeface="Consolas"/>
              </a:rPr>
              <a:t>IDryer</a:t>
            </a:r>
            <a:r>
              <a:rPr lang="en-US" sz="1400" dirty="0">
                <a:solidFill>
                  <a:srgbClr val="D4D4D4"/>
                </a:solidFill>
                <a:latin typeface="Consolas"/>
              </a:rPr>
              <a:t> | </a:t>
            </a:r>
            <a:r>
              <a:rPr lang="en-US" sz="1400" dirty="0">
                <a:solidFill>
                  <a:srgbClr val="4EC9B0"/>
                </a:solidFill>
                <a:latin typeface="Consolas"/>
              </a:rPr>
              <a:t>IEvaporator</a:t>
            </a:r>
          </a:p>
          <a:p>
            <a:pPr>
              <a:buNone/>
            </a:pPr>
            <a:r>
              <a:rPr lang="en-US" sz="1400" dirty="0">
                <a:solidFill>
                  <a:srgbClr val="D4D4D4"/>
                </a:solidFill>
                <a:latin typeface="Consolas"/>
              </a:rPr>
              <a:t>  | </a:t>
            </a:r>
            <a:r>
              <a:rPr lang="en-US" sz="1400" dirty="0">
                <a:solidFill>
                  <a:srgbClr val="4EC9B0"/>
                </a:solidFill>
                <a:latin typeface="Consolas"/>
              </a:rPr>
              <a:t>IHeatExchanger</a:t>
            </a:r>
            <a:r>
              <a:rPr lang="en-US" sz="1400" dirty="0">
                <a:solidFill>
                  <a:srgbClr val="D4D4D4"/>
                </a:solidFill>
                <a:latin typeface="Consolas"/>
              </a:rPr>
              <a:t> | </a:t>
            </a:r>
            <a:r>
              <a:rPr lang="en-US" sz="1400" dirty="0">
                <a:solidFill>
                  <a:srgbClr val="4EC9B0"/>
                </a:solidFill>
                <a:latin typeface="Consolas"/>
              </a:rPr>
              <a:t>ICondenser</a:t>
            </a:r>
            <a:r>
              <a:rPr lang="en-US" sz="1400" dirty="0">
                <a:solidFill>
                  <a:srgbClr val="D4D4D4"/>
                </a:solidFill>
                <a:latin typeface="Consolas"/>
              </a:rPr>
              <a:t> | </a:t>
            </a:r>
            <a:r>
              <a:rPr lang="en-US" sz="1400" dirty="0">
                <a:solidFill>
                  <a:srgbClr val="4EC9B0"/>
                </a:solidFill>
                <a:latin typeface="Consolas"/>
              </a:rPr>
              <a:t>IReboiler</a:t>
            </a:r>
            <a:r>
              <a:rPr lang="en-US" sz="1400" dirty="0">
                <a:solidFill>
                  <a:srgbClr val="D4D4D4"/>
                </a:solidFill>
                <a:latin typeface="Consolas"/>
              </a:rPr>
              <a:t> | </a:t>
            </a:r>
            <a:r>
              <a:rPr lang="en-US" sz="1400" dirty="0">
                <a:solidFill>
                  <a:srgbClr val="4EC9B0"/>
                </a:solidFill>
                <a:latin typeface="Consolas"/>
              </a:rPr>
              <a:t>IHeater</a:t>
            </a:r>
            <a:r>
              <a:rPr lang="en-US" sz="1400" dirty="0">
                <a:solidFill>
                  <a:srgbClr val="D4D4D4"/>
                </a:solidFill>
                <a:latin typeface="Consolas"/>
              </a:rPr>
              <a:t> | </a:t>
            </a:r>
            <a:r>
              <a:rPr lang="en-US" sz="1400" dirty="0">
                <a:solidFill>
                  <a:srgbClr val="4EC9B0"/>
                </a:solidFill>
                <a:latin typeface="Consolas"/>
              </a:rPr>
              <a:t>ICooler</a:t>
            </a:r>
            <a:r>
              <a:rPr lang="en-US" sz="1400" dirty="0">
                <a:solidFill>
                  <a:srgbClr val="D4D4D4"/>
                </a:solidFill>
                <a:latin typeface="Consolas"/>
              </a:rPr>
              <a:t> | </a:t>
            </a:r>
            <a:r>
              <a:rPr lang="en-US" sz="1400" dirty="0">
                <a:solidFill>
                  <a:srgbClr val="4EC9B0"/>
                </a:solidFill>
                <a:latin typeface="Consolas"/>
              </a:rPr>
              <a:t>IFurnace</a:t>
            </a:r>
          </a:p>
          <a:p>
            <a:pPr>
              <a:buNone/>
            </a:pPr>
            <a:r>
              <a:rPr lang="en-US" sz="1400" dirty="0">
                <a:solidFill>
                  <a:srgbClr val="D4D4D4"/>
                </a:solidFill>
                <a:latin typeface="Consolas"/>
              </a:rPr>
              <a:t>  | </a:t>
            </a:r>
            <a:r>
              <a:rPr lang="en-US" sz="1400" dirty="0">
                <a:solidFill>
                  <a:srgbClr val="4EC9B0"/>
                </a:solidFill>
                <a:latin typeface="Consolas"/>
              </a:rPr>
              <a:t>IMixer</a:t>
            </a:r>
            <a:r>
              <a:rPr lang="en-US" sz="1400" dirty="0">
                <a:solidFill>
                  <a:srgbClr val="D4D4D4"/>
                </a:solidFill>
                <a:latin typeface="Consolas"/>
              </a:rPr>
              <a:t> | </a:t>
            </a:r>
            <a:r>
              <a:rPr lang="en-US" sz="1400" dirty="0">
                <a:solidFill>
                  <a:srgbClr val="4EC9B0"/>
                </a:solidFill>
                <a:latin typeface="Consolas"/>
              </a:rPr>
              <a:t>ISplitter</a:t>
            </a:r>
            <a:r>
              <a:rPr lang="en-US" sz="1400" dirty="0">
                <a:solidFill>
                  <a:srgbClr val="D4D4D4"/>
                </a:solidFill>
                <a:latin typeface="Consolas"/>
              </a:rPr>
              <a:t> | </a:t>
            </a:r>
            <a:r>
              <a:rPr lang="en-US" sz="1400" dirty="0">
                <a:solidFill>
                  <a:srgbClr val="4EC9B0"/>
                </a:solidFill>
                <a:latin typeface="Consolas"/>
              </a:rPr>
              <a:t>IPump</a:t>
            </a:r>
            <a:r>
              <a:rPr lang="en-US" sz="1400" dirty="0">
                <a:solidFill>
                  <a:srgbClr val="D4D4D4"/>
                </a:solidFill>
                <a:latin typeface="Consolas"/>
              </a:rPr>
              <a:t> | </a:t>
            </a:r>
            <a:r>
              <a:rPr lang="en-US" sz="1400" dirty="0">
                <a:solidFill>
                  <a:srgbClr val="4EC9B0"/>
                </a:solidFill>
                <a:latin typeface="Consolas"/>
              </a:rPr>
              <a:t>ICompressor</a:t>
            </a:r>
            <a:r>
              <a:rPr lang="en-US" sz="1400" dirty="0">
                <a:solidFill>
                  <a:srgbClr val="D4D4D4"/>
                </a:solidFill>
                <a:latin typeface="Consolas"/>
              </a:rPr>
              <a:t> | </a:t>
            </a:r>
            <a:r>
              <a:rPr lang="en-US" sz="1400" dirty="0">
                <a:solidFill>
                  <a:srgbClr val="4EC9B0"/>
                </a:solidFill>
                <a:latin typeface="Consolas"/>
              </a:rPr>
              <a:t>IExpander</a:t>
            </a:r>
            <a:r>
              <a:rPr lang="en-US" sz="1400" dirty="0">
                <a:solidFill>
                  <a:srgbClr val="D4D4D4"/>
                </a:solidFill>
                <a:latin typeface="Consolas"/>
              </a:rPr>
              <a:t> | </a:t>
            </a:r>
            <a:r>
              <a:rPr lang="en-US" sz="1400" dirty="0">
                <a:solidFill>
                  <a:srgbClr val="4EC9B0"/>
                </a:solidFill>
                <a:latin typeface="Consolas"/>
              </a:rPr>
              <a:t>ITurbine</a:t>
            </a:r>
            <a:r>
              <a:rPr lang="en-US" sz="1400" dirty="0">
                <a:solidFill>
                  <a:srgbClr val="D4D4D4"/>
                </a:solidFill>
                <a:latin typeface="Consolas"/>
              </a:rPr>
              <a:t> | </a:t>
            </a:r>
            <a:r>
              <a:rPr lang="en-US" sz="1400" dirty="0">
                <a:solidFill>
                  <a:srgbClr val="4EC9B0"/>
                </a:solidFill>
                <a:latin typeface="Consolas"/>
              </a:rPr>
              <a:t>IValve</a:t>
            </a:r>
          </a:p>
          <a:p>
            <a:pPr>
              <a:buNone/>
            </a:pPr>
            <a:r>
              <a:rPr lang="en-US" sz="1400" dirty="0">
                <a:solidFill>
                  <a:srgbClr val="D4D4D4"/>
                </a:solidFill>
                <a:latin typeface="Consolas"/>
              </a:rPr>
              <a:t>  | </a:t>
            </a:r>
            <a:r>
              <a:rPr lang="en-US" sz="1400" dirty="0">
                <a:solidFill>
                  <a:srgbClr val="4EC9B0"/>
                </a:solidFill>
                <a:latin typeface="Consolas"/>
              </a:rPr>
              <a:t>ISeparator</a:t>
            </a:r>
            <a:r>
              <a:rPr lang="en-US" sz="1400" dirty="0">
                <a:solidFill>
                  <a:srgbClr val="D4D4D4"/>
                </a:solidFill>
                <a:latin typeface="Consolas"/>
              </a:rPr>
              <a:t> | </a:t>
            </a:r>
            <a:r>
              <a:rPr lang="en-US" sz="1400" dirty="0">
                <a:solidFill>
                  <a:srgbClr val="4EC9B0"/>
                </a:solidFill>
                <a:latin typeface="Consolas"/>
              </a:rPr>
              <a:t>IFilter</a:t>
            </a:r>
            <a:r>
              <a:rPr lang="en-US" sz="1400" dirty="0">
                <a:solidFill>
                  <a:srgbClr val="D4D4D4"/>
                </a:solidFill>
                <a:latin typeface="Consolas"/>
              </a:rPr>
              <a:t> | </a:t>
            </a:r>
            <a:r>
              <a:rPr lang="en-US" sz="1400" dirty="0">
                <a:solidFill>
                  <a:srgbClr val="4EC9B0"/>
                </a:solidFill>
                <a:latin typeface="Consolas"/>
              </a:rPr>
              <a:t>ICyclone</a:t>
            </a:r>
            <a:r>
              <a:rPr lang="en-US" sz="1400" dirty="0">
                <a:solidFill>
                  <a:srgbClr val="D4D4D4"/>
                </a:solidFill>
                <a:latin typeface="Consolas"/>
              </a:rPr>
              <a:t> | </a:t>
            </a:r>
            <a:r>
              <a:rPr lang="en-US" sz="1400" dirty="0">
                <a:solidFill>
                  <a:srgbClr val="4EC9B0"/>
                </a:solidFill>
                <a:latin typeface="Consolas"/>
              </a:rPr>
              <a:t>ICentrifuge</a:t>
            </a:r>
            <a:r>
              <a:rPr lang="en-US" sz="1400" dirty="0">
                <a:solidFill>
                  <a:srgbClr val="D4D4D4"/>
                </a:solidFill>
                <a:latin typeface="Consolas"/>
              </a:rPr>
              <a:t> | </a:t>
            </a:r>
            <a:r>
              <a:rPr lang="en-US" sz="1400" dirty="0">
                <a:solidFill>
                  <a:srgbClr val="4EC9B0"/>
                </a:solidFill>
                <a:latin typeface="Consolas"/>
              </a:rPr>
              <a:t>IMembrane</a:t>
            </a:r>
            <a:r>
              <a:rPr lang="en-US" sz="1400" dirty="0">
                <a:solidFill>
                  <a:srgbClr val="D4D4D4"/>
                </a:solidFill>
                <a:latin typeface="Consolas"/>
              </a:rPr>
              <a:t> | </a:t>
            </a:r>
            <a:r>
              <a:rPr lang="en-US" sz="1400" dirty="0">
                <a:solidFill>
                  <a:srgbClr val="4EC9B0"/>
                </a:solidFill>
                <a:latin typeface="Consolas"/>
              </a:rPr>
              <a:t>IAdsorber</a:t>
            </a:r>
          </a:p>
          <a:p>
            <a:pPr>
              <a:buNone/>
            </a:pPr>
            <a:r>
              <a:rPr lang="en-US" sz="1400" dirty="0">
                <a:solidFill>
                  <a:srgbClr val="D4D4D4"/>
                </a:solidFill>
                <a:latin typeface="Consolas"/>
              </a:rPr>
              <a:t>  | </a:t>
            </a:r>
            <a:r>
              <a:rPr lang="en-US" sz="1400" dirty="0">
                <a:solidFill>
                  <a:srgbClr val="4EC9B0"/>
                </a:solidFill>
                <a:latin typeface="Consolas"/>
              </a:rPr>
              <a:t>IPipe</a:t>
            </a:r>
            <a:r>
              <a:rPr lang="en-US" sz="1400" dirty="0">
                <a:solidFill>
                  <a:srgbClr val="D4D4D4"/>
                </a:solidFill>
                <a:latin typeface="Consolas"/>
              </a:rPr>
              <a:t> | </a:t>
            </a:r>
            <a:r>
              <a:rPr lang="en-US" sz="1400" dirty="0">
                <a:solidFill>
                  <a:srgbClr val="4EC9B0"/>
                </a:solidFill>
                <a:latin typeface="Consolas"/>
              </a:rPr>
              <a:t>IOrifice</a:t>
            </a:r>
            <a:r>
              <a:rPr lang="en-US" sz="1400" dirty="0">
                <a:solidFill>
                  <a:srgbClr val="D4D4D4"/>
                </a:solidFill>
                <a:latin typeface="Consolas"/>
              </a:rPr>
              <a:t> | </a:t>
            </a:r>
            <a:r>
              <a:rPr lang="en-US" sz="1400" dirty="0">
                <a:solidFill>
                  <a:srgbClr val="4EC9B0"/>
                </a:solidFill>
                <a:latin typeface="Consolas"/>
              </a:rPr>
              <a:t>ITank</a:t>
            </a:r>
            <a:r>
              <a:rPr lang="en-US" sz="1400" dirty="0">
                <a:solidFill>
                  <a:srgbClr val="D4D4D4"/>
                </a:solidFill>
                <a:latin typeface="Consolas"/>
              </a:rPr>
              <a:t> | </a:t>
            </a:r>
            <a:r>
              <a:rPr lang="en-US" sz="1400" dirty="0">
                <a:solidFill>
                  <a:srgbClr val="4EC9B0"/>
                </a:solidFill>
                <a:latin typeface="Consolas"/>
              </a:rPr>
              <a:t>IFlare</a:t>
            </a:r>
            <a:r>
              <a:rPr lang="en-US" sz="1400" dirty="0">
                <a:solidFill>
                  <a:srgbClr val="D4D4D4"/>
                </a:solidFill>
                <a:latin typeface="Consolas"/>
              </a:rPr>
              <a:t> | </a:t>
            </a:r>
            <a:r>
              <a:rPr lang="en-US" sz="1400" dirty="0">
                <a:solidFill>
                  <a:srgbClr val="4EC9B0"/>
                </a:solidFill>
                <a:latin typeface="Consolas"/>
              </a:rPr>
              <a:t>IEjector</a:t>
            </a:r>
            <a:r>
              <a:rPr lang="en-US" sz="1400" dirty="0">
                <a:solidFill>
                  <a:srgbClr val="D4D4D4"/>
                </a:solidFill>
                <a:latin typeface="Consolas"/>
              </a:rPr>
              <a:t> | </a:t>
            </a:r>
            <a:r>
              <a:rPr lang="en-US" sz="1400" dirty="0">
                <a:solidFill>
                  <a:srgbClr val="4EC9B0"/>
                </a:solidFill>
                <a:latin typeface="Consolas"/>
              </a:rPr>
              <a:t>ISpreadsheet</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IReactor</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ICSTR</a:t>
            </a:r>
            <a:r>
              <a:rPr lang="en-US" sz="1400" dirty="0">
                <a:solidFill>
                  <a:srgbClr val="D4D4D4"/>
                </a:solidFill>
                <a:latin typeface="Consolas"/>
              </a:rPr>
              <a:t> | </a:t>
            </a:r>
            <a:r>
              <a:rPr lang="en-US" sz="1400" dirty="0">
                <a:solidFill>
                  <a:srgbClr val="4EC9B0"/>
                </a:solidFill>
                <a:latin typeface="Consolas"/>
              </a:rPr>
              <a:t>IPFR</a:t>
            </a:r>
            <a:r>
              <a:rPr lang="en-US" sz="1400" dirty="0">
                <a:solidFill>
                  <a:srgbClr val="D4D4D4"/>
                </a:solidFill>
                <a:latin typeface="Consolas"/>
              </a:rPr>
              <a:t> | </a:t>
            </a:r>
            <a:r>
              <a:rPr lang="en-US" sz="1400" dirty="0">
                <a:solidFill>
                  <a:srgbClr val="4EC9B0"/>
                </a:solidFill>
                <a:latin typeface="Consolas"/>
              </a:rPr>
              <a:t>IBatchReactor</a:t>
            </a:r>
            <a:r>
              <a:rPr lang="en-US" sz="1400" dirty="0">
                <a:solidFill>
                  <a:srgbClr val="D4D4D4"/>
                </a:solidFill>
                <a:latin typeface="Consolas"/>
              </a:rPr>
              <a:t> | </a:t>
            </a:r>
            <a:r>
              <a:rPr lang="en-US" sz="1400" dirty="0">
                <a:solidFill>
                  <a:srgbClr val="4EC9B0"/>
                </a:solidFill>
                <a:latin typeface="Consolas"/>
              </a:rPr>
              <a:t>IGibbsReactor</a:t>
            </a:r>
            <a:r>
              <a:rPr lang="en-US" sz="1400" dirty="0">
                <a:solidFill>
                  <a:srgbClr val="D4D4D4"/>
                </a:solidFill>
                <a:latin typeface="Consolas"/>
              </a:rPr>
              <a:t> | </a:t>
            </a:r>
            <a:r>
              <a:rPr lang="en-US" sz="1400" dirty="0">
                <a:solidFill>
                  <a:srgbClr val="4EC9B0"/>
                </a:solidFill>
                <a:latin typeface="Consolas"/>
              </a:rPr>
              <a:t>IEquilibrium</a:t>
            </a:r>
            <a:r>
              <a:rPr lang="en-US" sz="1400" dirty="0">
                <a:solidFill>
                  <a:srgbClr val="D4D4D4"/>
                </a:solidFill>
                <a:latin typeface="Consolas"/>
              </a:rPr>
              <a:t> | </a:t>
            </a:r>
            <a:r>
              <a:rPr lang="en-US" sz="1400" dirty="0">
                <a:solidFill>
                  <a:srgbClr val="4EC9B0"/>
                </a:solidFill>
                <a:latin typeface="Consolas"/>
              </a:rPr>
              <a:t>IConversion</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IThermodynamicModel</a:t>
            </a:r>
            <a:r>
              <a:rPr lang="en-US" sz="1400" dirty="0">
                <a:solidFill>
                  <a:srgbClr val="D4D4D4"/>
                </a:solidFill>
                <a:latin typeface="Consolas"/>
              </a:rPr>
              <a:t> =</a:t>
            </a:r>
            <a:r>
              <a:rPr lang="en-US" sz="1400" dirty="0">
                <a:solidFill>
                  <a:srgbClr val="6A9955"/>
                </a:solidFill>
                <a:latin typeface="Consolas"/>
              </a:rPr>
              <a:t>              // governs phase equilibria</a:t>
            </a:r>
          </a:p>
          <a:p>
            <a:pPr>
              <a:buNone/>
            </a:pPr>
            <a:r>
              <a:rPr lang="en-US" sz="1400" dirty="0">
                <a:solidFill>
                  <a:srgbClr val="D4D4D4"/>
                </a:solidFill>
                <a:latin typeface="Consolas"/>
              </a:rPr>
              <a:t>  | </a:t>
            </a:r>
            <a:r>
              <a:rPr lang="en-US" sz="1400" dirty="0">
                <a:solidFill>
                  <a:srgbClr val="4EC9B0"/>
                </a:solidFill>
                <a:latin typeface="Consolas"/>
              </a:rPr>
              <a:t>IPengRobinson</a:t>
            </a:r>
            <a:r>
              <a:rPr lang="en-US" sz="1400" dirty="0">
                <a:solidFill>
                  <a:srgbClr val="D4D4D4"/>
                </a:solidFill>
                <a:latin typeface="Consolas"/>
              </a:rPr>
              <a:t> | </a:t>
            </a:r>
            <a:r>
              <a:rPr lang="en-US" sz="1400" dirty="0">
                <a:solidFill>
                  <a:srgbClr val="4EC9B0"/>
                </a:solidFill>
                <a:latin typeface="Consolas"/>
              </a:rPr>
              <a:t>ISRK</a:t>
            </a:r>
            <a:r>
              <a:rPr lang="en-US" sz="1400" dirty="0">
                <a:solidFill>
                  <a:srgbClr val="D4D4D4"/>
                </a:solidFill>
                <a:latin typeface="Consolas"/>
              </a:rPr>
              <a:t> | </a:t>
            </a:r>
            <a:r>
              <a:rPr lang="en-US" sz="1400" dirty="0">
                <a:solidFill>
                  <a:srgbClr val="4EC9B0"/>
                </a:solidFill>
                <a:latin typeface="Consolas"/>
              </a:rPr>
              <a:t>INRTL</a:t>
            </a:r>
            <a:r>
              <a:rPr lang="en-US" sz="1400" dirty="0">
                <a:solidFill>
                  <a:srgbClr val="D4D4D4"/>
                </a:solidFill>
                <a:latin typeface="Consolas"/>
              </a:rPr>
              <a:t> | </a:t>
            </a:r>
            <a:r>
              <a:rPr lang="en-US" sz="1400" dirty="0">
                <a:solidFill>
                  <a:srgbClr val="4EC9B0"/>
                </a:solidFill>
                <a:latin typeface="Consolas"/>
              </a:rPr>
              <a:t>IUNIQUAC</a:t>
            </a:r>
            <a:r>
              <a:rPr lang="en-US" sz="1400" dirty="0">
                <a:solidFill>
                  <a:srgbClr val="D4D4D4"/>
                </a:solidFill>
                <a:latin typeface="Consolas"/>
              </a:rPr>
              <a:t> | </a:t>
            </a:r>
            <a:r>
              <a:rPr lang="en-US" sz="1400" dirty="0">
                <a:solidFill>
                  <a:srgbClr val="4EC9B0"/>
                </a:solidFill>
                <a:latin typeface="Consolas"/>
              </a:rPr>
              <a:t>IWilson</a:t>
            </a:r>
            <a:r>
              <a:rPr lang="en-US" sz="1400" dirty="0">
                <a:solidFill>
                  <a:srgbClr val="D4D4D4"/>
                </a:solidFill>
                <a:latin typeface="Consolas"/>
              </a:rPr>
              <a:t> | </a:t>
            </a:r>
            <a:r>
              <a:rPr lang="en-US" sz="1400" dirty="0">
                <a:solidFill>
                  <a:srgbClr val="4EC9B0"/>
                </a:solidFill>
                <a:latin typeface="Consolas"/>
              </a:rPr>
              <a:t>ICPA</a:t>
            </a:r>
            <a:r>
              <a:rPr lang="en-US" sz="1400" dirty="0">
                <a:solidFill>
                  <a:srgbClr val="D4D4D4"/>
                </a:solidFill>
                <a:latin typeface="Consolas"/>
              </a:rPr>
              <a:t> | </a:t>
            </a:r>
            <a:r>
              <a:rPr lang="en-US" sz="1400" dirty="0">
                <a:solidFill>
                  <a:srgbClr val="4EC9B0"/>
                </a:solidFill>
                <a:latin typeface="Consolas"/>
              </a:rPr>
              <a:t>ISAFT</a:t>
            </a:r>
            <a:r>
              <a:rPr lang="en-US" sz="1400" dirty="0">
                <a:solidFill>
                  <a:srgbClr val="D4D4D4"/>
                </a:solidFill>
                <a:latin typeface="Consolas"/>
              </a:rPr>
              <a:t> | </a:t>
            </a:r>
            <a:r>
              <a:rPr lang="en-US" sz="1400" dirty="0">
                <a:solidFill>
                  <a:srgbClr val="4EC9B0"/>
                </a:solidFill>
                <a:latin typeface="Consolas"/>
              </a:rPr>
              <a:t>IELECNRTL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IDistColumn contains IUnitOperation[] — recursive like IJsonSchema</a:t>
            </a:r>
          </a:p>
          <a:p>
            <a:pPr>
              <a:buNone/>
            </a:pPr>
            <a:r>
              <a:rPr lang="en-US" sz="1400" dirty="0">
                <a:solidFill>
                  <a:srgbClr val="6A9955"/>
                </a:solidFill>
                <a:latin typeface="Consolas"/>
              </a:rPr>
              <a:t>// each IReactor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50C878"/>
                </a:solidFill>
                <a:latin typeface="Segoe UI Semibold"/>
              </a:rPr>
              <a:t>ASPEN and HYSYS: deterministic validation for 40+ years</a:t>
            </a:r>
          </a:p>
        </p:txBody>
      </p:sp>
    </p:spTree>
    <p:extLst>
      <p:ext uri="{BB962C8B-B14F-4D97-AF65-F5344CB8AC3E}">
        <p14:creationId xmlns:p14="http://schemas.microsoft.com/office/powerpoint/2010/main" val="33402507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F1C63935-A9C4-4060-9ACD-F8CCE6899B12}"/>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Construction (BIM) — IFC Element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IFC 4.3: 1,300+ entity types — collision detection, code compliance</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IfcElement</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IfcWall</a:t>
            </a:r>
            <a:r>
              <a:rPr lang="en-US" sz="1400" dirty="0">
                <a:solidFill>
                  <a:srgbClr val="6A9955"/>
                </a:solidFill>
                <a:latin typeface="Consolas"/>
              </a:rPr>
              <a:t>              // components: IfcElement[]  ← recursive assembly</a:t>
            </a:r>
          </a:p>
          <a:p>
            <a:pPr>
              <a:buNone/>
            </a:pPr>
            <a:r>
              <a:rPr lang="en-US" sz="1400" dirty="0">
                <a:solidFill>
                  <a:srgbClr val="D4D4D4"/>
                </a:solidFill>
                <a:latin typeface="Consolas"/>
              </a:rPr>
              <a:t>  | </a:t>
            </a:r>
            <a:r>
              <a:rPr lang="en-US" sz="1400" dirty="0">
                <a:solidFill>
                  <a:srgbClr val="4EC9B0"/>
                </a:solidFill>
                <a:latin typeface="Consolas"/>
              </a:rPr>
              <a:t>IfcSlab</a:t>
            </a:r>
            <a:r>
              <a:rPr lang="en-US" sz="1400" dirty="0">
                <a:solidFill>
                  <a:srgbClr val="D4D4D4"/>
                </a:solidFill>
                <a:latin typeface="Consolas"/>
              </a:rPr>
              <a:t> | </a:t>
            </a:r>
            <a:r>
              <a:rPr lang="en-US" sz="1400" dirty="0">
                <a:solidFill>
                  <a:srgbClr val="4EC9B0"/>
                </a:solidFill>
                <a:latin typeface="Consolas"/>
              </a:rPr>
              <a:t>IfcBeam</a:t>
            </a:r>
            <a:r>
              <a:rPr lang="en-US" sz="1400" dirty="0">
                <a:solidFill>
                  <a:srgbClr val="D4D4D4"/>
                </a:solidFill>
                <a:latin typeface="Consolas"/>
              </a:rPr>
              <a:t> | </a:t>
            </a:r>
            <a:r>
              <a:rPr lang="en-US" sz="1400" dirty="0">
                <a:solidFill>
                  <a:srgbClr val="4EC9B0"/>
                </a:solidFill>
                <a:latin typeface="Consolas"/>
              </a:rPr>
              <a:t>IfcColumn</a:t>
            </a:r>
            <a:r>
              <a:rPr lang="en-US" sz="1400" dirty="0">
                <a:solidFill>
                  <a:srgbClr val="D4D4D4"/>
                </a:solidFill>
                <a:latin typeface="Consolas"/>
              </a:rPr>
              <a:t> | </a:t>
            </a:r>
            <a:r>
              <a:rPr lang="en-US" sz="1400" dirty="0">
                <a:solidFill>
                  <a:srgbClr val="4EC9B0"/>
                </a:solidFill>
                <a:latin typeface="Consolas"/>
              </a:rPr>
              <a:t>IfcRoof</a:t>
            </a:r>
            <a:r>
              <a:rPr lang="en-US" sz="1400" dirty="0">
                <a:solidFill>
                  <a:srgbClr val="D4D4D4"/>
                </a:solidFill>
                <a:latin typeface="Consolas"/>
              </a:rPr>
              <a:t> | </a:t>
            </a:r>
            <a:r>
              <a:rPr lang="en-US" sz="1400" dirty="0">
                <a:solidFill>
                  <a:srgbClr val="4EC9B0"/>
                </a:solidFill>
                <a:latin typeface="Consolas"/>
              </a:rPr>
              <a:t>IfcStair</a:t>
            </a:r>
            <a:r>
              <a:rPr lang="en-US" sz="1400" dirty="0">
                <a:solidFill>
                  <a:srgbClr val="D4D4D4"/>
                </a:solidFill>
                <a:latin typeface="Consolas"/>
              </a:rPr>
              <a:t> | </a:t>
            </a:r>
            <a:r>
              <a:rPr lang="en-US" sz="1400" dirty="0">
                <a:solidFill>
                  <a:srgbClr val="4EC9B0"/>
                </a:solidFill>
                <a:latin typeface="Consolas"/>
              </a:rPr>
              <a:t>IfcRamp</a:t>
            </a:r>
            <a:r>
              <a:rPr lang="en-US" sz="1400" dirty="0">
                <a:solidFill>
                  <a:srgbClr val="D4D4D4"/>
                </a:solidFill>
                <a:latin typeface="Consolas"/>
              </a:rPr>
              <a:t> | </a:t>
            </a:r>
            <a:r>
              <a:rPr lang="en-US" sz="1400" dirty="0">
                <a:solidFill>
                  <a:srgbClr val="4EC9B0"/>
                </a:solidFill>
                <a:latin typeface="Consolas"/>
              </a:rPr>
              <a:t>IfcFooting</a:t>
            </a:r>
          </a:p>
          <a:p>
            <a:pPr>
              <a:buNone/>
            </a:pPr>
            <a:r>
              <a:rPr lang="en-US" sz="1400" dirty="0">
                <a:solidFill>
                  <a:srgbClr val="D4D4D4"/>
                </a:solidFill>
                <a:latin typeface="Consolas"/>
              </a:rPr>
              <a:t>  | </a:t>
            </a:r>
            <a:r>
              <a:rPr lang="en-US" sz="1400" dirty="0">
                <a:solidFill>
                  <a:srgbClr val="4EC9B0"/>
                </a:solidFill>
                <a:latin typeface="Consolas"/>
              </a:rPr>
              <a:t>IfcDoor</a:t>
            </a:r>
            <a:r>
              <a:rPr lang="en-US" sz="1400" dirty="0">
                <a:solidFill>
                  <a:srgbClr val="D4D4D4"/>
                </a:solidFill>
                <a:latin typeface="Consolas"/>
              </a:rPr>
              <a:t> | </a:t>
            </a:r>
            <a:r>
              <a:rPr lang="en-US" sz="1400" dirty="0">
                <a:solidFill>
                  <a:srgbClr val="4EC9B0"/>
                </a:solidFill>
                <a:latin typeface="Consolas"/>
              </a:rPr>
              <a:t>IfcWindow</a:t>
            </a:r>
            <a:r>
              <a:rPr lang="en-US" sz="1400" dirty="0">
                <a:solidFill>
                  <a:srgbClr val="D4D4D4"/>
                </a:solidFill>
                <a:latin typeface="Consolas"/>
              </a:rPr>
              <a:t> | </a:t>
            </a:r>
            <a:r>
              <a:rPr lang="en-US" sz="1400" dirty="0">
                <a:solidFill>
                  <a:srgbClr val="4EC9B0"/>
                </a:solidFill>
                <a:latin typeface="Consolas"/>
              </a:rPr>
              <a:t>IfcCurtainWall</a:t>
            </a:r>
            <a:r>
              <a:rPr lang="en-US" sz="1400" dirty="0">
                <a:solidFill>
                  <a:srgbClr val="D4D4D4"/>
                </a:solidFill>
                <a:latin typeface="Consolas"/>
              </a:rPr>
              <a:t> | </a:t>
            </a:r>
            <a:r>
              <a:rPr lang="en-US" sz="1400" dirty="0">
                <a:solidFill>
                  <a:srgbClr val="4EC9B0"/>
                </a:solidFill>
                <a:latin typeface="Consolas"/>
              </a:rPr>
              <a:t>IfcRailing</a:t>
            </a:r>
            <a:r>
              <a:rPr lang="en-US" sz="1400" dirty="0">
                <a:solidFill>
                  <a:srgbClr val="D4D4D4"/>
                </a:solidFill>
                <a:latin typeface="Consolas"/>
              </a:rPr>
              <a:t> | </a:t>
            </a:r>
            <a:r>
              <a:rPr lang="en-US" sz="1400" dirty="0">
                <a:solidFill>
                  <a:srgbClr val="4EC9B0"/>
                </a:solidFill>
                <a:latin typeface="Consolas"/>
              </a:rPr>
              <a:t>IfcCovering</a:t>
            </a:r>
            <a:r>
              <a:rPr lang="en-US" sz="1400" dirty="0">
                <a:solidFill>
                  <a:srgbClr val="D4D4D4"/>
                </a:solidFill>
                <a:latin typeface="Consolas"/>
              </a:rPr>
              <a:t> | </a:t>
            </a:r>
            <a:r>
              <a:rPr lang="en-US" sz="1400" dirty="0">
                <a:solidFill>
                  <a:srgbClr val="4EC9B0"/>
                </a:solidFill>
                <a:latin typeface="Consolas"/>
              </a:rPr>
              <a:t>IfcPlate</a:t>
            </a:r>
          </a:p>
          <a:p>
            <a:pPr>
              <a:buNone/>
            </a:pPr>
            <a:r>
              <a:rPr lang="en-US" sz="1400" dirty="0">
                <a:solidFill>
                  <a:srgbClr val="D4D4D4"/>
                </a:solidFill>
                <a:latin typeface="Consolas"/>
              </a:rPr>
              <a:t>  | </a:t>
            </a:r>
            <a:r>
              <a:rPr lang="en-US" sz="1400" dirty="0">
                <a:solidFill>
                  <a:srgbClr val="4EC9B0"/>
                </a:solidFill>
                <a:latin typeface="Consolas"/>
              </a:rPr>
              <a:t>IfcPile</a:t>
            </a:r>
            <a:r>
              <a:rPr lang="en-US" sz="1400" dirty="0">
                <a:solidFill>
                  <a:srgbClr val="D4D4D4"/>
                </a:solidFill>
                <a:latin typeface="Consolas"/>
              </a:rPr>
              <a:t> | </a:t>
            </a:r>
            <a:r>
              <a:rPr lang="en-US" sz="1400" dirty="0">
                <a:solidFill>
                  <a:srgbClr val="4EC9B0"/>
                </a:solidFill>
                <a:latin typeface="Consolas"/>
              </a:rPr>
              <a:t>IfcMember</a:t>
            </a:r>
            <a:r>
              <a:rPr lang="en-US" sz="1400" dirty="0">
                <a:solidFill>
                  <a:srgbClr val="D4D4D4"/>
                </a:solidFill>
                <a:latin typeface="Consolas"/>
              </a:rPr>
              <a:t> | </a:t>
            </a:r>
            <a:r>
              <a:rPr lang="en-US" sz="1400" dirty="0">
                <a:solidFill>
                  <a:srgbClr val="4EC9B0"/>
                </a:solidFill>
                <a:latin typeface="Consolas"/>
              </a:rPr>
              <a:t>IfcChimney</a:t>
            </a:r>
            <a:r>
              <a:rPr lang="en-US" sz="1400" dirty="0">
                <a:solidFill>
                  <a:srgbClr val="D4D4D4"/>
                </a:solidFill>
                <a:latin typeface="Consolas"/>
              </a:rPr>
              <a:t> | </a:t>
            </a:r>
            <a:r>
              <a:rPr lang="en-US" sz="1400" dirty="0">
                <a:solidFill>
                  <a:srgbClr val="4EC9B0"/>
                </a:solidFill>
                <a:latin typeface="Consolas"/>
              </a:rPr>
              <a:t>IfcShadingDevice</a:t>
            </a:r>
            <a:r>
              <a:rPr lang="en-US" sz="1400" dirty="0">
                <a:solidFill>
                  <a:srgbClr val="D4D4D4"/>
                </a:solidFill>
                <a:latin typeface="Consolas"/>
              </a:rPr>
              <a:t> | </a:t>
            </a:r>
            <a:r>
              <a:rPr lang="en-US" sz="1400" dirty="0">
                <a:solidFill>
                  <a:srgbClr val="4EC9B0"/>
                </a:solidFill>
                <a:latin typeface="Consolas"/>
              </a:rPr>
              <a:t>IfcBuildingProxy</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IfcDistributionElement</a:t>
            </a:r>
            <a:r>
              <a:rPr lang="en-US" sz="1400" dirty="0">
                <a:solidFill>
                  <a:srgbClr val="D4D4D4"/>
                </a:solidFill>
                <a:latin typeface="Consolas"/>
              </a:rPr>
              <a:t> =</a:t>
            </a:r>
            <a:r>
              <a:rPr lang="en-US" sz="1400" dirty="0">
                <a:solidFill>
                  <a:srgbClr val="6A9955"/>
                </a:solidFill>
                <a:latin typeface="Consolas"/>
              </a:rPr>
              <a:t>       // union within union (MEP)</a:t>
            </a:r>
          </a:p>
          <a:p>
            <a:pPr>
              <a:buNone/>
            </a:pPr>
            <a:r>
              <a:rPr lang="en-US" sz="1400" dirty="0">
                <a:solidFill>
                  <a:srgbClr val="D4D4D4"/>
                </a:solidFill>
                <a:latin typeface="Consolas"/>
              </a:rPr>
              <a:t>  | </a:t>
            </a:r>
            <a:r>
              <a:rPr lang="en-US" sz="1400" dirty="0">
                <a:solidFill>
                  <a:srgbClr val="4EC9B0"/>
                </a:solidFill>
                <a:latin typeface="Consolas"/>
              </a:rPr>
              <a:t>IfcPipeSegment</a:t>
            </a:r>
            <a:r>
              <a:rPr lang="en-US" sz="1400" dirty="0">
                <a:solidFill>
                  <a:srgbClr val="D4D4D4"/>
                </a:solidFill>
                <a:latin typeface="Consolas"/>
              </a:rPr>
              <a:t> | </a:t>
            </a:r>
            <a:r>
              <a:rPr lang="en-US" sz="1400" dirty="0">
                <a:solidFill>
                  <a:srgbClr val="4EC9B0"/>
                </a:solidFill>
                <a:latin typeface="Consolas"/>
              </a:rPr>
              <a:t>IfcPipeFitting</a:t>
            </a:r>
            <a:r>
              <a:rPr lang="en-US" sz="1400" dirty="0">
                <a:solidFill>
                  <a:srgbClr val="D4D4D4"/>
                </a:solidFill>
                <a:latin typeface="Consolas"/>
              </a:rPr>
              <a:t> | </a:t>
            </a:r>
            <a:r>
              <a:rPr lang="en-US" sz="1400" dirty="0">
                <a:solidFill>
                  <a:srgbClr val="4EC9B0"/>
                </a:solidFill>
                <a:latin typeface="Consolas"/>
              </a:rPr>
              <a:t>IfcDuctSegment</a:t>
            </a:r>
            <a:r>
              <a:rPr lang="en-US" sz="1400" dirty="0">
                <a:solidFill>
                  <a:srgbClr val="D4D4D4"/>
                </a:solidFill>
                <a:latin typeface="Consolas"/>
              </a:rPr>
              <a:t> | </a:t>
            </a:r>
            <a:r>
              <a:rPr lang="en-US" sz="1400" dirty="0">
                <a:solidFill>
                  <a:srgbClr val="4EC9B0"/>
                </a:solidFill>
                <a:latin typeface="Consolas"/>
              </a:rPr>
              <a:t>IfcDuctFitting</a:t>
            </a:r>
          </a:p>
          <a:p>
            <a:pPr>
              <a:buNone/>
            </a:pPr>
            <a:r>
              <a:rPr lang="en-US" sz="1400" dirty="0">
                <a:solidFill>
                  <a:srgbClr val="D4D4D4"/>
                </a:solidFill>
                <a:latin typeface="Consolas"/>
              </a:rPr>
              <a:t>  | </a:t>
            </a:r>
            <a:r>
              <a:rPr lang="en-US" sz="1400" dirty="0">
                <a:solidFill>
                  <a:srgbClr val="4EC9B0"/>
                </a:solidFill>
                <a:latin typeface="Consolas"/>
              </a:rPr>
              <a:t>IfcCableSegment</a:t>
            </a:r>
            <a:r>
              <a:rPr lang="en-US" sz="1400" dirty="0">
                <a:solidFill>
                  <a:srgbClr val="D4D4D4"/>
                </a:solidFill>
                <a:latin typeface="Consolas"/>
              </a:rPr>
              <a:t> | </a:t>
            </a:r>
            <a:r>
              <a:rPr lang="en-US" sz="1400" dirty="0">
                <a:solidFill>
                  <a:srgbClr val="4EC9B0"/>
                </a:solidFill>
                <a:latin typeface="Consolas"/>
              </a:rPr>
              <a:t>IfcCableCarrier</a:t>
            </a:r>
            <a:r>
              <a:rPr lang="en-US" sz="1400" dirty="0">
                <a:solidFill>
                  <a:srgbClr val="D4D4D4"/>
                </a:solidFill>
                <a:latin typeface="Consolas"/>
              </a:rPr>
              <a:t> | </a:t>
            </a:r>
            <a:r>
              <a:rPr lang="en-US" sz="1400" dirty="0">
                <a:solidFill>
                  <a:srgbClr val="4EC9B0"/>
                </a:solidFill>
                <a:latin typeface="Consolas"/>
              </a:rPr>
              <a:t>IfcJunctionBox</a:t>
            </a:r>
            <a:r>
              <a:rPr lang="en-US" sz="1400" dirty="0">
                <a:solidFill>
                  <a:srgbClr val="D4D4D4"/>
                </a:solidFill>
                <a:latin typeface="Consolas"/>
              </a:rPr>
              <a:t> | </a:t>
            </a:r>
            <a:r>
              <a:rPr lang="en-US" sz="1400" dirty="0">
                <a:solidFill>
                  <a:srgbClr val="4EC9B0"/>
                </a:solidFill>
                <a:latin typeface="Consolas"/>
              </a:rPr>
              <a:t>IfcOutlet</a:t>
            </a:r>
            <a:r>
              <a:rPr lang="en-US" sz="1400" dirty="0">
                <a:solidFill>
                  <a:srgbClr val="D4D4D4"/>
                </a:solidFill>
                <a:latin typeface="Consolas"/>
              </a:rPr>
              <a:t> | </a:t>
            </a:r>
            <a:r>
              <a:rPr lang="en-US" sz="1400" dirty="0">
                <a:solidFill>
                  <a:srgbClr val="4EC9B0"/>
                </a:solidFill>
                <a:latin typeface="Consolas"/>
              </a:rPr>
              <a:t>IfcSwitch</a:t>
            </a:r>
          </a:p>
          <a:p>
            <a:pPr>
              <a:buNone/>
            </a:pPr>
            <a:r>
              <a:rPr lang="en-US" sz="1400" dirty="0">
                <a:solidFill>
                  <a:srgbClr val="D4D4D4"/>
                </a:solidFill>
                <a:latin typeface="Consolas"/>
              </a:rPr>
              <a:t>  | </a:t>
            </a:r>
            <a:r>
              <a:rPr lang="en-US" sz="1400" dirty="0">
                <a:solidFill>
                  <a:srgbClr val="4EC9B0"/>
                </a:solidFill>
                <a:latin typeface="Consolas"/>
              </a:rPr>
              <a:t>IfcPump</a:t>
            </a:r>
            <a:r>
              <a:rPr lang="en-US" sz="1400" dirty="0">
                <a:solidFill>
                  <a:srgbClr val="D4D4D4"/>
                </a:solidFill>
                <a:latin typeface="Consolas"/>
              </a:rPr>
              <a:t> | </a:t>
            </a:r>
            <a:r>
              <a:rPr lang="en-US" sz="1400" dirty="0">
                <a:solidFill>
                  <a:srgbClr val="4EC9B0"/>
                </a:solidFill>
                <a:latin typeface="Consolas"/>
              </a:rPr>
              <a:t>IfcFan</a:t>
            </a:r>
            <a:r>
              <a:rPr lang="en-US" sz="1400" dirty="0">
                <a:solidFill>
                  <a:srgbClr val="D4D4D4"/>
                </a:solidFill>
                <a:latin typeface="Consolas"/>
              </a:rPr>
              <a:t> | </a:t>
            </a:r>
            <a:r>
              <a:rPr lang="en-US" sz="1400" dirty="0">
                <a:solidFill>
                  <a:srgbClr val="4EC9B0"/>
                </a:solidFill>
                <a:latin typeface="Consolas"/>
              </a:rPr>
              <a:t>IfcBoiler</a:t>
            </a:r>
            <a:r>
              <a:rPr lang="en-US" sz="1400" dirty="0">
                <a:solidFill>
                  <a:srgbClr val="D4D4D4"/>
                </a:solidFill>
                <a:latin typeface="Consolas"/>
              </a:rPr>
              <a:t> | </a:t>
            </a:r>
            <a:r>
              <a:rPr lang="en-US" sz="1400" dirty="0">
                <a:solidFill>
                  <a:srgbClr val="4EC9B0"/>
                </a:solidFill>
                <a:latin typeface="Consolas"/>
              </a:rPr>
              <a:t>IfcChiller</a:t>
            </a:r>
            <a:r>
              <a:rPr lang="en-US" sz="1400" dirty="0">
                <a:solidFill>
                  <a:srgbClr val="D4D4D4"/>
                </a:solidFill>
                <a:latin typeface="Consolas"/>
              </a:rPr>
              <a:t> | </a:t>
            </a:r>
            <a:r>
              <a:rPr lang="en-US" sz="1400" dirty="0">
                <a:solidFill>
                  <a:srgbClr val="4EC9B0"/>
                </a:solidFill>
                <a:latin typeface="Consolas"/>
              </a:rPr>
              <a:t>IfcCoil</a:t>
            </a:r>
            <a:r>
              <a:rPr lang="en-US" sz="1400" dirty="0">
                <a:solidFill>
                  <a:srgbClr val="D4D4D4"/>
                </a:solidFill>
                <a:latin typeface="Consolas"/>
              </a:rPr>
              <a:t> | </a:t>
            </a:r>
            <a:r>
              <a:rPr lang="en-US" sz="1400" dirty="0">
                <a:solidFill>
                  <a:srgbClr val="4EC9B0"/>
                </a:solidFill>
                <a:latin typeface="Consolas"/>
              </a:rPr>
              <a:t>IfcCondenser</a:t>
            </a:r>
            <a:r>
              <a:rPr lang="en-US" sz="1400" dirty="0">
                <a:solidFill>
                  <a:srgbClr val="D4D4D4"/>
                </a:solidFill>
                <a:latin typeface="Consolas"/>
              </a:rPr>
              <a:t> | </a:t>
            </a:r>
            <a:r>
              <a:rPr lang="en-US" sz="1400" dirty="0">
                <a:solidFill>
                  <a:srgbClr val="4EC9B0"/>
                </a:solidFill>
                <a:latin typeface="Consolas"/>
              </a:rPr>
              <a:t>IfcCoolingTower</a:t>
            </a:r>
          </a:p>
          <a:p>
            <a:pPr>
              <a:buNone/>
            </a:pPr>
            <a:r>
              <a:rPr lang="en-US" sz="1400" dirty="0">
                <a:solidFill>
                  <a:srgbClr val="D4D4D4"/>
                </a:solidFill>
                <a:latin typeface="Consolas"/>
              </a:rPr>
              <a:t>  | </a:t>
            </a:r>
            <a:r>
              <a:rPr lang="en-US" sz="1400" dirty="0">
                <a:solidFill>
                  <a:srgbClr val="4EC9B0"/>
                </a:solidFill>
                <a:latin typeface="Consolas"/>
              </a:rPr>
              <a:t>IfcValve</a:t>
            </a:r>
            <a:r>
              <a:rPr lang="en-US" sz="1400" dirty="0">
                <a:solidFill>
                  <a:srgbClr val="D4D4D4"/>
                </a:solidFill>
                <a:latin typeface="Consolas"/>
              </a:rPr>
              <a:t> | </a:t>
            </a:r>
            <a:r>
              <a:rPr lang="en-US" sz="1400" dirty="0">
                <a:solidFill>
                  <a:srgbClr val="4EC9B0"/>
                </a:solidFill>
                <a:latin typeface="Consolas"/>
              </a:rPr>
              <a:t>IfcSensor</a:t>
            </a:r>
            <a:r>
              <a:rPr lang="en-US" sz="1400" dirty="0">
                <a:solidFill>
                  <a:srgbClr val="D4D4D4"/>
                </a:solidFill>
                <a:latin typeface="Consolas"/>
              </a:rPr>
              <a:t> | </a:t>
            </a:r>
            <a:r>
              <a:rPr lang="en-US" sz="1400" dirty="0">
                <a:solidFill>
                  <a:srgbClr val="4EC9B0"/>
                </a:solidFill>
                <a:latin typeface="Consolas"/>
              </a:rPr>
              <a:t>IfcActuator</a:t>
            </a:r>
            <a:r>
              <a:rPr lang="en-US" sz="1400" dirty="0">
                <a:solidFill>
                  <a:srgbClr val="D4D4D4"/>
                </a:solidFill>
                <a:latin typeface="Consolas"/>
              </a:rPr>
              <a:t> | </a:t>
            </a:r>
            <a:r>
              <a:rPr lang="en-US" sz="1400" dirty="0">
                <a:solidFill>
                  <a:srgbClr val="4EC9B0"/>
                </a:solidFill>
                <a:latin typeface="Consolas"/>
              </a:rPr>
              <a:t>IfcAlarm</a:t>
            </a:r>
            <a:r>
              <a:rPr lang="en-US" sz="1400" dirty="0">
                <a:solidFill>
                  <a:srgbClr val="D4D4D4"/>
                </a:solidFill>
                <a:latin typeface="Consolas"/>
              </a:rPr>
              <a:t> | </a:t>
            </a:r>
            <a:r>
              <a:rPr lang="en-US" sz="1400" dirty="0">
                <a:solidFill>
                  <a:srgbClr val="4EC9B0"/>
                </a:solidFill>
                <a:latin typeface="Consolas"/>
              </a:rPr>
              <a:t>IfcController</a:t>
            </a:r>
            <a:r>
              <a:rPr lang="en-US" sz="1400" dirty="0">
                <a:solidFill>
                  <a:srgbClr val="D4D4D4"/>
                </a:solidFill>
                <a:latin typeface="Consolas"/>
              </a:rPr>
              <a:t> | </a:t>
            </a:r>
            <a:r>
              <a:rPr lang="en-US" sz="1400" dirty="0">
                <a:solidFill>
                  <a:srgbClr val="4EC9B0"/>
                </a:solidFill>
                <a:latin typeface="Consolas"/>
              </a:rPr>
              <a:t>IfcFlowMeter</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IfcSpatialElement</a:t>
            </a:r>
            <a:r>
              <a:rPr lang="en-US" sz="1400" dirty="0">
                <a:solidFill>
                  <a:srgbClr val="D4D4D4"/>
                </a:solidFill>
                <a:latin typeface="Consolas"/>
              </a:rPr>
              <a:t> =</a:t>
            </a:r>
            <a:r>
              <a:rPr lang="en-US" sz="1400" dirty="0">
                <a:solidFill>
                  <a:srgbClr val="6A9955"/>
                </a:solidFill>
                <a:latin typeface="Consolas"/>
              </a:rPr>
              <a:t>           // spatial hierarchy ← recursive</a:t>
            </a:r>
          </a:p>
          <a:p>
            <a:pPr>
              <a:buNone/>
            </a:pPr>
            <a:r>
              <a:rPr lang="en-US" sz="1400" dirty="0">
                <a:solidFill>
                  <a:srgbClr val="D4D4D4"/>
                </a:solidFill>
                <a:latin typeface="Consolas"/>
              </a:rPr>
              <a:t>  | </a:t>
            </a:r>
            <a:r>
              <a:rPr lang="en-US" sz="1400" dirty="0">
                <a:solidFill>
                  <a:srgbClr val="4EC9B0"/>
                </a:solidFill>
                <a:latin typeface="Consolas"/>
              </a:rPr>
              <a:t>IfcSite</a:t>
            </a:r>
            <a:r>
              <a:rPr lang="en-US" sz="1400" dirty="0">
                <a:solidFill>
                  <a:srgbClr val="D4D4D4"/>
                </a:solidFill>
                <a:latin typeface="Consolas"/>
              </a:rPr>
              <a:t> | </a:t>
            </a:r>
            <a:r>
              <a:rPr lang="en-US" sz="1400" dirty="0">
                <a:solidFill>
                  <a:srgbClr val="4EC9B0"/>
                </a:solidFill>
                <a:latin typeface="Consolas"/>
              </a:rPr>
              <a:t>IfcBuilding</a:t>
            </a:r>
            <a:r>
              <a:rPr lang="en-US" sz="1400" dirty="0">
                <a:solidFill>
                  <a:srgbClr val="D4D4D4"/>
                </a:solidFill>
                <a:latin typeface="Consolas"/>
              </a:rPr>
              <a:t> | </a:t>
            </a:r>
            <a:r>
              <a:rPr lang="en-US" sz="1400" dirty="0">
                <a:solidFill>
                  <a:srgbClr val="4EC9B0"/>
                </a:solidFill>
                <a:latin typeface="Consolas"/>
              </a:rPr>
              <a:t>IfcBuildingStorey</a:t>
            </a:r>
            <a:r>
              <a:rPr lang="en-US" sz="1400" dirty="0">
                <a:solidFill>
                  <a:srgbClr val="D4D4D4"/>
                </a:solidFill>
                <a:latin typeface="Consolas"/>
              </a:rPr>
              <a:t> | </a:t>
            </a:r>
            <a:r>
              <a:rPr lang="en-US" sz="1400" dirty="0">
                <a:solidFill>
                  <a:srgbClr val="4EC9B0"/>
                </a:solidFill>
                <a:latin typeface="Consolas"/>
              </a:rPr>
              <a:t>IfcSpace</a:t>
            </a:r>
            <a:r>
              <a:rPr lang="en-US" sz="1400" dirty="0">
                <a:solidFill>
                  <a:srgbClr val="D4D4D4"/>
                </a:solidFill>
                <a:latin typeface="Consolas"/>
              </a:rPr>
              <a:t> | </a:t>
            </a:r>
            <a:r>
              <a:rPr lang="en-US" sz="1400" dirty="0">
                <a:solidFill>
                  <a:srgbClr val="4EC9B0"/>
                </a:solidFill>
                <a:latin typeface="Consolas"/>
              </a:rPr>
              <a:t>IfcFacility</a:t>
            </a:r>
            <a:r>
              <a:rPr lang="en-US" sz="1400" dirty="0">
                <a:solidFill>
                  <a:srgbClr val="D4D4D4"/>
                </a:solidFill>
                <a:latin typeface="Consolas"/>
              </a:rPr>
              <a:t> | </a:t>
            </a:r>
            <a:r>
              <a:rPr lang="en-US" sz="1400" dirty="0">
                <a:solidFill>
                  <a:srgbClr val="4EC9B0"/>
                </a:solidFill>
                <a:latin typeface="Consolas"/>
              </a:rPr>
              <a:t>IfcBridge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IfcWall contains IfcElement[] — recursive like IJsonSchema</a:t>
            </a:r>
          </a:p>
          <a:p>
            <a:pPr>
              <a:buNone/>
            </a:pPr>
            <a:r>
              <a:rPr lang="en-US" sz="1400" dirty="0">
                <a:solidFill>
                  <a:srgbClr val="6A9955"/>
                </a:solidFill>
                <a:latin typeface="Consolas"/>
              </a:rPr>
              <a:t>// IfcDistributionElement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FF9F43"/>
                </a:solidFill>
                <a:latin typeface="Segoe UI Semibold"/>
              </a:rPr>
              <a:t>BIM tools like Revit: collision detection for decades</a:t>
            </a:r>
          </a:p>
        </p:txBody>
      </p:sp>
    </p:spTree>
    <p:extLst>
      <p:ext uri="{BB962C8B-B14F-4D97-AF65-F5344CB8AC3E}">
        <p14:creationId xmlns:p14="http://schemas.microsoft.com/office/powerpoint/2010/main" val="55276566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B4F4345E-F019-4CF8-89AC-960DDAF46810}"/>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Control Systems — Controller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Transfer function (fast) → Stability analysis (med) → Time-domain sim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IController</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IPID</a:t>
            </a:r>
            <a:r>
              <a:rPr lang="en-US" sz="1400" dirty="0">
                <a:solidFill>
                  <a:srgbClr val="6A9955"/>
                </a:solidFill>
                <a:latin typeface="Consolas"/>
              </a:rPr>
              <a:t>               // inner: IController  ← cascade recursion</a:t>
            </a:r>
          </a:p>
          <a:p>
            <a:pPr>
              <a:buNone/>
            </a:pPr>
            <a:r>
              <a:rPr lang="en-US" sz="1400" dirty="0">
                <a:solidFill>
                  <a:srgbClr val="D4D4D4"/>
                </a:solidFill>
                <a:latin typeface="Consolas"/>
              </a:rPr>
              <a:t>  | </a:t>
            </a:r>
            <a:r>
              <a:rPr lang="en-US" sz="1400" dirty="0">
                <a:solidFill>
                  <a:srgbClr val="4EC9B0"/>
                </a:solidFill>
                <a:latin typeface="Consolas"/>
              </a:rPr>
              <a:t>IMPC</a:t>
            </a:r>
            <a:r>
              <a:rPr lang="en-US" sz="1400" dirty="0">
                <a:solidFill>
                  <a:srgbClr val="6A9955"/>
                </a:solidFill>
                <a:latin typeface="Consolas"/>
              </a:rPr>
              <a:t>               // constraints: IConstraint[]  ← another union</a:t>
            </a:r>
          </a:p>
          <a:p>
            <a:pPr>
              <a:buNone/>
            </a:pPr>
            <a:r>
              <a:rPr lang="en-US" sz="1400" dirty="0">
                <a:solidFill>
                  <a:srgbClr val="D4D4D4"/>
                </a:solidFill>
                <a:latin typeface="Consolas"/>
              </a:rPr>
              <a:t>  | </a:t>
            </a:r>
            <a:r>
              <a:rPr lang="en-US" sz="1400" dirty="0">
                <a:solidFill>
                  <a:srgbClr val="4EC9B0"/>
                </a:solidFill>
                <a:latin typeface="Consolas"/>
              </a:rPr>
              <a:t>ILQR</a:t>
            </a:r>
            <a:r>
              <a:rPr lang="en-US" sz="1400" dirty="0">
                <a:solidFill>
                  <a:srgbClr val="D4D4D4"/>
                </a:solidFill>
                <a:latin typeface="Consolas"/>
              </a:rPr>
              <a:t> | </a:t>
            </a:r>
            <a:r>
              <a:rPr lang="en-US" sz="1400" dirty="0">
                <a:solidFill>
                  <a:srgbClr val="4EC9B0"/>
                </a:solidFill>
                <a:latin typeface="Consolas"/>
              </a:rPr>
              <a:t>ILQG</a:t>
            </a:r>
            <a:r>
              <a:rPr lang="en-US" sz="1400" dirty="0">
                <a:solidFill>
                  <a:srgbClr val="D4D4D4"/>
                </a:solidFill>
                <a:latin typeface="Consolas"/>
              </a:rPr>
              <a:t> | </a:t>
            </a:r>
            <a:r>
              <a:rPr lang="en-US" sz="1400" dirty="0">
                <a:solidFill>
                  <a:srgbClr val="4EC9B0"/>
                </a:solidFill>
                <a:latin typeface="Consolas"/>
              </a:rPr>
              <a:t>IHinf</a:t>
            </a:r>
            <a:r>
              <a:rPr lang="en-US" sz="1400" dirty="0">
                <a:solidFill>
                  <a:srgbClr val="D4D4D4"/>
                </a:solidFill>
                <a:latin typeface="Consolas"/>
              </a:rPr>
              <a:t> | </a:t>
            </a:r>
            <a:r>
              <a:rPr lang="en-US" sz="1400" dirty="0">
                <a:solidFill>
                  <a:srgbClr val="4EC9B0"/>
                </a:solidFill>
                <a:latin typeface="Consolas"/>
              </a:rPr>
              <a:t>IFeedforward</a:t>
            </a:r>
            <a:r>
              <a:rPr lang="en-US" sz="1400" dirty="0">
                <a:solidFill>
                  <a:srgbClr val="D4D4D4"/>
                </a:solidFill>
                <a:latin typeface="Consolas"/>
              </a:rPr>
              <a:t> | </a:t>
            </a:r>
            <a:r>
              <a:rPr lang="en-US" sz="1400" dirty="0">
                <a:solidFill>
                  <a:srgbClr val="4EC9B0"/>
                </a:solidFill>
                <a:latin typeface="Consolas"/>
              </a:rPr>
              <a:t>ICascade</a:t>
            </a:r>
            <a:r>
              <a:rPr lang="en-US" sz="1400" dirty="0">
                <a:solidFill>
                  <a:srgbClr val="D4D4D4"/>
                </a:solidFill>
                <a:latin typeface="Consolas"/>
              </a:rPr>
              <a:t> | </a:t>
            </a:r>
            <a:r>
              <a:rPr lang="en-US" sz="1400" dirty="0">
                <a:solidFill>
                  <a:srgbClr val="4EC9B0"/>
                </a:solidFill>
                <a:latin typeface="Consolas"/>
              </a:rPr>
              <a:t>IAdaptive</a:t>
            </a:r>
          </a:p>
          <a:p>
            <a:pPr>
              <a:buNone/>
            </a:pPr>
            <a:r>
              <a:rPr lang="en-US" sz="1400" dirty="0">
                <a:solidFill>
                  <a:srgbClr val="D4D4D4"/>
                </a:solidFill>
                <a:latin typeface="Consolas"/>
              </a:rPr>
              <a:t>  | </a:t>
            </a:r>
            <a:r>
              <a:rPr lang="en-US" sz="1400" dirty="0">
                <a:solidFill>
                  <a:srgbClr val="4EC9B0"/>
                </a:solidFill>
                <a:latin typeface="Consolas"/>
              </a:rPr>
              <a:t>IFuzzy</a:t>
            </a:r>
            <a:r>
              <a:rPr lang="en-US" sz="1400" dirty="0">
                <a:solidFill>
                  <a:srgbClr val="D4D4D4"/>
                </a:solidFill>
                <a:latin typeface="Consolas"/>
              </a:rPr>
              <a:t> | </a:t>
            </a:r>
            <a:r>
              <a:rPr lang="en-US" sz="1400" dirty="0">
                <a:solidFill>
                  <a:srgbClr val="4EC9B0"/>
                </a:solidFill>
                <a:latin typeface="Consolas"/>
              </a:rPr>
              <a:t>ISlidingMode</a:t>
            </a:r>
            <a:r>
              <a:rPr lang="en-US" sz="1400" dirty="0">
                <a:solidFill>
                  <a:srgbClr val="D4D4D4"/>
                </a:solidFill>
                <a:latin typeface="Consolas"/>
              </a:rPr>
              <a:t> | </a:t>
            </a:r>
            <a:r>
              <a:rPr lang="en-US" sz="1400" dirty="0">
                <a:solidFill>
                  <a:srgbClr val="4EC9B0"/>
                </a:solidFill>
                <a:latin typeface="Consolas"/>
              </a:rPr>
              <a:t>IBackstepping</a:t>
            </a:r>
            <a:r>
              <a:rPr lang="en-US" sz="1400" dirty="0">
                <a:solidFill>
                  <a:srgbClr val="D4D4D4"/>
                </a:solidFill>
                <a:latin typeface="Consolas"/>
              </a:rPr>
              <a:t> | </a:t>
            </a:r>
            <a:r>
              <a:rPr lang="en-US" sz="1400" dirty="0">
                <a:solidFill>
                  <a:srgbClr val="4EC9B0"/>
                </a:solidFill>
                <a:latin typeface="Consolas"/>
              </a:rPr>
              <a:t>IRobust</a:t>
            </a:r>
            <a:r>
              <a:rPr lang="en-US" sz="1400" dirty="0">
                <a:solidFill>
                  <a:srgbClr val="D4D4D4"/>
                </a:solidFill>
                <a:latin typeface="Consolas"/>
              </a:rPr>
              <a:t> | </a:t>
            </a:r>
            <a:r>
              <a:rPr lang="en-US" sz="1400" dirty="0">
                <a:solidFill>
                  <a:srgbClr val="4EC9B0"/>
                </a:solidFill>
                <a:latin typeface="Consolas"/>
              </a:rPr>
              <a:t>IGainScheduled</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IConstraint</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IRangeConstraint</a:t>
            </a:r>
            <a:r>
              <a:rPr lang="en-US" sz="1400" dirty="0">
                <a:solidFill>
                  <a:srgbClr val="D4D4D4"/>
                </a:solidFill>
                <a:latin typeface="Consolas"/>
              </a:rPr>
              <a:t> | </a:t>
            </a:r>
            <a:r>
              <a:rPr lang="en-US" sz="1400" dirty="0">
                <a:solidFill>
                  <a:srgbClr val="4EC9B0"/>
                </a:solidFill>
                <a:latin typeface="Consolas"/>
              </a:rPr>
              <a:t>IRateConstraint</a:t>
            </a:r>
            <a:r>
              <a:rPr lang="en-US" sz="1400" dirty="0">
                <a:solidFill>
                  <a:srgbClr val="D4D4D4"/>
                </a:solidFill>
                <a:latin typeface="Consolas"/>
              </a:rPr>
              <a:t> | </a:t>
            </a:r>
            <a:r>
              <a:rPr lang="en-US" sz="1400" dirty="0">
                <a:solidFill>
                  <a:srgbClr val="4EC9B0"/>
                </a:solidFill>
                <a:latin typeface="Consolas"/>
              </a:rPr>
              <a:t>IStabilityConstraint</a:t>
            </a:r>
            <a:r>
              <a:rPr lang="en-US" sz="1400" dirty="0">
                <a:solidFill>
                  <a:srgbClr val="D4D4D4"/>
                </a:solidFill>
                <a:latin typeface="Consolas"/>
              </a:rPr>
              <a:t> | </a:t>
            </a:r>
            <a:r>
              <a:rPr lang="en-US" sz="1400" dirty="0">
                <a:solidFill>
                  <a:srgbClr val="4EC9B0"/>
                </a:solidFill>
                <a:latin typeface="Consolas"/>
              </a:rPr>
              <a:t>ISafetyConstraint</a:t>
            </a:r>
          </a:p>
          <a:p>
            <a:pPr>
              <a:buNone/>
            </a:pPr>
            <a:r>
              <a:rPr lang="en-US" sz="1400" dirty="0">
                <a:solidFill>
                  <a:srgbClr val="D4D4D4"/>
                </a:solidFill>
                <a:latin typeface="Consolas"/>
              </a:rPr>
              <a:t>  | </a:t>
            </a:r>
            <a:r>
              <a:rPr lang="en-US" sz="1400" dirty="0">
                <a:solidFill>
                  <a:srgbClr val="4EC9B0"/>
                </a:solidFill>
                <a:latin typeface="Consolas"/>
              </a:rPr>
              <a:t>IBandwidthConstraint</a:t>
            </a:r>
            <a:r>
              <a:rPr lang="en-US" sz="1400" dirty="0">
                <a:solidFill>
                  <a:srgbClr val="D4D4D4"/>
                </a:solidFill>
                <a:latin typeface="Consolas"/>
              </a:rPr>
              <a:t> | </a:t>
            </a:r>
            <a:r>
              <a:rPr lang="en-US" sz="1400" dirty="0">
                <a:solidFill>
                  <a:srgbClr val="4EC9B0"/>
                </a:solidFill>
                <a:latin typeface="Consolas"/>
              </a:rPr>
              <a:t>IRobustnessConstraint</a:t>
            </a:r>
            <a:r>
              <a:rPr lang="en-US" sz="1400" dirty="0">
                <a:solidFill>
                  <a:srgbClr val="D4D4D4"/>
                </a:solidFill>
                <a:latin typeface="Consolas"/>
              </a:rPr>
              <a:t> | </a:t>
            </a:r>
            <a:r>
              <a:rPr lang="en-US" sz="1400" dirty="0">
                <a:solidFill>
                  <a:srgbClr val="4EC9B0"/>
                </a:solidFill>
                <a:latin typeface="Consolas"/>
              </a:rPr>
              <a:t>IEnergyConstraint</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IPlantModel</a:t>
            </a:r>
            <a:r>
              <a:rPr lang="en-US" sz="1400" dirty="0">
                <a:solidFill>
                  <a:srgbClr val="D4D4D4"/>
                </a:solidFill>
                <a:latin typeface="Consolas"/>
              </a:rPr>
              <a:t> =</a:t>
            </a:r>
            <a:r>
              <a:rPr lang="en-US" sz="1400" dirty="0">
                <a:solidFill>
                  <a:srgbClr val="6A9955"/>
                </a:solidFill>
                <a:latin typeface="Consolas"/>
              </a:rPr>
              <a:t>                        // subsystems: IPlantModel[]  ← recursive</a:t>
            </a:r>
          </a:p>
          <a:p>
            <a:pPr>
              <a:buNone/>
            </a:pPr>
            <a:r>
              <a:rPr lang="en-US" sz="1400" dirty="0">
                <a:solidFill>
                  <a:srgbClr val="D4D4D4"/>
                </a:solidFill>
                <a:latin typeface="Consolas"/>
              </a:rPr>
              <a:t>  | </a:t>
            </a:r>
            <a:r>
              <a:rPr lang="en-US" sz="1400" dirty="0">
                <a:solidFill>
                  <a:srgbClr val="4EC9B0"/>
                </a:solidFill>
                <a:latin typeface="Consolas"/>
              </a:rPr>
              <a:t>ILinearPlant</a:t>
            </a:r>
            <a:r>
              <a:rPr lang="en-US" sz="1400" dirty="0">
                <a:solidFill>
                  <a:srgbClr val="D4D4D4"/>
                </a:solidFill>
                <a:latin typeface="Consolas"/>
              </a:rPr>
              <a:t> | </a:t>
            </a:r>
            <a:r>
              <a:rPr lang="en-US" sz="1400" dirty="0">
                <a:solidFill>
                  <a:srgbClr val="4EC9B0"/>
                </a:solidFill>
                <a:latin typeface="Consolas"/>
              </a:rPr>
              <a:t>INonlinearPlant</a:t>
            </a:r>
            <a:r>
              <a:rPr lang="en-US" sz="1400" dirty="0">
                <a:solidFill>
                  <a:srgbClr val="D4D4D4"/>
                </a:solidFill>
                <a:latin typeface="Consolas"/>
              </a:rPr>
              <a:t> | </a:t>
            </a:r>
            <a:r>
              <a:rPr lang="en-US" sz="1400" dirty="0">
                <a:solidFill>
                  <a:srgbClr val="4EC9B0"/>
                </a:solidFill>
                <a:latin typeface="Consolas"/>
              </a:rPr>
              <a:t>IDelayPlant</a:t>
            </a:r>
            <a:r>
              <a:rPr lang="en-US" sz="1400" dirty="0">
                <a:solidFill>
                  <a:srgbClr val="D4D4D4"/>
                </a:solidFill>
                <a:latin typeface="Consolas"/>
              </a:rPr>
              <a:t> | </a:t>
            </a:r>
            <a:r>
              <a:rPr lang="en-US" sz="1400" dirty="0">
                <a:solidFill>
                  <a:srgbClr val="4EC9B0"/>
                </a:solidFill>
                <a:latin typeface="Consolas"/>
              </a:rPr>
              <a:t>IHybridPlant</a:t>
            </a:r>
            <a:r>
              <a:rPr lang="en-US" sz="1400" dirty="0">
                <a:solidFill>
                  <a:srgbClr val="D4D4D4"/>
                </a:solidFill>
                <a:latin typeface="Consolas"/>
              </a:rPr>
              <a:t> | </a:t>
            </a:r>
            <a:r>
              <a:rPr lang="en-US" sz="1400" dirty="0">
                <a:solidFill>
                  <a:srgbClr val="4EC9B0"/>
                </a:solidFill>
                <a:latin typeface="Consolas"/>
              </a:rPr>
              <a:t>ISwitchedPlant</a:t>
            </a:r>
          </a:p>
          <a:p>
            <a:pPr>
              <a:buNone/>
            </a:pPr>
            <a:r>
              <a:rPr lang="en-US" sz="1400" dirty="0">
                <a:solidFill>
                  <a:srgbClr val="D4D4D4"/>
                </a:solidFill>
                <a:latin typeface="Consolas"/>
              </a:rPr>
              <a:t>  | </a:t>
            </a:r>
            <a:r>
              <a:rPr lang="en-US" sz="1400" dirty="0">
                <a:solidFill>
                  <a:srgbClr val="4EC9B0"/>
                </a:solidFill>
                <a:latin typeface="Consolas"/>
              </a:rPr>
              <a:t>IStateSpace</a:t>
            </a:r>
            <a:r>
              <a:rPr lang="en-US" sz="1400" dirty="0">
                <a:solidFill>
                  <a:srgbClr val="D4D4D4"/>
                </a:solidFill>
                <a:latin typeface="Consolas"/>
              </a:rPr>
              <a:t> | </a:t>
            </a:r>
            <a:r>
              <a:rPr lang="en-US" sz="1400" dirty="0">
                <a:solidFill>
                  <a:srgbClr val="4EC9B0"/>
                </a:solidFill>
                <a:latin typeface="Consolas"/>
              </a:rPr>
              <a:t>ITransferFunction</a:t>
            </a:r>
            <a:r>
              <a:rPr lang="en-US" sz="1400" dirty="0">
                <a:solidFill>
                  <a:srgbClr val="D4D4D4"/>
                </a:solidFill>
                <a:latin typeface="Consolas"/>
              </a:rPr>
              <a:t> | </a:t>
            </a:r>
            <a:r>
              <a:rPr lang="en-US" sz="1400" dirty="0">
                <a:solidFill>
                  <a:srgbClr val="4EC9B0"/>
                </a:solidFill>
                <a:latin typeface="Consolas"/>
              </a:rPr>
              <a:t>IZeroPoleGain</a:t>
            </a:r>
            <a:r>
              <a:rPr lang="en-US" sz="1400" dirty="0">
                <a:solidFill>
                  <a:srgbClr val="D4D4D4"/>
                </a:solidFill>
                <a:latin typeface="Consolas"/>
              </a:rPr>
              <a:t> | </a:t>
            </a:r>
            <a:r>
              <a:rPr lang="en-US" sz="1400" dirty="0">
                <a:solidFill>
                  <a:srgbClr val="4EC9B0"/>
                </a:solidFill>
                <a:latin typeface="Consolas"/>
              </a:rPr>
              <a:t>IFreqResponse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IEstimator</a:t>
            </a:r>
            <a:r>
              <a:rPr lang="en-US" sz="1400" dirty="0">
                <a:solidFill>
                  <a:srgbClr val="D4D4D4"/>
                </a:solidFill>
                <a:latin typeface="Consolas"/>
              </a:rPr>
              <a:t> = </a:t>
            </a:r>
            <a:r>
              <a:rPr lang="en-US" sz="1400" dirty="0">
                <a:solidFill>
                  <a:srgbClr val="4EC9B0"/>
                </a:solidFill>
                <a:latin typeface="Consolas"/>
              </a:rPr>
              <a:t>IKalmanFilter</a:t>
            </a:r>
            <a:r>
              <a:rPr lang="en-US" sz="1400" dirty="0">
                <a:solidFill>
                  <a:srgbClr val="D4D4D4"/>
                </a:solidFill>
                <a:latin typeface="Consolas"/>
              </a:rPr>
              <a:t> | </a:t>
            </a:r>
            <a:r>
              <a:rPr lang="en-US" sz="1400" dirty="0">
                <a:solidFill>
                  <a:srgbClr val="4EC9B0"/>
                </a:solidFill>
                <a:latin typeface="Consolas"/>
              </a:rPr>
              <a:t>IEKF</a:t>
            </a:r>
            <a:r>
              <a:rPr lang="en-US" sz="1400" dirty="0">
                <a:solidFill>
                  <a:srgbClr val="D4D4D4"/>
                </a:solidFill>
                <a:latin typeface="Consolas"/>
              </a:rPr>
              <a:t> | </a:t>
            </a:r>
            <a:r>
              <a:rPr lang="en-US" sz="1400" dirty="0">
                <a:solidFill>
                  <a:srgbClr val="4EC9B0"/>
                </a:solidFill>
                <a:latin typeface="Consolas"/>
              </a:rPr>
              <a:t>IUKF</a:t>
            </a:r>
            <a:r>
              <a:rPr lang="en-US" sz="1400" dirty="0">
                <a:solidFill>
                  <a:srgbClr val="D4D4D4"/>
                </a:solidFill>
                <a:latin typeface="Consolas"/>
              </a:rPr>
              <a:t> | </a:t>
            </a:r>
            <a:r>
              <a:rPr lang="en-US" sz="1400" dirty="0">
                <a:solidFill>
                  <a:srgbClr val="4EC9B0"/>
                </a:solidFill>
                <a:latin typeface="Consolas"/>
              </a:rPr>
              <a:t>IParticleFilter</a:t>
            </a:r>
            <a:r>
              <a:rPr lang="en-US" sz="1400" dirty="0">
                <a:solidFill>
                  <a:srgbClr val="D4D4D4"/>
                </a:solidFill>
                <a:latin typeface="Consolas"/>
              </a:rPr>
              <a:t> | </a:t>
            </a:r>
            <a:r>
              <a:rPr lang="en-US" sz="1400" dirty="0">
                <a:solidFill>
                  <a:srgbClr val="4EC9B0"/>
                </a:solidFill>
                <a:latin typeface="Consolas"/>
              </a:rPr>
              <a:t>ILuenberger</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ICascade.inner: IController — recursive like IJsonSchema</a:t>
            </a:r>
          </a:p>
          <a:p>
            <a:pPr>
              <a:buNone/>
            </a:pPr>
            <a:r>
              <a:rPr lang="en-US" sz="1400" dirty="0">
                <a:solidFill>
                  <a:srgbClr val="6A9955"/>
                </a:solidFill>
                <a:latin typeface="Consolas"/>
              </a:rPr>
              <a:t>// IMPC.constraints: IConstraint[]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A855F7"/>
                </a:solidFill>
                <a:latin typeface="Segoe UI Semibold"/>
              </a:rPr>
              <a:t>60+ years of Bode, Nyquist, and pole-placement analysis tools</a:t>
            </a:r>
          </a:p>
        </p:txBody>
      </p:sp>
    </p:spTree>
    <p:extLst>
      <p:ext uri="{BB962C8B-B14F-4D97-AF65-F5344CB8AC3E}">
        <p14:creationId xmlns:p14="http://schemas.microsoft.com/office/powerpoint/2010/main" val="41955525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dirty="0"/>
              <a:t>Qwen series</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Small Models and QA Engineering</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햇빛에 반사된 두 개의 덤벨의 이미지">
            <a:extLst>
              <a:ext uri="{FF2B5EF4-FFF2-40B4-BE49-F238E27FC236}">
                <a16:creationId xmlns:a16="http://schemas.microsoft.com/office/drawing/2014/main" id="{24CF8F03-99C4-8AD3-EFC4-59586456D5FA}"/>
              </a:ext>
            </a:extLst>
          </p:cNvPr>
          <p:cNvPicPr>
            <a:picLocks noChangeAspect="1"/>
          </p:cNvPicPr>
          <p:nvPr/>
        </p:nvPicPr>
        <p:blipFill>
          <a:blip r:embed="rId3"/>
          <a:srcRect l="36822" r="17955"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33586458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5.1. Small/Medium Models Excel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AutoBe's only criterion: how accurately a model fills complex JSON Schemas</a:t>
            </a:r>
          </a:p>
          <a:p>
            <a:endParaRPr lang="en-US" dirty="0"/>
          </a:p>
          <a:p>
            <a:r>
              <a:rPr lang="en-US" dirty="0"/>
              <a:t>GLM, Kimi — strong FC at large scale</a:t>
            </a:r>
          </a:p>
          <a:p>
            <a:r>
              <a:rPr lang="en-US" dirty="0"/>
              <a:t>At small/medium scale, Qwen was the only one</a:t>
            </a:r>
          </a:p>
          <a:p>
            <a:endParaRPr lang="en-US" dirty="0"/>
          </a:p>
          <a:p>
            <a:r>
              <a:rPr lang="en-US" dirty="0"/>
              <a:t>Even 3B active params supports tool choice</a:t>
            </a:r>
          </a:p>
          <a:p>
            <a:pPr lvl="1"/>
            <a:r>
              <a:rPr lang="en-US" dirty="0"/>
              <a:t>Handles 10+ variant recursive unions at 35B class</a:t>
            </a:r>
          </a:p>
        </p:txBody>
      </p:sp>
    </p:spTree>
    <p:extLst>
      <p:ext uri="{BB962C8B-B14F-4D97-AF65-F5344CB8AC3E}">
        <p14:creationId xmlns:p14="http://schemas.microsoft.com/office/powerpoint/2010/main" val="32494699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5.2. R&amp;D Cost: Users vs Developers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For users: even the most expensive model is cheaper than hiring a backend developer</a:t>
            </a:r>
          </a:p>
          <a:p>
            <a:endParaRPr lang="en-US" dirty="0"/>
          </a:p>
          <a:p>
            <a:r>
              <a:rPr lang="en-US" dirty="0"/>
              <a:t>For developers: thousands of generate-compile-feedback cycles per feature</a:t>
            </a:r>
          </a:p>
          <a:p>
            <a:pPr lvl="1"/>
            <a:r>
              <a:rPr lang="en-US" dirty="0"/>
              <a:t>Commercial models at this scale = financial ruin</a:t>
            </a:r>
          </a:p>
          <a:p>
            <a:endParaRPr lang="en-US" dirty="0"/>
          </a:p>
          <a:p>
            <a:r>
              <a:rPr lang="en-US" dirty="0"/>
              <a:t>Local models make R&amp;D cycles possible</a:t>
            </a:r>
          </a:p>
          <a:p>
            <a:pPr lvl="1"/>
            <a:r>
              <a:rPr lang="en-US" dirty="0"/>
              <a:t>Experiment without limits, without cost</a:t>
            </a:r>
          </a:p>
          <a:p>
            <a:pPr lvl="1"/>
            <a:r>
              <a:rPr lang="en-US" dirty="0"/>
              <a:t>6.75% → 100% required hundreds of cycles — only possible with local models</a:t>
            </a:r>
          </a:p>
        </p:txBody>
      </p:sp>
    </p:spTree>
    <p:extLst>
      <p:ext uri="{BB962C8B-B14F-4D97-AF65-F5344CB8AC3E}">
        <p14:creationId xmlns:p14="http://schemas.microsoft.com/office/powerpoint/2010/main" val="30268272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5.3. Small Models = Best QA Engineers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Large models' advantage = their blind spot</a:t>
            </a:r>
          </a:p>
          <a:p>
            <a:pPr lvl="1"/>
            <a:r>
              <a:rPr lang="en-US" dirty="0"/>
              <a:t>"Correctly guess" ambiguous schemas — our mistakes stay hidden</a:t>
            </a:r>
          </a:p>
          <a:p>
            <a:endParaRPr lang="en-US" dirty="0"/>
          </a:p>
          <a:p>
            <a:r>
              <a:rPr lang="en-US" dirty="0"/>
              <a:t>Small model results:</a:t>
            </a:r>
          </a:p>
          <a:p>
            <a:pPr lvl="1"/>
            <a:r>
              <a:rPr lang="en-US" dirty="0"/>
              <a:t>qwen3-30b-a3b (3B active): ~10% — found fundamental schema ambiguities</a:t>
            </a:r>
          </a:p>
          <a:p>
            <a:pPr lvl="1"/>
            <a:r>
              <a:rPr lang="en-US" dirty="0"/>
              <a:t>qwen3-next-80b-a3b (3B active): ~20% — found subtle type mismatches</a:t>
            </a:r>
          </a:p>
          <a:p>
            <a:endParaRPr lang="en-US" dirty="0"/>
          </a:p>
          <a:p>
            <a:r>
              <a:rPr lang="en-US" dirty="0"/>
              <a:t>10% success = most valuable result</a:t>
            </a:r>
          </a:p>
          <a:p>
            <a:pPr lvl="1"/>
            <a:r>
              <a:rPr lang="en-US" dirty="0"/>
              <a:t>Every failure → system vulnerability → fix for ALL models</a:t>
            </a:r>
          </a:p>
        </p:txBody>
      </p:sp>
    </p:spTree>
    <p:extLst>
      <p:ext uri="{BB962C8B-B14F-4D97-AF65-F5344CB8AC3E}">
        <p14:creationId xmlns:p14="http://schemas.microsoft.com/office/powerpoint/2010/main" val="35815645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536C624B-ED18-4865-996C-E1304AA1D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solidFill>
            <a:schemeClr val="bg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a:xfrm>
            <a:off x="8369995" y="688255"/>
            <a:ext cx="3133839" cy="4118255"/>
          </a:xfrm>
          <a:noFill/>
          <a:ln w="12700" cmpd="sng">
            <a:noFill/>
          </a:ln>
        </p:spPr>
        <p:txBody>
          <a:bodyPr vert="horz" lIns="91440" tIns="45720" rIns="91440" bIns="45720" rtlCol="0" anchor="ctr">
            <a:normAutofit/>
          </a:bodyPr>
          <a:lstStyle/>
          <a:p>
            <a:pPr algn="r"/>
            <a:r>
              <a:rPr lang="en-US" sz="3600" b="1"/>
              <a:t>Conclusion</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a:xfrm>
            <a:off x="8369995" y="5190813"/>
            <a:ext cx="3133839" cy="1046663"/>
          </a:xfrm>
        </p:spPr>
        <p:txBody>
          <a:bodyPr vert="horz" lIns="91440" tIns="45720" rIns="91440" bIns="45720" rtlCol="0" anchor="t">
            <a:normAutofit/>
          </a:bodyPr>
          <a:lstStyle/>
          <a:p>
            <a:pPr algn="r"/>
            <a:r>
              <a:rPr lang="en-US" sz="2000" dirty="0"/>
              <a:t>6.75% → 100%</a:t>
            </a:r>
          </a:p>
        </p:txBody>
      </p:sp>
      <p:pic>
        <p:nvPicPr>
          <p:cNvPr id="7" name="Picture 6" descr="3D에서 다른 숫자">
            <a:extLst>
              <a:ext uri="{FF2B5EF4-FFF2-40B4-BE49-F238E27FC236}">
                <a16:creationId xmlns:a16="http://schemas.microsoft.com/office/drawing/2014/main" id="{E77AED42-00B0-185A-6D9C-5E775F16CE9C}"/>
              </a:ext>
            </a:extLst>
          </p:cNvPr>
          <p:cNvPicPr>
            <a:picLocks noChangeAspect="1"/>
          </p:cNvPicPr>
          <p:nvPr/>
        </p:nvPicPr>
        <p:blipFill>
          <a:blip r:embed="rId3"/>
          <a:srcRect l="19319" r="13999"/>
          <a:stretch>
            <a:fillRect/>
          </a:stretch>
        </p:blipFill>
        <p:spPr>
          <a:xfrm>
            <a:off x="20" y="10"/>
            <a:ext cx="8129852" cy="6857990"/>
          </a:xfrm>
          <a:prstGeom prst="rect">
            <a:avLst/>
          </a:prstGeom>
        </p:spPr>
      </p:pic>
      <p:sp>
        <p:nvSpPr>
          <p:cNvPr id="19" name="Rectangle 18">
            <a:extLst>
              <a:ext uri="{FF2B5EF4-FFF2-40B4-BE49-F238E27FC236}">
                <a16:creationId xmlns:a16="http://schemas.microsoft.com/office/drawing/2014/main" id="{D4A0D997-BC4A-4DB2-B8DB-093486DC5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7670768"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21" name="Straight Connector 20">
            <a:extLst>
              <a:ext uri="{FF2B5EF4-FFF2-40B4-BE49-F238E27FC236}">
                <a16:creationId xmlns:a16="http://schemas.microsoft.com/office/drawing/2014/main" id="{6DB4DA53-D7AC-481E-B130-9C190E76CA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3991" y="5044695"/>
            <a:ext cx="53689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54334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Conclusion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 Types = No misunderstandings</a:t>
            </a:r>
          </a:p>
          <a:p>
            <a:r>
              <a:rPr lang="en-US" dirty="0"/>
              <a:t>➜ Schemas = No pink elephants</a:t>
            </a:r>
          </a:p>
          <a:p>
            <a:r>
              <a:rPr lang="en-US" dirty="0"/>
              <a:t>➜ Deterministic loop: 6.75% → 100%</a:t>
            </a:r>
          </a:p>
          <a:p>
            <a:r>
              <a:rPr lang="en-US" dirty="0"/>
              <a:t>➜ Transfers to any domain with validators</a:t>
            </a:r>
          </a:p>
          <a:p>
            <a:endParaRPr lang="en-US" dirty="0"/>
          </a:p>
          <a:p>
            <a:r>
              <a:rPr lang="en-US" b="1" dirty="0"/>
              <a:t>Type Schema + Feedback = Deterministic Loop</a:t>
            </a:r>
          </a:p>
          <a:p>
            <a:r>
              <a:rPr lang="en-US" dirty="0"/>
              <a:t>Principle of Harness Engineering</a:t>
            </a:r>
          </a:p>
        </p:txBody>
      </p:sp>
    </p:spTree>
    <p:extLst>
      <p:ext uri="{BB962C8B-B14F-4D97-AF65-F5344CB8AC3E}">
        <p14:creationId xmlns:p14="http://schemas.microsoft.com/office/powerpoint/2010/main" val="1939191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The Journey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6.75%  Raw function calling success</a:t>
            </a:r>
          </a:p>
          <a:p>
            <a:pPr lvl="1"/>
            <a:r>
              <a:rPr lang="en-US" dirty="0"/>
              <a:t>↓</a:t>
            </a:r>
          </a:p>
          <a:p>
            <a:r>
              <a:rPr lang="en-US" dirty="0"/>
              <a:t>Typia  Parse → Coerce → Validate → Feedback</a:t>
            </a:r>
          </a:p>
          <a:p>
            <a:pPr lvl="1"/>
            <a:r>
              <a:rPr lang="en-US" dirty="0"/>
              <a:t>↓</a:t>
            </a:r>
          </a:p>
          <a:p>
            <a:r>
              <a:rPr lang="en-US" dirty="0"/>
              <a:t>Loop  Deterministic harness overcomes probabilistic LLM</a:t>
            </a:r>
          </a:p>
          <a:p>
            <a:pPr lvl="1"/>
            <a:r>
              <a:rPr lang="en-US" dirty="0"/>
              <a:t>↓</a:t>
            </a:r>
          </a:p>
          <a:p>
            <a:r>
              <a:rPr lang="en-US" dirty="0"/>
              <a:t>100%  All 4 Qwen models, same harness — transferable to all domains</a:t>
            </a:r>
          </a:p>
        </p:txBody>
      </p:sp>
    </p:spTree>
    <p:extLst>
      <p:ext uri="{BB962C8B-B14F-4D97-AF65-F5344CB8AC3E}">
        <p14:creationId xmlns:p14="http://schemas.microsoft.com/office/powerpoint/2010/main" val="12366521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6.75% is not a failure —</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35856" y="2064544"/>
            <a:ext cx="9872871" cy="4038600"/>
          </a:xfrm>
        </p:spPr>
        <p:txBody>
          <a:bodyPr>
            <a:normAutofit/>
          </a:bodyPr>
          <a:lstStyle/>
          <a:p>
            <a:r>
              <a:rPr lang="en-US" dirty="0"/>
              <a:t>it's the first input to the loop.</a:t>
            </a:r>
          </a:p>
          <a:p>
            <a:endParaRPr lang="en-US" dirty="0"/>
          </a:p>
          <a:p>
            <a:r>
              <a:rPr lang="en-US" dirty="0"/>
              <a:t>If you can verify, you converge.</a:t>
            </a:r>
          </a:p>
          <a:p>
            <a:endParaRPr lang="en-US" dirty="0"/>
          </a:p>
          <a:p>
            <a:r>
              <a:rPr lang="en-US" dirty="0"/>
              <a:t>challenge in engineering fields.</a:t>
            </a:r>
          </a:p>
        </p:txBody>
      </p:sp>
    </p:spTree>
    <p:extLst>
      <p:ext uri="{BB962C8B-B14F-4D97-AF65-F5344CB8AC3E}">
        <p14:creationId xmlns:p14="http://schemas.microsoft.com/office/powerpoint/2010/main" val="1393434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4294EE26-2BE2-8517-F2AE-1EB8763A843D}"/>
              </a:ext>
            </a:extLst>
          </p:cNvPr>
          <p:cNvSpPr>
            <a:spLocks noGrp="1"/>
          </p:cNvSpPr>
          <p:nvPr>
            <p:ph type="title"/>
          </p:nvPr>
        </p:nvSpPr>
        <p:spPr/>
        <p:txBody>
          <a:bodyPr/>
          <a:lstStyle/>
          <a:p>
            <a:r>
              <a:rPr lang="en-US" dirty="0"/>
              <a:t>Q&amp;A</a:t>
            </a:r>
          </a:p>
        </p:txBody>
      </p:sp>
      <p:sp>
        <p:nvSpPr>
          <p:cNvPr id="5" name="텍스트 개체 틀 4">
            <a:extLst>
              <a:ext uri="{FF2B5EF4-FFF2-40B4-BE49-F238E27FC236}">
                <a16:creationId xmlns:a16="http://schemas.microsoft.com/office/drawing/2014/main" id="{AF14B22B-4E98-263D-5291-3C89687F8085}"/>
              </a:ext>
            </a:extLst>
          </p:cNvPr>
          <p:cNvSpPr>
            <a:spLocks noGrp="1"/>
          </p:cNvSpPr>
          <p:nvPr>
            <p:ph type="body" idx="1"/>
          </p:nvPr>
        </p:nvSpPr>
        <p:spPr>
          <a:xfrm>
            <a:off x="1709928" y="4154520"/>
            <a:ext cx="8769096" cy="2029304"/>
          </a:xfrm>
        </p:spPr>
        <p:txBody>
          <a:bodyPr>
            <a:normAutofit/>
          </a:bodyPr>
          <a:lstStyle/>
          <a:p>
            <a:r>
              <a:rPr lang="en-US" dirty="0"/>
              <a:t>Qwen Meetup Korea</a:t>
            </a:r>
          </a:p>
          <a:p>
            <a:r>
              <a:rPr lang="en-US" altLang="ko-KR" dirty="0"/>
              <a:t>2026-03-26</a:t>
            </a:r>
          </a:p>
          <a:p>
            <a:r>
              <a:rPr lang="en-US" dirty="0"/>
              <a:t>Samchon, Wrtn Technologies</a:t>
            </a:r>
          </a:p>
        </p:txBody>
      </p:sp>
    </p:spTree>
    <p:extLst>
      <p:ext uri="{BB962C8B-B14F-4D97-AF65-F5344CB8AC3E}">
        <p14:creationId xmlns:p14="http://schemas.microsoft.com/office/powerpoint/2010/main" val="889141785"/>
      </p:ext>
    </p:extLst>
  </p:cSld>
  <p:clrMapOvr>
    <a:masterClrMapping/>
  </p:clrMapOvr>
</p:sld>
</file>

<file path=ppt/theme/theme1.xml><?xml version="1.0" encoding="utf-8"?>
<a:theme xmlns:a="http://schemas.openxmlformats.org/drawingml/2006/main" name="기본">
  <a:themeElements>
    <a:clrScheme name="기본">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기본">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기본 [1774069290905]">
  <a:themeElements>
    <a:clrScheme name="Harness Dark">
      <a:dk1>
        <a:srgbClr val="F0F0F0"/>
      </a:dk1>
      <a:lt1>
        <a:srgbClr val="0D1117"/>
      </a:lt1>
      <a:dk2>
        <a:srgbClr val="B0B0B0"/>
      </a:dk2>
      <a:lt2>
        <a:srgbClr val="161B22"/>
      </a:lt2>
      <a:accent1>
        <a:srgbClr val="00D4AA"/>
      </a:accent1>
      <a:accent2>
        <a:srgbClr val="FF6B6B"/>
      </a:accent2>
      <a:accent3>
        <a:srgbClr val="FFD93D"/>
      </a:accent3>
      <a:accent4>
        <a:srgbClr val="6C5CE7"/>
      </a:accent4>
      <a:accent5>
        <a:srgbClr val="74B9FF"/>
      </a:accent5>
      <a:accent6>
        <a:srgbClr val="A8E6CF"/>
      </a:accent6>
      <a:hlink>
        <a:srgbClr val="F59E00"/>
      </a:hlink>
      <a:folHlink>
        <a:srgbClr val="B2B2B2"/>
      </a:folHlink>
    </a:clrScheme>
    <a:fontScheme name="Harness">
      <a:majorFont>
        <a:latin typeface="Segoe UI Semibold"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egoe UI"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CBE745-F2E2-4DC4-86C5-90F295BEEB6B}">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기본</Template>
  <TotalTime>1038</TotalTime>
  <Words>7915</Words>
  <Application>Microsoft Office PowerPoint</Application>
  <PresentationFormat>와이드스크린</PresentationFormat>
  <Paragraphs>1036</Paragraphs>
  <Slides>59</Slides>
  <Notes>59</Notes>
  <HiddenSlides>0</HiddenSlides>
  <MMClips>0</MMClips>
  <ScaleCrop>false</ScaleCrop>
  <HeadingPairs>
    <vt:vector size="6" baseType="variant">
      <vt:variant>
        <vt:lpstr>사용한 글꼴</vt:lpstr>
      </vt:variant>
      <vt:variant>
        <vt:i4>7</vt:i4>
      </vt:variant>
      <vt:variant>
        <vt:lpstr>테마</vt:lpstr>
      </vt:variant>
      <vt:variant>
        <vt:i4>2</vt:i4>
      </vt:variant>
      <vt:variant>
        <vt:lpstr>슬라이드 제목</vt:lpstr>
      </vt:variant>
      <vt:variant>
        <vt:i4>59</vt:i4>
      </vt:variant>
    </vt:vector>
  </HeadingPairs>
  <TitlesOfParts>
    <vt:vector size="68" baseType="lpstr">
      <vt:lpstr>맑은 고딕</vt:lpstr>
      <vt:lpstr>Aptos</vt:lpstr>
      <vt:lpstr>Arial</vt:lpstr>
      <vt:lpstr>Consolas</vt:lpstr>
      <vt:lpstr>Corbel</vt:lpstr>
      <vt:lpstr>Segoe UI</vt:lpstr>
      <vt:lpstr>Segoe UI Semibold</vt:lpstr>
      <vt:lpstr>기본</vt:lpstr>
      <vt:lpstr>기본 [1774069290905]</vt:lpstr>
      <vt:lpstr>Function Calling Harness</vt:lpstr>
      <vt:lpstr>Tr;dr</vt:lpstr>
      <vt:lpstr>AutoBe</vt:lpstr>
      <vt:lpstr>Typia</vt:lpstr>
      <vt:lpstr>Function Calling</vt:lpstr>
      <vt:lpstr>Qwen Series</vt:lpstr>
      <vt:lpstr>Preface</vt:lpstr>
      <vt:lpstr>1. Industrial Consensus</vt:lpstr>
      <vt:lpstr>2. No Alternative Solution</vt:lpstr>
      <vt:lpstr>3. Harness Engineering</vt:lpstr>
      <vt:lpstr>3. Harness Engineering</vt:lpstr>
      <vt:lpstr>AutoBe</vt:lpstr>
      <vt:lpstr>2.1. What AutoBe Does</vt:lpstr>
      <vt:lpstr>2.2. LLMs Don’t Write Code</vt:lpstr>
      <vt:lpstr>PowerPoint 프레젠테이션</vt:lpstr>
      <vt:lpstr>PowerPoint 프레젠테이션</vt:lpstr>
      <vt:lpstr>2.3. Self-Healing Loops</vt:lpstr>
      <vt:lpstr>2.4. AST Specs Are Better</vt:lpstr>
      <vt:lpstr>2.5. Four Qwen Models, All 99.8%</vt:lpstr>
      <vt:lpstr>PowerPoint 프레젠테이션</vt:lpstr>
      <vt:lpstr>PowerPoint 프레젠테이션</vt:lpstr>
      <vt:lpstr>PowerPoint 프레젠테이션</vt:lpstr>
      <vt:lpstr>PowerPoint 프레젠테이션</vt:lpstr>
      <vt:lpstr>Typia</vt:lpstr>
      <vt:lpstr>3.1. What Is Typia</vt:lpstr>
      <vt:lpstr>PowerPoint 프레젠테이션</vt:lpstr>
      <vt:lpstr>PowerPoint 프레젠테이션</vt:lpstr>
      <vt:lpstr>3.2. typia.llm.application&lt;Class&gt;()</vt:lpstr>
      <vt:lpstr>PowerPoint 프레젠테이션</vt:lpstr>
      <vt:lpstr>PowerPoint 프레젠테이션</vt:lpstr>
      <vt:lpstr>PowerPoint 프레젠테이션</vt:lpstr>
      <vt:lpstr>The Only Compiler-Level Solution</vt:lpstr>
      <vt:lpstr>Harness Engineering: AutoBe + Typia</vt:lpstr>
      <vt:lpstr> </vt:lpstr>
      <vt:lpstr>Function calling</vt:lpstr>
      <vt:lpstr>4.1. Natural Language vs Types</vt:lpstr>
      <vt:lpstr>4.1. Natural Language vs Types</vt:lpstr>
      <vt:lpstr>4.2. Pink Elephant Problem</vt:lpstr>
      <vt:lpstr>4.2. Pink Elephant Problem</vt:lpstr>
      <vt:lpstr>4.2. Pink Elephant Problem</vt:lpstr>
      <vt:lpstr>4.3. Model Neutrality</vt:lpstr>
      <vt:lpstr>4.3. Model Neutrality</vt:lpstr>
      <vt:lpstr>4.3. Model Neutrality</vt:lpstr>
      <vt:lpstr>4.4. The Core: Verifiability</vt:lpstr>
      <vt:lpstr>4.4. The Core: Verifiability</vt:lpstr>
      <vt:lpstr>4.5. This Pattern Is Universal</vt:lpstr>
      <vt:lpstr>PowerPoint 프레젠테이션</vt:lpstr>
      <vt:lpstr>PowerPoint 프레젠테이션</vt:lpstr>
      <vt:lpstr>PowerPoint 프레젠테이션</vt:lpstr>
      <vt:lpstr>PowerPoint 프레젠테이션</vt:lpstr>
      <vt:lpstr>Qwen series</vt:lpstr>
      <vt:lpstr>5.1. Small/Medium Models Excel</vt:lpstr>
      <vt:lpstr>5.2. R&amp;D Cost: Users vs Developers</vt:lpstr>
      <vt:lpstr>5.3. Small Models = Best QA Engineers</vt:lpstr>
      <vt:lpstr>Conclusion</vt:lpstr>
      <vt:lpstr>Conclusion</vt:lpstr>
      <vt:lpstr>The Journey</vt:lpstr>
      <vt:lpstr>6.75% is not a failure —</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Jeongho Nam</dc:creator>
  <cp:lastModifiedBy>Jeongho Nam</cp:lastModifiedBy>
  <cp:revision>248</cp:revision>
  <dcterms:created xsi:type="dcterms:W3CDTF">2026-03-21T07:18:57Z</dcterms:created>
  <dcterms:modified xsi:type="dcterms:W3CDTF">2026-03-27T08:01:03Z</dcterms:modified>
</cp:coreProperties>
</file>