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708" r:id="rId2"/>
  </p:sldMasterIdLst>
  <p:notesMasterIdLst>
    <p:notesMasterId r:id="rId68"/>
  </p:notesMasterIdLst>
  <p:sldIdLst>
    <p:sldId id="1019" r:id="rId3"/>
    <p:sldId id="1020" r:id="rId4"/>
    <p:sldId id="1021" r:id="rId5"/>
    <p:sldId id="1022" r:id="rId6"/>
    <p:sldId id="1023" r:id="rId7"/>
    <p:sldId id="1024" r:id="rId8"/>
    <p:sldId id="1025" r:id="rId9"/>
    <p:sldId id="1026" r:id="rId10"/>
    <p:sldId id="1027" r:id="rId11"/>
    <p:sldId id="1028" r:id="rId12"/>
    <p:sldId id="1029" r:id="rId13"/>
    <p:sldId id="1030" r:id="rId14"/>
    <p:sldId id="1031" r:id="rId15"/>
    <p:sldId id="1032" r:id="rId16"/>
    <p:sldId id="1033" r:id="rId17"/>
    <p:sldId id="1034" r:id="rId18"/>
    <p:sldId id="1035" r:id="rId19"/>
    <p:sldId id="1036" r:id="rId20"/>
    <p:sldId id="1037" r:id="rId21"/>
    <p:sldId id="1038" r:id="rId22"/>
    <p:sldId id="1039" r:id="rId23"/>
    <p:sldId id="1040" r:id="rId24"/>
    <p:sldId id="1041" r:id="rId25"/>
    <p:sldId id="1042" r:id="rId26"/>
    <p:sldId id="1043" r:id="rId27"/>
    <p:sldId id="1044" r:id="rId28"/>
    <p:sldId id="1045" r:id="rId29"/>
    <p:sldId id="1046" r:id="rId30"/>
    <p:sldId id="1047" r:id="rId31"/>
    <p:sldId id="1048" r:id="rId32"/>
    <p:sldId id="1049" r:id="rId33"/>
    <p:sldId id="1050" r:id="rId34"/>
    <p:sldId id="1051" r:id="rId35"/>
    <p:sldId id="1052" r:id="rId36"/>
    <p:sldId id="1053" r:id="rId37"/>
    <p:sldId id="1054" r:id="rId38"/>
    <p:sldId id="1055" r:id="rId39"/>
    <p:sldId id="1056" r:id="rId40"/>
    <p:sldId id="1057" r:id="rId41"/>
    <p:sldId id="1058" r:id="rId42"/>
    <p:sldId id="1059" r:id="rId43"/>
    <p:sldId id="1060" r:id="rId44"/>
    <p:sldId id="1061" r:id="rId45"/>
    <p:sldId id="1062" r:id="rId46"/>
    <p:sldId id="1063" r:id="rId47"/>
    <p:sldId id="1064" r:id="rId48"/>
    <p:sldId id="1065" r:id="rId49"/>
    <p:sldId id="1066" r:id="rId50"/>
    <p:sldId id="1067" r:id="rId51"/>
    <p:sldId id="1068" r:id="rId52"/>
    <p:sldId id="1069" r:id="rId53"/>
    <p:sldId id="1070" r:id="rId54"/>
    <p:sldId id="1071" r:id="rId55"/>
    <p:sldId id="1072" r:id="rId56"/>
    <p:sldId id="1073" r:id="rId57"/>
    <p:sldId id="1074" r:id="rId58"/>
    <p:sldId id="1075" r:id="rId59"/>
    <p:sldId id="1076" r:id="rId60"/>
    <p:sldId id="1077" r:id="rId61"/>
    <p:sldId id="1078" r:id="rId62"/>
    <p:sldId id="1079" r:id="rId63"/>
    <p:sldId id="1080" r:id="rId64"/>
    <p:sldId id="1081" r:id="rId65"/>
    <p:sldId id="1082" r:id="rId66"/>
    <p:sldId id="1083" r:id="rId6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94660"/>
  </p:normalViewPr>
  <p:slideViewPr>
    <p:cSldViewPr snapToGrid="0">
      <p:cViewPr varScale="1">
        <p:scale>
          <a:sx n="105" d="100"/>
          <a:sy n="105" d="100"/>
        </p:scale>
        <p:origin x="82"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7A8162-2290-455D-95C8-B42E3A61F3C7}" type="datetimeFigureOut">
              <a:rPr lang="en-US" smtClean="0"/>
              <a:t>3/22/2026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23B31-05C0-45CF-9342-21BE32BFCBD5}" type="slidenum">
              <a:rPr lang="en-US" smtClean="0"/>
              <a:t>‹#›</a:t>
            </a:fld>
            <a:endParaRPr lang="en-US"/>
          </a:p>
        </p:txBody>
      </p:sp>
    </p:spTree>
    <p:extLst>
      <p:ext uri="{BB962C8B-B14F-4D97-AF65-F5344CB8AC3E}">
        <p14:creationId xmlns:p14="http://schemas.microsoft.com/office/powerpoint/2010/main" val="4124626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dirty="0"/>
              <a:t>안녕하세요. Wrtn Technologies에서 AutoBe를 만들고 있는 남정호입니다.</a:t>
            </a:r>
          </a:p>
          <a:p>
            <a:r>
              <a:rPr lang="ko-KR" dirty="0"/>
              <a:t>오늘 이야기의 핵심은 하나입니다 — 6.75%짜리 function calling을 어떻게 100%로 만들었는가.</a:t>
            </a:r>
          </a:p>
          <a:p>
            <a:r>
              <a:rPr lang="ko-KR" dirty="0"/>
              <a:t>모델을 바꾼 게 아닙니다. 모델 바깥의 엔지니어링으로 해결했습니다.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dirty="0"/>
              <a:t>전체 구조를 빠르게 훑겠습니다.</a:t>
            </a:r>
          </a:p>
          <a:p>
            <a:r>
              <a:rPr lang="ko-KR" dirty="0"/>
              <a:t>AutoBe — 자연어 한 문장으로 백엔드 전체를 생성하는 AI 에이전트.</a:t>
            </a:r>
          </a:p>
          <a:p>
            <a:r>
              <a:rPr lang="ko-KR" dirty="0"/>
              <a:t>LLM이 텍스트 코드를 쓰지 않습니다. AST 구조체를 function calling으로 채우고, 컴파일러가 코드를 씁니다.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Typia — 그 function calling을 신뢰할 수 있게 만드는 인프라.</a:t>
            </a:r>
          </a:p>
          <a:p>
            <a:r>
              <a:rPr lang="ko-KR" dirty="0"/>
              <a:t>TypeScript 컴파일러 플러그인. 타입 하나 정의하면 스키마, 파서, 검증기, 피드백 생성기까지 컴파일 타임에 자동 생성.</a:t>
            </a:r>
          </a:p>
        </p:txBody>
      </p:sp>
      <p:sp>
        <p:nvSpPr>
          <p:cNvPr id="4" name="슬라이드 번호 개체 틀 3"/>
          <p:cNvSpPr>
            <a:spLocks noGrp="1"/>
          </p:cNvSpPr>
          <p:nvPr>
            <p:ph type="sldNum" sz="quarter" idx="5"/>
          </p:nvPr>
        </p:nvSpPr>
        <p:spPr/>
        <p:txBody>
          <a:bodyPr/>
          <a:lstStyle/>
          <a:p>
            <a:fld id="{EBB23B31-05C0-45CF-9342-21BE32BFCBD5}" type="slidenum">
              <a:rPr lang="en-US" smtClean="0"/>
              <a:t>3</a:t>
            </a:fld>
            <a:endParaRPr lang="en-US"/>
          </a:p>
        </p:txBody>
      </p:sp>
    </p:spTree>
    <p:extLst>
      <p:ext uri="{BB962C8B-B14F-4D97-AF65-F5344CB8AC3E}">
        <p14:creationId xmlns:p14="http://schemas.microsoft.com/office/powerpoint/2010/main" val="26749240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dirty="0"/>
              <a:t>Function calling의 본질적 강점.</a:t>
            </a:r>
          </a:p>
          <a:p>
            <a:r>
              <a:rPr lang="ko-KR" dirty="0"/>
              <a:t>타입은 모호함을 제거하고, 스키마는 금지가 아닌 부재로 제약합니다.</a:t>
            </a:r>
          </a:p>
          <a:p>
            <a:r>
              <a:rPr lang="ko-KR" dirty="0"/>
              <a:t>모델 중립적이고, 기계적으로 검증 가능하며, 결정론적으로 수렴합니다.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왜 Qwen 밋업에서 이 이야기를 하는가.</a:t>
            </a:r>
          </a:p>
          <a:p>
            <a:r>
              <a:rPr lang="ko-KR" dirty="0"/>
              <a:t>Qwen은 소형/중형 모델에서 function calling 성능이 독보적입니다.</a:t>
            </a:r>
          </a:p>
          <a:p>
            <a:r>
              <a:rPr lang="ko-KR" dirty="0"/>
              <a:t>그리고 작은 모델이 시스템 취약점을 가장 잘 드러냅니다. 최고의 QA 엔지니어입니다.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6.75%. qwen3-coder-next의 첫 시도 성공률입니다.</a:t>
            </a:r>
          </a:p>
          <a:p>
            <a:r>
              <a:rPr lang="ko-KR" dirty="0"/>
              <a:t>NESTFUL 2025 — GPT-4o가 nested tool call에서 28%.</a:t>
            </a:r>
          </a:p>
          <a:p>
            <a:r>
              <a:rPr lang="ko-KR" dirty="0"/>
              <a:t>JSONSchemaBench — 복잡한 스키마에서 3~41%.</a:t>
            </a:r>
          </a:p>
          <a:p>
            <a:r>
              <a:rPr lang="ko-KR" dirty="0"/>
              <a:t>업계 컨센서스: 복잡한 스키마에서 function calling은 안 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ko-KR" dirty="0"/>
              <a:t>하지만 대안이 없습니다.</a:t>
            </a:r>
          </a:p>
          <a:p>
            <a:r>
              <a:rPr lang="ko-KR" dirty="0"/>
              <a:t>AI 출력을 결정론적으로 만들려면 구조화된 출력 외에는 방법이 없어요.</a:t>
            </a:r>
          </a:p>
          <a:p>
            <a:r>
              <a:rPr lang="ko-KR" dirty="0"/>
              <a:t>자유 텍스트는 기계적으로 검증할 수 없습니다. 구조 없이는 피드백 루프가 없고, 루프 없이는 보장이 없습니다.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구체적 수치입니다.</a:t>
            </a:r>
          </a:p>
          <a:p>
            <a:r>
              <a:rPr lang="ko-KR" dirty="0"/>
              <a:t>qwen3-coder-next의 DTO 스키마 — 추정 첫 시도 15.95%.</a:t>
            </a:r>
          </a:p>
          <a:p>
            <a:r>
              <a:rPr lang="ko-KR" dirty="0"/>
              <a:t>GPT 5.4의 endpoint review — 3.34%.</a:t>
            </a:r>
          </a:p>
          <a:p>
            <a:r>
              <a:rPr lang="ko-KR" dirty="0"/>
              <a:t>모델 크기와 브랜드가 function calling 성능을 결정하지 않습니다.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결과: 100%. Qwen 모델 네 개 전부 컴파일 성공.</a:t>
            </a:r>
          </a:p>
          <a:p>
            <a:r>
              <a:rPr lang="ko-KR" dirty="0"/>
              <a:t>하네스입니다. 타입 스키마로 제약하고, 컴파일러로 검증하고, 구조화된 피드백으로 교정합니다.</a:t>
            </a:r>
          </a:p>
          <a:p>
            <a:r>
              <a:rPr lang="ko-KR" dirty="0"/>
              <a:t>모델 안이 아니라 바깥의 엔지니어링이 차이를 만들었습니다.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2. AutoBe 아키텍처.</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"쇼핑몰 백엔드 만들어줘." 한 문장으로 요구사항 분석, DB 스키마, API 설계, E2E 테스트, 구현 코드 전체 생성.</a:t>
            </a:r>
          </a:p>
          <a:p>
            <a:r>
              <a:rPr lang="ko-KR" dirty="0"/>
              <a:t>모든 생성 코드가 컴파일 성공합니다. TypeScript + NestJS 기반.</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LLM은 코드를 쓰지 않습니다.</a:t>
            </a:r>
          </a:p>
          <a:p>
            <a:r>
              <a:rPr lang="ko-KR" dirty="0"/>
              <a:t>5단계 waterfall — 요구사항, DB, API, 테스트, 구현. 각 단계에서 LLM은 미리 정의된 AST를 function calling으로 채웁니다.</a:t>
            </a:r>
          </a:p>
          <a:p>
            <a:r>
              <a:rPr lang="ko-KR" dirty="0"/>
              <a:t>양식을 채우는 겁니다. 백지에 쓰는 게 아닙니다.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그 양식이 간단하지 않습니다.</a:t>
            </a:r>
          </a:p>
          <a:p>
            <a:r>
              <a:rPr lang="ko-KR" dirty="0"/>
              <a:t>IJsonSchema — DTO 타입을 정의하는 10개 variant 재귀 union.</a:t>
            </a:r>
          </a:p>
          <a:p>
            <a:r>
              <a:rPr lang="ko-KR" dirty="0"/>
              <a:t>IArray 안에 IJsonSchema, IObject의 properties도 IJsonSchema.</a:t>
            </a:r>
          </a:p>
          <a:p>
            <a:r>
              <a:rPr lang="ko-KR" dirty="0"/>
              <a:t>10개 variant × 무한 재귀. 첫 시도 성공률 6.75%의 구조적 원인.</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테스팅은 한 단계 더 복잡합니다.</a:t>
            </a:r>
          </a:p>
          <a:p>
            <a:r>
              <a:rPr lang="ko-KR" dirty="0"/>
              <a:t>IExpression — E2E 테스트 코드를 표현하는 30개 이상의 variant.</a:t>
            </a:r>
          </a:p>
          <a:p>
            <a:r>
              <a:rPr lang="ko-KR" dirty="0"/>
              <a:t>리터럴, 접근자, 연산, 함수, 배열 조작, 랜덤 생성, assertion까지.</a:t>
            </a:r>
          </a:p>
          <a:p>
            <a:r>
              <a:rPr lang="ko-KR" dirty="0"/>
              <a:t>프로그래밍 언어 수준의 복잡도를 단일 function call로 처리해야 합니다.</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427784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컴파일 실패는 끝이 아닙니다. 자기 치유 루프.</a:t>
            </a:r>
          </a:p>
          <a:p>
            <a:r>
              <a:rPr lang="ko-KR" dirty="0"/>
              <a:t>Write — LLM이 구조 채우기. Validate — 컴파일러 검증. Diagnose — 에러 위치와 원인 추출. Correct — 해당 부분만 수정. Generate — 재컴파일.</a:t>
            </a:r>
          </a:p>
          <a:p>
            <a:r>
              <a:rPr lang="ko-KR" dirty="0"/>
              <a:t>성공할 때까지 반복합니다.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AST 스펙이 프롬프트보다 강력합니다.</a:t>
            </a:r>
          </a:p>
          <a:p>
            <a:r>
              <a:rPr lang="ko-KR" dirty="0"/>
              <a:t>스키마 스펙은 명확하고 기계적으로 검증 가능합니다.</a:t>
            </a:r>
          </a:p>
          <a:p>
            <a:r>
              <a:rPr lang="ko-KR" dirty="0"/>
              <a:t>DB 필드 타입이 7개로 제한되면 LLM이 varchar를 쓸 수 없습니다.</a:t>
            </a:r>
          </a:p>
          <a:p>
            <a:r>
              <a:rPr lang="ko-KR" dirty="0"/>
              <a:t>금지가 아니라 부재.</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Qwen 모델 네 개, 전부 100% 컴파일 성공.</a:t>
            </a:r>
          </a:p>
          <a:p>
            <a:r>
              <a:rPr lang="ko-KR" dirty="0"/>
              <a:t>397B부터 35B까지. 3B active parameter 모델로도 쇼핑몰 백엔드를 완성합니다.</a:t>
            </a:r>
          </a:p>
          <a:p>
            <a:r>
              <a:rPr lang="ko-KR" dirty="0"/>
              <a:t>같은 스키마, 같은 파이프라인, 같은 결과.</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[데모 영상 또는 스크린샷]</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[데모 영상 또는 스크린샷]</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[데모 영상 또는 스크린샷]</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3. Typia — 0%를 100%로 만드는 인프라.</a:t>
            </a:r>
          </a:p>
          <a:p>
            <a:r>
              <a:rPr lang="ko-KR" dirty="0"/>
              <a:t>모든 답은 컴파일러 수준에서의 타입 분석에 있습니다.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Typia — TypeScript 컴파일러의 타입 분석기를 직접 활용하는 컴파일러 라이브러리.</a:t>
            </a:r>
          </a:p>
          <a:p>
            <a:r>
              <a:rPr lang="ko-KR" dirty="0"/>
              <a:t>런타임 리플렉션으로는 TypeScript 타입을 볼 수 없습니다.</a:t>
            </a:r>
          </a:p>
          <a:p>
            <a:r>
              <a:rPr lang="ko-KR" dirty="0"/>
              <a:t>Zod 같은 빌더는 재귀 union에서 폭발합니다.</a:t>
            </a:r>
          </a:p>
          <a:p>
            <a:r>
              <a:rPr lang="ko-KR" dirty="0"/>
              <a:t>소스코드에서 직접 타입을 분석하는 길밖에 없었습니다.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24</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22870592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핵심입니다. JSDoc → description. 타입 제약 → validation rule.</a:t>
            </a:r>
          </a:p>
          <a:p>
            <a:r>
              <a:rPr lang="ko-KR" dirty="0"/>
              <a:t>LLM이 보는 제약과 검증기가 적용하는 제약이 항상 동일합니다.</a:t>
            </a:r>
          </a:p>
          <a:p>
            <a:r>
              <a:rPr lang="ko-KR" dirty="0"/>
              <a:t>같은 소스에서 나오니까요.</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클래스 수준으로 확장됩니다.</a:t>
            </a:r>
          </a:p>
          <a:p>
            <a:r>
              <a:rPr lang="ko-KR" dirty="0"/>
              <a:t>typia.llm.application&lt;T&gt;()로 클래스의 모든 메서드를 스키마화.</a:t>
            </a:r>
          </a:p>
          <a:p>
            <a:r>
              <a:rPr lang="ko-KR" dirty="0"/>
              <a:t>각 ILlmFunction에 parse(), validate()가 자동 내장됩니다.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Typia의 핵심 원리입니다. typia.is&lt;T&gt;()를 호출하면 컴파일 타임에 타입 정보가 분석되어 최적화된 검증 코드로 변환됩니다. 왼쪽의 TypeScript 인터페이스가 오른쪽의 UUID regex, email regex, 정수 체크, 범위 체크를 포함한 JavaScript 코드로 변환됩니다. TypeScript의 타입이 런타임에 지워지는 한계를 컴파일러 플러그인으로 극복합니다.</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실제 LLM 출력에서 7개 문제가 동시에 발생합니다.</a:t>
            </a:r>
          </a:p>
          <a:p>
            <a:r>
              <a:rPr lang="ko-KR" dirty="0"/>
              <a:t>Markdown 래핑, 서술 prefix, 비인용 키, trailing comma, 불완전 키워드, 미닫힌 괄호, double-stringify.</a:t>
            </a:r>
          </a:p>
          <a:p>
            <a:r>
              <a:rPr lang="ko-KR" dirty="0"/>
              <a:t>func.parse() 한 번 호출로 전부 해결. 모델 변경 없이.</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스키마 기반 교정입니다.</a:t>
            </a:r>
          </a:p>
          <a:p>
            <a:r>
              <a:rPr lang="ko-KR" dirty="0"/>
              <a:t>같은 "42"가 스키마에 따라 숫자 42가 되기도, 문자열로 남기도 합니다.</a:t>
            </a:r>
          </a:p>
          <a:p>
            <a:r>
              <a:rPr lang="ko-KR" dirty="0"/>
              <a:t>컴파일러가 생성한 스키마가 교정 엔진입니다.</a:t>
            </a:r>
          </a:p>
          <a:p>
            <a:r>
              <a:rPr lang="ko-KR" dirty="0"/>
              <a:t>parse()와 coerce()의 재귀적 사이클이 핵심.</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parse()와 coerce()가 서로를 재귀 호출합니다.</a:t>
            </a:r>
          </a:p>
          <a:p>
            <a:r>
              <a:rPr lang="ko-KR" dirty="0"/>
              <a:t>스키마가 object를 기대하는데 string이 오면 → 그 string을 다시 parse()에 넣습니다.</a:t>
            </a:r>
          </a:p>
          <a:p>
            <a:r>
              <a:rPr lang="ko-KR" dirty="0"/>
              <a:t>Double-stringify든 triple이든 자연스럽게 풀립니다.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ko-KR" dirty="0"/>
              <a:t>파싱과 교정 이후에도 값 자체가 틀릴 수 있습니다.
가격이 음수, 이메일이 아닌 문자열, 정수여야 할 곳에 소수점.
Typia의 validate()는 스키마 위반을 정확한 경로와 기대 타입으로 알려줍니다.
"order.product.price는 0 이상이어야 하는데 -100을 줬습니다."
LlmJson.stringify()가 이걸 원본 JSON 위에 인라인 코멘트로 렌더링합니다.
LLM이 자기 출력에서 정확히 어디가 틀렸는지 보고, 그 필드만 고칩니다.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이게 실제 코드입니다.
validate()가 에러를 감지하면, LlmJson.stringify()가 원본 JSON 위에 // ❌ 인라인 코멘트를 붙입니다.
"cardNumber는 string이어야 하는데 number를 줬다."
"price는 0 이상이어야 한다."
"quantity는 uint32여야 한다."
"email은 이메일 포맷이어야 한다."
5개 에러, 각각 정확한 경로와 기대 타입.
LLM이 자기 JSON에서 딱 틀린 부분만 보고 고칩니다. 전체를 다시 쓸 필요 없이.</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왜 Typia만 가능한가.
Zod, Valibot, io-ts — 전부 런타임 라이브러리입니다. 스키마를 개발자가 직접 정의합니다.
Typia는 TypeScript 컴파일러 플러그인입니다.
소스 코드의 타입을 직접 분석해서 스키마, 검증기, 파서를 컴파일 타임에 자동 생성합니다.
같은 타입에서 제약 조건과 검증 규칙이 동시에 나오니까,
파싱과 교정과 검증이 하나의 스키마로 일관되게 동작합니다.
런타임 라이브러리는 이 수준의 통합이 구조적으로 불가능합니다.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유니온 타입 지원도 마찬가지입니다.
anyOf에서 어떤 variant가 의도된 건지 판별하려면, 각 variant의 구조를 알아야 합니다.
Typia는 x-discriminator를 통해 anyOf에 판별 메타데이터를 부여합니다.
다른 라이브러리는 anyOf를 "아무거나 매칭"으로만 처리하지만,
Typia는 구조 분석을 통해 정확한 variant를 식별하고, 해당 variant 기준으로 교정과 검증을 수행합니다.
이게 double-stringify 문제를 풀 수 있는 구조적 이유입니다.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하네스 엔지니어링. AutoBe와 Typia의 결합이 완성하는 것.
클라이밍 하네스는 당신을 강하게 만들지 않습니다. 당신의 힘을 안전하게 만듭니다.
테스트 하네스는 코드를 올바르게 만들지 않습니다. 버그를 보이게 만듭니다.
Function calling 하네스는 LLM을 똑똑하게 만들지 않습니다. LLM의 실수를 교정 가능하게 만듭니다.
Typia 레이어: 타입→스키마, 파싱, 교정, 검증 피드백
AutoBe 레이어: 4 AST + 4단계 컴파일러 검증, 자가 치유 루프
Typia가 함수 호출 I/O를 견고하게, AutoBe가 시스템 일관성을 보장합니다.
확률적 모델을 감싸는 결정론적 루프 — 이것이 하네스입니다.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[잠시 멈춤]
"타입이 스키마이고, 검증기이고, 프롬프트이다."
"하네스는 그 주변의 모든 것이다."
챕터 3의 핵심 메시지를 한 문장으로 압축한 슬라이드입니다.
하나의 TypeScript 타입을 정의하면, 컴파일러가 나머지를 전부 처리합니다.
스키마 생성, 파싱, 교정, 검증, 피드백 — 전부 같은 소스에서.
이제 "어떻게"를 봤으니, "왜" function calling이 이토록 강력한지 이야기합니다.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챕터 4. Function Calling 예찬.
2장과 3장에서 "어떻게" 동작하는지 봤습니다.
이제 "왜" function calling이 이토록 강력한지 — 그리고 업계의 회의론이 증상은 맞지만 원인은 놓치고 있다는 이야기를 합니다.
"Structured output는 거짓된 자신감을 준다." "에이전트 데모는 완벽한데 실제 배포하면 무너진다."
이건 허수아비가 아닙니다. 실제 엔지니어들의 경험입니다.
하지만 그 비판은 하네스 없이 function calling을 쓸 때의 이야기입니다.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자연어 vs 타입.
자연어는 모호하게 진화했습니다. 은유, 뉘앙스, 유머 — 전부 모호성 위에서 동작합니다.
프로그래밍 언어는 모호성을 제거하기 위해 설계됐습니다.
프롬프트로 제약: "age는 18보다 큰 양의 정수여야 합니다."
"18보다 큰"이 &gt;18인지 ≥18인지? LLM이 따랐는지 직접 확인해야 합니다.
타입으로 제약: ExclusiveMinimum&lt;18&gt;. &gt;18. 정수. 필수. 모호성 없음. 기계적 검증 가능.</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코드로 보면 더 명확합니다.
왼쪽: 프롬프트로 제약을 표현합니다. 자연어 규칙이 길어지고, 준수 여부를 수동 검사해야 합니다.
오른쪽: 타입으로 동일한 제약을 표현합니다. ExclusiveMinimum, Format&lt;"email"&gt;, Type&lt;"uint32"&gt; — 기계적으로 검증 가능하고, 모호성이 없습니다.
정밀성이 필요한 도메인에서, 타입 제약은 자연어 지시가 줄 수 없는 확실성을 제공합니다.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핑크 엘리펀트 문제.
프롬프트 기반 에이전트를 만들어본 분이면 금지 규칙을 써봤을 겁니다.
"유틸리티 함수 만들지 마." "any 타입 쓰지 마." "순환 참조 만들지 마."
"핑크 코끼리를 생각하지 마세요." 첫 번째로 떠오르는 건 핑크 코끼리입니다.
LLM에게 "X 하지 마"라고 하면, X가 주의의 중심에 놓입니다.
금지된 패턴을 피하려면 먼저 그 패턴을 떠올려야 하고, 역설적으로 생성 확률이 올라갑니다.
스키마에서는 이 문제가 사라집니다.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"any 타입 쓰지 마" — 스키마에 any가 없으면, LLM이 물리적으로 생성할 수 없습니다.
"유틸리티 함수 만들지 마" — 유틸리티 함수 슬롯이 없으면, 끝입니다.
필드 타입이 "boolean" | "int" | "double" | "string" | "uri" | "uuid" | "datetime" — 7개 선택지로 제한되면, "varchar"를 쓸 경로가 없습니다.
금지가 아니라 부재. 프롬프트는 원하지 않는 것을 금지합니다. 스키마는 원하는 것만 허용합니다.
이것이 function calling의 가장 깊은 장점입니다.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코드로 비교합니다.
왼쪽: 프롬프트 금지 규칙. 길고, 모호하고, 모델의 주의를 오히려 금지 대상에 집중시킵니다.
오른쪽: 스키마 제약. 허용된 타입 7개만 존재. 없는 것은 생성 불가.
모델의 성향과 싸우는 대신, 원하지 않는 출력을 구조적으로 불가능하게 만듭니다.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모델 중립성.
프롬프트 엔지니어링은 본질적으로 모델 종속입니다. GPT에 최적화한 프롬프트가 Claude에서 다르게 동작하고, Qwen에서 또 다릅니다. 모델 바꿀 때마다 프롬프트 재작성 — 일상입니다.
Function calling 기반 접근은 모델 중립입니다. JSON Schema는 어떤 모델이 읽든 같은 의미입니다.
검증 피드백 루프가 모델 간 성능 차이를 흡수합니다.
강한 모델은 1-2번, 약한 모델은 3-4번 — 둘 다 100%에 도달합니다.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AutoBe가 Qwen, GLM, DeepSeek, OpenAI — 같은 스키마, 같은 파이프라인으로 전부 100% 컴파일 달성한 것이 이 중립성의 증거입니다. 모델별 프롬프트 튜닝은 단 한 번도 하지 않았습니다.
모델 선택의 성격이 바뀝니다.
"이 모델이 이 태스크를 할 수 있나?" — 능력 질문에서
"어느 모델이 가장 비용 효율적인가?" — 비용 최적화 문제로.
평균 재시도 횟수 × 시도당 토큰 × 토큰당 비용.</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이건 실제 결과 비교표입니다.
Qwen, DeepSeek, OpenAI — 모델이 달라도, 동일한 파이프라인에서 전부 100%.
모델별 프롬프트 튜닝 제로. 스키마와 피드백 루프가 차이를 흡수합니다.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핵심: 검증 가능성.
하나의 실이 모든 것을 관통합니다.
Function calling의 근본적 장점은 LLM 출력을 소프트웨어 엔지니어링의 영역으로 가져온다는 것입니다.
자유 형식 텍스트 출력은 정확성을 AI 문제로 만듭니다. 파싱도 퍼지, 검증도 퍼지, 교정도 퍼지.
구조화된 출력은 정확성을 엔지니어링 문제로 만듭니다.
검증은 결정론적 — JSON Schema 검증은 명확한 pass/fail.
피드백은 정밀 — "필드 X는 타입 Y여야 하는데 Z를 줬다."
교정은 수렴 — 정밀한 피드백이 모델을 그 부분만 고치게 합니다.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모델은 여전히 확률적입니다. 여전히 실수합니다.
하지만 모델을 감싸는 구조가 결정론적이기 때문에, 프로세스는 100%로 수렴합니다.
타입 스키마 + 결정론적 검증기 + 구조화된 피드백 = 하네스.
프롬프트 엔지니어링은 확률적 부분을 신뢰할 수 있게 만들려 합니다.
Function calling은 결정론적 부분을 완벽하게 만듭니다.
정밀성이 필요한 도메인에서, 후자가 이깁니다. 6.75%가 100%가 됩니다.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검증 비용의 자연스러운 위계입니다.
소프트웨어: 타입 체크(ms) → 컴파일(sec) → 테스트 실행(min+).
가장 싼 검증기를 먼저 돌리고, 에러를 고치고, 다음 단계로.
AutoBe의 4단계 파이프라인이 정확히 이 구조입니다.
이건 코드 생성에만 적용되는 게 아닙니다.
"맞다/틀리다"를 기계적으로 판별할 수 있는 모든 도메인에 같은 구조가 가능합니다.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 패턴은 보편적입니다.
반도체: DRC(ms) → LVS(sec) → SPICE 시뮬레이션(min+). 전부 결정론적.
화학 공정: 질량 보존 → 에너지 밸런스 → 프로세스 시뮬레이션. 물리 법칙이 검증기.
건축/BIM: 치수 충돌 → 건축 법규 → 조명/HVAC 시뮬레이션.
제어 시스템: 전달 함수 유효성 → 안정성 분석 → 시간 영역 시뮬레이션.
40년 넘은 검증 도구가 있는 모든 공학 분야에서 같은 구조가 가능합니다.
구체적인 타입을 보겠습니다.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반도체 칩 레이아웃.
IChipLayout — technology_node는 "5nm" | "7nm" | "14nm" | "28nm". IBlock의 type은 "logic" | "memory" | "io" | "analog" | "pll".
sub_blocks가 재귀. AutoBe의 IJsonSchema와 같은 유니온 + 트리 구조입니다.
DRC는 빠르고, LVS는 중간, SPICE는 깊은 검증. 전부 결정론적.
같은 패턴, 다른 도메인.</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화학 공정.
IProcessStream — temperature, pressure, composition, phase, flow_rate.
IUnitOperation — type이 "reactor" | "distillation" | "heat_exchanger" | "compressor" 등.
질량 보존: 입구 합 = 출구 합. 에너지 밸런스. 열역학 일관성.
물리 법칙이 검증기입니다. ASPEN, HYSYS가 40년 넘게 결정론적 검증을 제공해왔습니다.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건축/BIM — IFC 요소 계층.
IRoom, IOpening, IFixture. 문 너비 900mm 이상 (접근성), 최소 통로 폭 800mm, 소방 구획.
Revit 같은 BIM 도구가 수십 년간 충돌 감지를 제공해왔습니다.
여기서도 type 필드에 열거형 variant — "bedroom" | "living" | "kitchen"...
재귀 트리 구조. AutoBe와 같은 패턴.</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제어 시스템.
IControlLoop — "PID" | "MPC" | "LQR" | "feedforward" | "cascade".
ITransferFunction — 다항식 계수, 지연.
보드 플롯, 나이퀴스트 플롯, 극점 배치: 60년 넘는 분석 도구 역사.
전달 함수 유효성(빠름) → 안정성 마진 분석(중간) → 시간 영역 시뮬레이션(깊음).
모든 타입에 type 필드와 열거형 variant가 있습니다. 재귀 중첩됩니다.
이건 우연이 아닙니다 — 공학 데이터의 본성입니다.
하지만 한계도 명확합니다. 결정론적 검증기가 없는 도메인 — 창작, 감성, 전략 — 에는 적용 불가능합니다.
이건 만능 솔루션이 아닙니다. 정확성이 필수이고 기계적으로 검증 가능한 도메인을 위한 솔루션입니다.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챕터 5. Qwen 시리즈.
오늘 이 자리가 Qwen 밋업인 이유를 이야기합니다.
소형 모델과 QA 엔지니어링 — 왜 작은 모델이 AutoBe에게 가장 중요한 테스트 도구였는지.</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AutoBe의 전체 파이프라인은 function calling입니다.
모델이 좋은 산문을 쓰는지, 자연스럽게 대화하는지는 관계없습니다.
유일한 기준은 복잡한 JSON Schema를 얼마나 정확하게 채우는지.
Qwen만 function calling을 잘하는 건 아닙니다. GLM, Kimi도 대형 모델에서는 강합니다.
하지만 소형/중형 스케일에서 이 복잡도의 function calling을 처리할 수 있는 건 Qwen뿐이었습니다.
3B active 파라미터의 MoE 모델이 tool choice를 지원하고 10개 이상 재귀 유니온 variant를 처리합니다.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R&amp;D 비용 — 사용자 vs 개발자.
AutoBe를 사용하는 고객에게 모델 비용은 이슈가 아닙니다. 가장 비싼 모델도 백엔드 개발자 한 명 인건비보다 쌉니다.
문제는 우리처럼 AutoBe를 개발하는 쪽입니다.
새 타입 설계나 검증 규칙을 추가할 때마다 전체 파이프라인을 처음부터 끝까지 돌려야 합니다.
수천 번의 생성-컴파일-피드백 사이클. 상용 모델로 이 규모를 하면 파산합니다.
로컬 모델이 R&amp;D 사이클을 가능하게 합니다.
6.75%에서 100%까지 가는 여정에는 수백 번의 실험 사이클이 필요했고, 로컬 모델이 아니면 불가능했습니다.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소형 모델이 최고의 QA 엔지니어인 이유.
대형 모델은 실수를 덜 합니다. 장점이자 동시에 맹점입니다.
우리 시스템에 취약점이 있어도, 대형 모델은 그 실패를 잘 트리거하지 않습니다.
스키마의 모호한 부분을 "올바르게 추측"해서 통과합니다. 우리의 실수는 숨겨집니다.
소형 모델로 바꾸면 이야기가 달라집니다.
qwen3-30b-a3b-thinking — 3B active, 성공률 약 10%. 모든 실패가 시스템 취약점을 가리켰고, 각 수정이 모든 모델에 대한 파이프라인을 강화했습니다.
AI는 확률적입니다. 대형 모델도 "덜 자주" 실수하지, "절대 안" 하는 게 아닙니다.
프로덕션에서 "드물게"는 장애를 의미합니다.
35B 모델도 취약점을 찾지 못할 만큼 시스템이 견고해지면, 어떤 모델이든 실패 확률은 0에 수렴합니다.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벤더 종속 없음.
상용 API의 가격 변경, 모델 중단, 요청 제한은 벤더 재량입니다.
오늘 쓰는 모델이 내일 사라질 수 있습니다.
AutoBe의 function calling 스키마는 모델 중립입니다.
모델별 프롬프트 트릭 없음. JSON Schema와 타입 기반 검증은 업계 표준 — 모델이 바뀌어도 시스템은 그대로입니다.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오픈소스 + 오픈웨이트: 선순환.
AutoBe는 오픈소스(AGPL 3.0). Qwen은 오픈웨이트. 둘 다 오픈 생태계의 일부입니다.
이 조합이 수천 번의 실험, 엣지 케이스 발견, 시스템 강화를 가능하게 했습니다.
상용 모델로는 재정적으로 불가능한 규모입니다.
선순환: AutoBe가 Qwen으로 시스템을 강화하고, 강화된 시스템이 Qwen의 프로덕션 수준 가능성을 증명하고,
Qwen의 개선이 AutoBe의 전체 성능을 올리고, AutoBe의 발견(예: double-stringify 문제)이 Qwen 개선에 기여할 수 있습니다.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결론.
6.75%에서 시작했습니다.
업계가 복잡한 function calling은 안 된다고 했고, 우리 결과도 그랬습니다.
하지만 대안이 없었습니다 — 결정론적 AI 출력에는 구조화된 출력이 필수니까.
그래서 하네스를 만들었습니다. 한 번에 하나의 실패 모드씩.</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JSON이 깨지니까 lenient parsing을 만들었습니다.
타입이 틀리니까 type coercion을 만들었습니다.
값이 틀리니까 validation feedback을 만들었습니다.
시스템에 일관성이 없으니까 컴파일러 파이프라인을 만들었습니다.
AutoBe는 4개 Qwen 모델 전부에서 100% 컴파일을 달성했습니다.
더 나은 프롬프트가 아니라, 잘못될 수 있는 모든 방식에 대한 축적된 엔지니어링으로.</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여정을 정리합니다.
세 가지: 출력을 제약하는 타입 스키마, 결과를 검증하는 컴파일러, 에러를 교정하는 구조화된 피드백.
이 셋이 확률적 모델을 감싸는 결정론적 루프를 이룹니다.
이 패턴은 코드 생성에 한정되지 않습니다.
결정론적 검증기가 존재하는 모든 공학 도메인에 같은 구조를 만들 수 있습니다.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세 가지 원칙.
하나. 타입으로 소통하면 오해가 없습니다.
둘. 스키마로 제약하면 핑크 엘리펀트가 없습니다.
셋. 결정론적 루프가 있으면, 6.75%도 100%가 됩니다.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[잠시 멈춤, 핵심 메시지]
6.75%는 실패가 아닙니다.
루프의 첫 번째 입력입니다.
검증할 수 있으면, 수렴합니다.
If you can verify, you converge.</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감사합니다.
AutoBe: github.com/wrtnlabs/autobe
Typia: github.com/samchon/typia
질문 받겠습니다.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F864E9F2-A8EE-4CDC-ABC8-B4149FF8DC8F}" type="slidenum">
              <a:rPr lang="en-US" smtClean="0"/>
              <a:t>‹#›</a:t>
            </a:fld>
            <a:endParaRPr 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0488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5358356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62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82B2B681-DACA-4D89-9D8A-94ED0431FFA9}"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155169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82B2B681-DACA-4D89-9D8A-94ED0431FFA9}" type="datetimeFigureOut">
              <a:rPr lang="en-US" smtClean="0"/>
              <a:t>3/22/2026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3477538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82B2B681-DACA-4D89-9D8A-94ED0431FFA9}" type="datetimeFigureOut">
              <a:rPr lang="en-US" smtClean="0"/>
              <a:t>3/22/2026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751456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B2B681-DACA-4D89-9D8A-94ED0431FFA9}" type="datetimeFigureOut">
              <a:rPr lang="en-US" smtClean="0"/>
              <a:t>3/22/2026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80779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84967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406813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421163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645369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12370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22224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834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1700261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2138636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5719112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8545481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4891077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792565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875200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81770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82B2B681-DACA-4D89-9D8A-94ED0431FFA9}" type="datetimeFigureOut">
              <a:rPr lang="en-US" smtClean="0"/>
              <a:t>3/22/2026</a:t>
            </a:fld>
            <a:endParaRPr 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F864E9F2-A8EE-4CDC-ABC8-B4149FF8DC8F}" type="slidenum">
              <a:rPr lang="en-US" smtClean="0"/>
              <a:t>‹#›</a:t>
            </a:fld>
            <a:endParaRPr lang="en-US"/>
          </a:p>
        </p:txBody>
      </p:sp>
    </p:spTree>
    <p:extLst>
      <p:ext uri="{BB962C8B-B14F-4D97-AF65-F5344CB8AC3E}">
        <p14:creationId xmlns:p14="http://schemas.microsoft.com/office/powerpoint/2010/main" val="2529090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9510862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hyperlink" Target="https://whatever99.tistory.com/entry/2025%EB%85%84-%EB%B0%98%EB%8F%84%EC%B2%B4-%EC%82%B0%EC%97%85-%EC%A0%84%EB%A7%9D-%EC%82%BC%EC%84%B1%EC%A0%84%EC%9E%90-vs-SK-hynix-%EC%96%B4%EB%8A%90-%ED%9A%8C%EC%82%AC%EA%B0%80-%EB%8D%94-%EC%9C%A0%EB%A7%9D%ED%95%A0%EA%B9%8C"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hyperlink" Target="https://get-a-position.tistory.com/entry/ISTP-%EC%84%B1%EA%B2%A9-%EC%9C%A0%ED%98%95%EC%9D%98-%EB%8A%A5%EB%A0%A5%EC%9D%84-%EB%B0%9C%ED%9C%98%ED%95%98%EB%8A%94-%EA%B5%AC%EC%A1%B0-%EC%97%94%EC%A7%80%EB%8B%88%EC%96%B4-%EC%A7%81%EC%97%85"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7" Type="http://schemas.openxmlformats.org/officeDocument/2006/relationships/hyperlink" Target="https://boundaryml.com/blog/structured-outputs-create-false-confidence"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arxiv.org/abs/2501.10868" TargetMode="External"/><Relationship Id="rId5" Type="http://schemas.openxmlformats.org/officeDocument/2006/relationships/hyperlink" Target="https://arxiv.org/abs/2409.03797" TargetMode="External"/><Relationship Id="rId4" Type="http://schemas.openxmlformats.org/officeDocument/2006/relationships/hyperlink" Target="https://www.editage.co.kr/insights/writing-for-science-journals-tips-tricks-and-a-learning-plan"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hyperlink" Target="https://flyingjs.tistory.com/entry/%EA%B1%B4%EC%84%A4%EA%B8%B0%EA%B3%84%EC%84%A4%EB%B9%84%EA%B8%B0%EC%82%AC-2024-%EC%8B%9C%ED%97%98%EC%9D%BC%EC%A0%95-%EC%9D%91%EC%8B%9C%EC%9E%90%EA%B2%A9-%ED%95%84%EA%B8%B0-%EC%8B%A4%EA%B8%B0-%EB%82%9C%EC%9D%B4%EB%8F%84-%ED%95%A9%EA%B2%A9%EB%A5%A0-%EC%B7%A8%EC%97%85-%EC%A0%84%EB%A7%9D-%EC%B4%9D%EC%A0%95%EB%A6%AC"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wrtnlabs/autobe/blob/main/packages/interface/src/analyze/AutoBeAnalyze.t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github.com/wrtnlabs/autobe/blob/main/packages/interface/src/test/AutoBeTest.ts" TargetMode="External"/><Relationship Id="rId5" Type="http://schemas.openxmlformats.org/officeDocument/2006/relationships/hyperlink" Target="https://github.com/wrtnlabs/autobe/blob/main/packages/interface/src/interface/AutoBeInterface.ts" TargetMode="External"/><Relationship Id="rId4" Type="http://schemas.openxmlformats.org/officeDocument/2006/relationships/hyperlink" Target="https://github.com/wrtnlabs/autobe/blob/main/packages/interface/src/database/AutoBeDatabase.ts"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hyperlink" Target="https://pixabay.com/ko/vectors/%EC%BD%94%EB%81%BC%EB%A6%AC-%EC%95%84%EA%B8%B0-%ED%95%91%ED%81%AC-%EB%8F%99%EB%AC%BC-303409/"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A4D4CC-6480-8350-D0FB-01F3803CB8C3}"/>
              </a:ext>
            </a:extLst>
          </p:cNvPr>
          <p:cNvSpPr>
            <a:spLocks noGrp="1"/>
          </p:cNvSpPr>
          <p:nvPr>
            <p:ph type="ctrTitle"/>
          </p:nvPr>
        </p:nvSpPr>
        <p:spPr/>
        <p:txBody>
          <a:bodyPr/>
          <a:lstStyle/>
          <a:p>
            <a:r>
              <a:rPr lang="en-US" dirty="0"/>
              <a:t>Function Calling Harness</a:t>
            </a:r>
          </a:p>
        </p:txBody>
      </p:sp>
      <p:sp>
        <p:nvSpPr>
          <p:cNvPr id="3" name="부제목 2">
            <a:extLst>
              <a:ext uri="{FF2B5EF4-FFF2-40B4-BE49-F238E27FC236}">
                <a16:creationId xmlns:a16="http://schemas.microsoft.com/office/drawing/2014/main" id="{58016CA8-3627-A3DE-00A7-FFDDD7F52487}"/>
              </a:ext>
            </a:extLst>
          </p:cNvPr>
          <p:cNvSpPr>
            <a:spLocks noGrp="1"/>
          </p:cNvSpPr>
          <p:nvPr>
            <p:ph type="subTitle" idx="1"/>
          </p:nvPr>
        </p:nvSpPr>
        <p:spPr/>
        <p:txBody>
          <a:bodyPr/>
          <a:lstStyle/>
          <a:p>
            <a:r>
              <a:rPr lang="en-US" dirty="0"/>
              <a:t>Success Rate of Function Calling From 6.75% to 100%</a:t>
            </a:r>
          </a:p>
          <a:p>
            <a:r>
              <a:rPr lang="en-US" dirty="0"/>
              <a:t>In Qwen-Coder-Next (80b-a3b)</a:t>
            </a:r>
          </a:p>
        </p:txBody>
      </p:sp>
    </p:spTree>
    <p:extLst>
      <p:ext uri="{BB962C8B-B14F-4D97-AF65-F5344CB8AC3E}">
        <p14:creationId xmlns:p14="http://schemas.microsoft.com/office/powerpoint/2010/main" val="1219688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044573B-7CF6-ED2E-E36D-99092E11AA96}"/>
              </a:ext>
            </a:extLst>
          </p:cNvPr>
          <p:cNvSpPr>
            <a:spLocks noGrp="1"/>
          </p:cNvSpPr>
          <p:nvPr>
            <p:ph type="title"/>
          </p:nvPr>
        </p:nvSpPr>
        <p:spPr/>
        <p:txBody>
          <a:bodyPr/>
          <a:lstStyle/>
          <a:p>
            <a:r>
              <a:rPr lang="en-US" dirty="0"/>
              <a:t>TL;DR</a:t>
            </a:r>
          </a:p>
        </p:txBody>
      </p:sp>
      <p:sp>
        <p:nvSpPr>
          <p:cNvPr id="3" name="내용 개체 틀 2">
            <a:extLst>
              <a:ext uri="{FF2B5EF4-FFF2-40B4-BE49-F238E27FC236}">
                <a16:creationId xmlns:a16="http://schemas.microsoft.com/office/drawing/2014/main" id="{3525E5B0-5203-DA1F-04D7-67E07F82EE3A}"/>
              </a:ext>
            </a:extLst>
          </p:cNvPr>
          <p:cNvSpPr>
            <a:spLocks noGrp="1"/>
          </p:cNvSpPr>
          <p:nvPr>
            <p:ph sz="half" idx="1"/>
          </p:nvPr>
        </p:nvSpPr>
        <p:spPr/>
        <p:txBody>
          <a:bodyPr/>
          <a:lstStyle/>
          <a:p>
            <a:r>
              <a:rPr lang="en-US" dirty="0" err="1"/>
              <a:t>AutoBe</a:t>
            </a:r>
            <a:r>
              <a:rPr lang="en-US" dirty="0"/>
              <a:t>: AI backend generator</a:t>
            </a:r>
          </a:p>
          <a:p>
            <a:endParaRPr lang="en-US" dirty="0"/>
          </a:p>
          <a:p>
            <a:r>
              <a:rPr lang="en-US" dirty="0"/>
              <a:t>Do not write text codes</a:t>
            </a:r>
          </a:p>
          <a:p>
            <a:r>
              <a:rPr lang="en-US" dirty="0"/>
              <a:t>Instead, make AST structured data</a:t>
            </a:r>
          </a:p>
          <a:p>
            <a:r>
              <a:rPr lang="en-US" b="1" dirty="0"/>
              <a:t>Function Calling All-in</a:t>
            </a:r>
          </a:p>
          <a:p>
            <a:endParaRPr lang="en-US" dirty="0"/>
          </a:p>
          <a:p>
            <a:r>
              <a:rPr lang="en-US" dirty="0"/>
              <a:t>Types are extremely complicated</a:t>
            </a:r>
          </a:p>
          <a:p>
            <a:r>
              <a:rPr lang="en-US" dirty="0"/>
              <a:t>Recursive union types</a:t>
            </a:r>
          </a:p>
        </p:txBody>
      </p:sp>
      <p:pic>
        <p:nvPicPr>
          <p:cNvPr id="6" name="내용 개체 틀 5">
            <a:extLst>
              <a:ext uri="{FF2B5EF4-FFF2-40B4-BE49-F238E27FC236}">
                <a16:creationId xmlns:a16="http://schemas.microsoft.com/office/drawing/2014/main" id="{23DA82D9-A41B-6FDC-50C1-0EFD3BD86B8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675085" y="318618"/>
            <a:ext cx="6214291" cy="6220764"/>
          </a:xfrm>
          <a:prstGeom prst="rect">
            <a:avLst/>
          </a:prstGeom>
        </p:spPr>
      </p:pic>
    </p:spTree>
    <p:extLst>
      <p:ext uri="{BB962C8B-B14F-4D97-AF65-F5344CB8AC3E}">
        <p14:creationId xmlns:p14="http://schemas.microsoft.com/office/powerpoint/2010/main" val="7125956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7C6C5-61AC-DD51-F144-97BB7C5B56B0}"/>
              </a:ext>
            </a:extLst>
          </p:cNvPr>
          <p:cNvSpPr>
            <a:spLocks noGrp="1"/>
          </p:cNvSpPr>
          <p:nvPr>
            <p:ph type="title"/>
          </p:nvPr>
        </p:nvSpPr>
        <p:spPr>
          <a:xfrm>
            <a:off x="1143000" y="609600"/>
            <a:ext cx="4953000" cy="1356360"/>
          </a:xfrm>
        </p:spPr>
        <p:txBody>
          <a:bodyPr/>
          <a:lstStyle/>
          <a:p>
            <a:r>
              <a:rPr lang="en-US" dirty="0"/>
              <a:t>TL;DR</a:t>
            </a:r>
          </a:p>
        </p:txBody>
      </p:sp>
      <p:sp>
        <p:nvSpPr>
          <p:cNvPr id="3" name="내용 개체 틀 2">
            <a:extLst>
              <a:ext uri="{FF2B5EF4-FFF2-40B4-BE49-F238E27FC236}">
                <a16:creationId xmlns:a16="http://schemas.microsoft.com/office/drawing/2014/main" id="{8ABF0164-86B9-517E-5417-BEF1B78E9C05}"/>
              </a:ext>
            </a:extLst>
          </p:cNvPr>
          <p:cNvSpPr>
            <a:spLocks noGrp="1"/>
          </p:cNvSpPr>
          <p:nvPr>
            <p:ph sz="half" idx="1"/>
          </p:nvPr>
        </p:nvSpPr>
        <p:spPr/>
        <p:txBody>
          <a:bodyPr/>
          <a:lstStyle/>
          <a:p>
            <a:r>
              <a:rPr lang="en-US" dirty="0"/>
              <a:t>Typia, TypeScript Compiler Plugin</a:t>
            </a:r>
          </a:p>
          <a:p>
            <a:endParaRPr lang="en-US" dirty="0"/>
          </a:p>
          <a:p>
            <a:r>
              <a:rPr lang="en-US" dirty="0"/>
              <a:t>Analyze TypeScript Source Code</a:t>
            </a:r>
          </a:p>
          <a:p>
            <a:pPr lvl="1"/>
            <a:r>
              <a:rPr lang="en-US" dirty="0"/>
              <a:t>Lenient JSON Parsing</a:t>
            </a:r>
          </a:p>
          <a:p>
            <a:pPr lvl="1"/>
            <a:r>
              <a:rPr lang="en-US" dirty="0"/>
              <a:t>Type Coercion</a:t>
            </a:r>
          </a:p>
          <a:p>
            <a:pPr lvl="1"/>
            <a:r>
              <a:rPr lang="en-US" dirty="0"/>
              <a:t>Validation Feedback</a:t>
            </a:r>
          </a:p>
          <a:p>
            <a:pPr lvl="1"/>
            <a:endParaRPr lang="en-US" dirty="0"/>
          </a:p>
          <a:p>
            <a:r>
              <a:rPr lang="en-US" dirty="0"/>
              <a:t>Function Calling Success Rate</a:t>
            </a:r>
          </a:p>
          <a:p>
            <a:pPr lvl="1"/>
            <a:r>
              <a:rPr lang="en-US" dirty="0"/>
              <a:t>6.75% -&gt; 100%</a:t>
            </a:r>
          </a:p>
        </p:txBody>
      </p:sp>
      <p:sp>
        <p:nvSpPr>
          <p:cNvPr id="29" name="사각형: 둥근 모서리 28">
            <a:extLst>
              <a:ext uri="{FF2B5EF4-FFF2-40B4-BE49-F238E27FC236}">
                <a16:creationId xmlns:a16="http://schemas.microsoft.com/office/drawing/2014/main" id="{F7805EAE-4696-49E6-8CA3-FD570313EA3C}"/>
              </a:ext>
            </a:extLst>
          </p:cNvPr>
          <p:cNvSpPr/>
          <p:nvPr/>
        </p:nvSpPr>
        <p:spPr>
          <a:xfrm>
            <a:off x="6223000" y="133551"/>
            <a:ext cx="5005438" cy="2816125"/>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50" b="1" dirty="0">
                <a:solidFill>
                  <a:srgbClr val="888888"/>
                </a:solidFill>
                <a:latin typeface="Consolas"/>
              </a:rPr>
              <a:t>TypeScript</a:t>
            </a:r>
            <a:r>
              <a:rPr lang="en-US" sz="1200" dirty="0">
                <a:solidFill>
                  <a:srgbClr val="D4D4D4"/>
                </a:solidFill>
                <a:latin typeface="Consolas"/>
              </a:rPr>
              <a:t>
</a:t>
            </a:r>
            <a:r>
              <a:rPr lang="en-US" sz="1200" dirty="0">
                <a:solidFill>
                  <a:srgbClr val="C586C0"/>
                </a:solidFill>
                <a:latin typeface="Consolas"/>
              </a:rPr>
              <a:t>import</a:t>
            </a:r>
            <a:r>
              <a:rPr lang="en-US" sz="1200" dirty="0">
                <a:solidFill>
                  <a:srgbClr val="D4D4D4"/>
                </a:solidFill>
                <a:latin typeface="Consolas"/>
              </a:rPr>
              <a:t> </a:t>
            </a:r>
            <a:r>
              <a:rPr lang="en-US" sz="1200" dirty="0">
                <a:solidFill>
                  <a:srgbClr val="9CDCFE"/>
                </a:solidFill>
                <a:latin typeface="Consolas"/>
              </a:rPr>
              <a:t>typia</a:t>
            </a:r>
            <a:r>
              <a:rPr lang="en-US" sz="1200" dirty="0">
                <a:solidFill>
                  <a:srgbClr val="D4D4D4"/>
                </a:solidFill>
                <a:latin typeface="Consolas"/>
              </a:rPr>
              <a:t>, { </a:t>
            </a:r>
            <a:r>
              <a:rPr lang="en-US" sz="1200" dirty="0">
                <a:solidFill>
                  <a:srgbClr val="9CDCFE"/>
                </a:solidFill>
                <a:latin typeface="Consolas"/>
              </a:rPr>
              <a:t>tags</a:t>
            </a:r>
            <a:r>
              <a:rPr lang="en-US" sz="1200" dirty="0">
                <a:solidFill>
                  <a:srgbClr val="D4D4D4"/>
                </a:solidFill>
                <a:latin typeface="Consolas"/>
              </a:rPr>
              <a:t> } </a:t>
            </a:r>
            <a:r>
              <a:rPr lang="en-US" sz="1200" dirty="0">
                <a:solidFill>
                  <a:srgbClr val="C586C0"/>
                </a:solidFill>
                <a:latin typeface="Consolas"/>
              </a:rPr>
              <a:t>from</a:t>
            </a:r>
            <a:r>
              <a:rPr lang="en-US" sz="1200" dirty="0">
                <a:solidFill>
                  <a:srgbClr val="D4D4D4"/>
                </a:solidFill>
                <a:latin typeface="Consolas"/>
              </a:rPr>
              <a:t> </a:t>
            </a:r>
            <a:r>
              <a:rPr lang="en-US" sz="1200" dirty="0">
                <a:solidFill>
                  <a:srgbClr val="CE9178"/>
                </a:solidFill>
                <a:latin typeface="Consolas"/>
              </a:rPr>
              <a:t>"typia"</a:t>
            </a:r>
            <a:r>
              <a:rPr lang="en-US" sz="1200" dirty="0">
                <a:solidFill>
                  <a:srgbClr val="D4D4D4"/>
                </a:solidFill>
                <a:latin typeface="Consolas"/>
              </a:rPr>
              <a:t>;
</a:t>
            </a:r>
            <a:r>
              <a:rPr lang="en-US" sz="1200" dirty="0">
                <a:solidFill>
                  <a:srgbClr val="569CD6"/>
                </a:solidFill>
                <a:latin typeface="Consolas"/>
              </a:rPr>
              <a:t>interface</a:t>
            </a:r>
            <a:r>
              <a:rPr lang="en-US" sz="1200" dirty="0">
                <a:solidFill>
                  <a:srgbClr val="D4D4D4"/>
                </a:solidFill>
                <a:latin typeface="Consolas"/>
              </a:rPr>
              <a:t> </a:t>
            </a:r>
            <a:r>
              <a:rPr lang="en-US" sz="1200" dirty="0" err="1">
                <a:solidFill>
                  <a:srgbClr val="4EC9B0"/>
                </a:solidFill>
                <a:latin typeface="Consolas"/>
              </a:rPr>
              <a:t>IMember</a:t>
            </a:r>
            <a:r>
              <a:rPr lang="en-US" sz="1200" dirty="0">
                <a:solidFill>
                  <a:srgbClr val="D4D4D4"/>
                </a:solidFill>
                <a:latin typeface="Consolas"/>
              </a:rPr>
              <a:t> {
  </a:t>
            </a:r>
            <a:r>
              <a:rPr lang="en-US" sz="1200" dirty="0">
                <a:solidFill>
                  <a:srgbClr val="9CDCFE"/>
                </a:solidFill>
                <a:latin typeface="Consolas"/>
              </a:rPr>
              <a:t>id</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a:t>
            </a:r>
            <a:r>
              <a:rPr lang="en-US" sz="1200" dirty="0" err="1">
                <a:solidFill>
                  <a:srgbClr val="CE9178"/>
                </a:solidFill>
                <a:latin typeface="Consolas"/>
              </a:rPr>
              <a:t>uuid</a:t>
            </a:r>
            <a:r>
              <a:rPr lang="en-US" sz="1200" dirty="0">
                <a:solidFill>
                  <a:srgbClr val="CE9178"/>
                </a:solidFill>
                <a:latin typeface="Consolas"/>
              </a:rPr>
              <a:t>"</a:t>
            </a:r>
            <a:r>
              <a:rPr lang="en-US" sz="1200" dirty="0">
                <a:solidFill>
                  <a:srgbClr val="D4D4D4"/>
                </a:solidFill>
                <a:latin typeface="Consolas"/>
              </a:rPr>
              <a:t>&gt;;
  </a:t>
            </a:r>
            <a:r>
              <a:rPr lang="en-US" sz="1200" dirty="0">
                <a:solidFill>
                  <a:srgbClr val="9CDCFE"/>
                </a:solidFill>
                <a:latin typeface="Consolas"/>
              </a:rPr>
              <a:t>email</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"email"</a:t>
            </a:r>
            <a:r>
              <a:rPr lang="en-US" sz="1200" dirty="0">
                <a:solidFill>
                  <a:srgbClr val="D4D4D4"/>
                </a:solidFill>
                <a:latin typeface="Consolas"/>
              </a:rPr>
              <a:t>&gt;;
  </a:t>
            </a:r>
            <a:r>
              <a:rPr lang="en-US" sz="1200" dirty="0">
                <a:solidFill>
                  <a:srgbClr val="9CDCFE"/>
                </a:solidFill>
                <a:latin typeface="Consolas"/>
              </a:rPr>
              <a:t>age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&amp;
    </a:t>
            </a:r>
            <a:r>
              <a:rPr lang="en-US" sz="1200" dirty="0" err="1">
                <a:solidFill>
                  <a:srgbClr val="D4D4D4"/>
                </a:solidFill>
                <a:latin typeface="Consolas"/>
              </a:rPr>
              <a:t>tags.Type</a:t>
            </a:r>
            <a:r>
              <a:rPr lang="en-US" sz="1200" dirty="0">
                <a:solidFill>
                  <a:srgbClr val="D4D4D4"/>
                </a:solidFill>
                <a:latin typeface="Consolas"/>
              </a:rPr>
              <a:t>&lt;</a:t>
            </a:r>
            <a:r>
              <a:rPr lang="en-US" sz="1200" dirty="0">
                <a:solidFill>
                  <a:srgbClr val="CE9178"/>
                </a:solidFill>
                <a:latin typeface="Consolas"/>
              </a:rPr>
              <a:t>"uint32"</a:t>
            </a:r>
            <a:r>
              <a:rPr lang="en-US" sz="1200" dirty="0">
                <a:solidFill>
                  <a:srgbClr val="D4D4D4"/>
                </a:solidFill>
                <a:latin typeface="Consolas"/>
              </a:rPr>
              <a:t>&gt; &amp;
    </a:t>
            </a:r>
            <a:r>
              <a:rPr lang="en-US" sz="1200" dirty="0" err="1">
                <a:solidFill>
                  <a:srgbClr val="D4D4D4"/>
                </a:solidFill>
                <a:latin typeface="Consolas"/>
              </a:rPr>
              <a:t>tags.ExclusiveMinimum</a:t>
            </a:r>
            <a:r>
              <a:rPr lang="en-US" sz="1200" dirty="0">
                <a:solidFill>
                  <a:srgbClr val="D4D4D4"/>
                </a:solidFill>
                <a:latin typeface="Consolas"/>
              </a:rPr>
              <a:t>&lt;</a:t>
            </a:r>
            <a:r>
              <a:rPr lang="en-US" sz="1200" dirty="0">
                <a:solidFill>
                  <a:srgbClr val="B5CEA8"/>
                </a:solidFill>
                <a:latin typeface="Consolas"/>
              </a:rPr>
              <a:t>19</a:t>
            </a:r>
            <a:r>
              <a:rPr lang="en-US" sz="1200" dirty="0">
                <a:solidFill>
                  <a:srgbClr val="D4D4D4"/>
                </a:solidFill>
                <a:latin typeface="Consolas"/>
              </a:rPr>
              <a:t>&gt; &amp;
    </a:t>
            </a:r>
            <a:r>
              <a:rPr lang="en-US" sz="1200" dirty="0" err="1">
                <a:solidFill>
                  <a:srgbClr val="D4D4D4"/>
                </a:solidFill>
                <a:latin typeface="Consolas"/>
              </a:rPr>
              <a:t>tags.Maximum</a:t>
            </a:r>
            <a:r>
              <a:rPr lang="en-US" sz="1200" dirty="0">
                <a:solidFill>
                  <a:srgbClr val="D4D4D4"/>
                </a:solidFill>
                <a:latin typeface="Consolas"/>
              </a:rPr>
              <a:t>&lt;</a:t>
            </a:r>
            <a:r>
              <a:rPr lang="en-US" sz="1200" dirty="0">
                <a:solidFill>
                  <a:srgbClr val="B5CEA8"/>
                </a:solidFill>
                <a:latin typeface="Consolas"/>
              </a:rPr>
              <a:t>100</a:t>
            </a:r>
            <a:r>
              <a:rPr lang="en-US" sz="1200" dirty="0">
                <a:solidFill>
                  <a:srgbClr val="D4D4D4"/>
                </a:solidFill>
                <a:latin typeface="Consolas"/>
              </a:rPr>
              <a:t>&gt;;
}
</a:t>
            </a:r>
            <a:r>
              <a:rPr lang="en-US" sz="1200" dirty="0">
                <a:solidFill>
                  <a:srgbClr val="569CD6"/>
                </a:solidFill>
                <a:latin typeface="Consolas"/>
              </a:rPr>
              <a:t>const</a:t>
            </a:r>
            <a:r>
              <a:rPr lang="en-US" sz="1200" dirty="0">
                <a:solidFill>
                  <a:srgbClr val="D4D4D4"/>
                </a:solidFill>
                <a:latin typeface="Consolas"/>
              </a:rPr>
              <a:t> </a:t>
            </a:r>
            <a:r>
              <a:rPr lang="en-US" sz="1200" dirty="0">
                <a:solidFill>
                  <a:srgbClr val="9CDCFE"/>
                </a:solidFill>
                <a:latin typeface="Consolas"/>
              </a:rPr>
              <a:t>check</a:t>
            </a:r>
            <a:r>
              <a:rPr lang="en-US" sz="1200" dirty="0">
                <a:solidFill>
                  <a:srgbClr val="D4D4D4"/>
                </a:solidFill>
                <a:latin typeface="Consolas"/>
              </a:rPr>
              <a:t>: </a:t>
            </a:r>
            <a:r>
              <a:rPr lang="en-US" sz="1200" dirty="0" err="1">
                <a:solidFill>
                  <a:srgbClr val="4EC9B0"/>
                </a:solidFill>
                <a:latin typeface="Consolas"/>
              </a:rPr>
              <a:t>boolean</a:t>
            </a:r>
            <a:r>
              <a:rPr lang="en-US" sz="1200" dirty="0">
                <a:solidFill>
                  <a:srgbClr val="D4D4D4"/>
                </a:solidFill>
                <a:latin typeface="Consolas"/>
              </a:rPr>
              <a:t> = </a:t>
            </a:r>
            <a:r>
              <a:rPr lang="en-US" sz="1200" dirty="0">
                <a:solidFill>
                  <a:srgbClr val="9CDCFE"/>
                </a:solidFill>
                <a:latin typeface="Consolas"/>
              </a:rPr>
              <a:t>typia</a:t>
            </a:r>
            <a:r>
              <a:rPr lang="en-US" sz="1200" dirty="0">
                <a:solidFill>
                  <a:srgbClr val="DCDCAA"/>
                </a:solidFill>
                <a:latin typeface="Consolas"/>
              </a:rPr>
              <a:t>.is</a:t>
            </a:r>
            <a:r>
              <a:rPr lang="en-US" sz="1200" dirty="0">
                <a:solidFill>
                  <a:srgbClr val="D4D4D4"/>
                </a:solidFill>
                <a:latin typeface="Consolas"/>
              </a:rPr>
              <a:t>&lt;</a:t>
            </a:r>
            <a:r>
              <a:rPr lang="en-US" sz="1200" dirty="0" err="1">
                <a:solidFill>
                  <a:srgbClr val="4EC9B0"/>
                </a:solidFill>
                <a:latin typeface="Consolas"/>
              </a:rPr>
              <a:t>IMember</a:t>
            </a:r>
            <a:r>
              <a:rPr lang="en-US" sz="1200" dirty="0">
                <a:solidFill>
                  <a:srgbClr val="D4D4D4"/>
                </a:solidFill>
                <a:latin typeface="Consolas"/>
              </a:rPr>
              <a:t>&gt;(input);</a:t>
            </a:r>
          </a:p>
        </p:txBody>
      </p:sp>
      <p:sp>
        <p:nvSpPr>
          <p:cNvPr id="30" name="사각형: 둥근 모서리 29">
            <a:extLst>
              <a:ext uri="{FF2B5EF4-FFF2-40B4-BE49-F238E27FC236}">
                <a16:creationId xmlns:a16="http://schemas.microsoft.com/office/drawing/2014/main" id="{8EF8A5A4-C8B1-4276-8042-7EC81861297B}"/>
              </a:ext>
            </a:extLst>
          </p:cNvPr>
          <p:cNvSpPr/>
          <p:nvPr/>
        </p:nvSpPr>
        <p:spPr>
          <a:xfrm>
            <a:off x="6222999" y="3677676"/>
            <a:ext cx="5005439" cy="3081179"/>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00" b="1">
                <a:solidFill>
                  <a:srgbClr val="888888"/>
                </a:solidFill>
                <a:latin typeface="Consolas"/>
              </a:rPr>
              <a:t>JavaScript (compiled)</a:t>
            </a:r>
            <a:r>
              <a:rPr lang="en-US" sz="1100">
                <a:solidFill>
                  <a:srgbClr val="D4D4D4"/>
                </a:solidFill>
                <a:latin typeface="Consolas"/>
              </a:rPr>
              <a:t>
((</a:t>
            </a:r>
            <a:r>
              <a:rPr lang="en-US" sz="1100">
                <a:solidFill>
                  <a:srgbClr val="9CDCFE"/>
                </a:solidFill>
                <a:latin typeface="Consolas"/>
              </a:rPr>
              <a:t>input</a:t>
            </a:r>
            <a:r>
              <a:rPr lang="en-US" sz="1100">
                <a:solidFill>
                  <a:srgbClr val="D4D4D4"/>
                </a:solidFill>
                <a:latin typeface="Consolas"/>
              </a:rPr>
              <a:t>) </a:t>
            </a:r>
            <a:r>
              <a:rPr lang="en-US" sz="1100">
                <a:solidFill>
                  <a:srgbClr val="569CD6"/>
                </a:solidFill>
                <a:latin typeface="Consolas"/>
              </a:rPr>
              <a:t>=&gt;</a:t>
            </a:r>
            <a:r>
              <a:rPr lang="en-US" sz="1100">
                <a:solidFill>
                  <a:srgbClr val="D4D4D4"/>
                </a:solidFill>
                <a:latin typeface="Consolas"/>
              </a:rPr>
              <a:t> {
  </a:t>
            </a:r>
            <a:r>
              <a:rPr lang="en-US" sz="1100">
                <a:solidFill>
                  <a:srgbClr val="C586C0"/>
                </a:solidFill>
                <a:latin typeface="Consolas"/>
              </a:rPr>
              <a:t>return</a:t>
            </a:r>
            <a:r>
              <a:rPr lang="en-US" sz="1100">
                <a:solidFill>
                  <a:srgbClr val="D4D4D4"/>
                </a:solidFill>
                <a:latin typeface="Consolas"/>
              </a:rPr>
              <a:t> (
    </a:t>
            </a:r>
            <a:r>
              <a:rPr lang="en-US" sz="1100">
                <a:solidFill>
                  <a:srgbClr val="569CD6"/>
                </a:solidFill>
                <a:latin typeface="Consolas"/>
              </a:rPr>
              <a:t>typeof</a:t>
            </a:r>
            <a:r>
              <a:rPr lang="en-US" sz="1100">
                <a:solidFill>
                  <a:srgbClr val="D4D4D4"/>
                </a:solidFill>
                <a:latin typeface="Consolas"/>
              </a:rPr>
              <a:t> input === </a:t>
            </a:r>
            <a:r>
              <a:rPr lang="en-US" sz="1100">
                <a:solidFill>
                  <a:srgbClr val="CE9178"/>
                </a:solidFill>
                <a:latin typeface="Consolas"/>
              </a:rPr>
              <a:t>"object"</a:t>
            </a:r>
            <a:r>
              <a:rPr lang="en-US" sz="1100">
                <a:solidFill>
                  <a:srgbClr val="D4D4D4"/>
                </a:solidFill>
                <a:latin typeface="Consolas"/>
              </a:rPr>
              <a:t> &amp;&amp;
    </a:t>
            </a:r>
            <a:r>
              <a:rPr lang="en-US" sz="1100">
                <a:solidFill>
                  <a:srgbClr val="569CD6"/>
                </a:solidFill>
                <a:latin typeface="Consolas"/>
              </a:rPr>
              <a:t>null</a:t>
            </a:r>
            <a:r>
              <a:rPr lang="en-US" sz="1100">
                <a:solidFill>
                  <a:srgbClr val="D4D4D4"/>
                </a:solidFill>
                <a:latin typeface="Consolas"/>
              </a:rPr>
              <a:t> !== input &amp;&amp;
    </a:t>
            </a:r>
            <a:r>
              <a:rPr lang="en-US" sz="1100">
                <a:solidFill>
                  <a:srgbClr val="569CD6"/>
                </a:solidFill>
                <a:latin typeface="Consolas"/>
              </a:rPr>
              <a:t>typeof</a:t>
            </a:r>
            <a:r>
              <a:rPr lang="en-US" sz="1100">
                <a:solidFill>
                  <a:srgbClr val="D4D4D4"/>
                </a:solidFill>
                <a:latin typeface="Consolas"/>
              </a:rPr>
              <a:t> input.id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/^[0-9a-f]{8}-.../</a:t>
            </a:r>
            <a:r>
              <a:rPr lang="en-US" sz="1100">
                <a:solidFill>
                  <a:srgbClr val="D4D4D4"/>
                </a:solidFill>
                <a:latin typeface="Consolas"/>
              </a:rPr>
              <a:t>.test(input.id) &amp;&amp;
    </a:t>
            </a:r>
            <a:r>
              <a:rPr lang="en-US" sz="1100">
                <a:solidFill>
                  <a:srgbClr val="569CD6"/>
                </a:solidFill>
                <a:latin typeface="Consolas"/>
              </a:rPr>
              <a:t>typeof</a:t>
            </a:r>
            <a:r>
              <a:rPr lang="en-US" sz="1100">
                <a:solidFill>
                  <a:srgbClr val="D4D4D4"/>
                </a:solidFill>
                <a:latin typeface="Consolas"/>
              </a:rPr>
              <a:t> input.email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/^[a-z0-9._%+]+@.../</a:t>
            </a:r>
            <a:r>
              <a:rPr lang="en-US" sz="1100">
                <a:solidFill>
                  <a:srgbClr val="D4D4D4"/>
                </a:solidFill>
                <a:latin typeface="Consolas"/>
              </a:rPr>
              <a:t>.test(input.email) &amp;&amp;
    Number.isInteger(input.age) &amp;&amp;
    input.age &gt;= </a:t>
            </a:r>
            <a:r>
              <a:rPr lang="en-US" sz="1100">
                <a:solidFill>
                  <a:srgbClr val="B5CEA8"/>
                </a:solidFill>
                <a:latin typeface="Consolas"/>
              </a:rPr>
              <a:t>0</a:t>
            </a:r>
            <a:r>
              <a:rPr lang="en-US" sz="1100">
                <a:solidFill>
                  <a:srgbClr val="D4D4D4"/>
                </a:solidFill>
                <a:latin typeface="Consolas"/>
              </a:rPr>
              <a:t> &amp;&amp;
    </a:t>
            </a:r>
            <a:r>
              <a:rPr lang="en-US" sz="1100">
                <a:solidFill>
                  <a:srgbClr val="B5CEA8"/>
                </a:solidFill>
                <a:latin typeface="Consolas"/>
              </a:rPr>
              <a:t>19</a:t>
            </a:r>
            <a:r>
              <a:rPr lang="en-US" sz="1100">
                <a:solidFill>
                  <a:srgbClr val="D4D4D4"/>
                </a:solidFill>
                <a:latin typeface="Consolas"/>
              </a:rPr>
              <a:t> &lt; input.age &amp;&amp;
    </a:t>
            </a:r>
            <a:r>
              <a:rPr lang="en-US" sz="1100">
                <a:solidFill>
                  <a:srgbClr val="B5CEA8"/>
                </a:solidFill>
                <a:latin typeface="Consolas"/>
              </a:rPr>
              <a:t>100</a:t>
            </a:r>
            <a:r>
              <a:rPr lang="en-US" sz="1100">
                <a:solidFill>
                  <a:srgbClr val="D4D4D4"/>
                </a:solidFill>
                <a:latin typeface="Consolas"/>
              </a:rPr>
              <a:t> &gt;= input.age
  )
})</a:t>
            </a:r>
          </a:p>
        </p:txBody>
      </p:sp>
      <p:sp>
        <p:nvSpPr>
          <p:cNvPr id="34" name="화살표: 아래쪽 33">
            <a:extLst>
              <a:ext uri="{FF2B5EF4-FFF2-40B4-BE49-F238E27FC236}">
                <a16:creationId xmlns:a16="http://schemas.microsoft.com/office/drawing/2014/main" id="{A5892466-05D4-4295-8D70-333E08009259}"/>
              </a:ext>
            </a:extLst>
          </p:cNvPr>
          <p:cNvSpPr/>
          <p:nvPr/>
        </p:nvSpPr>
        <p:spPr>
          <a:xfrm>
            <a:off x="8331200" y="3131576"/>
            <a:ext cx="635000" cy="381000"/>
          </a:xfrm>
          <a:prstGeom prst="downArrow">
            <a:avLst/>
          </a:prstGeom>
          <a:solidFill>
            <a:srgbClr val="E8A3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712F32BB-8390-4586-AE6E-087056DA5419}"/>
              </a:ext>
            </a:extLst>
          </p:cNvPr>
          <p:cNvSpPr txBox="1"/>
          <p:nvPr/>
        </p:nvSpPr>
        <p:spPr>
          <a:xfrm>
            <a:off x="9042400" y="3131576"/>
            <a:ext cx="1524000" cy="381000"/>
          </a:xfrm>
          <a:prstGeom prst="rect">
            <a:avLst/>
          </a:prstGeom>
          <a:noFill/>
        </p:spPr>
        <p:txBody>
          <a:bodyPr vertOverflow="overflow" vert="horz" wrap="square" rtlCol="0" anchor="ctr" anchorCtr="0">
            <a:noAutofit/>
          </a:bodyPr>
          <a:lstStyle/>
          <a:p>
            <a:pPr algn="l"/>
            <a:r>
              <a:rPr lang="en-US" sz="1600" b="1">
                <a:solidFill>
                  <a:srgbClr val="E8A317"/>
                </a:solidFill>
              </a:rPr>
              <a:t>transform</a:t>
            </a:r>
          </a:p>
        </p:txBody>
      </p:sp>
    </p:spTree>
    <p:extLst>
      <p:ext uri="{BB962C8B-B14F-4D97-AF65-F5344CB8AC3E}">
        <p14:creationId xmlns:p14="http://schemas.microsoft.com/office/powerpoint/2010/main" val="1808921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6F7E1FAF-75C5-FC3D-963F-5F77D744713B}"/>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TL;DR</a:t>
            </a:r>
          </a:p>
        </p:txBody>
      </p:sp>
      <p:sp>
        <p:nvSpPr>
          <p:cNvPr id="3" name="내용 개체 틀 2">
            <a:extLst>
              <a:ext uri="{FF2B5EF4-FFF2-40B4-BE49-F238E27FC236}">
                <a16:creationId xmlns:a16="http://schemas.microsoft.com/office/drawing/2014/main" id="{1C4DE4F3-BCCF-FE54-AE5D-CF4606D911A2}"/>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Function Calling</a:t>
            </a:r>
          </a:p>
          <a:p>
            <a:endParaRPr lang="en-US" dirty="0"/>
          </a:p>
          <a:p>
            <a:r>
              <a:rPr lang="en-US" dirty="0"/>
              <a:t>No ambiguity</a:t>
            </a:r>
          </a:p>
          <a:p>
            <a:r>
              <a:rPr lang="en-US" dirty="0"/>
              <a:t>Model neutral</a:t>
            </a:r>
          </a:p>
          <a:p>
            <a:r>
              <a:rPr lang="en-US" dirty="0"/>
              <a:t>Mechanically Verifiable</a:t>
            </a:r>
          </a:p>
          <a:p>
            <a:r>
              <a:rPr lang="en-US" dirty="0"/>
              <a:t>Deterministically Convergent</a:t>
            </a:r>
          </a:p>
          <a:p>
            <a:endParaRPr lang="en-US" dirty="0"/>
          </a:p>
        </p:txBody>
      </p:sp>
      <p:pic>
        <p:nvPicPr>
          <p:cNvPr id="9" name="내용 개체 틀 8">
            <a:extLst>
              <a:ext uri="{FF2B5EF4-FFF2-40B4-BE49-F238E27FC236}">
                <a16:creationId xmlns:a16="http://schemas.microsoft.com/office/drawing/2014/main" id="{A550F7D4-6F8E-527E-61E1-F261BAE5FE2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5226" r="26607" b="-2"/>
          <a:stretch>
            <a:fillRect/>
          </a:stretch>
        </p:blipFill>
        <p:spPr>
          <a:xfrm>
            <a:off x="8301386" y="243840"/>
            <a:ext cx="3646837" cy="6377939"/>
          </a:xfrm>
          <a:prstGeom prst="rect">
            <a:avLst/>
          </a:prstGeom>
        </p:spPr>
      </p:pic>
      <p:sp>
        <p:nvSpPr>
          <p:cNvPr id="19" name="Rectangle 18">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635053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E44119D-98CF-2E7F-ABA4-781698F3DAA0}"/>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TL;DR</a:t>
            </a:r>
          </a:p>
        </p:txBody>
      </p:sp>
      <p:sp>
        <p:nvSpPr>
          <p:cNvPr id="3" name="내용 개체 틀 2">
            <a:extLst>
              <a:ext uri="{FF2B5EF4-FFF2-40B4-BE49-F238E27FC236}">
                <a16:creationId xmlns:a16="http://schemas.microsoft.com/office/drawing/2014/main" id="{1E33D8BE-A99B-5643-CE6D-077D2B2ED721}"/>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Qwen Series</a:t>
            </a:r>
          </a:p>
          <a:p>
            <a:pPr lvl="1"/>
            <a:r>
              <a:rPr lang="en-US" dirty="0"/>
              <a:t>The best performance for tool calling</a:t>
            </a:r>
          </a:p>
          <a:p>
            <a:pPr lvl="1"/>
            <a:r>
              <a:rPr lang="en-US" dirty="0"/>
              <a:t>In small/middle size models</a:t>
            </a:r>
          </a:p>
          <a:p>
            <a:pPr lvl="2"/>
            <a:r>
              <a:rPr lang="en-US" dirty="0"/>
              <a:t>qwen3-coder-next (80b-a3b)</a:t>
            </a:r>
          </a:p>
          <a:p>
            <a:pPr lvl="2"/>
            <a:r>
              <a:rPr lang="en-US" dirty="0"/>
              <a:t>qwen3.5-35b-a3b</a:t>
            </a:r>
          </a:p>
          <a:p>
            <a:pPr lvl="2"/>
            <a:r>
              <a:rPr lang="en-US" dirty="0"/>
              <a:t>qwen3.5-24b</a:t>
            </a:r>
          </a:p>
          <a:p>
            <a:pPr lvl="2"/>
            <a:r>
              <a:rPr lang="en-US" dirty="0"/>
              <a:t>qwen3.5-122b-a10b</a:t>
            </a:r>
          </a:p>
          <a:p>
            <a:r>
              <a:rPr lang="en-US" dirty="0"/>
              <a:t>Smaller models are the Best for QA</a:t>
            </a:r>
          </a:p>
          <a:p>
            <a:pPr lvl="1"/>
            <a:r>
              <a:rPr lang="en-US" dirty="0"/>
              <a:t>Take more mistakes</a:t>
            </a:r>
          </a:p>
          <a:p>
            <a:pPr lvl="1"/>
            <a:r>
              <a:rPr lang="en-US" dirty="0"/>
              <a:t>Expose system vulnerabilities</a:t>
            </a:r>
          </a:p>
          <a:p>
            <a:pPr lvl="1"/>
            <a:r>
              <a:rPr lang="en-US" dirty="0"/>
              <a:t>Suitable for debugging</a:t>
            </a:r>
          </a:p>
        </p:txBody>
      </p:sp>
      <p:pic>
        <p:nvPicPr>
          <p:cNvPr id="7" name="내용 개체 틀 6">
            <a:extLst>
              <a:ext uri="{FF2B5EF4-FFF2-40B4-BE49-F238E27FC236}">
                <a16:creationId xmlns:a16="http://schemas.microsoft.com/office/drawing/2014/main" id="{C991E99E-2170-AA7E-758F-E7D5C75FD6A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093" r="42739" b="-2"/>
          <a:stretch>
            <a:fillRect/>
          </a:stretch>
        </p:blipFill>
        <p:spPr>
          <a:xfrm>
            <a:off x="8301386" y="243840"/>
            <a:ext cx="3646837" cy="6377939"/>
          </a:xfrm>
          <a:prstGeom prst="rect">
            <a:avLst/>
          </a:prstGeom>
        </p:spPr>
      </p:pic>
      <p:sp>
        <p:nvSpPr>
          <p:cNvPr id="25" name="Rectangle 2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255429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내용 개체 틀 4">
            <a:extLst>
              <a:ext uri="{FF2B5EF4-FFF2-40B4-BE49-F238E27FC236}">
                <a16:creationId xmlns:a16="http://schemas.microsoft.com/office/drawing/2014/main" id="{D2011417-BF60-8960-E3B9-4B0212957168}"/>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15413"/>
          <a:stretch>
            <a:fillRect/>
          </a:stretch>
        </p:blipFill>
        <p:spPr>
          <a:xfrm>
            <a:off x="20" y="10"/>
            <a:ext cx="12191980" cy="6857990"/>
          </a:xfrm>
          <a:prstGeom prst="rect">
            <a:avLst/>
          </a:prstGeom>
        </p:spPr>
      </p:pic>
      <p:sp>
        <p:nvSpPr>
          <p:cNvPr id="29" name="Rectangle 28">
            <a:extLst>
              <a:ext uri="{FF2B5EF4-FFF2-40B4-BE49-F238E27FC236}">
                <a16:creationId xmlns:a16="http://schemas.microsoft.com/office/drawing/2014/main" id="{F60C7704-7D68-4C16-8EA9-2E13DDE0C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alpha val="92000"/>
            </a:schemeClr>
          </a:solidFill>
          <a:ln w="12700">
            <a:solidFill>
              <a:schemeClr val="tx1">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3034AA81-6371-8F31-0BD7-FCBE65BE1E84}"/>
              </a:ext>
            </a:extLst>
          </p:cNvPr>
          <p:cNvSpPr>
            <a:spLocks noGrp="1"/>
          </p:cNvSpPr>
          <p:nvPr>
            <p:ph type="title"/>
          </p:nvPr>
        </p:nvSpPr>
        <p:spPr>
          <a:xfrm>
            <a:off x="1143000" y="609600"/>
            <a:ext cx="9875520" cy="1356360"/>
          </a:xfrm>
        </p:spPr>
        <p:txBody>
          <a:bodyPr vert="horz" lIns="91440" tIns="45720" rIns="91440" bIns="45720" rtlCol="0" anchor="ctr">
            <a:normAutofit/>
          </a:bodyPr>
          <a:lstStyle/>
          <a:p>
            <a:r>
              <a:rPr lang="en-US" dirty="0"/>
              <a:t>1. Preface</a:t>
            </a:r>
          </a:p>
        </p:txBody>
      </p:sp>
      <p:sp>
        <p:nvSpPr>
          <p:cNvPr id="6" name="내용 개체 틀 5">
            <a:extLst>
              <a:ext uri="{FF2B5EF4-FFF2-40B4-BE49-F238E27FC236}">
                <a16:creationId xmlns:a16="http://schemas.microsoft.com/office/drawing/2014/main" id="{8B2ACF5B-317C-63CE-466D-2768FA0EF1EF}"/>
              </a:ext>
            </a:extLst>
          </p:cNvPr>
          <p:cNvSpPr>
            <a:spLocks noGrp="1"/>
          </p:cNvSpPr>
          <p:nvPr>
            <p:ph sz="half" idx="1"/>
          </p:nvPr>
        </p:nvSpPr>
        <p:spPr>
          <a:xfrm>
            <a:off x="1143000" y="2057400"/>
            <a:ext cx="9872871" cy="4038600"/>
          </a:xfrm>
        </p:spPr>
        <p:txBody>
          <a:bodyPr vert="horz" lIns="91440" tIns="45720" rIns="91440" bIns="45720" rtlCol="0">
            <a:normAutofit/>
          </a:bodyPr>
          <a:lstStyle/>
          <a:p>
            <a:r>
              <a:rPr lang="en-US" dirty="0"/>
              <a:t>NESTFUL (EMNLP 2025)</a:t>
            </a:r>
          </a:p>
          <a:p>
            <a:pPr lvl="1"/>
            <a:r>
              <a:rPr lang="en-US" dirty="0"/>
              <a:t>GPT-4o: 28% accuracy on nested tool call sequences</a:t>
            </a:r>
          </a:p>
          <a:p>
            <a:pPr lvl="1"/>
            <a:r>
              <a:rPr lang="en-US" dirty="0">
                <a:hlinkClick r:id="rId5"/>
              </a:rPr>
              <a:t>https://arxiv.org/abs/2409.03797</a:t>
            </a:r>
            <a:endParaRPr lang="en-US" dirty="0"/>
          </a:p>
          <a:p>
            <a:r>
              <a:rPr lang="en-US"/>
              <a:t>JSONSchemaBench</a:t>
            </a:r>
            <a:r>
              <a:rPr lang="en-US" dirty="0"/>
              <a:t> (ICLR 2025)</a:t>
            </a:r>
          </a:p>
          <a:p>
            <a:pPr lvl="1"/>
            <a:r>
              <a:rPr lang="en-US" dirty="0"/>
              <a:t>3~41% </a:t>
            </a:r>
            <a:r>
              <a:rPr lang="en-US"/>
              <a:t>converage</a:t>
            </a:r>
            <a:r>
              <a:rPr lang="en-US" dirty="0"/>
              <a:t> on 10,000 real-world schemas (hardest tier)</a:t>
            </a:r>
          </a:p>
          <a:p>
            <a:pPr lvl="1"/>
            <a:r>
              <a:rPr lang="en-US" dirty="0">
                <a:hlinkClick r:id="rId6"/>
              </a:rPr>
              <a:t>https://arxiv.org/abs/2501.10868</a:t>
            </a:r>
            <a:endParaRPr lang="en-US" dirty="0"/>
          </a:p>
          <a:p>
            <a:r>
              <a:rPr lang="en-US"/>
              <a:t>BoundaryML</a:t>
            </a:r>
            <a:r>
              <a:rPr lang="en-US" dirty="0"/>
              <a:t> (Blog)</a:t>
            </a:r>
          </a:p>
          <a:p>
            <a:pPr lvl="1"/>
            <a:r>
              <a:rPr lang="en-US" dirty="0"/>
              <a:t>Structured outputs actively degrade model reasoning</a:t>
            </a:r>
          </a:p>
          <a:p>
            <a:pPr lvl="1"/>
            <a:r>
              <a:rPr lang="en-US" dirty="0">
                <a:hlinkClick r:id="rId7"/>
              </a:rPr>
              <a:t>https://boundaryml.com/blog/structured-outputs-create-false-confidence</a:t>
            </a:r>
            <a:endParaRPr lang="en-US" dirty="0"/>
          </a:p>
        </p:txBody>
      </p:sp>
    </p:spTree>
    <p:extLst>
      <p:ext uri="{BB962C8B-B14F-4D97-AF65-F5344CB8AC3E}">
        <p14:creationId xmlns:p14="http://schemas.microsoft.com/office/powerpoint/2010/main" val="7311084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10BB0A13-3BEC-0A01-5B45-4B8D50ED58DB}"/>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1. Preface</a:t>
            </a:r>
          </a:p>
        </p:txBody>
      </p:sp>
      <p:pic>
        <p:nvPicPr>
          <p:cNvPr id="9" name="내용 개체 틀 8">
            <a:extLst>
              <a:ext uri="{FF2B5EF4-FFF2-40B4-BE49-F238E27FC236}">
                <a16:creationId xmlns:a16="http://schemas.microsoft.com/office/drawing/2014/main" id="{9CE5FFA4-4316-6ABB-80C9-3BE97DA914AA}"/>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0014" r="22808" b="1"/>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0B2450DD-D731-869C-D857-BF2966BAE39B}"/>
              </a:ext>
            </a:extLst>
          </p:cNvPr>
          <p:cNvSpPr>
            <a:spLocks noGrp="1"/>
          </p:cNvSpPr>
          <p:nvPr>
            <p:ph sz="half" idx="1"/>
          </p:nvPr>
        </p:nvSpPr>
        <p:spPr>
          <a:xfrm>
            <a:off x="4439242" y="2057400"/>
            <a:ext cx="6576629" cy="4038600"/>
          </a:xfrm>
        </p:spPr>
        <p:txBody>
          <a:bodyPr vert="horz" lIns="91440" tIns="45720" rIns="91440" bIns="45720" rtlCol="0">
            <a:normAutofit/>
          </a:bodyPr>
          <a:lstStyle/>
          <a:p>
            <a:r>
              <a:rPr lang="en-US" sz="2000"/>
              <a:t>In Engineering Field,</a:t>
            </a:r>
          </a:p>
          <a:p>
            <a:endParaRPr lang="en-US" sz="2000"/>
          </a:p>
          <a:p>
            <a:r>
              <a:rPr lang="en-US" sz="2000"/>
              <a:t>Free-form text cannot be mechanically verified</a:t>
            </a:r>
          </a:p>
          <a:p>
            <a:r>
              <a:rPr lang="en-US" sz="2000"/>
              <a:t>Without structure, there can't be mechanical feedback</a:t>
            </a:r>
          </a:p>
          <a:p>
            <a:r>
              <a:rPr lang="en-US" sz="2000"/>
              <a:t>Without mechanical feedback, no guarantee</a:t>
            </a:r>
          </a:p>
          <a:p>
            <a:endParaRPr lang="en-US" sz="2000"/>
          </a:p>
          <a:p>
            <a:r>
              <a:rPr lang="en-US" sz="2000"/>
              <a:t>So we have to make function calling work</a:t>
            </a:r>
          </a:p>
          <a:p>
            <a:r>
              <a:rPr lang="en-US" sz="2000"/>
              <a:t>There's no other path for engineering purpose</a:t>
            </a:r>
          </a:p>
        </p:txBody>
      </p:sp>
      <p:sp>
        <p:nvSpPr>
          <p:cNvPr id="27" name="Rectangle 26">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692650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1. Preface</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Function Calling Success Rate for extremely complicate type</a:t>
            </a:r>
          </a:p>
          <a:p>
            <a:pPr lvl="1"/>
            <a:r>
              <a:rPr lang="en-US" dirty="0"/>
              <a:t>Qwen3-coder-next for DTO schema design: 6.75%</a:t>
            </a:r>
          </a:p>
          <a:p>
            <a:pPr lvl="1"/>
            <a:r>
              <a:rPr lang="en-US" dirty="0"/>
              <a:t>GPT 5.4 for API specification reviewing: 9.91%</a:t>
            </a:r>
          </a:p>
          <a:p>
            <a:r>
              <a:rPr lang="en-US" dirty="0"/>
              <a:t>The answer was not a better model or a smarter prompt</a:t>
            </a:r>
          </a:p>
          <a:p>
            <a:pPr lvl="1"/>
            <a:r>
              <a:rPr lang="en-US" dirty="0"/>
              <a:t>It was on the harness engineering</a:t>
            </a:r>
          </a:p>
          <a:p>
            <a:pPr lvl="1"/>
            <a:r>
              <a:rPr lang="en-US" dirty="0"/>
              <a:t>Combined with Compiler Skills</a:t>
            </a:r>
          </a:p>
          <a:p>
            <a:endParaRPr lang="en-US" dirty="0"/>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646245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100%</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Compilation success — all four Qwen models</a:t>
            </a:r>
          </a:p>
          <a:p>
            <a:endParaRPr lang="en-US" dirty="0"/>
          </a:p>
          <a:p>
            <a:r>
              <a:rPr lang="en-US" dirty="0"/>
              <a:t>The answer was not a better model or a smarter prompt.</a:t>
            </a:r>
          </a:p>
          <a:p>
            <a:r>
              <a:rPr lang="en-US" b="1" dirty="0"/>
              <a:t>It was a harness.</a:t>
            </a:r>
          </a:p>
          <a:p>
            <a:endParaRPr lang="en-US" dirty="0"/>
          </a:p>
          <a:p>
            <a:r>
              <a:rPr lang="en-US" dirty="0"/>
              <a:t>Type schemas that constrain</a:t>
            </a:r>
          </a:p>
          <a:p>
            <a:r>
              <a:rPr lang="en-US" dirty="0"/>
              <a:t>+ compilers that verify</a:t>
            </a:r>
          </a:p>
          <a:p>
            <a:r>
              <a:rPr lang="en-US" dirty="0"/>
              <a:t>+ feedback that corrects</a:t>
            </a:r>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4012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94F6BCA3-D77A-2C83-4220-DA6D396D56F3}"/>
              </a:ext>
            </a:extLst>
          </p:cNvPr>
          <p:cNvSpPr>
            <a:spLocks noGrp="1"/>
          </p:cNvSpPr>
          <p:nvPr>
            <p:ph type="title"/>
          </p:nvPr>
        </p:nvSpPr>
        <p:spPr/>
        <p:txBody>
          <a:bodyPr/>
          <a:lstStyle/>
          <a:p>
            <a:r>
              <a:rPr lang="en-US" dirty="0" err="1"/>
              <a:t>AutoBe</a:t>
            </a:r>
            <a:endParaRPr lang="en-US" dirty="0"/>
          </a:p>
        </p:txBody>
      </p:sp>
      <p:sp>
        <p:nvSpPr>
          <p:cNvPr id="5" name="텍스트 개체 틀 4">
            <a:extLst>
              <a:ext uri="{FF2B5EF4-FFF2-40B4-BE49-F238E27FC236}">
                <a16:creationId xmlns:a16="http://schemas.microsoft.com/office/drawing/2014/main" id="{F21A9C84-B10D-A982-2F57-31A2A4DFE2F8}"/>
              </a:ext>
            </a:extLst>
          </p:cNvPr>
          <p:cNvSpPr>
            <a:spLocks noGrp="1"/>
          </p:cNvSpPr>
          <p:nvPr>
            <p:ph type="body" idx="1"/>
          </p:nvPr>
        </p:nvSpPr>
        <p:spPr/>
        <p:txBody>
          <a:bodyPr/>
          <a:lstStyle/>
          <a:p>
            <a:r>
              <a:rPr lang="en-US" dirty="0"/>
              <a:t>AI Backend Auto-Generation Agent</a:t>
            </a:r>
          </a:p>
          <a:p>
            <a:r>
              <a:rPr lang="en-US" dirty="0"/>
              <a:t>Don’t write text code, but make AST structured data</a:t>
            </a:r>
          </a:p>
        </p:txBody>
      </p:sp>
    </p:spTree>
    <p:extLst>
      <p:ext uri="{BB962C8B-B14F-4D97-AF65-F5344CB8AC3E}">
        <p14:creationId xmlns:p14="http://schemas.microsoft.com/office/powerpoint/2010/main" val="1734635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79E2A4-24E2-51F7-AF8E-3DD5EF17CC83}"/>
              </a:ext>
            </a:extLst>
          </p:cNvPr>
          <p:cNvSpPr>
            <a:spLocks noGrp="1"/>
          </p:cNvSpPr>
          <p:nvPr>
            <p:ph type="title"/>
          </p:nvPr>
        </p:nvSpPr>
        <p:spPr/>
        <p:txBody>
          <a:bodyPr/>
          <a:lstStyle/>
          <a:p>
            <a:r>
              <a:rPr lang="en-US" dirty="0"/>
              <a:t>2.1. What </a:t>
            </a:r>
            <a:r>
              <a:rPr lang="en-US" dirty="0" err="1"/>
              <a:t>AutoBe</a:t>
            </a:r>
            <a:r>
              <a:rPr lang="en-US" dirty="0"/>
              <a:t> Does</a:t>
            </a:r>
          </a:p>
        </p:txBody>
      </p:sp>
      <p:sp>
        <p:nvSpPr>
          <p:cNvPr id="3" name="내용 개체 틀 2">
            <a:extLst>
              <a:ext uri="{FF2B5EF4-FFF2-40B4-BE49-F238E27FC236}">
                <a16:creationId xmlns:a16="http://schemas.microsoft.com/office/drawing/2014/main" id="{FC1ECA45-DEAE-12CC-50B8-CB8E3111D8EF}"/>
              </a:ext>
            </a:extLst>
          </p:cNvPr>
          <p:cNvSpPr>
            <a:spLocks noGrp="1"/>
          </p:cNvSpPr>
          <p:nvPr>
            <p:ph idx="1"/>
          </p:nvPr>
        </p:nvSpPr>
        <p:spPr/>
        <p:txBody>
          <a:bodyPr/>
          <a:lstStyle/>
          <a:p>
            <a:r>
              <a:rPr lang="en-US" dirty="0"/>
              <a:t>Build an e-commerce backend with products, carts, orders, and payments</a:t>
            </a:r>
          </a:p>
          <a:p>
            <a:endParaRPr lang="en-US" dirty="0"/>
          </a:p>
          <a:p>
            <a:r>
              <a:rPr lang="en-US" dirty="0"/>
              <a:t>Requirements Analysis (SRS)</a:t>
            </a:r>
          </a:p>
          <a:p>
            <a:r>
              <a:rPr lang="en-US" dirty="0"/>
              <a:t>Database Schema (ERD)</a:t>
            </a:r>
          </a:p>
          <a:p>
            <a:r>
              <a:rPr lang="en-US" dirty="0"/>
              <a:t>API Specification (OpenAPI v3.2)</a:t>
            </a:r>
          </a:p>
          <a:p>
            <a:r>
              <a:rPr lang="en-US" dirty="0"/>
              <a:t>E2E test code</a:t>
            </a:r>
          </a:p>
          <a:p>
            <a:r>
              <a:rPr lang="en-US" dirty="0"/>
              <a:t>Implementation code</a:t>
            </a:r>
          </a:p>
          <a:p>
            <a:r>
              <a:rPr lang="en-US" dirty="0"/>
              <a:t>Type-safe SDK for clients</a:t>
            </a:r>
          </a:p>
        </p:txBody>
      </p:sp>
    </p:spTree>
    <p:extLst>
      <p:ext uri="{BB962C8B-B14F-4D97-AF65-F5344CB8AC3E}">
        <p14:creationId xmlns:p14="http://schemas.microsoft.com/office/powerpoint/2010/main" val="1053620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Rectangle 10">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2" name="Rectangle 12">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3" name="Straight Connector 14">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54" name="Rectangle 16">
            <a:extLst>
              <a:ext uri="{FF2B5EF4-FFF2-40B4-BE49-F238E27FC236}">
                <a16:creationId xmlns:a16="http://schemas.microsoft.com/office/drawing/2014/main" id="{4C4A1CEC-4439-473B-9939-B12503C5E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5" name="Rectangle 18">
            <a:extLst>
              <a:ext uri="{FF2B5EF4-FFF2-40B4-BE49-F238E27FC236}">
                <a16:creationId xmlns:a16="http://schemas.microsoft.com/office/drawing/2014/main" id="{BF85B2CC-AADA-4F42-9F7B-0A4FA3F6CC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4206240"/>
            <a:ext cx="11724640" cy="24155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6" name="Straight Connector 20">
            <a:extLst>
              <a:ext uri="{FF2B5EF4-FFF2-40B4-BE49-F238E27FC236}">
                <a16:creationId xmlns:a16="http://schemas.microsoft.com/office/drawing/2014/main" id="{DD2BE13A-A3B2-4E96-99FC-10C36EDABA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60048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제목 1">
            <a:extLst>
              <a:ext uri="{FF2B5EF4-FFF2-40B4-BE49-F238E27FC236}">
                <a16:creationId xmlns:a16="http://schemas.microsoft.com/office/drawing/2014/main" id="{C12656B8-760A-1BBD-D402-58043E935642}"/>
              </a:ext>
            </a:extLst>
          </p:cNvPr>
          <p:cNvSpPr>
            <a:spLocks noGrp="1"/>
          </p:cNvSpPr>
          <p:nvPr>
            <p:ph type="title"/>
          </p:nvPr>
        </p:nvSpPr>
        <p:spPr>
          <a:xfrm>
            <a:off x="1109980" y="4347758"/>
            <a:ext cx="9966960" cy="1325880"/>
          </a:xfrm>
        </p:spPr>
        <p:txBody>
          <a:bodyPr vert="horz" lIns="91440" tIns="45720" rIns="91440" bIns="45720" rtlCol="0" anchor="b">
            <a:noAutofit/>
          </a:bodyPr>
          <a:lstStyle/>
          <a:p>
            <a:pPr algn="ctr">
              <a:lnSpc>
                <a:spcPct val="85000"/>
              </a:lnSpc>
            </a:pPr>
            <a:r>
              <a:rPr lang="en-US" sz="4000" b="1" cap="all" dirty="0"/>
              <a:t>2.2. LLMs Don’t Write Code</a:t>
            </a:r>
          </a:p>
        </p:txBody>
      </p:sp>
      <p:sp>
        <p:nvSpPr>
          <p:cNvPr id="5" name="TextBox 4">
            <a:extLst>
              <a:ext uri="{FF2B5EF4-FFF2-40B4-BE49-F238E27FC236}">
                <a16:creationId xmlns:a16="http://schemas.microsoft.com/office/drawing/2014/main" id="{1AAF1E83-0BB9-65EB-B3F4-C9025B81592E}"/>
              </a:ext>
            </a:extLst>
          </p:cNvPr>
          <p:cNvSpPr txBox="1"/>
          <p:nvPr/>
        </p:nvSpPr>
        <p:spPr>
          <a:xfrm>
            <a:off x="1709530" y="5644392"/>
            <a:ext cx="8767860" cy="509519"/>
          </a:xfrm>
          <a:prstGeom prst="rect">
            <a:avLst/>
          </a:prstGeom>
        </p:spPr>
        <p:txBody>
          <a:bodyPr vert="horz" lIns="91440" tIns="45720" rIns="91440" bIns="45720" rtlCol="0">
            <a:normAutofit/>
          </a:bodyPr>
          <a:lstStyle/>
          <a:p>
            <a:pPr algn="ctr" defTabSz="914400">
              <a:lnSpc>
                <a:spcPct val="90000"/>
              </a:lnSpc>
              <a:spcBef>
                <a:spcPts val="1400"/>
              </a:spcBef>
              <a:buClr>
                <a:schemeClr val="tx1"/>
              </a:buClr>
              <a:buSzPct val="80000"/>
            </a:pPr>
            <a:r>
              <a:rPr lang="en-US" sz="2000" dirty="0"/>
              <a:t>The LLM fills structures. Compilers write code.</a:t>
            </a:r>
          </a:p>
        </p:txBody>
      </p:sp>
      <p:graphicFrame>
        <p:nvGraphicFramePr>
          <p:cNvPr id="6" name="내용 개체 틀 5">
            <a:extLst>
              <a:ext uri="{FF2B5EF4-FFF2-40B4-BE49-F238E27FC236}">
                <a16:creationId xmlns:a16="http://schemas.microsoft.com/office/drawing/2014/main" id="{A1FC1DE9-C94C-BE10-0747-6F18563EE280}"/>
              </a:ext>
            </a:extLst>
          </p:cNvPr>
          <p:cNvGraphicFramePr>
            <a:graphicFrameLocks noGrp="1"/>
          </p:cNvGraphicFramePr>
          <p:nvPr>
            <p:ph idx="1"/>
          </p:nvPr>
        </p:nvGraphicFramePr>
        <p:xfrm>
          <a:off x="933385" y="741172"/>
          <a:ext cx="10325231" cy="3279648"/>
        </p:xfrm>
        <a:graphic>
          <a:graphicData uri="http://schemas.openxmlformats.org/drawingml/2006/table">
            <a:tbl>
              <a:tblPr firstRow="1" bandRow="1">
                <a:noFill/>
                <a:tableStyleId>{5C22544A-7EE6-4342-B048-85BDC9FD1C3A}</a:tableStyleId>
              </a:tblPr>
              <a:tblGrid>
                <a:gridCol w="1888722">
                  <a:extLst>
                    <a:ext uri="{9D8B030D-6E8A-4147-A177-3AD203B41FA5}">
                      <a16:colId xmlns:a16="http://schemas.microsoft.com/office/drawing/2014/main" val="2197739396"/>
                    </a:ext>
                  </a:extLst>
                </a:gridCol>
                <a:gridCol w="2638776">
                  <a:extLst>
                    <a:ext uri="{9D8B030D-6E8A-4147-A177-3AD203B41FA5}">
                      <a16:colId xmlns:a16="http://schemas.microsoft.com/office/drawing/2014/main" val="3096524490"/>
                    </a:ext>
                  </a:extLst>
                </a:gridCol>
                <a:gridCol w="5797733">
                  <a:extLst>
                    <a:ext uri="{9D8B030D-6E8A-4147-A177-3AD203B41FA5}">
                      <a16:colId xmlns:a16="http://schemas.microsoft.com/office/drawing/2014/main" val="571538464"/>
                    </a:ext>
                  </a:extLst>
                </a:gridCol>
              </a:tblGrid>
              <a:tr h="586918">
                <a:tc>
                  <a:txBody>
                    <a:bodyPr/>
                    <a:lstStyle/>
                    <a:p>
                      <a:r>
                        <a:rPr lang="en-US" sz="1700" b="0" cap="all" spc="150">
                          <a:solidFill>
                            <a:schemeClr val="lt1"/>
                          </a:solidFill>
                        </a:rPr>
                        <a:t>Phase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AST Type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Description</a:t>
                      </a:r>
                    </a:p>
                  </a:txBody>
                  <a:tcPr marL="145117" marR="145117" marT="145117" marB="145117">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3887477869"/>
                  </a:ext>
                </a:extLst>
              </a:tr>
              <a:tr h="538546">
                <a:tc>
                  <a:txBody>
                    <a:bodyPr/>
                    <a:lstStyle/>
                    <a:p>
                      <a:r>
                        <a:rPr lang="en-US" sz="1400" cap="none" spc="0">
                          <a:solidFill>
                            <a:schemeClr val="tx1"/>
                          </a:solidFill>
                        </a:rPr>
                        <a:t>Analyze</a:t>
                      </a: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u="none" cap="none" spc="0" dirty="0">
                          <a:solidFill>
                            <a:schemeClr val="tx1"/>
                          </a:solidFill>
                          <a:hlinkClick r:id="rId3"/>
                        </a:rPr>
                        <a:t>AutoBeAnalyze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cap="none" spc="0">
                          <a:solidFill>
                            <a:schemeClr val="tx1"/>
                          </a:solidFill>
                        </a:rPr>
                        <a:t>Structured SRS (</a:t>
                      </a:r>
                      <a:r>
                        <a:rPr lang="en-US" sz="1400" cap="none" spc="0" err="1">
                          <a:solidFill>
                            <a:schemeClr val="tx1"/>
                          </a:solidFill>
                        </a:rPr>
                        <a:t>Software</a:t>
                      </a:r>
                      <a:r>
                        <a:rPr lang="en-US" sz="1400" cap="none" spc="0">
                          <a:solidFill>
                            <a:schemeClr val="tx1"/>
                          </a:solidFill>
                        </a:rPr>
                        <a:t> Requirements Specification)</a:t>
                      </a:r>
                    </a:p>
                  </a:txBody>
                  <a:tcPr marL="145117" marR="145117" marT="145117" marB="145117">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4069786596"/>
                  </a:ext>
                </a:extLst>
              </a:tr>
              <a:tr h="538546">
                <a:tc>
                  <a:txBody>
                    <a:bodyPr/>
                    <a:lstStyle/>
                    <a:p>
                      <a:r>
                        <a:rPr lang="en-US" sz="1400" cap="none" spc="0">
                          <a:solidFill>
                            <a:schemeClr val="tx1"/>
                          </a:solidFill>
                        </a:rPr>
                        <a:t>Database</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4"/>
                        </a:rPr>
                        <a:t>AutoBeDatabase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dirty="0">
                          <a:solidFill>
                            <a:schemeClr val="tx1"/>
                          </a:solidFill>
                        </a:rPr>
                        <a:t>Database Compiler ensuring Integrity</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4213482767"/>
                  </a:ext>
                </a:extLst>
              </a:tr>
              <a:tr h="538546">
                <a:tc>
                  <a:txBody>
                    <a:bodyPr/>
                    <a:lstStyle/>
                    <a:p>
                      <a:r>
                        <a:rPr lang="en-US" sz="1400" cap="none" spc="0">
                          <a:solidFill>
                            <a:schemeClr val="tx1"/>
                          </a:solidFill>
                        </a:rPr>
                        <a:t>Interface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u="none" cap="none" spc="0" dirty="0">
                          <a:solidFill>
                            <a:schemeClr val="tx1"/>
                          </a:solidFill>
                          <a:hlinkClick r:id="rId5"/>
                        </a:rPr>
                        <a:t>AutoBeOpenApi</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OpenAPI Compiler for API &amp; DTO Generation</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8858939"/>
                  </a:ext>
                </a:extLst>
              </a:tr>
              <a:tr h="538546">
                <a:tc>
                  <a:txBody>
                    <a:bodyPr/>
                    <a:lstStyle/>
                    <a:p>
                      <a:r>
                        <a:rPr lang="en-US" sz="1400" cap="none" spc="0">
                          <a:solidFill>
                            <a:schemeClr val="tx1"/>
                          </a:solidFill>
                        </a:rPr>
                        <a:t>Test</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6"/>
                        </a:rPr>
                        <a:t>AutoBeTest</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a:solidFill>
                            <a:schemeClr val="tx1"/>
                          </a:solidFill>
                        </a:rPr>
                        <a:t>Test Compiler for API E2E Testing</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2232306712"/>
                  </a:ext>
                </a:extLst>
              </a:tr>
              <a:tr h="538546">
                <a:tc>
                  <a:txBody>
                    <a:bodyPr/>
                    <a:lstStyle/>
                    <a:p>
                      <a:r>
                        <a:rPr lang="en-US" sz="1400" cap="none" spc="0">
                          <a:solidFill>
                            <a:schemeClr val="tx1"/>
                          </a:solidFill>
                        </a:rPr>
                        <a:t>Realize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Modular Code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TypeScript Compiler</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832388765"/>
                  </a:ext>
                </a:extLst>
              </a:tr>
            </a:tbl>
          </a:graphicData>
        </a:graphic>
      </p:graphicFrame>
    </p:spTree>
    <p:extLst>
      <p:ext uri="{BB962C8B-B14F-4D97-AF65-F5344CB8AC3E}">
        <p14:creationId xmlns:p14="http://schemas.microsoft.com/office/powerpoint/2010/main" val="1701133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The Forms Are Not Simple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808080"/>
                </a:solidFill>
                <a:effectLst/>
                <a:uLnTx/>
                <a:uFillTx/>
                <a:latin typeface="Segoe UI"/>
                <a:ea typeface="+mn-ea"/>
                <a:cs typeface="+mn-cs"/>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IJsonSchema.IConstant</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IJsonSchema.IBoolean</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IJsonSchema.IInteger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IJsonSchema.INumber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IJsonSchema.IString</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IJsonSchema.IArray</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items: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IJsonSchema.IObject</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properties: Record&lt;string, </a:t>
            </a:r>
            <a:r>
              <a:rPr kumimoji="0" lang="en-US" sz="1800" b="0" i="0" u="sng" strike="noStrike" kern="1200" cap="none" spc="0" normalizeH="0" baseline="0" noProof="0" dirty="0" err="1">
                <a:ln>
                  <a:noFill/>
                </a:ln>
                <a:solidFill>
                  <a:srgbClr val="6A9955"/>
                </a:solidFill>
                <a:effectLst/>
                <a:uLnTx/>
                <a:uFillTx/>
                <a:latin typeface="Consolas"/>
                <a:ea typeface="+mn-ea"/>
                <a:cs typeface="+mn-cs"/>
              </a:rPr>
              <a:t>IJsonSchema</a:t>
            </a:r>
            <a:r>
              <a:rPr kumimoji="0" lang="en-US" sz="1800" b="0" i="0" u="sng" strike="noStrike" kern="1200" cap="none" spc="0" normalizeH="0" baseline="0" noProof="0" dirty="0">
                <a:ln>
                  <a:noFill/>
                </a:ln>
                <a:solidFill>
                  <a:srgbClr val="6A9955"/>
                </a:solidFill>
                <a:effectLst/>
                <a:uLnTx/>
                <a:uFillTx/>
                <a:latin typeface="Consolas"/>
                <a:ea typeface="+mn-ea"/>
                <a:cs typeface="+mn-cs"/>
              </a:rPr>
              <a:t>&gt;</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IJsonSchema.IReference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IJsonSchema.IOneOf</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oneOf: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IJsonSchema.INull</a:t>
            </a:r>
            <a:r>
              <a:rPr kumimoji="0" lang="en-US" sz="18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6B6B"/>
                </a:solidFill>
                <a:effectLst/>
                <a:uLnTx/>
                <a:uFillTx/>
                <a:latin typeface="Segoe UI Semibold"/>
                <a:ea typeface="+mn-ea"/>
                <a:cs typeface="+mn-cs"/>
              </a:rPr>
              <a:t>First-try success rate: 6.75%</a:t>
            </a:r>
            <a:r>
              <a:rPr kumimoji="0" lang="en-US" sz="1800" b="0" i="0" u="none" strike="noStrike" kern="1200" cap="none" spc="0" normalizeH="0" baseline="0" noProof="0" dirty="0">
                <a:ln>
                  <a:noFill/>
                </a:ln>
                <a:solidFill>
                  <a:srgbClr val="A0A0A0"/>
                </a:solidFill>
                <a:effectLst/>
                <a:uLnTx/>
                <a:uFillTx/>
                <a:latin typeface="Segoe UI"/>
                <a:ea typeface="+mn-ea"/>
                <a:cs typeface="+mn-cs"/>
              </a:rPr>
              <a:t>  —  10 variants × recursive nesting = combinatorial explosion</a:t>
            </a:r>
          </a:p>
        </p:txBody>
      </p:sp>
    </p:spTree>
    <p:extLst>
      <p:ext uri="{BB962C8B-B14F-4D97-AF65-F5344CB8AC3E}">
        <p14:creationId xmlns:p14="http://schemas.microsoft.com/office/powerpoint/2010/main" val="125289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2400" b="1" i="0" u="none" strike="noStrike" kern="1200" cap="none" spc="0" normalizeH="0" baseline="0" noProof="0">
                <a:ln>
                  <a:noFill/>
                </a:ln>
                <a:solidFill>
                  <a:srgbClr val="F0F0F0"/>
                </a:solidFill>
                <a:effectLst/>
                <a:uLnTx/>
                <a:uFillTx/>
                <a:latin typeface="Segoe UI Semibold"/>
                <a:ea typeface="+mn-ea"/>
                <a:cs typeface="+mn-cs"/>
              </a:rPr>
              <a:t>IExpression — 30+ Variants, Recursive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08080"/>
                </a:solidFill>
                <a:effectLst/>
                <a:uLnTx/>
                <a:uFillTx/>
                <a:latin typeface="Segoe UI"/>
                <a:ea typeface="+mn-ea"/>
                <a:cs typeface="+mn-cs"/>
              </a:rPr>
              <a:t>Test expression type — programming-language-level complexity in a single function call</a:t>
            </a:r>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600" b="0" i="0" u="none" strike="noStrike" kern="1200" cap="none" spc="0" normalizeH="0" baseline="0" noProof="0" dirty="0">
                <a:ln>
                  <a:noFill/>
                </a:ln>
                <a:solidFill>
                  <a:srgbClr val="4EC9B0"/>
                </a:solidFill>
                <a:effectLst/>
                <a:uLnTx/>
                <a:uFillTx/>
                <a:latin typeface="Consolas"/>
                <a:ea typeface="+mn-ea"/>
                <a:cs typeface="+mn-cs"/>
              </a:rPr>
              <a:t>IExpression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INumericLiteral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IObjectLiteralExpression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compound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INullLiteral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IUndefinedKeyword</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null/undefined</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IIdentifier</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IPropertyAccessExpression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accessors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IElementAccessExpression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ITypeOfExpression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IPrefixUnaryExpression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IPostfixUnaryExpression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unary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IBinaryExpression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binary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IArrowFunction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ICallExpression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INewExpression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functions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IArrayFilterExpression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IArrayForEachExpression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IArrayMapExpression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IArrayRepeatExpression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IPickRandom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ISampleRandom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IIntegerRandom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INumberRandom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IPatternRandom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IFormatRandom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IKeywordRandom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INotEqualPredicate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IConditionalPredicate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IErrorPredicate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30+ variants with recursive nesting</a:t>
            </a:r>
            <a:br>
              <a:rPr kumimoji="0" lang="en-US" sz="1800" b="1" i="0" u="none" strike="noStrike" kern="1200" cap="none" spc="0" normalizeH="0" baseline="0" noProof="0" dirty="0">
                <a:ln>
                  <a:noFill/>
                </a:ln>
                <a:solidFill>
                  <a:srgbClr val="FFD93D"/>
                </a:solidFill>
                <a:effectLst/>
                <a:uLnTx/>
                <a:uFillTx/>
                <a:latin typeface="Segoe UI Semibold"/>
                <a:ea typeface="+mn-ea"/>
                <a:cs typeface="+mn-cs"/>
              </a:rPr>
            </a:b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programming-language complexity in one function call</a:t>
            </a:r>
          </a:p>
        </p:txBody>
      </p:sp>
    </p:spTree>
    <p:extLst>
      <p:ext uri="{BB962C8B-B14F-4D97-AF65-F5344CB8AC3E}">
        <p14:creationId xmlns:p14="http://schemas.microsoft.com/office/powerpoint/2010/main" val="3485282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BEB7520-46D6-F1A1-FB4B-0CA1EAD7EEB0}"/>
              </a:ext>
            </a:extLst>
          </p:cNvPr>
          <p:cNvSpPr>
            <a:spLocks noGrp="1"/>
          </p:cNvSpPr>
          <p:nvPr>
            <p:ph type="title"/>
          </p:nvPr>
        </p:nvSpPr>
        <p:spPr/>
        <p:txBody>
          <a:bodyPr/>
          <a:lstStyle/>
          <a:p>
            <a:r>
              <a:rPr lang="en-US" dirty="0"/>
              <a:t>2.3. Self-Healing Loops</a:t>
            </a:r>
          </a:p>
        </p:txBody>
      </p:sp>
      <p:sp>
        <p:nvSpPr>
          <p:cNvPr id="3" name="내용 개체 틀 2">
            <a:extLst>
              <a:ext uri="{FF2B5EF4-FFF2-40B4-BE49-F238E27FC236}">
                <a16:creationId xmlns:a16="http://schemas.microsoft.com/office/drawing/2014/main" id="{0E41761D-E93C-E0BD-6C2B-B48C4AE1E0D6}"/>
              </a:ext>
            </a:extLst>
          </p:cNvPr>
          <p:cNvSpPr>
            <a:spLocks noGrp="1"/>
          </p:cNvSpPr>
          <p:nvPr>
            <p:ph idx="1"/>
          </p:nvPr>
        </p:nvSpPr>
        <p:spPr>
          <a:xfrm>
            <a:off x="1143000" y="3683000"/>
            <a:ext cx="9872338" cy="2540000"/>
          </a:xfrm>
        </p:spPr>
        <p:txBody>
          <a:bodyPr>
            <a:normAutofit/>
          </a:bodyPr>
          <a:lstStyle/>
          <a:p>
            <a:pPr>
              <a:buFont typeface="Arial"/>
              <a:buChar char="•"/>
            </a:pPr>
            <a:r>
              <a:rPr lang="en-US" sz="2000" b="1" dirty="0"/>
              <a:t>Write</a:t>
            </a:r>
            <a:r>
              <a:rPr lang="en-US" sz="2000" dirty="0"/>
              <a:t> — LLM fills AST-typed data via function calling</a:t>
            </a:r>
          </a:p>
          <a:p>
            <a:pPr>
              <a:buFont typeface="Arial"/>
              <a:buChar char="•"/>
            </a:pPr>
            <a:r>
              <a:rPr lang="en-US" sz="2000" b="1" dirty="0"/>
              <a:t>Validate</a:t>
            </a:r>
            <a:r>
              <a:rPr lang="en-US" sz="2000" dirty="0"/>
              <a:t> — Typia checks if value conforms to the AST type</a:t>
            </a:r>
          </a:p>
          <a:p>
            <a:pPr>
              <a:buFont typeface="Arial"/>
              <a:buChar char="•"/>
            </a:pPr>
            <a:r>
              <a:rPr lang="en-US" sz="2000" b="1" dirty="0"/>
              <a:t>Diagnose</a:t>
            </a:r>
            <a:r>
              <a:rPr lang="en-US" sz="2000" dirty="0"/>
              <a:t> — Compiler verifies the AST data (DB, OpenAPI, TS)</a:t>
            </a:r>
          </a:p>
          <a:p>
            <a:pPr>
              <a:buFont typeface="Arial"/>
              <a:buChar char="•"/>
            </a:pPr>
            <a:r>
              <a:rPr lang="en-US" sz="2000" b="1" dirty="0"/>
              <a:t>Correct</a:t>
            </a:r>
            <a:r>
              <a:rPr lang="en-US" sz="2000" dirty="0"/>
              <a:t> — On failure, feed precise diagnostics back to the LLM</a:t>
            </a:r>
          </a:p>
          <a:p>
            <a:pPr>
              <a:buFont typeface="Arial"/>
              <a:buChar char="•"/>
            </a:pPr>
            <a:r>
              <a:rPr lang="en-US" sz="2000" b="1" dirty="0"/>
              <a:t>Generate</a:t>
            </a:r>
            <a:r>
              <a:rPr lang="en-US" sz="2000" dirty="0"/>
              <a:t> — Once all checks pass, compiler emits final code</a:t>
            </a:r>
          </a:p>
        </p:txBody>
      </p:sp>
      <p:sp>
        <p:nvSpPr>
          <p:cNvPr id="100" name="Step100"/>
          <p:cNvSpPr/>
          <p:nvPr/>
        </p:nvSpPr>
        <p:spPr>
          <a:xfrm>
            <a:off x="1473200" y="2222500"/>
            <a:ext cx="1524000" cy="533400"/>
          </a:xfrm>
          <a:prstGeom prst="roundRect">
            <a:avLst>
              <a:gd name="adj" fmla="val 16667"/>
            </a:avLst>
          </a:prstGeom>
          <a:solidFill>
            <a:srgbClr val="418AB3"/>
          </a:solidFill>
          <a:ln>
            <a:noFill/>
          </a:ln>
        </p:spPr>
        <p:txBody>
          <a:bodyPr wrap="none" lIns="0" tIns="0" rIns="0" bIns="0" anchor="ctr" anchorCtr="1"/>
          <a:lstStyle/>
          <a:p>
            <a:pPr algn="ctr"/>
            <a:r>
              <a:rPr lang="en-US" sz="1800" b="1" dirty="0">
                <a:solidFill>
                  <a:srgbClr val="FFFFFF"/>
                </a:solidFill>
              </a:rPr>
              <a:t>Write</a:t>
            </a:r>
          </a:p>
        </p:txBody>
      </p:sp>
      <p:sp>
        <p:nvSpPr>
          <p:cNvPr id="101" name="Arr101"/>
          <p:cNvSpPr/>
          <p:nvPr/>
        </p:nvSpPr>
        <p:spPr>
          <a:xfrm>
            <a:off x="3048000" y="2387600"/>
            <a:ext cx="304800" cy="203200"/>
          </a:xfrm>
          <a:prstGeom prst="rightArrow">
            <a:avLst/>
          </a:prstGeom>
          <a:solidFill>
            <a:srgbClr val="565349"/>
          </a:solidFill>
          <a:ln>
            <a:noFill/>
          </a:ln>
        </p:spPr>
        <p:txBody>
          <a:bodyPr/>
          <a:lstStyle/>
          <a:p>
            <a:endParaRPr lang="en-US"/>
          </a:p>
        </p:txBody>
      </p:sp>
      <p:sp>
        <p:nvSpPr>
          <p:cNvPr id="102" name="Step102"/>
          <p:cNvSpPr/>
          <p:nvPr/>
        </p:nvSpPr>
        <p:spPr>
          <a:xfrm>
            <a:off x="3403600" y="2222500"/>
            <a:ext cx="1524000" cy="533400"/>
          </a:xfrm>
          <a:prstGeom prst="roundRect">
            <a:avLst>
              <a:gd name="adj" fmla="val 16667"/>
            </a:avLst>
          </a:prstGeom>
          <a:solidFill>
            <a:srgbClr val="A6B727"/>
          </a:solidFill>
          <a:ln>
            <a:noFill/>
          </a:ln>
        </p:spPr>
        <p:txBody>
          <a:bodyPr wrap="none" lIns="0" tIns="0" rIns="0" bIns="0" anchor="ctr" anchorCtr="1"/>
          <a:lstStyle/>
          <a:p>
            <a:pPr algn="ctr"/>
            <a:r>
              <a:rPr lang="en-US" sz="1800" b="1" dirty="0">
                <a:solidFill>
                  <a:srgbClr val="FFFFFF"/>
                </a:solidFill>
              </a:rPr>
              <a:t>Validate</a:t>
            </a:r>
          </a:p>
        </p:txBody>
      </p:sp>
      <p:sp>
        <p:nvSpPr>
          <p:cNvPr id="103" name="Arr103"/>
          <p:cNvSpPr/>
          <p:nvPr/>
        </p:nvSpPr>
        <p:spPr>
          <a:xfrm>
            <a:off x="4978400" y="2387600"/>
            <a:ext cx="304800" cy="203200"/>
          </a:xfrm>
          <a:prstGeom prst="rightArrow">
            <a:avLst/>
          </a:prstGeom>
          <a:solidFill>
            <a:srgbClr val="565349"/>
          </a:solidFill>
          <a:ln>
            <a:noFill/>
          </a:ln>
        </p:spPr>
        <p:txBody>
          <a:bodyPr/>
          <a:lstStyle/>
          <a:p>
            <a:endParaRPr lang="en-US"/>
          </a:p>
        </p:txBody>
      </p:sp>
      <p:sp>
        <p:nvSpPr>
          <p:cNvPr id="104" name="Step104"/>
          <p:cNvSpPr/>
          <p:nvPr/>
        </p:nvSpPr>
        <p:spPr>
          <a:xfrm>
            <a:off x="5334000" y="2222500"/>
            <a:ext cx="1524000" cy="533400"/>
          </a:xfrm>
          <a:prstGeom prst="roundRect">
            <a:avLst>
              <a:gd name="adj" fmla="val 16667"/>
            </a:avLst>
          </a:prstGeom>
          <a:solidFill>
            <a:srgbClr val="FE9E00"/>
          </a:solidFill>
          <a:ln>
            <a:noFill/>
          </a:ln>
        </p:spPr>
        <p:txBody>
          <a:bodyPr wrap="none" lIns="0" tIns="0" rIns="0" bIns="0" anchor="ctr" anchorCtr="1"/>
          <a:lstStyle/>
          <a:p>
            <a:pPr algn="ctr"/>
            <a:r>
              <a:rPr lang="en-US" sz="1800" b="1" dirty="0">
                <a:solidFill>
                  <a:srgbClr val="FFFFFF"/>
                </a:solidFill>
              </a:rPr>
              <a:t>Diagnose</a:t>
            </a:r>
          </a:p>
        </p:txBody>
      </p:sp>
      <p:sp>
        <p:nvSpPr>
          <p:cNvPr id="105" name="Arr105"/>
          <p:cNvSpPr/>
          <p:nvPr/>
        </p:nvSpPr>
        <p:spPr>
          <a:xfrm>
            <a:off x="6908800" y="2387600"/>
            <a:ext cx="304800" cy="203200"/>
          </a:xfrm>
          <a:prstGeom prst="rightArrow">
            <a:avLst/>
          </a:prstGeom>
          <a:solidFill>
            <a:srgbClr val="565349"/>
          </a:solidFill>
          <a:ln>
            <a:noFill/>
          </a:ln>
        </p:spPr>
        <p:txBody>
          <a:bodyPr/>
          <a:lstStyle/>
          <a:p>
            <a:endParaRPr lang="en-US"/>
          </a:p>
        </p:txBody>
      </p:sp>
      <p:sp>
        <p:nvSpPr>
          <p:cNvPr id="106" name="Step106"/>
          <p:cNvSpPr/>
          <p:nvPr/>
        </p:nvSpPr>
        <p:spPr>
          <a:xfrm>
            <a:off x="7264400" y="2222500"/>
            <a:ext cx="1524000" cy="533400"/>
          </a:xfrm>
          <a:prstGeom prst="roundRect">
            <a:avLst>
              <a:gd name="adj" fmla="val 16667"/>
            </a:avLst>
          </a:prstGeom>
          <a:solidFill>
            <a:srgbClr val="DF5327"/>
          </a:solidFill>
          <a:ln>
            <a:noFill/>
          </a:ln>
        </p:spPr>
        <p:txBody>
          <a:bodyPr wrap="none" lIns="0" tIns="0" rIns="0" bIns="0" anchor="ctr" anchorCtr="1"/>
          <a:lstStyle/>
          <a:p>
            <a:pPr algn="ctr"/>
            <a:r>
              <a:rPr lang="en-US" sz="1800" b="1" dirty="0">
                <a:solidFill>
                  <a:srgbClr val="FFFFFF"/>
                </a:solidFill>
              </a:rPr>
              <a:t>Correct</a:t>
            </a:r>
          </a:p>
        </p:txBody>
      </p:sp>
      <p:sp>
        <p:nvSpPr>
          <p:cNvPr id="107" name="Arr107"/>
          <p:cNvSpPr/>
          <p:nvPr/>
        </p:nvSpPr>
        <p:spPr>
          <a:xfrm>
            <a:off x="8839200" y="2387600"/>
            <a:ext cx="304800" cy="203200"/>
          </a:xfrm>
          <a:prstGeom prst="rightArrow">
            <a:avLst/>
          </a:prstGeom>
          <a:solidFill>
            <a:srgbClr val="565349"/>
          </a:solidFill>
          <a:ln>
            <a:noFill/>
          </a:ln>
        </p:spPr>
        <p:txBody>
          <a:bodyPr/>
          <a:lstStyle/>
          <a:p>
            <a:endParaRPr lang="en-US"/>
          </a:p>
        </p:txBody>
      </p:sp>
      <p:sp>
        <p:nvSpPr>
          <p:cNvPr id="108" name="Step108"/>
          <p:cNvSpPr/>
          <p:nvPr/>
        </p:nvSpPr>
        <p:spPr>
          <a:xfrm>
            <a:off x="9194800" y="2222500"/>
            <a:ext cx="1524000" cy="533400"/>
          </a:xfrm>
          <a:prstGeom prst="roundRect">
            <a:avLst>
              <a:gd name="adj" fmla="val 16667"/>
            </a:avLst>
          </a:prstGeom>
          <a:solidFill>
            <a:srgbClr val="818183"/>
          </a:solidFill>
          <a:ln>
            <a:noFill/>
          </a:ln>
        </p:spPr>
        <p:txBody>
          <a:bodyPr wrap="none" lIns="0" tIns="0" rIns="0" bIns="0" anchor="ctr" anchorCtr="1"/>
          <a:lstStyle/>
          <a:p>
            <a:pPr algn="ctr"/>
            <a:r>
              <a:rPr lang="en-US" sz="1800" b="1" dirty="0">
                <a:solidFill>
                  <a:srgbClr val="FFFFFF"/>
                </a:solidFill>
              </a:rPr>
              <a:t>Generate</a:t>
            </a:r>
          </a:p>
        </p:txBody>
      </p:sp>
      <p:sp>
        <p:nvSpPr>
          <p:cNvPr id="109" name="Bracket109"/>
          <p:cNvSpPr/>
          <p:nvPr/>
        </p:nvSpPr>
        <p:spPr>
          <a:xfrm>
            <a:off x="3352800" y="2044700"/>
            <a:ext cx="5486400" cy="889000"/>
          </a:xfrm>
          <a:prstGeom prst="roundRect">
            <a:avLst>
              <a:gd name="adj" fmla="val 16667"/>
            </a:avLst>
          </a:prstGeom>
          <a:noFill/>
          <a:ln w="19050">
            <a:solidFill>
              <a:srgbClr val="A6B727"/>
            </a:solidFill>
            <a:prstDash val="dash"/>
          </a:ln>
        </p:spPr>
        <p:txBody>
          <a:bodyPr/>
          <a:lstStyle/>
          <a:p>
            <a:endParaRPr lang="en-US"/>
          </a:p>
        </p:txBody>
      </p:sp>
      <p:sp>
        <p:nvSpPr>
          <p:cNvPr id="110" name="Label110"/>
          <p:cNvSpPr/>
          <p:nvPr/>
        </p:nvSpPr>
        <p:spPr>
          <a:xfrm>
            <a:off x="3352800" y="2959100"/>
            <a:ext cx="5486400" cy="279400"/>
          </a:xfrm>
          <a:prstGeom prst="rect">
            <a:avLst/>
          </a:prstGeom>
          <a:noFill/>
          <a:ln>
            <a:noFill/>
          </a:ln>
        </p:spPr>
        <p:txBody>
          <a:bodyPr wrap="square" lIns="0" tIns="0" rIns="0" bIns="0" anchor="t" anchorCtr="1"/>
          <a:lstStyle/>
          <a:p>
            <a:pPr algn="ctr"/>
            <a:r>
              <a:rPr lang="en-US" sz="1400" b="1" dirty="0">
                <a:solidFill>
                  <a:srgbClr val="A6B727"/>
                </a:solidFill>
              </a:rPr>
              <a:t>↻ repeat until success</a:t>
            </a:r>
          </a:p>
        </p:txBody>
      </p:sp>
    </p:spTree>
    <p:extLst>
      <p:ext uri="{BB962C8B-B14F-4D97-AF65-F5344CB8AC3E}">
        <p14:creationId xmlns:p14="http://schemas.microsoft.com/office/powerpoint/2010/main" val="12429283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5166CA40-9CDD-FB49-7579-301ADE88F2D0}"/>
              </a:ext>
            </a:extLst>
          </p:cNvPr>
          <p:cNvSpPr>
            <a:spLocks noGrp="1"/>
          </p:cNvSpPr>
          <p:nvPr>
            <p:ph type="title"/>
          </p:nvPr>
        </p:nvSpPr>
        <p:spPr/>
        <p:txBody>
          <a:bodyPr/>
          <a:lstStyle/>
          <a:p>
            <a:r>
              <a:rPr lang="en-US" dirty="0"/>
              <a:t>2.4. AST Specs Are Better</a:t>
            </a:r>
          </a:p>
        </p:txBody>
      </p:sp>
      <p:sp>
        <p:nvSpPr>
          <p:cNvPr id="5" name="내용 개체 틀 4">
            <a:extLst>
              <a:ext uri="{FF2B5EF4-FFF2-40B4-BE49-F238E27FC236}">
                <a16:creationId xmlns:a16="http://schemas.microsoft.com/office/drawing/2014/main" id="{1BD9C0F0-720F-54CA-9147-E583E83D5E43}"/>
              </a:ext>
            </a:extLst>
          </p:cNvPr>
          <p:cNvSpPr>
            <a:spLocks noGrp="1"/>
          </p:cNvSpPr>
          <p:nvPr>
            <p:ph idx="1"/>
          </p:nvPr>
        </p:nvSpPr>
        <p:spPr/>
        <p:txBody>
          <a:bodyPr>
            <a:normAutofit lnSpcReduction="10000"/>
          </a:bodyPr>
          <a:lstStyle/>
          <a:p>
            <a:pPr>
              <a:buNone/>
            </a:pPr>
            <a:r>
              <a:rPr lang="en-US" sz="1800" b="1" dirty="0"/>
              <a:t>Total Control — constraint by structure, not prohibition</a:t>
            </a:r>
          </a:p>
          <a:p>
            <a:pPr>
              <a:buFont typeface="Arial"/>
              <a:buChar char="•"/>
            </a:pPr>
            <a:r>
              <a:rPr lang="en-US" sz="1800" dirty="0"/>
              <a:t>Output space is defined by the type, not by rules</a:t>
            </a:r>
          </a:p>
          <a:p>
            <a:pPr>
              <a:buFont typeface="Arial"/>
              <a:buChar char="•"/>
            </a:pPr>
            <a:r>
              <a:rPr lang="en-US" sz="1800" dirty="0"/>
              <a:t>Invalid outputs are structurally impossible, not merely forbidden</a:t>
            </a:r>
          </a:p>
          <a:p>
            <a:pPr>
              <a:buNone/>
            </a:pPr>
            <a:endParaRPr lang="en-US" sz="600" dirty="0"/>
          </a:p>
          <a:p>
            <a:pPr>
              <a:buNone/>
            </a:pPr>
            <a:r>
              <a:rPr lang="en-US" sz="1800" b="1" dirty="0"/>
              <a:t>Total Diagnosis — every failure is mechanically decomposable</a:t>
            </a:r>
          </a:p>
          <a:p>
            <a:pPr>
              <a:buFont typeface="Arial"/>
              <a:buChar char="•"/>
            </a:pPr>
            <a:r>
              <a:rPr lang="en-US" sz="1800" dirty="0"/>
              <a:t>Errors localized to exact paths with expected vs. actual</a:t>
            </a:r>
          </a:p>
          <a:p>
            <a:pPr>
              <a:buFont typeface="Arial"/>
              <a:buChar char="•"/>
            </a:pPr>
            <a:r>
              <a:rPr lang="en-US" sz="1800" dirty="0"/>
              <a:t>Correction is targeted — only broken fields are retried</a:t>
            </a:r>
          </a:p>
          <a:p>
            <a:pPr>
              <a:buNone/>
            </a:pPr>
            <a:endParaRPr lang="en-US" sz="600" dirty="0"/>
          </a:p>
          <a:p>
            <a:pPr>
              <a:buNone/>
            </a:pPr>
            <a:r>
              <a:rPr lang="en-US" sz="1800" b="1" dirty="0"/>
              <a:t>Total Portability — model-neutral and language-neutral</a:t>
            </a:r>
          </a:p>
          <a:p>
            <a:pPr>
              <a:buFont typeface="Arial"/>
              <a:buChar char="•"/>
            </a:pPr>
            <a:r>
              <a:rPr lang="en-US" sz="1800" dirty="0"/>
              <a:t>Same schema works across any LLM without prompt rewriting</a:t>
            </a:r>
          </a:p>
          <a:p>
            <a:pPr>
              <a:buFont typeface="Arial"/>
              <a:buChar char="•"/>
            </a:pPr>
            <a:r>
              <a:rPr lang="en-US" sz="1800" dirty="0"/>
              <a:t>Same schema works across any programming language</a:t>
            </a:r>
          </a:p>
        </p:txBody>
      </p:sp>
    </p:spTree>
    <p:extLst>
      <p:ext uri="{BB962C8B-B14F-4D97-AF65-F5344CB8AC3E}">
        <p14:creationId xmlns:p14="http://schemas.microsoft.com/office/powerpoint/2010/main" val="696524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2.5. Four Qwen Models, All 100%</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lstStyle/>
          <a:p>
            <a:pPr>
              <a:buNone/>
            </a:pPr>
            <a:r>
              <a:rPr lang="en-US" sz="1800" b="1" dirty="0"/>
              <a:t>Compilation success rate across all tested Qwen models</a:t>
            </a:r>
          </a:p>
          <a:p>
            <a:pPr>
              <a:buNone/>
            </a:pPr>
            <a:endParaRPr lang="en-US" sz="800" dirty="0"/>
          </a:p>
          <a:p>
            <a:pPr>
              <a:buFont typeface="Arial"/>
              <a:buChar char="•"/>
            </a:pPr>
            <a:r>
              <a:rPr lang="en-US" sz="1800" b="1" dirty="0"/>
              <a:t>qwen3-coder-next</a:t>
            </a:r>
            <a:r>
              <a:rPr lang="en-US" sz="1800" dirty="0"/>
              <a:t>  (3B / 80B) — Coding-specialized → 100%</a:t>
            </a:r>
          </a:p>
          <a:p>
            <a:pPr>
              <a:buFont typeface="Arial"/>
              <a:buChar char="•"/>
            </a:pPr>
            <a:r>
              <a:rPr lang="en-US" sz="1800" b="1" dirty="0"/>
              <a:t>qwen3.5-397b-a17b</a:t>
            </a:r>
            <a:r>
              <a:rPr lang="en-US" sz="1800" dirty="0"/>
              <a:t>  (17B / 397B) — Largest MoE → 100%</a:t>
            </a:r>
          </a:p>
          <a:p>
            <a:pPr>
              <a:buFont typeface="Arial"/>
              <a:buChar char="•"/>
            </a:pPr>
            <a:r>
              <a:rPr lang="en-US" sz="1800" b="1" dirty="0"/>
              <a:t>qwen3.5-122b-a10b</a:t>
            </a:r>
            <a:r>
              <a:rPr lang="en-US" sz="1800" dirty="0"/>
              <a:t>  (10B / 122B) — Medium MoE → 100%</a:t>
            </a:r>
          </a:p>
          <a:p>
            <a:pPr>
              <a:buFont typeface="Arial"/>
              <a:buChar char="•"/>
            </a:pPr>
            <a:r>
              <a:rPr lang="en-US" sz="1800" b="1" dirty="0"/>
              <a:t>qwen3.5-27b</a:t>
            </a:r>
            <a:r>
              <a:rPr lang="en-US" sz="1800" dirty="0"/>
              <a:t>  (27B Dense) — Medium Dense → 100%</a:t>
            </a:r>
          </a:p>
          <a:p>
            <a:pPr>
              <a:buFont typeface="Arial"/>
              <a:buChar char="•"/>
            </a:pPr>
            <a:r>
              <a:rPr lang="en-US" sz="1800" b="1" dirty="0"/>
              <a:t>qwen3.5-35b-a3b</a:t>
            </a:r>
            <a:r>
              <a:rPr lang="en-US" sz="1800" dirty="0"/>
              <a:t>  (3B / 35B) — Small MoE → 100%</a:t>
            </a:r>
          </a:p>
          <a:p>
            <a:pPr>
              <a:buNone/>
            </a:pPr>
            <a:endParaRPr lang="en-US" sz="800" dirty="0"/>
          </a:p>
          <a:p>
            <a:pPr>
              <a:buNone/>
            </a:pPr>
            <a:r>
              <a:rPr lang="en-US" sz="1800" b="1" dirty="0"/>
              <a:t>From 397B to 35B. Same schema, same pipeline, same result.</a:t>
            </a:r>
          </a:p>
        </p:txBody>
      </p:sp>
    </p:spTree>
    <p:extLst>
      <p:ext uri="{BB962C8B-B14F-4D97-AF65-F5344CB8AC3E}">
        <p14:creationId xmlns:p14="http://schemas.microsoft.com/office/powerpoint/2010/main" val="15070117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2F8B4D0-7BAB-1B37-4945-71881B2C5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546" b="1403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7439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93B686DA-38FC-7B33-58FC-491F29CE66D4}"/>
              </a:ext>
            </a:extLst>
          </p:cNvPr>
          <p:cNvPicPr>
            <a:picLocks noChangeAspect="1"/>
          </p:cNvPicPr>
          <p:nvPr/>
        </p:nvPicPr>
        <p:blipFill>
          <a:blip r:embed="rId3"/>
          <a:srcRect t="6639"/>
          <a:stretch>
            <a:fillRect/>
          </a:stretch>
        </p:blipFill>
        <p:spPr>
          <a:xfrm>
            <a:off x="20" y="10"/>
            <a:ext cx="12191980" cy="6857990"/>
          </a:xfrm>
          <a:prstGeom prst="rect">
            <a:avLst/>
          </a:prstGeom>
        </p:spPr>
      </p:pic>
      <p:sp>
        <p:nvSpPr>
          <p:cNvPr id="8" name="Rectangle 7">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795322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1AAF891C-34D8-D001-7475-0AAC30B1525D}"/>
              </a:ext>
            </a:extLst>
          </p:cNvPr>
          <p:cNvPicPr>
            <a:picLocks noChangeAspect="1"/>
          </p:cNvPicPr>
          <p:nvPr/>
        </p:nvPicPr>
        <p:blipFill>
          <a:blip r:embed="rId3"/>
          <a:srcRect t="1807" b="4832"/>
          <a:stretch>
            <a:fillRect/>
          </a:stretch>
        </p:blipFill>
        <p:spPr>
          <a:xfrm>
            <a:off x="20" y="10"/>
            <a:ext cx="12191980" cy="6857990"/>
          </a:xfrm>
          <a:prstGeom prst="rect">
            <a:avLst/>
          </a:prstGeom>
        </p:spPr>
      </p:pic>
      <p:sp>
        <p:nvSpPr>
          <p:cNvPr id="14" name="Rectangle 13">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943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7A39217E-66D0-0BC8-CBF8-F13215E6FAFF}"/>
              </a:ext>
            </a:extLst>
          </p:cNvPr>
          <p:cNvSpPr>
            <a:spLocks noGrp="1"/>
          </p:cNvSpPr>
          <p:nvPr>
            <p:ph type="title"/>
          </p:nvPr>
        </p:nvSpPr>
        <p:spPr/>
        <p:txBody>
          <a:bodyPr/>
          <a:lstStyle/>
          <a:p>
            <a:r>
              <a:rPr lang="en-US" dirty="0"/>
              <a:t>Typia</a:t>
            </a:r>
          </a:p>
        </p:txBody>
      </p:sp>
      <p:sp>
        <p:nvSpPr>
          <p:cNvPr id="5" name="텍스트 개체 틀 4">
            <a:extLst>
              <a:ext uri="{FF2B5EF4-FFF2-40B4-BE49-F238E27FC236}">
                <a16:creationId xmlns:a16="http://schemas.microsoft.com/office/drawing/2014/main" id="{394D4894-558C-5CAA-E572-E3EC3FD9BC20}"/>
              </a:ext>
            </a:extLst>
          </p:cNvPr>
          <p:cNvSpPr>
            <a:spLocks noGrp="1"/>
          </p:cNvSpPr>
          <p:nvPr>
            <p:ph type="body" idx="1"/>
          </p:nvPr>
        </p:nvSpPr>
        <p:spPr/>
        <p:txBody>
          <a:bodyPr/>
          <a:lstStyle/>
          <a:p>
            <a:r>
              <a:rPr lang="en-US" dirty="0"/>
              <a:t>The Infrastructure for LLM Function Calling</a:t>
            </a:r>
          </a:p>
          <a:p>
            <a:r>
              <a:rPr lang="en-US" dirty="0"/>
              <a:t>Turns 6.75% into 100% by Compiler Skills</a:t>
            </a:r>
          </a:p>
        </p:txBody>
      </p:sp>
    </p:spTree>
    <p:extLst>
      <p:ext uri="{BB962C8B-B14F-4D97-AF65-F5344CB8AC3E}">
        <p14:creationId xmlns:p14="http://schemas.microsoft.com/office/powerpoint/2010/main" val="22383554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E53FEA-569B-4423-64DE-8221C07D5464}"/>
              </a:ext>
            </a:extLst>
          </p:cNvPr>
          <p:cNvSpPr>
            <a:spLocks noGrp="1"/>
          </p:cNvSpPr>
          <p:nvPr>
            <p:ph type="title"/>
          </p:nvPr>
        </p:nvSpPr>
        <p:spPr/>
        <p:txBody>
          <a:bodyPr>
            <a:normAutofit/>
          </a:bodyPr>
          <a:lstStyle/>
          <a:p>
            <a:r>
              <a:rPr lang="en-US" dirty="0"/>
              <a:t>2.1. What Is Typia</a:t>
            </a:r>
          </a:p>
        </p:txBody>
      </p:sp>
      <p:sp>
        <p:nvSpPr>
          <p:cNvPr id="3" name="내용 개체 틀 2">
            <a:extLst>
              <a:ext uri="{FF2B5EF4-FFF2-40B4-BE49-F238E27FC236}">
                <a16:creationId xmlns:a16="http://schemas.microsoft.com/office/drawing/2014/main" id="{E0E8E6B4-4C10-FBBD-69EB-EC2C19883F9F}"/>
              </a:ext>
            </a:extLst>
          </p:cNvPr>
          <p:cNvSpPr>
            <a:spLocks noGrp="1"/>
          </p:cNvSpPr>
          <p:nvPr>
            <p:ph sz="half" idx="1"/>
          </p:nvPr>
        </p:nvSpPr>
        <p:spPr/>
        <p:txBody>
          <a:bodyPr>
            <a:normAutofit/>
          </a:bodyPr>
          <a:lstStyle/>
          <a:p>
            <a:pPr>
              <a:buNone/>
            </a:pPr>
            <a:r>
              <a:rPr lang="en-US" sz="1800" dirty="0"/>
              <a:t>A TypeScript compiler plugin that analyzes source code at compile time</a:t>
            </a:r>
          </a:p>
          <a:p>
            <a:pPr>
              <a:buNone/>
            </a:pPr>
            <a:endParaRPr lang="en-US" sz="800" dirty="0"/>
          </a:p>
          <a:p>
            <a:pPr>
              <a:buFont typeface="Arial"/>
              <a:buChar char="•"/>
            </a:pPr>
            <a:r>
              <a:rPr lang="en-US" sz="1800" dirty="0"/>
              <a:t>Overcomes TypeScript's runtime type erasure</a:t>
            </a:r>
          </a:p>
          <a:p>
            <a:pPr>
              <a:buFont typeface="Arial"/>
              <a:buChar char="•"/>
            </a:pPr>
            <a:r>
              <a:rPr lang="en-US" sz="1800" dirty="0"/>
              <a:t>Generates optimal validation code (AOT — Ahead of Time)</a:t>
            </a:r>
          </a:p>
          <a:p>
            <a:pPr>
              <a:buFont typeface="Arial"/>
              <a:buChar char="•"/>
            </a:pPr>
            <a:r>
              <a:rPr lang="en-US" sz="1800" dirty="0"/>
              <a:t>20,000× faster than class-validator</a:t>
            </a:r>
          </a:p>
          <a:p>
            <a:pPr>
              <a:buFont typeface="Arial"/>
              <a:buChar char="•"/>
            </a:pPr>
            <a:r>
              <a:rPr lang="en-US" sz="1800" dirty="0"/>
              <a:t>One line of code — no extra schema definitions needed</a:t>
            </a:r>
          </a:p>
          <a:p>
            <a:pPr>
              <a:buNone/>
            </a:pPr>
            <a:endParaRPr lang="en-US" sz="800" dirty="0"/>
          </a:p>
          <a:p>
            <a:pPr>
              <a:buNone/>
            </a:pPr>
            <a:r>
              <a:rPr lang="en-US" sz="1800" b="1" dirty="0"/>
              <a:t>typia.validate&lt;T&gt;(input) — that's it</a:t>
            </a:r>
          </a:p>
        </p:txBody>
      </p:sp>
      <p:pic>
        <p:nvPicPr>
          <p:cNvPr id="6" name="내용 개체 틀 5">
            <a:extLst>
              <a:ext uri="{FF2B5EF4-FFF2-40B4-BE49-F238E27FC236}">
                <a16:creationId xmlns:a16="http://schemas.microsoft.com/office/drawing/2014/main" id="{90504929-B81A-E009-9149-D3C2DB160B0D}"/>
              </a:ext>
            </a:extLst>
          </p:cNvPr>
          <p:cNvPicPr>
            <a:picLocks noGrp="1" noChangeAspect="1"/>
          </p:cNvPicPr>
          <p:nvPr>
            <p:ph sz="half" idx="2"/>
          </p:nvPr>
        </p:nvPicPr>
        <p:blipFill>
          <a:blip r:embed="rId3"/>
          <a:stretch>
            <a:fillRect/>
          </a:stretch>
        </p:blipFill>
        <p:spPr>
          <a:xfrm>
            <a:off x="6031908" y="407019"/>
            <a:ext cx="5763376" cy="6045820"/>
          </a:xfrm>
          <a:prstGeom prst="rect">
            <a:avLst/>
          </a:prstGeom>
        </p:spPr>
      </p:pic>
    </p:spTree>
    <p:extLst>
      <p:ext uri="{BB962C8B-B14F-4D97-AF65-F5344CB8AC3E}">
        <p14:creationId xmlns:p14="http://schemas.microsoft.com/office/powerpoint/2010/main" val="29166214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Typia's Core: TS → JS Transform</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id: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"uuid"</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check: </a:t>
            </a:r>
            <a:r>
              <a:rPr kumimoji="0" lang="en-US" sz="1400" b="1" i="0" u="sng" strike="noStrike" kern="1200" cap="none" spc="0" normalizeH="0" baseline="0" noProof="0" dirty="0">
                <a:ln>
                  <a:noFill/>
                </a:ln>
                <a:solidFill>
                  <a:srgbClr val="569CD6"/>
                </a:solidFill>
                <a:effectLst/>
                <a:uLnTx/>
                <a:uFillTx/>
                <a:latin typeface="Consolas"/>
                <a:ea typeface="+mn-ea"/>
                <a:cs typeface="+mn-cs"/>
              </a:rPr>
              <a:t>boolean</a:t>
            </a:r>
            <a:r>
              <a:rPr kumimoji="0" lang="en-US" sz="1400" b="1" i="0" u="sng" strike="noStrike" kern="1200" cap="none" spc="0" normalizeH="0" baseline="0" noProof="0" dirty="0">
                <a:ln>
                  <a:noFill/>
                </a:ln>
                <a:solidFill>
                  <a:srgbClr val="D4D4D4"/>
                </a:solidFill>
                <a:effectLst/>
                <a:uLnTx/>
                <a:uFillTx/>
                <a:latin typeface="Consolas"/>
                <a:ea typeface="+mn-ea"/>
                <a:cs typeface="+mn-cs"/>
              </a:rPr>
              <a:t> = typia.</a:t>
            </a:r>
            <a:r>
              <a:rPr kumimoji="0" lang="en-US" sz="1400" b="1" i="0" u="sng" strike="noStrike" kern="1200" cap="none" spc="0" normalizeH="0" baseline="0" noProof="0" dirty="0">
                <a:ln>
                  <a:noFill/>
                </a:ln>
                <a:solidFill>
                  <a:srgbClr val="4EC9B0"/>
                </a:solidFill>
                <a:effectLst/>
                <a:uLnTx/>
                <a:uFillTx/>
                <a:latin typeface="Consolas"/>
                <a:ea typeface="+mn-ea"/>
                <a:cs typeface="+mn-cs"/>
              </a:rPr>
              <a:t>is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=&gt;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return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null</a:t>
            </a:r>
            <a:r>
              <a:rPr kumimoji="0" lang="en-US" sz="1400" b="0" i="0" u="none" strike="noStrike" kern="1200" cap="none" spc="0" normalizeH="0" baseline="0" noProof="0" dirty="0">
                <a:ln>
                  <a:noFill/>
                </a:ln>
                <a:solidFill>
                  <a:srgbClr val="D4D4D4"/>
                </a:solidFill>
                <a:effectLst/>
                <a:uLnTx/>
                <a:uFillTx/>
                <a:latin typeface="Consolas"/>
                <a:ea typeface="+mn-ea"/>
                <a:cs typeface="+mn-cs"/>
              </a:rPr>
              <a:t> !==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/^[0-9a-f]{8}-.../.</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/^[a-z0-9._%+-]+@.../.</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Number.</a:t>
            </a:r>
            <a:r>
              <a:rPr kumimoji="0" lang="en-US" sz="1400" b="0" i="0" u="none" strike="noStrike" kern="1200" cap="none" spc="0" normalizeH="0" baseline="0" noProof="0" dirty="0">
                <a:ln>
                  <a:noFill/>
                </a:ln>
                <a:solidFill>
                  <a:srgbClr val="4EC9B0"/>
                </a:solidFill>
                <a:effectLst/>
                <a:uLnTx/>
                <a:uFillTx/>
                <a:latin typeface="Consolas"/>
                <a:ea typeface="+mn-ea"/>
                <a:cs typeface="+mn-cs"/>
              </a:rPr>
              <a:t>isInteger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&gt;= </a:t>
            </a:r>
            <a:r>
              <a:rPr kumimoji="0" lang="en-US" sz="1400" b="0" i="0" u="none" strike="noStrike" kern="1200" cap="none" spc="0" normalizeH="0" baseline="0" noProof="0" dirty="0">
                <a:ln>
                  <a:noFill/>
                </a:ln>
                <a:solidFill>
                  <a:srgbClr val="B5CEA8"/>
                </a:solidFill>
                <a:effectLst/>
                <a:uLnTx/>
                <a:uFillTx/>
                <a:latin typeface="Consolas"/>
                <a:ea typeface="+mn-ea"/>
                <a:cs typeface="+mn-cs"/>
              </a:rPr>
              <a:t>0</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 &lt;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 &gt;= input.age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0D0D0"/>
                </a:solidFill>
                <a:effectLst/>
                <a:uLnTx/>
                <a:uFillTx/>
                <a:latin typeface="Segoe UI"/>
                <a:ea typeface="+mn-ea"/>
                <a:cs typeface="+mn-cs"/>
              </a:rPr>
              <a:t>A single line — </a:t>
            </a:r>
            <a:r>
              <a:rPr kumimoji="0" lang="en-US" sz="1800" b="1" i="0" u="none" strike="noStrike" kern="1200" cap="none" spc="0" normalizeH="0" baseline="0" noProof="0" dirty="0">
                <a:ln>
                  <a:noFill/>
                </a:ln>
                <a:solidFill>
                  <a:srgbClr val="00D4AA"/>
                </a:solidFill>
                <a:effectLst/>
                <a:uLnTx/>
                <a:uFillTx/>
                <a:latin typeface="Consolas"/>
                <a:ea typeface="+mn-ea"/>
                <a:cs typeface="+mn-cs"/>
              </a:rPr>
              <a:t>typia.is&lt;IMember&gt;(input)</a:t>
            </a:r>
            <a:br>
              <a:rPr kumimoji="0" lang="en-US" sz="1800" b="1" i="0" u="none" strike="noStrike" kern="1200" cap="none" spc="0" normalizeH="0" baseline="0" noProof="0" dirty="0">
                <a:ln>
                  <a:noFill/>
                </a:ln>
                <a:solidFill>
                  <a:srgbClr val="D0D0D0"/>
                </a:solidFill>
                <a:effectLst/>
                <a:uLnTx/>
                <a:uFillTx/>
                <a:latin typeface="Segoe UI"/>
                <a:ea typeface="+mn-ea"/>
                <a:cs typeface="+mn-cs"/>
              </a:rPr>
            </a:br>
            <a:r>
              <a:rPr kumimoji="0" lang="en-US" sz="1800" b="0" i="0" u="none" strike="noStrike" kern="1200" cap="none" spc="0" normalizeH="0" baseline="0" noProof="0" dirty="0">
                <a:ln>
                  <a:noFill/>
                </a:ln>
                <a:solidFill>
                  <a:srgbClr val="D0D0D0"/>
                </a:solidFill>
                <a:effectLst/>
                <a:uLnTx/>
                <a:uFillTx/>
                <a:latin typeface="Segoe UI"/>
                <a:ea typeface="+mn-ea"/>
                <a:cs typeface="+mn-cs"/>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383362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a:ln>
                  <a:noFill/>
                </a:ln>
                <a:solidFill>
                  <a:srgbClr val="F0F0F0"/>
                </a:solidFill>
                <a:effectLst/>
                <a:uLnTx/>
                <a:uFillTx/>
                <a:latin typeface="Segoe UI Semibold"/>
                <a:ea typeface="+mn-ea"/>
                <a:cs typeface="+mn-cs"/>
              </a:rPr>
              <a:t>Type → Schema: Automatic Generation</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Member's 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Only adults aged 19 or older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can register.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name: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schema = typia.llm.</a:t>
            </a:r>
            <a:r>
              <a:rPr kumimoji="0" lang="en-US" sz="1400" b="1" i="0" u="sng" strike="noStrike" kern="1200" cap="none" spc="0" normalizeH="0" baseline="0" noProof="0" dirty="0">
                <a:ln>
                  <a:noFill/>
                </a:ln>
                <a:solidFill>
                  <a:srgbClr val="4EC9B0"/>
                </a:solidFill>
                <a:effectLst/>
                <a:uLnTx/>
                <a:uFillTx/>
                <a:latin typeface="Consolas"/>
                <a:ea typeface="+mn-ea"/>
                <a:cs typeface="+mn-cs"/>
              </a:rPr>
              <a:t>parameters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"properties"</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"description"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"Member's age.\n...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"required"</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D93D"/>
                </a:solidFill>
                <a:effectLst/>
                <a:uLnTx/>
                <a:uFillTx/>
                <a:latin typeface="Segoe UI Semibold"/>
                <a:ea typeface="+mn-ea"/>
                <a:cs typeface="+mn-cs"/>
              </a:rPr>
              <a:t>JSDoc comments → description fields  |  Type constraints → validation rules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D0D0D0"/>
                </a:solidFill>
                <a:effectLst/>
                <a:uLnTx/>
                <a:uFillTx/>
                <a:latin typeface="Segoe UI"/>
                <a:ea typeface="+mn-ea"/>
                <a:cs typeface="+mn-cs"/>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0868157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JSDoc → LLM Description</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buNone/>
            </a:pPr>
            <a:r>
              <a:rPr lang="en-US" sz="1800" b="1" dirty="0"/>
              <a:t>JSDoc Comments → description fields</a:t>
            </a:r>
          </a:p>
          <a:p>
            <a:pPr>
              <a:buFont typeface="Arial"/>
              <a:buChar char="•"/>
            </a:pPr>
            <a:r>
              <a:rPr lang="en-US" sz="1800" dirty="0"/>
              <a:t>LLM reads description to decide what values to generate</a:t>
            </a:r>
          </a:p>
          <a:p>
            <a:pPr>
              <a:buNone/>
            </a:pPr>
            <a:endParaRPr lang="en-US" sz="800" dirty="0"/>
          </a:p>
          <a:p>
            <a:pPr>
              <a:buNone/>
            </a:pPr>
            <a:r>
              <a:rPr lang="en-US" sz="1800" b="1" dirty="0"/>
              <a:t>Type constraints → validation rules</a:t>
            </a:r>
          </a:p>
          <a:p>
            <a:pPr>
              <a:buFont typeface="Arial"/>
              <a:buChar char="•"/>
            </a:pPr>
            <a:r>
              <a:rPr lang="en-US" sz="1800" dirty="0"/>
              <a:t>ExclusiveMinimum&lt;18&gt; → "&gt; 18" rule</a:t>
            </a:r>
          </a:p>
          <a:p>
            <a:pPr>
              <a:buFont typeface="Arial"/>
              <a:buChar char="•"/>
            </a:pPr>
            <a:r>
              <a:rPr lang="en-US" sz="1800" dirty="0"/>
              <a:t>Format&lt;"email"&gt; → email format check</a:t>
            </a:r>
          </a:p>
          <a:p>
            <a:pPr>
              <a:buNone/>
            </a:pPr>
            <a:endParaRPr lang="en-US" sz="800" dirty="0"/>
          </a:p>
          <a:p>
            <a:pPr>
              <a:buNone/>
            </a:pPr>
            <a:r>
              <a:rPr lang="en-US" sz="1800" b="1" dirty="0"/>
              <a:t>One type definition simultaneously generates LLM guidance AND validation rules</a:t>
            </a:r>
          </a:p>
        </p:txBody>
      </p:sp>
    </p:spTree>
    <p:extLst>
      <p:ext uri="{BB962C8B-B14F-4D97-AF65-F5344CB8AC3E}">
        <p14:creationId xmlns:p14="http://schemas.microsoft.com/office/powerpoint/2010/main" val="2960116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a:xfrm>
            <a:off x="1143000" y="381000"/>
            <a:ext cx="9880600" cy="762000"/>
          </a:xfrm>
        </p:spPr>
        <p:txBody>
          <a:bodyPr>
            <a:normAutofit/>
          </a:bodyPr>
          <a:lstStyle/>
          <a:p>
            <a:r>
              <a:rPr lang="en-US" dirty="0"/>
              <a:t>2.2. </a:t>
            </a:r>
            <a:r>
              <a:rPr lang="en-US" dirty="0" err="1"/>
              <a:t>typia.llm.application</a:t>
            </a:r>
            <a:r>
              <a:rPr lang="en-US" dirty="0"/>
              <a:t>&lt;Class&gt;()</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a:xfrm>
            <a:off x="776748" y="1397000"/>
            <a:ext cx="5954252" cy="4826000"/>
          </a:xfrm>
        </p:spPr>
        <p:txBody>
          <a:bodyPr>
            <a:normAutofit/>
          </a:bodyPr>
          <a:lstStyle/>
          <a:p>
            <a:pPr>
              <a:buNone/>
            </a:pPr>
            <a:r>
              <a:rPr lang="en-US" sz="1800" dirty="0"/>
              <a:t>Scales schema generation to entire classes — every method becomes a function calling schema</a:t>
            </a:r>
          </a:p>
          <a:p>
            <a:pPr>
              <a:buNone/>
            </a:pPr>
            <a:endParaRPr lang="en-US" sz="800" dirty="0"/>
          </a:p>
          <a:p>
            <a:pPr>
              <a:buNone/>
            </a:pPr>
            <a:r>
              <a:rPr lang="en-US" sz="1800" b="1" dirty="0"/>
              <a:t>Each ILlmFunction automatically provides:</a:t>
            </a:r>
          </a:p>
          <a:p>
            <a:pPr>
              <a:buFont typeface="Arial"/>
              <a:buChar char="•"/>
            </a:pPr>
            <a:r>
              <a:rPr lang="en-US" sz="1800" b="1" dirty="0"/>
              <a:t>parameters</a:t>
            </a:r>
            <a:r>
              <a:rPr lang="en-US" sz="1800" dirty="0"/>
              <a:t> — JSON Schema for the LLM to fill</a:t>
            </a:r>
          </a:p>
          <a:p>
            <a:pPr>
              <a:buFont typeface="Arial"/>
              <a:buChar char="•"/>
            </a:pPr>
            <a:r>
              <a:rPr lang="en-US" sz="1800" b="1" dirty="0"/>
              <a:t>parse()</a:t>
            </a:r>
            <a:r>
              <a:rPr lang="en-US" sz="1800" dirty="0"/>
              <a:t> — lenient JSON parsing + type coercion</a:t>
            </a:r>
          </a:p>
          <a:p>
            <a:pPr>
              <a:buFont typeface="Arial"/>
              <a:buChar char="•"/>
            </a:pPr>
            <a:r>
              <a:rPr lang="en-US" sz="1800" b="1" dirty="0"/>
              <a:t>coerce()</a:t>
            </a:r>
            <a:r>
              <a:rPr lang="en-US" sz="1800" dirty="0"/>
              <a:t> — schema-based type conversion</a:t>
            </a:r>
          </a:p>
          <a:p>
            <a:pPr>
              <a:buFont typeface="Arial"/>
              <a:buChar char="•"/>
            </a:pPr>
            <a:r>
              <a:rPr lang="en-US" sz="1800" b="1" dirty="0"/>
              <a:t>validate()</a:t>
            </a:r>
            <a:r>
              <a:rPr lang="en-US" sz="1800" dirty="0"/>
              <a:t> — precise error detection with exact paths</a:t>
            </a:r>
          </a:p>
          <a:p>
            <a:pPr>
              <a:buNone/>
            </a:pPr>
            <a:endParaRPr lang="en-US" sz="800" dirty="0"/>
          </a:p>
          <a:p>
            <a:pPr>
              <a:buNone/>
            </a:pPr>
            <a:r>
              <a:rPr lang="en-US" sz="1800" b="1" dirty="0"/>
              <a:t>Define one class → get the full function calling pipeline</a:t>
            </a:r>
          </a:p>
        </p:txBody>
      </p:sp>
      <p:grpSp>
        <p:nvGrpSpPr>
          <p:cNvPr id="4" name="그룹 3">
            <a:extLst>
              <a:ext uri="{FF2B5EF4-FFF2-40B4-BE49-F238E27FC236}">
                <a16:creationId xmlns:a16="http://schemas.microsoft.com/office/drawing/2014/main" id="{635A3A35-FA13-F844-235E-C80912BA854A}"/>
              </a:ext>
            </a:extLst>
          </p:cNvPr>
          <p:cNvGrpSpPr/>
          <p:nvPr/>
        </p:nvGrpSpPr>
        <p:grpSpPr>
          <a:xfrm>
            <a:off x="7112000" y="1714091"/>
            <a:ext cx="3937000" cy="4356100"/>
            <a:chOff x="6667500" y="1016000"/>
            <a:chExt cx="3937000" cy="4356100"/>
          </a:xfrm>
        </p:grpSpPr>
        <p:sp>
          <p:nvSpPr>
            <p:cNvPr id="200" name="Compile"/>
            <p:cNvSpPr/>
            <p:nvPr/>
          </p:nvSpPr>
          <p:spPr>
            <a:xfrm>
              <a:off x="6731000" y="1016000"/>
              <a:ext cx="3810000" cy="698500"/>
            </a:xfrm>
            <a:prstGeom prst="roundRect">
              <a:avLst/>
            </a:prstGeom>
            <a:solidFill>
              <a:srgbClr val="4A90D9"/>
            </a:solidFill>
            <a:ln w="0">
              <a:noFill/>
            </a:ln>
          </p:spPr>
          <p:txBody>
            <a:bodyPr wrap="square" lIns="54000" tIns="36000" rIns="54000" bIns="36000" anchor="ctr"/>
            <a:lstStyle/>
            <a:p>
              <a:pPr algn="ctr">
                <a:buNone/>
              </a:pPr>
              <a:r>
                <a:rPr lang="en-US" sz="1800" b="1" dirty="0">
                  <a:solidFill>
                    <a:srgbClr val="FFFFFF"/>
                  </a:solidFill>
                  <a:latin typeface="Consolas"/>
                </a:rPr>
                <a:t>Compile</a:t>
              </a:r>
            </a:p>
            <a:p>
              <a:pPr algn="ctr">
                <a:buNone/>
              </a:pPr>
              <a:r>
                <a:rPr lang="en-US" sz="1400" dirty="0">
                  <a:solidFill>
                    <a:srgbClr val="FFFFFF">
                      <a:alpha val="80000"/>
                    </a:srgbClr>
                  </a:solidFill>
                  <a:latin typeface="Segoe UI"/>
                </a:rPr>
                <a:t>TS Class → Schema</a:t>
              </a:r>
            </a:p>
          </p:txBody>
        </p:sp>
        <p:sp>
          <p:nvSpPr>
            <p:cNvPr id="201" name="Arr1"/>
            <p:cNvSpPr/>
            <p:nvPr/>
          </p:nvSpPr>
          <p:spPr>
            <a:xfrm>
              <a:off x="8534400" y="1752600"/>
              <a:ext cx="203200" cy="254000"/>
            </a:xfrm>
            <a:prstGeom prst="downArrow">
              <a:avLst/>
            </a:prstGeom>
            <a:solidFill>
              <a:srgbClr val="666666"/>
            </a:solidFill>
            <a:ln w="0">
              <a:noFill/>
            </a:ln>
          </p:spPr>
          <p:txBody>
            <a:bodyPr/>
            <a:lstStyle/>
            <a:p>
              <a:endParaRPr lang="en-US"/>
            </a:p>
          </p:txBody>
        </p:sp>
        <p:sp>
          <p:nvSpPr>
            <p:cNvPr id="210" name="Parse"/>
            <p:cNvSpPr/>
            <p:nvPr/>
          </p:nvSpPr>
          <p:spPr>
            <a:xfrm>
              <a:off x="6731000" y="2095500"/>
              <a:ext cx="1714500" cy="698500"/>
            </a:xfrm>
            <a:prstGeom prst="roundRect">
              <a:avLst/>
            </a:prstGeom>
            <a:solidFill>
              <a:srgbClr val="FF9F43"/>
            </a:solidFill>
            <a:ln w="0">
              <a:noFill/>
            </a:ln>
          </p:spPr>
          <p:txBody>
            <a:bodyPr wrap="square" lIns="54000" tIns="36000" rIns="54000" bIns="36000" anchor="ctr"/>
            <a:lstStyle/>
            <a:p>
              <a:pPr algn="ctr">
                <a:buNone/>
              </a:pPr>
              <a:r>
                <a:rPr lang="en-US" sz="1800" b="1" dirty="0">
                  <a:solidFill>
                    <a:srgbClr val="FFFFFF"/>
                  </a:solidFill>
                  <a:latin typeface="Consolas"/>
                </a:rPr>
                <a:t>parse()</a:t>
              </a:r>
            </a:p>
            <a:p>
              <a:pPr algn="ctr">
                <a:buNone/>
              </a:pPr>
              <a:r>
                <a:rPr lang="en-US" sz="1400" dirty="0">
                  <a:solidFill>
                    <a:srgbClr val="FFFFFF">
                      <a:alpha val="80000"/>
                    </a:srgbClr>
                  </a:solidFill>
                  <a:latin typeface="Segoe UI"/>
                </a:rPr>
                <a:t>Lenient parsing</a:t>
              </a:r>
            </a:p>
          </p:txBody>
        </p:sp>
        <p:sp>
          <p:nvSpPr>
            <p:cNvPr id="211" name="Coerce"/>
            <p:cNvSpPr/>
            <p:nvPr/>
          </p:nvSpPr>
          <p:spPr>
            <a:xfrm>
              <a:off x="8826500" y="2095500"/>
              <a:ext cx="1714500" cy="698500"/>
            </a:xfrm>
            <a:prstGeom prst="roundRect">
              <a:avLst/>
            </a:prstGeom>
            <a:solidFill>
              <a:srgbClr val="A855F7"/>
            </a:solidFill>
            <a:ln w="0">
              <a:noFill/>
            </a:ln>
          </p:spPr>
          <p:txBody>
            <a:bodyPr wrap="square" lIns="54000" tIns="36000" rIns="54000" bIns="36000" anchor="ctr"/>
            <a:lstStyle/>
            <a:p>
              <a:pPr algn="ctr">
                <a:buNone/>
              </a:pPr>
              <a:r>
                <a:rPr lang="en-US" sz="1800" b="1" dirty="0">
                  <a:solidFill>
                    <a:srgbClr val="FFFFFF"/>
                  </a:solidFill>
                  <a:latin typeface="Consolas"/>
                </a:rPr>
                <a:t>coerce()</a:t>
              </a:r>
            </a:p>
            <a:p>
              <a:pPr algn="ctr">
                <a:buNone/>
              </a:pPr>
              <a:r>
                <a:rPr lang="en-US" sz="1400" dirty="0">
                  <a:solidFill>
                    <a:srgbClr val="FFFFFF">
                      <a:alpha val="80000"/>
                    </a:srgbClr>
                  </a:solidFill>
                  <a:latin typeface="Segoe UI"/>
                </a:rPr>
                <a:t>Type conversion</a:t>
              </a:r>
            </a:p>
          </p:txBody>
        </p:sp>
        <p:sp>
          <p:nvSpPr>
            <p:cNvPr id="212" name="PC_R"/>
            <p:cNvSpPr/>
            <p:nvPr/>
          </p:nvSpPr>
          <p:spPr>
            <a:xfrm>
              <a:off x="8470900" y="2273300"/>
              <a:ext cx="330200" cy="152400"/>
            </a:xfrm>
            <a:prstGeom prst="rightArrow">
              <a:avLst/>
            </a:prstGeom>
            <a:solidFill>
              <a:srgbClr val="808080"/>
            </a:solidFill>
            <a:ln w="0">
              <a:noFill/>
            </a:ln>
          </p:spPr>
          <p:txBody>
            <a:bodyPr/>
            <a:lstStyle/>
            <a:p>
              <a:endParaRPr lang="en-US"/>
            </a:p>
          </p:txBody>
        </p:sp>
        <p:sp>
          <p:nvSpPr>
            <p:cNvPr id="213" name="PC_L"/>
            <p:cNvSpPr/>
            <p:nvPr/>
          </p:nvSpPr>
          <p:spPr>
            <a:xfrm>
              <a:off x="8470900" y="2476500"/>
              <a:ext cx="330200" cy="152400"/>
            </a:xfrm>
            <a:prstGeom prst="leftArrow">
              <a:avLst/>
            </a:prstGeom>
            <a:solidFill>
              <a:srgbClr val="808080"/>
            </a:solidFill>
            <a:ln w="0">
              <a:noFill/>
            </a:ln>
          </p:spPr>
          <p:txBody>
            <a:bodyPr/>
            <a:lstStyle/>
            <a:p>
              <a:endParaRPr lang="en-US"/>
            </a:p>
          </p:txBody>
        </p:sp>
        <p:sp>
          <p:nvSpPr>
            <p:cNvPr id="214" name="Loop1Label"/>
            <p:cNvSpPr/>
            <p:nvPr/>
          </p:nvSpPr>
          <p:spPr>
            <a:xfrm>
              <a:off x="6667500" y="2832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Correction Loop</a:t>
              </a:r>
            </a:p>
          </p:txBody>
        </p:sp>
        <p:sp>
          <p:nvSpPr>
            <p:cNvPr id="220" name="Arr2"/>
            <p:cNvSpPr/>
            <p:nvPr/>
          </p:nvSpPr>
          <p:spPr>
            <a:xfrm>
              <a:off x="8534400" y="3149600"/>
              <a:ext cx="203200" cy="254000"/>
            </a:xfrm>
            <a:prstGeom prst="downArrow">
              <a:avLst/>
            </a:prstGeom>
            <a:solidFill>
              <a:srgbClr val="666666"/>
            </a:solidFill>
            <a:ln w="0">
              <a:noFill/>
            </a:ln>
          </p:spPr>
          <p:txBody>
            <a:bodyPr/>
            <a:lstStyle/>
            <a:p>
              <a:endParaRPr lang="en-US"/>
            </a:p>
          </p:txBody>
        </p:sp>
        <p:sp>
          <p:nvSpPr>
            <p:cNvPr id="230" name="Validate"/>
            <p:cNvSpPr/>
            <p:nvPr/>
          </p:nvSpPr>
          <p:spPr>
            <a:xfrm>
              <a:off x="6731000" y="3492500"/>
              <a:ext cx="1714500" cy="698500"/>
            </a:xfrm>
            <a:prstGeom prst="roundRect">
              <a:avLst/>
            </a:prstGeom>
            <a:solidFill>
              <a:srgbClr val="EF4444"/>
            </a:solidFill>
            <a:ln w="0">
              <a:noFill/>
            </a:ln>
          </p:spPr>
          <p:txBody>
            <a:bodyPr wrap="square" lIns="54000" tIns="36000" rIns="54000" bIns="36000" anchor="ctr"/>
            <a:lstStyle/>
            <a:p>
              <a:pPr algn="ctr">
                <a:buNone/>
              </a:pPr>
              <a:r>
                <a:rPr lang="en-US" sz="1800" b="1" dirty="0">
                  <a:solidFill>
                    <a:srgbClr val="FFFFFF"/>
                  </a:solidFill>
                  <a:latin typeface="Consolas"/>
                </a:rPr>
                <a:t>validate()</a:t>
              </a:r>
            </a:p>
            <a:p>
              <a:pPr algn="ctr">
                <a:buNone/>
              </a:pPr>
              <a:r>
                <a:rPr lang="en-US" sz="1400" dirty="0">
                  <a:solidFill>
                    <a:srgbClr val="FFFFFF">
                      <a:alpha val="80000"/>
                    </a:srgbClr>
                  </a:solidFill>
                  <a:latin typeface="Segoe UI"/>
                </a:rPr>
                <a:t>Error feedback</a:t>
              </a:r>
            </a:p>
          </p:txBody>
        </p:sp>
        <p:sp>
          <p:nvSpPr>
            <p:cNvPr id="231" name="Execute"/>
            <p:cNvSpPr/>
            <p:nvPr/>
          </p:nvSpPr>
          <p:spPr>
            <a:xfrm>
              <a:off x="8826500" y="3492500"/>
              <a:ext cx="1714500" cy="698500"/>
            </a:xfrm>
            <a:prstGeom prst="roundRect">
              <a:avLst/>
            </a:prstGeom>
            <a:solidFill>
              <a:srgbClr val="10B981"/>
            </a:solidFill>
            <a:ln w="0">
              <a:noFill/>
            </a:ln>
          </p:spPr>
          <p:txBody>
            <a:bodyPr wrap="square" lIns="54000" tIns="36000" rIns="54000" bIns="36000" anchor="ctr"/>
            <a:lstStyle/>
            <a:p>
              <a:pPr algn="ctr">
                <a:buNone/>
              </a:pPr>
              <a:r>
                <a:rPr lang="en-US" sz="1800" b="1" dirty="0">
                  <a:solidFill>
                    <a:srgbClr val="FFFFFF"/>
                  </a:solidFill>
                  <a:latin typeface="Consolas"/>
                </a:rPr>
                <a:t>execute()</a:t>
              </a:r>
            </a:p>
            <a:p>
              <a:pPr algn="ctr">
                <a:buNone/>
              </a:pPr>
              <a:r>
                <a:rPr lang="en-US" sz="1400" dirty="0">
                  <a:solidFill>
                    <a:srgbClr val="FFFFFF">
                      <a:alpha val="80000"/>
                    </a:srgbClr>
                  </a:solidFill>
                  <a:latin typeface="Segoe UI"/>
                </a:rPr>
                <a:t>Function call</a:t>
              </a:r>
            </a:p>
          </p:txBody>
        </p:sp>
        <p:sp>
          <p:nvSpPr>
            <p:cNvPr id="232" name="VE_R"/>
            <p:cNvSpPr/>
            <p:nvPr/>
          </p:nvSpPr>
          <p:spPr>
            <a:xfrm>
              <a:off x="8470900" y="3670300"/>
              <a:ext cx="330200" cy="152400"/>
            </a:xfrm>
            <a:prstGeom prst="rightArrow">
              <a:avLst/>
            </a:prstGeom>
            <a:solidFill>
              <a:srgbClr val="808080"/>
            </a:solidFill>
            <a:ln w="0">
              <a:noFill/>
            </a:ln>
          </p:spPr>
          <p:txBody>
            <a:bodyPr/>
            <a:lstStyle/>
            <a:p>
              <a:endParaRPr lang="en-US"/>
            </a:p>
          </p:txBody>
        </p:sp>
        <p:sp>
          <p:nvSpPr>
            <p:cNvPr id="233" name="VE_L"/>
            <p:cNvSpPr/>
            <p:nvPr/>
          </p:nvSpPr>
          <p:spPr>
            <a:xfrm>
              <a:off x="8470900" y="3873500"/>
              <a:ext cx="330200" cy="152400"/>
            </a:xfrm>
            <a:prstGeom prst="leftArrow">
              <a:avLst/>
            </a:prstGeom>
            <a:solidFill>
              <a:srgbClr val="808080"/>
            </a:solidFill>
            <a:ln w="0">
              <a:noFill/>
            </a:ln>
          </p:spPr>
          <p:txBody>
            <a:bodyPr/>
            <a:lstStyle/>
            <a:p>
              <a:endParaRPr lang="en-US"/>
            </a:p>
          </p:txBody>
        </p:sp>
        <p:sp>
          <p:nvSpPr>
            <p:cNvPr id="234" name="Loop2Label"/>
            <p:cNvSpPr/>
            <p:nvPr/>
          </p:nvSpPr>
          <p:spPr>
            <a:xfrm>
              <a:off x="6667500" y="4229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Feedback Loop</a:t>
              </a:r>
            </a:p>
          </p:txBody>
        </p:sp>
        <p:sp>
          <p:nvSpPr>
            <p:cNvPr id="240" name="Arr3"/>
            <p:cNvSpPr/>
            <p:nvPr/>
          </p:nvSpPr>
          <p:spPr>
            <a:xfrm>
              <a:off x="8534400" y="4546600"/>
              <a:ext cx="203200" cy="254000"/>
            </a:xfrm>
            <a:prstGeom prst="downArrow">
              <a:avLst/>
            </a:prstGeom>
            <a:solidFill>
              <a:srgbClr val="666666"/>
            </a:solidFill>
            <a:ln w="0">
              <a:noFill/>
            </a:ln>
          </p:spPr>
          <p:txBody>
            <a:bodyPr/>
            <a:lstStyle/>
            <a:p>
              <a:endParaRPr lang="en-US"/>
            </a:p>
          </p:txBody>
        </p:sp>
        <p:sp>
          <p:nvSpPr>
            <p:cNvPr id="250" name="Result"/>
            <p:cNvSpPr/>
            <p:nvPr/>
          </p:nvSpPr>
          <p:spPr>
            <a:xfrm>
              <a:off x="7366000" y="4864100"/>
              <a:ext cx="2540000" cy="508000"/>
            </a:xfrm>
            <a:prstGeom prst="roundRect">
              <a:avLst/>
            </a:prstGeom>
            <a:solidFill>
              <a:srgbClr val="00D4AA"/>
            </a:solidFill>
            <a:ln w="0">
              <a:noFill/>
            </a:ln>
          </p:spPr>
          <p:txBody>
            <a:bodyPr wrap="square" lIns="54000" tIns="36000" rIns="54000" bIns="36000" anchor="ctr"/>
            <a:lstStyle/>
            <a:p>
              <a:pPr algn="ctr">
                <a:buNone/>
              </a:pPr>
              <a:r>
                <a:rPr lang="en-US" sz="1800" b="1" dirty="0">
                  <a:solidFill>
                    <a:srgbClr val="FFFFFF"/>
                  </a:solidFill>
                  <a:latin typeface="Consolas"/>
                </a:rPr>
                <a:t>Result</a:t>
              </a:r>
            </a:p>
          </p:txBody>
        </p:sp>
      </p:grpSp>
    </p:spTree>
    <p:extLst>
      <p:ext uri="{BB962C8B-B14F-4D97-AF65-F5344CB8AC3E}">
        <p14:creationId xmlns:p14="http://schemas.microsoft.com/office/powerpoint/2010/main" val="23836745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buNone/>
            </a:pPr>
            <a:r>
              <a:rPr lang="en-US" sz="2400" b="1" dirty="0">
                <a:solidFill>
                  <a:srgbClr val="F0F0F0"/>
                </a:solidFill>
                <a:latin typeface="Segoe UI Semibold"/>
              </a:rPr>
              <a:t>Type Coercion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buNone/>
            </a:pPr>
            <a:r>
              <a:rPr lang="en-US" sz="1800" b="1" dirty="0">
                <a:solidFill>
                  <a:srgbClr val="00D4AA"/>
                </a:solidFill>
                <a:latin typeface="Segoe UI Semibold"/>
              </a:rPr>
              <a:t>LLM Output</a:t>
            </a:r>
          </a:p>
        </p:txBody>
      </p:sp>
      <p:sp>
        <p:nvSpPr>
          <p:cNvPr id="13" name="LBg"/>
          <p:cNvSpPr/>
          <p:nvPr/>
        </p:nvSpPr>
        <p:spPr>
          <a:xfrm>
            <a:off x="762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714500"/>
            <a:ext cx="4826000" cy="2621526"/>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Expected</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t>
            </a:r>
            <a:r>
              <a:rPr lang="en-US" sz="1400" dirty="0" err="1">
                <a:solidFill>
                  <a:srgbClr val="9CDCFE"/>
                </a:solidFill>
                <a:latin typeface="Consolas"/>
              </a:rPr>
              <a:t>cardNumber</a:t>
            </a:r>
            <a:r>
              <a:rPr lang="en-US" sz="1400" dirty="0">
                <a:solidFill>
                  <a:srgbClr val="9CDCFE"/>
                </a:solidFill>
                <a:latin typeface="Consolas"/>
              </a:rPr>
              <a:t>"</a:t>
            </a:r>
            <a:r>
              <a:rPr lang="en-US" sz="1400" dirty="0">
                <a:solidFill>
                  <a:srgbClr val="D4D4D4"/>
                </a:solidFill>
                <a:latin typeface="Consolas"/>
              </a:rPr>
              <a:t>: </a:t>
            </a:r>
            <a:r>
              <a:rPr lang="en-US" sz="1400" dirty="0">
                <a:solidFill>
                  <a:srgbClr val="CE9178"/>
                </a:solidFill>
                <a:latin typeface="Consolas"/>
              </a:rPr>
              <a:t>"1234-5678“</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6A9955"/>
                </a:solidFill>
                <a:latin typeface="Consolas"/>
              </a:rPr>
              <a:t>// Actual LLM output</a:t>
            </a:r>
          </a:p>
          <a:p>
            <a:pPr>
              <a:lnSpc>
                <a:spcPct val="100000"/>
              </a:lnSpc>
              <a:spcBef>
                <a:spcPts val="0"/>
              </a:spcBef>
              <a:spcAft>
                <a:spcPts val="0"/>
              </a:spcAft>
              <a:buNone/>
            </a:pPr>
            <a:r>
              <a:rPr lang="en-US" sz="1400" dirty="0">
                <a:solidFill>
                  <a:srgbClr val="FF6B6B"/>
                </a:solidFill>
                <a:latin typeface="Consolas"/>
              </a:rPr>
              <a:t>"{</a:t>
            </a:r>
          </a:p>
          <a:p>
            <a:pPr>
              <a:lnSpc>
                <a:spcPct val="100000"/>
              </a:lnSpc>
              <a:spcBef>
                <a:spcPts val="0"/>
              </a:spcBef>
              <a:spcAft>
                <a:spcPts val="0"/>
              </a:spcAft>
              <a:buNone/>
            </a:pPr>
            <a:r>
              <a:rPr lang="en-US" sz="1400" dirty="0">
                <a:solidFill>
                  <a:srgbClr val="FF6B6B"/>
                </a:solidFill>
                <a:latin typeface="Consolas"/>
              </a:rPr>
              <a:t>   \"type\":\"card\",</a:t>
            </a:r>
          </a:p>
          <a:p>
            <a:pPr>
              <a:lnSpc>
                <a:spcPct val="100000"/>
              </a:lnSpc>
              <a:spcBef>
                <a:spcPts val="0"/>
              </a:spcBef>
              <a:spcAft>
                <a:spcPts val="0"/>
              </a:spcAft>
              <a:buNone/>
            </a:pPr>
            <a:r>
              <a:rPr lang="en-US" sz="1400" dirty="0">
                <a:solidFill>
                  <a:srgbClr val="FF6B6B"/>
                </a:solidFill>
                <a:latin typeface="Consolas"/>
              </a:rPr>
              <a:t>   \"cardNumber\":\"1234-5678\“</a:t>
            </a:r>
          </a:p>
          <a:p>
            <a:pPr>
              <a:lnSpc>
                <a:spcPct val="100000"/>
              </a:lnSpc>
              <a:spcBef>
                <a:spcPts val="0"/>
              </a:spcBef>
              <a:spcAft>
                <a:spcPts val="0"/>
              </a:spcAft>
              <a:buNone/>
            </a:pPr>
            <a:r>
              <a:rPr lang="en-US" sz="1400" dirty="0">
                <a:solidFill>
                  <a:srgbClr val="FF6B6B"/>
                </a:solidFill>
                <a:latin typeface="Consolas"/>
              </a:rPr>
              <a: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buNone/>
            </a:pPr>
            <a:r>
              <a:rPr lang="en-US" sz="1800" b="1" dirty="0">
                <a:solidFill>
                  <a:srgbClr val="FFD93D"/>
                </a:solidFill>
                <a:latin typeface="Segoe UI Semibold"/>
              </a:rPr>
              <a:t>Type Definition</a:t>
            </a:r>
          </a:p>
        </p:txBody>
      </p:sp>
      <p:sp>
        <p:nvSpPr>
          <p:cNvPr id="16" name="RBg"/>
          <p:cNvSpPr/>
          <p:nvPr/>
        </p:nvSpPr>
        <p:spPr>
          <a:xfrm>
            <a:off x="6350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714500"/>
            <a:ext cx="4826000" cy="2159000"/>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Union type occurs double JSON stringified</a:t>
            </a:r>
            <a:endParaRPr lang="en-US" sz="1400" dirty="0">
              <a:solidFill>
                <a:srgbClr val="569CD6"/>
              </a:solidFill>
              <a:latin typeface="Consolas"/>
            </a:endParaRPr>
          </a:p>
          <a:p>
            <a:pPr>
              <a:lnSpc>
                <a:spcPct val="100000"/>
              </a:lnSpc>
              <a:spcBef>
                <a:spcPts val="0"/>
              </a:spcBef>
              <a:spcAft>
                <a:spcPts val="0"/>
              </a:spcAft>
              <a:buNone/>
            </a:pPr>
            <a:r>
              <a:rPr lang="en-US" sz="1400" dirty="0">
                <a:solidFill>
                  <a:srgbClr val="569CD6"/>
                </a:solidFill>
                <a:latin typeface="Consolas"/>
              </a:rPr>
              <a:t>type </a:t>
            </a:r>
            <a:r>
              <a:rPr lang="en-US" sz="1400" dirty="0">
                <a:solidFill>
                  <a:srgbClr val="4EC9B0"/>
                </a:solidFill>
                <a:latin typeface="Consolas"/>
              </a:rPr>
              <a:t>IPayment</a:t>
            </a:r>
            <a:r>
              <a:rPr lang="en-US" sz="1400" dirty="0">
                <a:solidFill>
                  <a:srgbClr val="D4D4D4"/>
                </a:solidFill>
                <a:latin typeface="Consolas"/>
              </a:rPr>
              <a:t> = </a:t>
            </a:r>
            <a:r>
              <a:rPr lang="en-US" sz="1400" dirty="0">
                <a:solidFill>
                  <a:srgbClr val="4EC9B0"/>
                </a:solidFill>
                <a:latin typeface="Consolas"/>
              </a:rPr>
              <a:t>ICardPayment</a:t>
            </a:r>
            <a:r>
              <a:rPr lang="en-US" sz="1400" dirty="0">
                <a:solidFill>
                  <a:srgbClr val="D4D4D4"/>
                </a:solidFill>
                <a:latin typeface="Consolas"/>
              </a:rPr>
              <a:t> | </a:t>
            </a:r>
            <a:r>
              <a:rPr lang="en-US" sz="1400" dirty="0">
                <a:solidFill>
                  <a:srgbClr val="4EC9B0"/>
                </a:solidFill>
                <a:latin typeface="Consolas"/>
              </a:rPr>
              <a:t>IBankPayment</a:t>
            </a: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ICardPayment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IBankPayment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"bank"</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accountNumber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p:txBody>
      </p:sp>
      <p:sp>
        <p:nvSpPr>
          <p:cNvPr id="18" name="Arr"/>
          <p:cNvSpPr/>
          <p:nvPr/>
        </p:nvSpPr>
        <p:spPr>
          <a:xfrm>
            <a:off x="5867400" y="2540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
        <p:nvSpPr>
          <p:cNvPr id="20" name="Desc"/>
          <p:cNvSpPr/>
          <p:nvPr/>
        </p:nvSpPr>
        <p:spPr>
          <a:xfrm>
            <a:off x="762000" y="4670322"/>
            <a:ext cx="10668000" cy="1806677"/>
          </a:xfrm>
          <a:prstGeom prst="rect">
            <a:avLst/>
          </a:prstGeom>
          <a:noFill/>
          <a:ln>
            <a:noFill/>
          </a:ln>
        </p:spPr>
        <p:txBody>
          <a:bodyPr wrap="square" lIns="72000" tIns="36000" rIns="72000" bIns="36000" anchor="t"/>
          <a:lstStyle/>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LLM returns a </a:t>
            </a:r>
            <a:r>
              <a:rPr lang="en-US" sz="1600" b="1" dirty="0">
                <a:solidFill>
                  <a:srgbClr val="FF6B6B"/>
                </a:solidFill>
                <a:latin typeface="Segoe UI Semibold"/>
              </a:rPr>
              <a:t>string</a:t>
            </a:r>
            <a:r>
              <a:rPr lang="en-US" sz="1600" dirty="0">
                <a:solidFill>
                  <a:srgbClr val="D0D0D0"/>
                </a:solidFill>
                <a:latin typeface="Segoe UI"/>
              </a:rPr>
              <a:t> containing JSON — not the object itself</a:t>
            </a:r>
          </a:p>
          <a:p>
            <a:pPr>
              <a:lnSpc>
                <a:spcPct val="115000"/>
              </a:lnSpc>
              <a:spcBef>
                <a:spcPts val="400"/>
              </a:spcBef>
              <a:buNone/>
            </a:pPr>
            <a:r>
              <a:rPr lang="en-US" sz="1600" dirty="0">
                <a:solidFill>
                  <a:srgbClr val="808080"/>
                </a:solidFill>
                <a:latin typeface="Segoe UI"/>
              </a:rPr>
              <a:t>•  </a:t>
            </a:r>
            <a:r>
              <a:rPr lang="en-US" sz="1600" b="1" dirty="0">
                <a:solidFill>
                  <a:srgbClr val="FE9E00"/>
                </a:solidFill>
                <a:latin typeface="Segoe UI Semibold"/>
              </a:rPr>
              <a:t>Valid JSON</a:t>
            </a:r>
            <a:r>
              <a:rPr lang="en-US" sz="1600" dirty="0">
                <a:solidFill>
                  <a:srgbClr val="D0D0D0"/>
                </a:solidFill>
                <a:latin typeface="Segoe UI"/>
              </a:rPr>
              <a:t> — jsonrepair, dirty-json, LangChain all pass it through</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Qwen 3.5: </a:t>
            </a:r>
            <a:r>
              <a:rPr lang="en-US" sz="1600" b="1" dirty="0">
                <a:solidFill>
                  <a:srgbClr val="FF6B6B"/>
                </a:solidFill>
                <a:latin typeface="Segoe UI Semibold"/>
              </a:rPr>
              <a:t>100%</a:t>
            </a:r>
            <a:r>
              <a:rPr lang="en-US" sz="1600" dirty="0">
                <a:solidFill>
                  <a:srgbClr val="D0D0D0"/>
                </a:solidFill>
                <a:latin typeface="Segoe UI"/>
              </a:rPr>
              <a:t> of </a:t>
            </a:r>
            <a:r>
              <a:rPr lang="en-US" sz="1600" u="sng" dirty="0">
                <a:solidFill>
                  <a:srgbClr val="D0D0D0"/>
                </a:solidFill>
                <a:latin typeface="Segoe UI"/>
              </a:rPr>
              <a:t>anyOf</a:t>
            </a:r>
            <a:r>
              <a:rPr lang="en-US" sz="1600" dirty="0">
                <a:solidFill>
                  <a:srgbClr val="D0D0D0"/>
                </a:solidFill>
                <a:latin typeface="Segoe UI"/>
              </a:rPr>
              <a:t> fields. Claude: same on </a:t>
            </a:r>
            <a:r>
              <a:rPr lang="en-US" sz="1600" u="sng" dirty="0">
                <a:solidFill>
                  <a:srgbClr val="D0D0D0"/>
                </a:solidFill>
                <a:latin typeface="Segoe UI"/>
              </a:rPr>
              <a:t>oneOf</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Only </a:t>
            </a:r>
            <a:r>
              <a:rPr lang="en-US" sz="1600" b="1" dirty="0">
                <a:solidFill>
                  <a:srgbClr val="00D4AA"/>
                </a:solidFill>
                <a:latin typeface="Segoe UI Semibold"/>
              </a:rPr>
              <a:t>type-aware</a:t>
            </a:r>
            <a:r>
              <a:rPr lang="en-US" sz="1600" dirty="0">
                <a:solidFill>
                  <a:srgbClr val="D0D0D0"/>
                </a:solidFill>
                <a:latin typeface="Segoe UI"/>
              </a:rPr>
              <a:t> parsing can detect and unwrap it</a:t>
            </a:r>
          </a:p>
        </p:txBody>
      </p:sp>
    </p:spTree>
    <p:extLst>
      <p:ext uri="{BB962C8B-B14F-4D97-AF65-F5344CB8AC3E}">
        <p14:creationId xmlns:p14="http://schemas.microsoft.com/office/powerpoint/2010/main" val="19529743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A19F7BE-8E98-4792-93FA-813F56ED5601}"/>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Seven Sins in One Output</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Markdown wrapper, prefix text, wrong types, incomplete keywords, unclosed brackets</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r>
              <a:rPr lang="en-US" sz="1400" dirty="0">
                <a:solidFill>
                  <a:srgbClr val="569CD6"/>
                </a:solidFill>
                <a:latin typeface="Consolas"/>
              </a:rPr>
              <a:t>const </a:t>
            </a:r>
            <a:r>
              <a:rPr lang="en-US" sz="1400" dirty="0">
                <a:solidFill>
                  <a:srgbClr val="D4D4D4"/>
                </a:solidFill>
                <a:latin typeface="Consolas"/>
              </a:rPr>
              <a:t>llmOutput = </a:t>
            </a:r>
            <a:r>
              <a:rPr lang="en-US" sz="1400" dirty="0">
                <a:solidFill>
                  <a:srgbClr val="CE9178"/>
                </a:solidFill>
                <a:latin typeface="Consolas"/>
              </a:rPr>
              <a:t>`</a:t>
            </a:r>
          </a:p>
          <a:p>
            <a:r>
              <a:rPr lang="en-US" sz="1400" dirty="0">
                <a:solidFill>
                  <a:srgbClr val="CE9178"/>
                </a:solidFill>
                <a:latin typeface="Consolas"/>
              </a:rPr>
              <a:t>  I'd be happy to help! </a:t>
            </a:r>
            <a:r>
              <a:rPr lang="en-US" sz="1400" dirty="0">
                <a:solidFill>
                  <a:srgbClr val="6A9955"/>
                </a:solidFill>
                <a:latin typeface="Consolas"/>
              </a:rPr>
              <a:t>← prefix text</a:t>
            </a:r>
          </a:p>
          <a:p>
            <a:endParaRPr lang="en-US" sz="1400" dirty="0">
              <a:solidFill>
                <a:srgbClr val="6A9955"/>
              </a:solidFill>
              <a:latin typeface="Consolas"/>
            </a:endParaRPr>
          </a:p>
          <a:p>
            <a:r>
              <a:rPr lang="en-US" sz="1400" dirty="0">
                <a:solidFill>
                  <a:srgbClr val="CE9178"/>
                </a:solidFill>
                <a:latin typeface="Consolas"/>
              </a:rPr>
              <a:t>  ```</a:t>
            </a:r>
            <a:r>
              <a:rPr lang="en-US" sz="1400" dirty="0" err="1">
                <a:solidFill>
                  <a:srgbClr val="CE9178"/>
                </a:solidFill>
                <a:latin typeface="Consolas"/>
              </a:rPr>
              <a:t>json</a:t>
            </a:r>
            <a:r>
              <a:rPr lang="en-US" sz="1400" dirty="0">
                <a:solidFill>
                  <a:srgbClr val="6A9955"/>
                </a:solidFill>
                <a:latin typeface="Consolas"/>
              </a:rPr>
              <a:t> ← markdown block</a:t>
            </a:r>
          </a:p>
          <a:p>
            <a:r>
              <a:rPr lang="en-US" sz="1400" dirty="0">
                <a:solidFill>
                  <a:srgbClr val="CE9178"/>
                </a:solidFill>
                <a:latin typeface="Consolas"/>
              </a:rPr>
              <a:t>  {</a:t>
            </a:r>
          </a:p>
          <a:p>
            <a:r>
              <a:rPr lang="en-US" sz="1400" dirty="0">
                <a:solidFill>
                  <a:srgbClr val="CE9178"/>
                </a:solidFill>
                <a:latin typeface="Consolas"/>
              </a:rPr>
              <a:t>    "order": {</a:t>
            </a:r>
          </a:p>
          <a:p>
            <a:r>
              <a:rPr lang="en-US" sz="1400" dirty="0">
                <a:solidFill>
                  <a:srgbClr val="CE9178"/>
                </a:solidFill>
                <a:latin typeface="Consolas"/>
              </a:rPr>
              <a:t>      "payment": </a:t>
            </a:r>
            <a:r>
              <a:rPr lang="en-US" sz="1400" dirty="0">
                <a:solidFill>
                  <a:srgbClr val="FF6B6B"/>
                </a:solidFill>
                <a:latin typeface="Consolas"/>
              </a:rPr>
              <a:t>"{\"type\":\"card\“, </a:t>
            </a:r>
            <a:r>
              <a:rPr lang="en-US" sz="1400" dirty="0" err="1">
                <a:solidFill>
                  <a:srgbClr val="FF6B6B"/>
                </a:solidFill>
                <a:latin typeface="Consolas"/>
              </a:rPr>
              <a:t>cardNumber</a:t>
            </a:r>
            <a:r>
              <a:rPr lang="en-US" sz="1400" dirty="0">
                <a:solidFill>
                  <a:srgbClr val="FF6B6B"/>
                </a:solidFill>
                <a:latin typeface="Consolas"/>
              </a:rPr>
              <a:t>: “\1234"</a:t>
            </a:r>
            <a:r>
              <a:rPr lang="en-US" sz="1400" dirty="0">
                <a:solidFill>
                  <a:srgbClr val="6A9955"/>
                </a:solidFill>
                <a:latin typeface="Consolas"/>
              </a:rPr>
              <a:t>  ← double-stringify, but </a:t>
            </a:r>
            <a:r>
              <a:rPr lang="en-US" sz="1400" dirty="0" err="1">
                <a:solidFill>
                  <a:srgbClr val="6A9955"/>
                </a:solidFill>
                <a:latin typeface="Consolas"/>
              </a:rPr>
              <a:t>broken</a:t>
            </a:r>
            <a:endParaRPr lang="en-US" sz="1400" dirty="0">
              <a:solidFill>
                <a:srgbClr val="6A9955"/>
              </a:solidFill>
              <a:latin typeface="Consolas"/>
            </a:endParaRPr>
          </a:p>
          <a:p>
            <a:r>
              <a:rPr lang="en-US" sz="1400" dirty="0">
                <a:solidFill>
                  <a:srgbClr val="CE9178"/>
                </a:solidFill>
                <a:latin typeface="Consolas"/>
              </a:rPr>
              <a:t>      "product": {</a:t>
            </a:r>
          </a:p>
          <a:p>
            <a:r>
              <a:rPr lang="en-US" sz="1400" dirty="0">
                <a:solidFill>
                  <a:srgbClr val="FF6B6B"/>
                </a:solidFill>
                <a:latin typeface="Consolas"/>
              </a:rPr>
              <a:t>        name</a:t>
            </a:r>
            <a:r>
              <a:rPr lang="en-US" sz="1400" dirty="0">
                <a:solidFill>
                  <a:srgbClr val="CE9178"/>
                </a:solidFill>
                <a:latin typeface="Consolas"/>
              </a:rPr>
              <a:t>: "Laptop",</a:t>
            </a:r>
            <a:r>
              <a:rPr lang="en-US" sz="1400" dirty="0">
                <a:solidFill>
                  <a:srgbClr val="6A9955"/>
                </a:solidFill>
                <a:latin typeface="Consolas"/>
              </a:rPr>
              <a:t>    ← unquoted key</a:t>
            </a:r>
          </a:p>
          <a:p>
            <a:r>
              <a:rPr lang="en-US" sz="1400" dirty="0">
                <a:solidFill>
                  <a:srgbClr val="CE9178"/>
                </a:solidFill>
                <a:latin typeface="Consolas"/>
              </a:rPr>
              <a:t>        price: </a:t>
            </a:r>
            <a:r>
              <a:rPr lang="en-US" sz="1400" dirty="0">
                <a:solidFill>
                  <a:srgbClr val="FF6B6B"/>
                </a:solidFill>
                <a:latin typeface="Consolas"/>
              </a:rPr>
              <a:t>“1299.99”</a:t>
            </a:r>
            <a:r>
              <a:rPr lang="en-US" sz="1400" dirty="0">
                <a:solidFill>
                  <a:srgbClr val="CE9178"/>
                </a:solidFill>
                <a:latin typeface="Consolas"/>
              </a:rPr>
              <a:t>,</a:t>
            </a:r>
            <a:r>
              <a:rPr lang="en-US" sz="1400" dirty="0">
                <a:solidFill>
                  <a:srgbClr val="6A9955"/>
                </a:solidFill>
                <a:latin typeface="Consolas"/>
              </a:rPr>
              <a:t>  ← string→number</a:t>
            </a:r>
          </a:p>
          <a:p>
            <a:r>
              <a:rPr lang="en-US" sz="1400" dirty="0">
                <a:solidFill>
                  <a:srgbClr val="CE9178"/>
                </a:solidFill>
                <a:latin typeface="Consolas"/>
              </a:rPr>
              <a:t>        quantity: 2</a:t>
            </a:r>
            <a:r>
              <a:rPr lang="en-US" sz="1400" dirty="0">
                <a:solidFill>
                  <a:srgbClr val="FF6B6B"/>
                </a:solidFill>
                <a:latin typeface="Consolas"/>
              </a:rPr>
              <a:t>,</a:t>
            </a:r>
            <a:r>
              <a:rPr lang="en-US" sz="1400" dirty="0">
                <a:solidFill>
                  <a:srgbClr val="6A9955"/>
                </a:solidFill>
                <a:latin typeface="Consolas"/>
              </a:rPr>
              <a:t>       ← trailing comma</a:t>
            </a:r>
          </a:p>
          <a:p>
            <a:r>
              <a:rPr lang="en-US" sz="1400" dirty="0">
                <a:solidFill>
                  <a:srgbClr val="CE9178"/>
                </a:solidFill>
                <a:latin typeface="Consolas"/>
              </a:rPr>
              <a:t>      },</a:t>
            </a:r>
          </a:p>
          <a:p>
            <a:r>
              <a:rPr lang="en-US" sz="1400" dirty="0">
                <a:solidFill>
                  <a:srgbClr val="CE9178"/>
                </a:solidFill>
                <a:latin typeface="Consolas"/>
              </a:rPr>
              <a:t>      "customer": {</a:t>
            </a:r>
          </a:p>
          <a:p>
            <a:r>
              <a:rPr lang="en-US" sz="1400" dirty="0">
                <a:solidFill>
                  <a:srgbClr val="CE9178"/>
                </a:solidFill>
                <a:latin typeface="Consolas"/>
              </a:rPr>
              <a:t>        vip: </a:t>
            </a:r>
            <a:r>
              <a:rPr lang="en-US" sz="1400" dirty="0" err="1">
                <a:solidFill>
                  <a:srgbClr val="CE9178"/>
                </a:solidFill>
                <a:latin typeface="Consolas"/>
              </a:rPr>
              <a:t>tru</a:t>
            </a:r>
            <a:r>
              <a:rPr lang="en-US" sz="1400" dirty="0">
                <a:solidFill>
                  <a:srgbClr val="6A9955"/>
                </a:solidFill>
                <a:latin typeface="Consolas"/>
              </a:rPr>
              <a:t> ← incomplete keyword</a:t>
            </a:r>
          </a:p>
          <a:p>
            <a:r>
              <a:rPr lang="en-US" sz="1400" dirty="0">
                <a:solidFill>
                  <a:srgbClr val="6A9955"/>
                </a:solidFill>
                <a:latin typeface="Consolas"/>
              </a:rPr>
              <a:t>  ← unclosed brackets</a:t>
            </a:r>
          </a:p>
          <a:p>
            <a:r>
              <a:rPr lang="en-US" sz="1400" dirty="0">
                <a:solidFill>
                  <a:srgbClr val="6A9955"/>
                </a:solidFill>
                <a:latin typeface="Consolas"/>
              </a:rPr>
              <a:t>  ← unclosed markdown block</a:t>
            </a:r>
          </a:p>
          <a:p>
            <a:r>
              <a:rPr lang="en-US" sz="1400" dirty="0">
                <a:solidFill>
                  <a:srgbClr val="CE9178"/>
                </a:solidFill>
                <a:latin typeface="Consolas"/>
              </a:rPr>
              <a:t>`</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569CD6"/>
                </a:solidFill>
                <a:latin typeface="Consolas"/>
              </a:rPr>
              <a:t>const </a:t>
            </a:r>
            <a:r>
              <a:rPr lang="en-US" sz="1400" dirty="0">
                <a:solidFill>
                  <a:srgbClr val="D4D4D4"/>
                </a:solidFill>
                <a:latin typeface="Consolas"/>
              </a:rPr>
              <a:t>result = func</a:t>
            </a:r>
            <a:r>
              <a:rPr lang="en-US" sz="1400" dirty="0">
                <a:solidFill>
                  <a:srgbClr val="9CDCFE"/>
                </a:solidFill>
                <a:latin typeface="Consolas"/>
              </a:rPr>
              <a:t>.parse</a:t>
            </a:r>
            <a:r>
              <a:rPr lang="en-US" sz="1400" dirty="0">
                <a:solidFill>
                  <a:srgbClr val="D4D4D4"/>
                </a:solidFill>
                <a:latin typeface="Consolas"/>
              </a:rPr>
              <a:t>(llmOutput);</a:t>
            </a:r>
            <a:r>
              <a:rPr lang="en-US" sz="1400" dirty="0">
                <a:solidFill>
                  <a:srgbClr val="4EC9B0"/>
                </a:solidFill>
                <a:latin typeface="Consolas"/>
              </a:rPr>
              <a:t> // ✓ all 7 fixed</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A6B727"/>
                </a:solidFill>
                <a:latin typeface="Segoe UI Semibold"/>
                <a:ea typeface="+mn-ea"/>
                <a:cs typeface="+mn-cs"/>
              </a:rPr>
              <a:t>One call to func.parse()</a:t>
            </a:r>
            <a:r>
              <a:rPr lang="en-US" sz="1800" dirty="0">
                <a:ln>
                  <a:noFill/>
                </a:ln>
                <a:solidFill>
                  <a:srgbClr val="A0A0A0"/>
                </a:solidFill>
                <a:latin typeface="Segoe UI"/>
                <a:ea typeface="+mn-ea"/>
                <a:cs typeface="+mn-cs"/>
              </a:rPr>
              <a:t>  —  all 7 problems fixed, zero model changes</a:t>
            </a:r>
          </a:p>
        </p:txBody>
      </p:sp>
      <p:sp>
        <p:nvSpPr>
          <p:cNvPr id="3" name="AL">
            <a:extLst>
              <a:ext uri="{FF2B5EF4-FFF2-40B4-BE49-F238E27FC236}">
                <a16:creationId xmlns:a16="http://schemas.microsoft.com/office/drawing/2014/main" id="{5DF2FFDE-C7D0-496E-96EF-59AE99EE4224}"/>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869798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63F53E74-F1FC-4710-9856-CF000DE5319E}"/>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Schema-Aware Coercion</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Same JSON string — what it becomes depends entirely on the target type</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pPr>
              <a:lnSpc>
                <a:spcPts val="1700"/>
              </a:lnSpc>
            </a:pPr>
            <a:r>
              <a:rPr lang="en-US" sz="1300" dirty="0">
                <a:solidFill>
                  <a:srgbClr val="6A9955"/>
                </a:solidFill>
                <a:latin typeface="Consolas"/>
              </a:rPr>
              <a:t>// Simple coercion — schema-aware</a:t>
            </a:r>
          </a:p>
          <a:p>
            <a:pPr>
              <a:lnSpc>
                <a:spcPts val="1700"/>
              </a:lnSpc>
            </a:pPr>
            <a:r>
              <a:rPr lang="en-US" sz="1300" dirty="0">
                <a:solidFill>
                  <a:srgbClr val="CE9178"/>
                </a:solidFill>
                <a:latin typeface="Consolas"/>
              </a:rPr>
              <a:t>"42"</a:t>
            </a:r>
            <a:r>
              <a:rPr lang="en-US" sz="1300" dirty="0">
                <a:solidFill>
                  <a:srgbClr val="D4D4D4"/>
                </a:solidFill>
                <a:latin typeface="Consolas"/>
              </a:rPr>
              <a:t>          → </a:t>
            </a:r>
            <a:r>
              <a:rPr lang="en-US" sz="1300" dirty="0">
                <a:solidFill>
                  <a:srgbClr val="B5CEA8"/>
                </a:solidFill>
                <a:latin typeface="Consolas"/>
              </a:rPr>
              <a:t>42</a:t>
            </a:r>
            <a:r>
              <a:rPr lang="en-US" sz="1300" dirty="0">
                <a:solidFill>
                  <a:srgbClr val="D4D4D4"/>
                </a:solidFill>
                <a:latin typeface="Consolas"/>
              </a:rPr>
              <a:t>        </a:t>
            </a:r>
            <a:r>
              <a:rPr lang="en-US" sz="1300" dirty="0">
                <a:solidFill>
                  <a:srgbClr val="6A9955"/>
                </a:solidFill>
                <a:latin typeface="Consolas"/>
              </a:rPr>
              <a:t>// schema: number</a:t>
            </a:r>
          </a:p>
          <a:p>
            <a:pPr>
              <a:lnSpc>
                <a:spcPts val="1700"/>
              </a:lnSpc>
            </a:pPr>
            <a:r>
              <a:rPr lang="en-US" sz="1300" dirty="0">
                <a:solidFill>
                  <a:srgbClr val="CE9178"/>
                </a:solidFill>
                <a:latin typeface="Consolas"/>
              </a:rPr>
              <a:t>"true"</a:t>
            </a:r>
            <a:r>
              <a:rPr lang="en-US" sz="1300" dirty="0">
                <a:solidFill>
                  <a:srgbClr val="D4D4D4"/>
                </a:solidFill>
                <a:latin typeface="Consolas"/>
              </a:rPr>
              <a:t>        → </a:t>
            </a:r>
            <a:r>
              <a:rPr lang="en-US" sz="1300" dirty="0">
                <a:solidFill>
                  <a:srgbClr val="569CD6"/>
                </a:solidFill>
                <a:latin typeface="Consolas"/>
              </a:rPr>
              <a:t>true</a:t>
            </a:r>
            <a:r>
              <a:rPr lang="en-US" sz="1300" dirty="0">
                <a:solidFill>
                  <a:srgbClr val="D4D4D4"/>
                </a:solidFill>
                <a:latin typeface="Consolas"/>
              </a:rPr>
              <a:t>      </a:t>
            </a:r>
            <a:r>
              <a:rPr lang="en-US" sz="1300" dirty="0">
                <a:solidFill>
                  <a:srgbClr val="6A9955"/>
                </a:solidFill>
                <a:latin typeface="Consolas"/>
              </a:rPr>
              <a:t>// schema: boolean</a:t>
            </a:r>
          </a:p>
          <a:p>
            <a:pPr>
              <a:lnSpc>
                <a:spcPts val="1700"/>
              </a:lnSpc>
            </a:pPr>
            <a:r>
              <a:rPr lang="en-US" sz="1300" dirty="0">
                <a:solidFill>
                  <a:srgbClr val="CE9178"/>
                </a:solidFill>
                <a:latin typeface="Consolas"/>
              </a:rPr>
              <a:t>"[1,2,3]"</a:t>
            </a:r>
            <a:r>
              <a:rPr lang="en-US" sz="1300" dirty="0">
                <a:solidFill>
                  <a:srgbClr val="D4D4D4"/>
                </a:solidFill>
                <a:latin typeface="Consolas"/>
              </a:rPr>
              <a:t>     → </a:t>
            </a:r>
            <a:r>
              <a:rPr lang="en-US" sz="1300" dirty="0">
                <a:solidFill>
                  <a:srgbClr val="B5CEA8"/>
                </a:solidFill>
                <a:latin typeface="Consolas"/>
              </a:rPr>
              <a:t>[1,2,3]</a:t>
            </a:r>
            <a:r>
              <a:rPr lang="en-US" sz="1300" dirty="0">
                <a:solidFill>
                  <a:srgbClr val="D4D4D4"/>
                </a:solidFill>
                <a:latin typeface="Consolas"/>
              </a:rPr>
              <a:t>   </a:t>
            </a:r>
            <a:r>
              <a:rPr lang="en-US" sz="1300" dirty="0">
                <a:solidFill>
                  <a:srgbClr val="6A9955"/>
                </a:solidFill>
                <a:latin typeface="Consolas"/>
              </a:rPr>
              <a:t>// schema: array</a:t>
            </a:r>
          </a:p>
          <a:p>
            <a:pPr>
              <a:lnSpc>
                <a:spcPts val="1700"/>
              </a:lnSpc>
            </a:pPr>
            <a:endParaRPr lang="en-US" sz="1300" dirty="0">
              <a:solidFill>
                <a:srgbClr val="6A9955"/>
              </a:solidFill>
              <a:latin typeface="Consolas"/>
            </a:endParaRPr>
          </a:p>
          <a:p>
            <a:pPr>
              <a:lnSpc>
                <a:spcPts val="1700"/>
              </a:lnSpc>
            </a:pPr>
            <a:r>
              <a:rPr lang="en-US" sz="1300" dirty="0">
                <a:solidFill>
                  <a:srgbClr val="6A9955"/>
                </a:solidFill>
                <a:latin typeface="Consolas"/>
              </a:rPr>
              <a:t>// The killer: union types (anyOf)</a:t>
            </a:r>
          </a:p>
          <a:p>
            <a:pPr>
              <a:lnSpc>
                <a:spcPts val="1700"/>
              </a:lnSpc>
            </a:pPr>
            <a:r>
              <a:rPr lang="en-US" sz="1300" dirty="0">
                <a:solidFill>
                  <a:srgbClr val="6A9955"/>
                </a:solidFill>
                <a:latin typeface="Consolas"/>
              </a:rPr>
              <a:t>// payment: </a:t>
            </a:r>
            <a:r>
              <a:rPr lang="en-US" sz="1300" dirty="0">
                <a:solidFill>
                  <a:srgbClr val="4EC9B0"/>
                </a:solidFill>
                <a:latin typeface="Consolas"/>
              </a:rPr>
              <a:t>ICardPayment</a:t>
            </a:r>
            <a:r>
              <a:rPr lang="en-US" sz="1300" dirty="0">
                <a:solidFill>
                  <a:srgbClr val="6A9955"/>
                </a:solidFill>
                <a:latin typeface="Consolas"/>
              </a:rPr>
              <a:t> | </a:t>
            </a:r>
            <a:r>
              <a:rPr lang="en-US" sz="1300" dirty="0">
                <a:solidFill>
                  <a:srgbClr val="4EC9B0"/>
                </a:solidFill>
                <a:latin typeface="Consolas"/>
              </a:rPr>
              <a:t>IBankTransfer</a:t>
            </a:r>
          </a:p>
          <a:p>
            <a:pPr>
              <a:lnSpc>
                <a:spcPts val="1700"/>
              </a:lnSpc>
            </a:pPr>
            <a:endParaRPr lang="en-US" sz="1300" dirty="0">
              <a:solidFill>
                <a:srgbClr val="4EC9B0"/>
              </a:solidFill>
              <a:latin typeface="Consolas"/>
            </a:endParaRPr>
          </a:p>
          <a:p>
            <a:pPr>
              <a:lnSpc>
                <a:spcPts val="1700"/>
              </a:lnSpc>
            </a:pPr>
            <a:r>
              <a:rPr lang="en-US" sz="1300" dirty="0">
                <a:solidFill>
                  <a:srgbClr val="6A9955"/>
                </a:solidFill>
                <a:latin typeface="Consolas"/>
              </a:rPr>
              <a:t>// LLM returns:</a:t>
            </a:r>
          </a:p>
          <a:p>
            <a:pPr>
              <a:lnSpc>
                <a:spcPts val="1700"/>
              </a:lnSpc>
            </a:pPr>
            <a:r>
              <a:rPr lang="en-US" sz="1300" dirty="0">
                <a:solidFill>
                  <a:srgbClr val="CE9178"/>
                </a:solidFill>
                <a:latin typeface="Consolas"/>
              </a:rPr>
              <a:t>"{\"type\":\"card\",</a:t>
            </a:r>
            <a:r>
              <a:rPr lang="en-US" sz="1300" dirty="0" err="1">
                <a:solidFill>
                  <a:srgbClr val="CE9178"/>
                </a:solidFill>
                <a:latin typeface="Consolas"/>
              </a:rPr>
              <a:t>cardNumber</a:t>
            </a:r>
            <a:r>
              <a:rPr lang="en-US" sz="1300" dirty="0">
                <a:solidFill>
                  <a:srgbClr val="CE9178"/>
                </a:solidFill>
                <a:latin typeface="Consolas"/>
              </a:rPr>
              <a:t>:\"1234</a:t>
            </a:r>
          </a:p>
          <a:p>
            <a:pPr>
              <a:lnSpc>
                <a:spcPts val="1700"/>
              </a:lnSpc>
            </a:pPr>
            <a:endParaRPr lang="en-US" sz="1300" dirty="0">
              <a:solidFill>
                <a:srgbClr val="CE9178"/>
              </a:solidFill>
              <a:latin typeface="Consolas"/>
            </a:endParaRPr>
          </a:p>
          <a:p>
            <a:pPr>
              <a:lnSpc>
                <a:spcPts val="1700"/>
              </a:lnSpc>
            </a:pPr>
            <a:r>
              <a:rPr lang="en-US" sz="1300" dirty="0">
                <a:solidFill>
                  <a:srgbClr val="FF6B6B"/>
                </a:solidFill>
                <a:latin typeface="Consolas"/>
              </a:rPr>
              <a:t>// jsonrepair, dirty-json, LangChain:</a:t>
            </a:r>
          </a:p>
          <a:p>
            <a:pPr>
              <a:lnSpc>
                <a:spcPts val="1700"/>
              </a:lnSpc>
            </a:pPr>
            <a:r>
              <a:rPr lang="en-US" sz="1300" dirty="0">
                <a:solidFill>
                  <a:srgbClr val="FF6B6B"/>
                </a:solidFill>
                <a:latin typeface="Consolas"/>
              </a:rPr>
              <a:t>//   → passes through. Valid string. No schema = no clue.</a:t>
            </a:r>
          </a:p>
          <a:p>
            <a:pPr>
              <a:lnSpc>
                <a:spcPts val="1700"/>
              </a:lnSpc>
            </a:pPr>
            <a:endParaRPr lang="en-US" sz="1300" dirty="0">
              <a:solidFill>
                <a:srgbClr val="FF6B6B"/>
              </a:solidFill>
              <a:latin typeface="Consolas"/>
            </a:endParaRPr>
          </a:p>
          <a:p>
            <a:pPr>
              <a:lnSpc>
                <a:spcPts val="1700"/>
              </a:lnSpc>
            </a:pPr>
            <a:r>
              <a:rPr lang="en-US" sz="1300" dirty="0">
                <a:solidFill>
                  <a:srgbClr val="4EC9B0"/>
                </a:solidFill>
                <a:latin typeface="Consolas"/>
              </a:rPr>
              <a:t>// Typia coerce():</a:t>
            </a:r>
          </a:p>
          <a:p>
            <a:pPr>
              <a:lnSpc>
                <a:spcPts val="1700"/>
              </a:lnSpc>
            </a:pPr>
            <a:r>
              <a:rPr lang="en-US" sz="1300" dirty="0">
                <a:solidFill>
                  <a:srgbClr val="4EC9B0"/>
                </a:solidFill>
                <a:latin typeface="Consolas"/>
              </a:rPr>
              <a:t>//   schema expects object → string found → re-enter parse()</a:t>
            </a:r>
          </a:p>
          <a:p>
            <a:pPr>
              <a:lnSpc>
                <a:spcPts val="1700"/>
              </a:lnSpc>
            </a:pPr>
            <a:r>
              <a:rPr lang="en-US" sz="1300" dirty="0">
                <a:solidFill>
                  <a:srgbClr val="4EC9B0"/>
                </a:solidFill>
                <a:latin typeface="Consolas"/>
              </a:rPr>
              <a:t>//   → </a:t>
            </a:r>
            <a:r>
              <a:rPr lang="en-US" sz="1300" dirty="0">
                <a:solidFill>
                  <a:srgbClr val="D4D4D4"/>
                </a:solidFill>
                <a:latin typeface="Consolas"/>
              </a:rPr>
              <a:t>{ type: </a:t>
            </a:r>
            <a:r>
              <a:rPr lang="en-US" sz="1300" dirty="0">
                <a:solidFill>
                  <a:srgbClr val="CE9178"/>
                </a:solidFill>
                <a:latin typeface="Consolas"/>
              </a:rPr>
              <a:t>"card"</a:t>
            </a:r>
            <a:r>
              <a:rPr lang="en-US" sz="1300" dirty="0">
                <a:solidFill>
                  <a:srgbClr val="D4D4D4"/>
                </a:solidFill>
                <a:latin typeface="Consolas"/>
              </a:rPr>
              <a:t>, cardNumber: </a:t>
            </a:r>
            <a:r>
              <a:rPr lang="en-US" sz="1300" dirty="0">
                <a:solidFill>
                  <a:srgbClr val="CE9178"/>
                </a:solidFill>
                <a:latin typeface="Consolas"/>
              </a:rPr>
              <a:t>"1234"</a:t>
            </a:r>
            <a:r>
              <a:rPr lang="en-US" sz="1300" dirty="0">
                <a:solidFill>
                  <a:srgbClr val="D4D4D4"/>
                </a:solidFill>
                <a:latin typeface="Consolas"/>
              </a:rPr>
              <a:t> }</a:t>
            </a:r>
            <a:r>
              <a:rPr lang="en-US" sz="1300" dirty="0">
                <a:solidFill>
                  <a:srgbClr val="4EC9B0"/>
                </a:solidFill>
                <a:latin typeface="Consolas"/>
              </a:rPr>
              <a:t>  ✓</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FE9E00"/>
                </a:solidFill>
                <a:latin typeface="Segoe UI Semibold"/>
                <a:ea typeface="+mn-ea"/>
                <a:cs typeface="+mn-cs"/>
              </a:rPr>
              <a:t>No schema = no coercion.</a:t>
            </a:r>
            <a:r>
              <a:rPr lang="en-US" sz="1800" dirty="0">
                <a:ln>
                  <a:noFill/>
                </a:ln>
                <a:solidFill>
                  <a:srgbClr val="A0A0A0"/>
                </a:solidFill>
                <a:latin typeface="Segoe UI"/>
                <a:ea typeface="+mn-ea"/>
                <a:cs typeface="+mn-cs"/>
              </a:rPr>
              <a:t>  The compiler-generated schema is the coercion engine.</a:t>
            </a:r>
          </a:p>
        </p:txBody>
      </p:sp>
      <p:sp>
        <p:nvSpPr>
          <p:cNvPr id="3" name="AL">
            <a:extLst>
              <a:ext uri="{FF2B5EF4-FFF2-40B4-BE49-F238E27FC236}">
                <a16:creationId xmlns:a16="http://schemas.microsoft.com/office/drawing/2014/main" id="{8104B758-4654-4197-8C48-EFF6B39A0E40}"/>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353743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The parse() coerce() Recursive Cycle</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10000"/>
          </a:bodyPr>
          <a:lstStyle/>
          <a:p>
            <a:pPr>
              <a:buNone/>
            </a:pPr>
            <a:r>
              <a:rPr lang="en-US" sz="1800" b="1" dirty="0"/>
              <a:t>parse()</a:t>
            </a:r>
          </a:p>
          <a:p>
            <a:pPr>
              <a:buFont typeface="Arial"/>
              <a:buChar char="•"/>
            </a:pPr>
            <a:r>
              <a:rPr lang="en-US" sz="1800" dirty="0"/>
              <a:t>LLM raw output → schema-aware greedy parsing</a:t>
            </a:r>
          </a:p>
          <a:p>
            <a:pPr>
              <a:buFont typeface="Arial"/>
              <a:buChar char="•"/>
            </a:pPr>
            <a:r>
              <a:rPr lang="en-US" sz="1800" dirty="0"/>
              <a:t>Broken JSON recovery</a:t>
            </a:r>
          </a:p>
          <a:p>
            <a:pPr>
              <a:buFont typeface="Arial"/>
              <a:buChar char="•"/>
            </a:pPr>
            <a:r>
              <a:rPr lang="en-US" sz="1800" dirty="0"/>
              <a:t>String where schema expects object? → Re-enters parse()</a:t>
            </a:r>
          </a:p>
          <a:p>
            <a:pPr>
              <a:buNone/>
            </a:pPr>
            <a:endParaRPr lang="en-US" sz="800" dirty="0"/>
          </a:p>
          <a:p>
            <a:pPr>
              <a:buNone/>
            </a:pPr>
            <a:r>
              <a:rPr lang="en-US" sz="1800" b="1" dirty="0"/>
              <a:t>coerce()</a:t>
            </a:r>
          </a:p>
          <a:p>
            <a:pPr>
              <a:buFont typeface="Arial"/>
              <a:buChar char="•"/>
            </a:pPr>
            <a:r>
              <a:rPr lang="en-US" sz="1800" dirty="0"/>
              <a:t>Typed object → schema-based type conversion</a:t>
            </a:r>
          </a:p>
          <a:p>
            <a:pPr>
              <a:buFont typeface="Arial"/>
              <a:buChar char="•"/>
            </a:pPr>
            <a:r>
              <a:rPr lang="en-US" sz="1800" dirty="0"/>
              <a:t>Finds another string-where-object? → Back to parse()</a:t>
            </a:r>
          </a:p>
          <a:p>
            <a:pPr>
              <a:buFont typeface="Arial"/>
              <a:buChar char="•"/>
            </a:pPr>
            <a:r>
              <a:rPr lang="en-US" sz="1800" dirty="0"/>
              <a:t>Repeat until all layers unwound</a:t>
            </a:r>
          </a:p>
          <a:p>
            <a:pPr>
              <a:buNone/>
            </a:pPr>
            <a:endParaRPr lang="en-US" sz="800" dirty="0"/>
          </a:p>
          <a:p>
            <a:pPr>
              <a:buNone/>
            </a:pPr>
            <a:r>
              <a:rPr lang="en-US" sz="1800" b="1" dirty="0"/>
              <a:t>string → parse() → object → coerce() → finds string → parse() → ... → fully typed result</a:t>
            </a:r>
          </a:p>
        </p:txBody>
      </p:sp>
    </p:spTree>
    <p:extLst>
      <p:ext uri="{BB962C8B-B14F-4D97-AF65-F5344CB8AC3E}">
        <p14:creationId xmlns:p14="http://schemas.microsoft.com/office/powerpoint/2010/main" val="3474072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Validation &amp; Precise Feedback</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buNone/>
            </a:pPr>
            <a:r>
              <a:rPr lang="en-US" sz="1800" b="1" dirty="0"/>
              <a:t>validate() detects violations at exact paths</a:t>
            </a:r>
          </a:p>
          <a:p>
            <a:pPr>
              <a:buFont typeface="Arial"/>
              <a:buChar char="•"/>
            </a:pPr>
            <a:r>
              <a:rPr lang="en-US" sz="1800" dirty="0"/>
              <a:t>path: $input.order.product.price</a:t>
            </a:r>
          </a:p>
          <a:p>
            <a:pPr>
              <a:buFont typeface="Arial"/>
              <a:buChar char="•"/>
            </a:pPr>
            <a:r>
              <a:rPr lang="en-US" sz="1800" dirty="0"/>
              <a:t>expected: number &amp; Minimum&lt;0&gt;  |  value: -100</a:t>
            </a:r>
          </a:p>
          <a:p>
            <a:pPr>
              <a:buNone/>
            </a:pPr>
            <a:endParaRPr lang="en-US" sz="800" dirty="0"/>
          </a:p>
          <a:p>
            <a:pPr>
              <a:buNone/>
            </a:pPr>
            <a:r>
              <a:rPr lang="en-US" sz="1800" b="1" dirty="0"/>
              <a:t>Surgical precision</a:t>
            </a:r>
          </a:p>
          <a:p>
            <a:pPr>
              <a:buFont typeface="Arial"/>
              <a:buChar char="•"/>
            </a:pPr>
            <a:r>
              <a:rPr lang="en-US" sz="1800" dirty="0"/>
              <a:t>Exact path + expected type + actual value</a:t>
            </a:r>
          </a:p>
          <a:p>
            <a:pPr>
              <a:buFont typeface="Arial"/>
              <a:buChar char="•"/>
            </a:pPr>
            <a:r>
              <a:rPr lang="en-US" sz="1800" dirty="0"/>
              <a:t>= LLM can self-correct in the next attempt</a:t>
            </a:r>
          </a:p>
          <a:p>
            <a:pPr>
              <a:buNone/>
            </a:pPr>
            <a:endParaRPr lang="en-US" sz="800" dirty="0"/>
          </a:p>
          <a:p>
            <a:pPr>
              <a:buNone/>
            </a:pPr>
            <a:r>
              <a:rPr lang="en-US" sz="1800" b="1" dirty="0"/>
              <a:t>Not "none of the 10 variants matched" — but exactly which field failed and why</a:t>
            </a:r>
          </a:p>
        </p:txBody>
      </p:sp>
    </p:spTree>
    <p:extLst>
      <p:ext uri="{BB962C8B-B14F-4D97-AF65-F5344CB8AC3E}">
        <p14:creationId xmlns:p14="http://schemas.microsoft.com/office/powerpoint/2010/main" val="14320010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298AA57F-AEB2-4790-A8B7-B62A0F532266}"/>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Validation Feedback</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The LLM sees exactly where it went wrong — on its own JSON</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254500"/>
          </a:xfrm>
          <a:prstGeom prst="rect">
            <a:avLst/>
          </a:prstGeom>
          <a:noFill/>
          <a:ln>
            <a:noFill/>
          </a:ln>
        </p:spPr>
        <p:txBody>
          <a:bodyPr wrap="square" lIns="0" tIns="0" rIns="0" bIns="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 </a:t>
            </a:r>
            <a:r>
              <a:rPr lang="en-US" sz="1400" dirty="0">
                <a:solidFill>
                  <a:srgbClr val="FF6B6B"/>
                </a:solidFill>
                <a:latin typeface="Consolas"/>
              </a:rPr>
              <a:t>// ❌ [{"path":"$input.order.customer.vip","expected":"boolean"}]</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DF5327"/>
                </a:solidFill>
                <a:latin typeface="Segoe UI Semibold"/>
                <a:ea typeface="+mn-ea"/>
                <a:cs typeface="+mn-cs"/>
              </a:rPr>
              <a:t>5 errors, 5 exact paths</a:t>
            </a:r>
            <a:r>
              <a:rPr lang="en-US" sz="1800" dirty="0">
                <a:ln>
                  <a:noFill/>
                </a:ln>
                <a:solidFill>
                  <a:srgbClr val="A0A0A0"/>
                </a:solidFill>
                <a:latin typeface="Segoe UI"/>
                <a:ea typeface="+mn-ea"/>
                <a:cs typeface="+mn-cs"/>
              </a:rPr>
              <a:t>  —  fix only what’s broken, keep everything else</a:t>
            </a:r>
          </a:p>
        </p:txBody>
      </p:sp>
      <p:sp>
        <p:nvSpPr>
          <p:cNvPr id="3" name="AL">
            <a:extLst>
              <a:ext uri="{FF2B5EF4-FFF2-40B4-BE49-F238E27FC236}">
                <a16:creationId xmlns:a16="http://schemas.microsoft.com/office/drawing/2014/main" id="{5AAB71ED-8F04-4FD9-9941-57A8837F6261}"/>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122088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4024-5850-4C2B-1D47-1E40A9357DA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FB0B2D8-6AAF-F6FA-71CE-16D43D3F6F4F}"/>
              </a:ext>
            </a:extLst>
          </p:cNvPr>
          <p:cNvSpPr>
            <a:spLocks noGrp="1"/>
          </p:cNvSpPr>
          <p:nvPr>
            <p:ph type="title"/>
          </p:nvPr>
        </p:nvSpPr>
        <p:spPr/>
        <p:txBody>
          <a:bodyPr/>
          <a:lstStyle/>
          <a:p>
            <a:pPr>
              <a:buNone/>
            </a:pPr>
            <a:r>
              <a:rPr lang="en-US" sz="2800" b="1" dirty="0">
                <a:solidFill>
                  <a:srgbClr val="222222"/>
                </a:solidFill>
                <a:latin typeface="Segoe UI Semibold"/>
              </a:rPr>
              <a:t>The Only Compiler-Level Solution</a:t>
            </a:r>
          </a:p>
        </p:txBody>
      </p:sp>
      <p:sp>
        <p:nvSpPr>
          <p:cNvPr id="3" name="내용 개체 틀 2">
            <a:extLst>
              <a:ext uri="{FF2B5EF4-FFF2-40B4-BE49-F238E27FC236}">
                <a16:creationId xmlns:a16="http://schemas.microsoft.com/office/drawing/2014/main" id="{B5B743BA-3E45-D5E4-43F6-0E70D319E0DE}"/>
              </a:ext>
            </a:extLst>
          </p:cNvPr>
          <p:cNvSpPr>
            <a:spLocks noGrp="1"/>
          </p:cNvSpPr>
          <p:nvPr>
            <p:ph idx="1"/>
          </p:nvPr>
        </p:nvSpPr>
        <p:spPr/>
        <p:txBody>
          <a:bodyPr/>
          <a:lstStyle/>
          <a:p>
            <a:pPr>
              <a:buNone/>
            </a:pPr>
            <a:r>
              <a:rPr lang="en-US" sz="1800" dirty="0">
                <a:solidFill>
                  <a:srgbClr val="555555"/>
                </a:solidFill>
                <a:latin typeface="Segoe UI"/>
              </a:rPr>
              <a:t>Typia is the only framework that operates at the compiler level</a:t>
            </a:r>
          </a:p>
          <a:p>
            <a:pPr>
              <a:buNone/>
            </a:pPr>
            <a:r>
              <a:rPr lang="en-US" sz="1800" dirty="0">
                <a:solidFill>
                  <a:srgbClr val="555555"/>
                </a:solidFill>
                <a:latin typeface="Segoe UI"/>
              </a:rPr>
              <a:t>and supports all four in a single integrated pipeline:</a:t>
            </a:r>
          </a:p>
          <a:p>
            <a:pPr>
              <a:buNone/>
            </a:pPr>
            <a:endParaRPr lang="en-US" sz="1400" dirty="0"/>
          </a:p>
          <a:p>
            <a:pPr marL="457200" indent="-457200">
              <a:buFont typeface="Segoe UI Semibold"/>
              <a:buAutoNum type="arabicPeriod"/>
            </a:pPr>
            <a:r>
              <a:rPr lang="en-US" sz="2000" b="1" dirty="0">
                <a:solidFill>
                  <a:srgbClr val="222222"/>
                </a:solidFill>
                <a:latin typeface="Segoe UI Semibold"/>
              </a:rPr>
              <a:t>Schema Generation</a:t>
            </a:r>
            <a:r>
              <a:rPr lang="en-US" sz="2000" dirty="0">
                <a:solidFill>
                  <a:srgbClr val="555555"/>
                </a:solidFill>
                <a:latin typeface="Segoe UI"/>
              </a:rPr>
              <a:t>  —  from TypeScript types at compile time</a:t>
            </a:r>
          </a:p>
          <a:p>
            <a:pPr marL="457200" indent="-457200">
              <a:buFont typeface="Segoe UI Semibold"/>
              <a:buAutoNum type="arabicPeriod"/>
            </a:pPr>
            <a:r>
              <a:rPr lang="en-US" sz="2000" b="1" dirty="0">
                <a:solidFill>
                  <a:srgbClr val="222222"/>
                </a:solidFill>
                <a:latin typeface="Segoe UI Semibold"/>
              </a:rPr>
              <a:t>Lenient Parsing</a:t>
            </a:r>
            <a:r>
              <a:rPr lang="en-US" sz="2000" dirty="0">
                <a:solidFill>
                  <a:srgbClr val="555555"/>
                </a:solidFill>
                <a:latin typeface="Segoe UI"/>
              </a:rPr>
              <a:t>  —  broken JSON recovery + type coercion</a:t>
            </a:r>
          </a:p>
          <a:p>
            <a:pPr marL="457200" indent="-457200">
              <a:buFont typeface="Segoe UI Semibold"/>
              <a:buAutoNum type="arabicPeriod"/>
            </a:pPr>
            <a:r>
              <a:rPr lang="en-US" sz="2000" b="1" dirty="0">
                <a:solidFill>
                  <a:srgbClr val="222222"/>
                </a:solidFill>
                <a:latin typeface="Segoe UI Semibold"/>
              </a:rPr>
              <a:t>Validation</a:t>
            </a:r>
            <a:r>
              <a:rPr lang="en-US" sz="2000" dirty="0">
                <a:solidFill>
                  <a:srgbClr val="555555"/>
                </a:solidFill>
                <a:latin typeface="Segoe UI"/>
              </a:rPr>
              <a:t>  —  exact path + expected type for every error</a:t>
            </a:r>
          </a:p>
          <a:p>
            <a:pPr marL="457200" indent="-457200">
              <a:buFont typeface="Segoe UI Semibold"/>
              <a:buAutoNum type="arabicPeriod"/>
            </a:pPr>
            <a:r>
              <a:rPr lang="en-US" sz="2000" b="1" dirty="0">
                <a:solidFill>
                  <a:srgbClr val="222222"/>
                </a:solidFill>
                <a:latin typeface="Segoe UI Semibold"/>
              </a:rPr>
              <a:t>Feedback Generation</a:t>
            </a:r>
            <a:r>
              <a:rPr lang="en-US" sz="2000" dirty="0">
                <a:solidFill>
                  <a:srgbClr val="555555"/>
                </a:solidFill>
                <a:latin typeface="Segoe UI"/>
              </a:rPr>
              <a:t>  —  LLM-readable structured error report</a:t>
            </a:r>
          </a:p>
          <a:p>
            <a:pPr>
              <a:buNone/>
            </a:pPr>
            <a:endParaRPr lang="en-US" sz="1400" dirty="0"/>
          </a:p>
        </p:txBody>
      </p:sp>
    </p:spTree>
    <p:extLst>
      <p:ext uri="{BB962C8B-B14F-4D97-AF65-F5344CB8AC3E}">
        <p14:creationId xmlns:p14="http://schemas.microsoft.com/office/powerpoint/2010/main" val="3738898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49663B1-8B78-A46F-3EC2-96FCB1420C93}"/>
              </a:ext>
            </a:extLst>
          </p:cNvPr>
          <p:cNvSpPr>
            <a:spLocks noGrp="1"/>
          </p:cNvSpPr>
          <p:nvPr>
            <p:ph type="title"/>
          </p:nvPr>
        </p:nvSpPr>
        <p:spPr/>
        <p:txBody>
          <a:bodyPr/>
          <a:lstStyle/>
          <a:p>
            <a:pPr>
              <a:buNone/>
            </a:pPr>
            <a:r>
              <a:rPr lang="en-US" sz="2800" b="1" dirty="0">
                <a:solidFill>
                  <a:srgbClr val="222222"/>
                </a:solidFill>
                <a:latin typeface="Segoe UI Semibold"/>
              </a:rPr>
              <a:t>The Only Union Type Support</a:t>
            </a:r>
          </a:p>
        </p:txBody>
      </p:sp>
      <p:sp>
        <p:nvSpPr>
          <p:cNvPr id="3" name="내용 개체 틀 2">
            <a:extLst>
              <a:ext uri="{FF2B5EF4-FFF2-40B4-BE49-F238E27FC236}">
                <a16:creationId xmlns:a16="http://schemas.microsoft.com/office/drawing/2014/main" id="{83299BB8-7EC8-6B6F-3519-49D1697D7520}"/>
              </a:ext>
            </a:extLst>
          </p:cNvPr>
          <p:cNvSpPr>
            <a:spLocks noGrp="1"/>
          </p:cNvSpPr>
          <p:nvPr>
            <p:ph idx="1"/>
          </p:nvPr>
        </p:nvSpPr>
        <p:spPr/>
        <p:txBody>
          <a:bodyPr>
            <a:normAutofit fontScale="92500" lnSpcReduction="10000"/>
          </a:bodyPr>
          <a:lstStyle/>
          <a:p>
            <a:pPr>
              <a:buNone/>
            </a:pPr>
            <a:r>
              <a:rPr lang="en-US" sz="1800" dirty="0">
                <a:solidFill>
                  <a:srgbClr val="555555"/>
                </a:solidFill>
                <a:latin typeface="Segoe UI"/>
              </a:rPr>
              <a:t>Recursive unions (anyOf / oneOf) cause combinatorial explosion.</a:t>
            </a:r>
          </a:p>
          <a:p>
            <a:pPr>
              <a:buNone/>
            </a:pPr>
            <a:r>
              <a:rPr lang="en-US" sz="1800" dirty="0">
                <a:solidFill>
                  <a:srgbClr val="555555"/>
                </a:solidFill>
                <a:latin typeface="Segoe UI"/>
              </a:rPr>
              <a:t>10 variants × 3 levels = 1,000 paths.  30 variants = 27,000.</a:t>
            </a:r>
          </a:p>
          <a:p>
            <a:pPr>
              <a:buNone/>
            </a:pPr>
            <a:endParaRPr lang="en-US" sz="1200" dirty="0"/>
          </a:p>
          <a:p>
            <a:pPr>
              <a:buNone/>
            </a:pPr>
            <a:r>
              <a:rPr lang="en-US" sz="1800" dirty="0">
                <a:solidFill>
                  <a:srgbClr val="555555"/>
                </a:solidFill>
                <a:latin typeface="Segoe UI"/>
              </a:rPr>
              <a:t>Only Typia handles union types across the entire pipeline:</a:t>
            </a:r>
          </a:p>
          <a:p>
            <a:pPr>
              <a:buNone/>
            </a:pPr>
            <a:endParaRPr lang="en-US" sz="1000" dirty="0"/>
          </a:p>
          <a:p>
            <a:pPr marL="457200" indent="-457200">
              <a:buFont typeface="Segoe UI Semibold"/>
              <a:buAutoNum type="arabicPeriod"/>
            </a:pPr>
            <a:r>
              <a:rPr lang="en-US" sz="2000" b="1" dirty="0">
                <a:solidFill>
                  <a:srgbClr val="222222"/>
                </a:solidFill>
                <a:latin typeface="Segoe UI Semibold"/>
              </a:rPr>
              <a:t>parse()</a:t>
            </a:r>
            <a:r>
              <a:rPr lang="en-US" sz="2000" dirty="0">
                <a:solidFill>
                  <a:srgbClr val="555555"/>
                </a:solidFill>
                <a:latin typeface="Segoe UI"/>
              </a:rPr>
              <a:t>  —  schema-aware parsing that unwraps double-stringify</a:t>
            </a:r>
          </a:p>
          <a:p>
            <a:pPr marL="457200" indent="-457200">
              <a:buFont typeface="Segoe UI Semibold"/>
              <a:buAutoNum type="arabicPeriod"/>
            </a:pPr>
            <a:r>
              <a:rPr lang="en-US" sz="2000" b="1" dirty="0">
                <a:solidFill>
                  <a:srgbClr val="222222"/>
                </a:solidFill>
                <a:latin typeface="Segoe UI Semibold"/>
              </a:rPr>
              <a:t>coerce()</a:t>
            </a:r>
            <a:r>
              <a:rPr lang="en-US" sz="2000" dirty="0">
                <a:solidFill>
                  <a:srgbClr val="555555"/>
                </a:solidFill>
                <a:latin typeface="Segoe UI"/>
              </a:rPr>
              <a:t>  —  type coercion that identifies the intended variant</a:t>
            </a:r>
          </a:p>
          <a:p>
            <a:pPr marL="457200" indent="-457200">
              <a:buFont typeface="Segoe UI Semibold"/>
              <a:buAutoNum type="arabicPeriod"/>
            </a:pPr>
            <a:r>
              <a:rPr lang="en-US" sz="2000" b="1" dirty="0">
                <a:solidFill>
                  <a:srgbClr val="222222"/>
                </a:solidFill>
                <a:latin typeface="Segoe UI Semibold"/>
              </a:rPr>
              <a:t>validate()</a:t>
            </a:r>
            <a:r>
              <a:rPr lang="en-US" sz="2000" dirty="0">
                <a:solidFill>
                  <a:srgbClr val="555555"/>
                </a:solidFill>
                <a:latin typeface="Segoe UI"/>
              </a:rPr>
              <a:t>  —  pinpoints errors within the correct variant</a:t>
            </a:r>
          </a:p>
          <a:p>
            <a:pPr>
              <a:buNone/>
            </a:pPr>
            <a:endParaRPr lang="en-US" sz="1200" dirty="0"/>
          </a:p>
          <a:p>
            <a:pPr>
              <a:buNone/>
            </a:pPr>
            <a:r>
              <a:rPr lang="en-US" sz="1800" b="1" dirty="0">
                <a:solidFill>
                  <a:srgbClr val="222222"/>
                </a:solidFill>
                <a:latin typeface="Segoe UI Semibold"/>
              </a:rPr>
              <a:t>Especially, validation feedback on union types</a:t>
            </a:r>
          </a:p>
          <a:p>
            <a:pPr>
              <a:buNone/>
            </a:pPr>
            <a:r>
              <a:rPr lang="en-US" sz="1800" b="1" dirty="0">
                <a:solidFill>
                  <a:srgbClr val="222222"/>
                </a:solidFill>
                <a:latin typeface="Segoe UI Semibold"/>
              </a:rPr>
              <a:t>is a Typia-only capability. No alternative exists.</a:t>
            </a:r>
          </a:p>
        </p:txBody>
      </p:sp>
    </p:spTree>
    <p:extLst>
      <p:ext uri="{BB962C8B-B14F-4D97-AF65-F5344CB8AC3E}">
        <p14:creationId xmlns:p14="http://schemas.microsoft.com/office/powerpoint/2010/main" val="11494703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Harness Engineering: AutoBe + Typia</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20000"/>
          </a:bodyPr>
          <a:lstStyle/>
          <a:p>
            <a:pPr>
              <a:buNone/>
            </a:pPr>
            <a:r>
              <a:rPr lang="en-US" sz="1800" b="1" dirty="0"/>
              <a:t>Typia Layer (Function Calling level)</a:t>
            </a:r>
          </a:p>
          <a:p>
            <a:pPr>
              <a:buFont typeface="Arial"/>
              <a:buChar char="•"/>
            </a:pPr>
            <a:r>
              <a:rPr lang="en-US" sz="1800" dirty="0"/>
              <a:t>Type → auto schema generation</a:t>
            </a:r>
          </a:p>
          <a:p>
            <a:pPr>
              <a:buFont typeface="Arial"/>
              <a:buChar char="•"/>
            </a:pPr>
            <a:r>
              <a:rPr lang="en-US" sz="1800" dirty="0"/>
              <a:t>Broken JSON recovery (lenient parsing)</a:t>
            </a:r>
          </a:p>
          <a:p>
            <a:pPr>
              <a:buFont typeface="Arial"/>
              <a:buChar char="•"/>
            </a:pPr>
            <a:r>
              <a:rPr lang="en-US" sz="1800" dirty="0"/>
              <a:t>Schema-based type coercion</a:t>
            </a:r>
          </a:p>
          <a:p>
            <a:pPr>
              <a:buFont typeface="Arial"/>
              <a:buChar char="•"/>
            </a:pPr>
            <a:r>
              <a:rPr lang="en-US" sz="1800" dirty="0"/>
              <a:t>Precise error feedback (validation feedback)</a:t>
            </a:r>
          </a:p>
          <a:p>
            <a:pPr>
              <a:buNone/>
            </a:pPr>
            <a:endParaRPr lang="en-US" sz="800" dirty="0"/>
          </a:p>
          <a:p>
            <a:pPr>
              <a:buNone/>
            </a:pPr>
            <a:r>
              <a:rPr lang="en-US" sz="1800" b="1" dirty="0"/>
              <a:t>AutoBe Layer (system level)</a:t>
            </a:r>
          </a:p>
          <a:p>
            <a:pPr>
              <a:buFont typeface="Arial"/>
              <a:buChar char="•"/>
            </a:pPr>
            <a:r>
              <a:rPr lang="en-US" sz="1800" dirty="0"/>
              <a:t>4 AST types + 4-tier compiler validation</a:t>
            </a:r>
          </a:p>
          <a:p>
            <a:pPr>
              <a:buFont typeface="Arial"/>
              <a:buChar char="•"/>
            </a:pPr>
            <a:r>
              <a:rPr lang="en-US" sz="1800" dirty="0"/>
              <a:t>Self-healing loops (diagnostics → correction)</a:t>
            </a:r>
          </a:p>
          <a:p>
            <a:pPr>
              <a:buFont typeface="Arial"/>
              <a:buChar char="•"/>
            </a:pPr>
            <a:r>
              <a:rPr lang="en-US" sz="1800" dirty="0"/>
              <a:t>40+ agent collaboration + batch + prompt caching</a:t>
            </a:r>
          </a:p>
          <a:p>
            <a:pPr>
              <a:buNone/>
            </a:pPr>
            <a:endParaRPr lang="en-US" sz="800" dirty="0"/>
          </a:p>
          <a:p>
            <a:pPr>
              <a:buNone/>
            </a:pPr>
            <a:r>
              <a:rPr lang="en-US" sz="1800" b="1" dirty="0"/>
              <a:t>Typia makes FC I/O robust. AutoBe ensures system-wide consistency. Together = the harness.</a:t>
            </a:r>
          </a:p>
        </p:txBody>
      </p:sp>
    </p:spTree>
    <p:extLst>
      <p:ext uri="{BB962C8B-B14F-4D97-AF65-F5344CB8AC3E}">
        <p14:creationId xmlns:p14="http://schemas.microsoft.com/office/powerpoint/2010/main" val="8701798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 </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lgn="ctr">
              <a:buNone/>
            </a:pPr>
            <a:endParaRPr lang="en-US" sz="1800" dirty="0"/>
          </a:p>
          <a:p>
            <a:pPr algn="ctr">
              <a:buNone/>
            </a:pPr>
            <a:r>
              <a:rPr lang="en-US" sz="2400" i="1" dirty="0"/>
              <a:t>"The type is the schema,</a:t>
            </a:r>
          </a:p>
          <a:p>
            <a:pPr algn="ctr">
              <a:buNone/>
            </a:pPr>
            <a:r>
              <a:rPr lang="en-US" sz="2400" i="1" dirty="0"/>
              <a:t>the validator,</a:t>
            </a:r>
          </a:p>
          <a:p>
            <a:pPr algn="ctr">
              <a:buNone/>
            </a:pPr>
            <a:r>
              <a:rPr lang="en-US" sz="2400" i="1" dirty="0"/>
              <a:t>and the prompt."</a:t>
            </a:r>
          </a:p>
          <a:p>
            <a:pPr algn="ctr">
              <a:buNone/>
            </a:pPr>
            <a:endParaRPr lang="en-US" sz="1800" dirty="0"/>
          </a:p>
          <a:p>
            <a:pPr algn="ctr">
              <a:buNone/>
            </a:pPr>
            <a:r>
              <a:rPr lang="en-US" sz="1800" dirty="0"/>
              <a:t>The harness is everything around it.</a:t>
            </a:r>
          </a:p>
        </p:txBody>
      </p:sp>
    </p:spTree>
    <p:extLst>
      <p:ext uri="{BB962C8B-B14F-4D97-AF65-F5344CB8AC3E}">
        <p14:creationId xmlns:p14="http://schemas.microsoft.com/office/powerpoint/2010/main" val="23758592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7F071FCC-F169-B831-AD6A-798DA5EE49B0}"/>
              </a:ext>
            </a:extLst>
          </p:cNvPr>
          <p:cNvSpPr>
            <a:spLocks noGrp="1"/>
          </p:cNvSpPr>
          <p:nvPr>
            <p:ph type="title"/>
          </p:nvPr>
        </p:nvSpPr>
        <p:spPr/>
        <p:txBody>
          <a:bodyPr/>
          <a:lstStyle/>
          <a:p>
            <a:r>
              <a:rPr lang="en-US" dirty="0"/>
              <a:t>Function Calling</a:t>
            </a:r>
          </a:p>
        </p:txBody>
      </p:sp>
      <p:sp>
        <p:nvSpPr>
          <p:cNvPr id="5" name="텍스트 개체 틀 4">
            <a:extLst>
              <a:ext uri="{FF2B5EF4-FFF2-40B4-BE49-F238E27FC236}">
                <a16:creationId xmlns:a16="http://schemas.microsoft.com/office/drawing/2014/main" id="{3BC3F71E-05C6-D697-4F24-D4CF0784978D}"/>
              </a:ext>
            </a:extLst>
          </p:cNvPr>
          <p:cNvSpPr>
            <a:spLocks noGrp="1"/>
          </p:cNvSpPr>
          <p:nvPr>
            <p:ph type="body" idx="1"/>
          </p:nvPr>
        </p:nvSpPr>
        <p:spPr/>
        <p:txBody>
          <a:bodyPr/>
          <a:lstStyle/>
          <a:p>
            <a:pPr algn="ctr">
              <a:buNone/>
            </a:pPr>
            <a:r>
              <a:rPr lang="en-US" dirty="0"/>
              <a:t>Types eliminate ambiguity; schemas constrain through absence</a:t>
            </a:r>
          </a:p>
          <a:p>
            <a:pPr algn="ctr">
              <a:buNone/>
            </a:pPr>
            <a:r>
              <a:rPr lang="en-US" dirty="0"/>
              <a:t>Model-neutral, mechanically verifiable, deterministically convergent</a:t>
            </a:r>
          </a:p>
        </p:txBody>
      </p:sp>
    </p:spTree>
    <p:extLst>
      <p:ext uri="{BB962C8B-B14F-4D97-AF65-F5344CB8AC3E}">
        <p14:creationId xmlns:p14="http://schemas.microsoft.com/office/powerpoint/2010/main" val="34732015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8A5411-B2F4-5F32-6EB1-19BE2AEC747C}"/>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1FBA0717-BF22-A901-5514-2746EC8C428E}"/>
              </a:ext>
            </a:extLst>
          </p:cNvPr>
          <p:cNvSpPr>
            <a:spLocks noGrp="1"/>
          </p:cNvSpPr>
          <p:nvPr>
            <p:ph idx="1"/>
          </p:nvPr>
        </p:nvSpPr>
        <p:spPr/>
        <p:txBody>
          <a:bodyPr>
            <a:normAutofit/>
          </a:bodyPr>
          <a:lstStyle/>
          <a:p>
            <a:r>
              <a:rPr lang="en-US" dirty="0"/>
              <a:t>Types eliminate ambiguity</a:t>
            </a:r>
          </a:p>
          <a:p>
            <a:pPr lvl="1"/>
            <a:r>
              <a:rPr lang="en-US" dirty="0"/>
              <a:t>ExclusiveMinimum&lt;18&gt; vs "greater than 18"</a:t>
            </a:r>
          </a:p>
          <a:p>
            <a:endParaRPr lang="en-US" dirty="0"/>
          </a:p>
          <a:p>
            <a:r>
              <a:rPr lang="en-US" dirty="0"/>
              <a:t>Schemas constrain by absence, not prohibition</a:t>
            </a:r>
          </a:p>
          <a:p>
            <a:pPr lvl="1"/>
            <a:r>
              <a:rPr lang="en-US" dirty="0"/>
              <a:t>No "any" in schema → can't generate it</a:t>
            </a:r>
          </a:p>
          <a:p>
            <a:endParaRPr lang="en-US" dirty="0"/>
          </a:p>
          <a:p>
            <a:r>
              <a:rPr lang="en-US" dirty="0"/>
              <a:t>Model-neutral: same schema, any model</a:t>
            </a:r>
          </a:p>
          <a:p>
            <a:r>
              <a:rPr lang="en-US" dirty="0"/>
              <a:t>Deterministically convergent: 6.75% → 100%</a:t>
            </a:r>
          </a:p>
        </p:txBody>
      </p:sp>
    </p:spTree>
    <p:extLst>
      <p:ext uri="{BB962C8B-B14F-4D97-AF65-F5344CB8AC3E}">
        <p14:creationId xmlns:p14="http://schemas.microsoft.com/office/powerpoint/2010/main" val="30338926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Via Prompt:</a:t>
            </a:r>
          </a:p>
          <a:p>
            <a:pPr lvl="1"/>
            <a:r>
              <a:rPr lang="en-US" dirty="0"/>
              <a:t>"The age field must be a positive integer greater than 18. Don't use string types for numeric fields. All required fields must be present..."</a:t>
            </a:r>
          </a:p>
          <a:p>
            <a:endParaRPr lang="en-US" dirty="0"/>
          </a:p>
          <a:p>
            <a:r>
              <a:rPr lang="en-US" dirty="0"/>
              <a:t>Problems:</a:t>
            </a:r>
          </a:p>
          <a:p>
            <a:pPr lvl="1"/>
            <a:r>
              <a:rPr lang="en-US" dirty="0"/>
              <a:t>Is "&gt;18" or "≥18"? No way to verify</a:t>
            </a:r>
          </a:p>
          <a:p>
            <a:pPr lvl="1"/>
            <a:r>
              <a:rPr lang="en-US" dirty="0"/>
              <a:t>Rules multiply endlessly as schemas grow</a:t>
            </a:r>
          </a:p>
        </p:txBody>
      </p:sp>
      <p:sp>
        <p:nvSpPr>
          <p:cNvPr id="4" name="사각형: 둥근 모서리 3">
            <a:extLst>
              <a:ext uri="{FF2B5EF4-FFF2-40B4-BE49-F238E27FC236}">
                <a16:creationId xmlns:a16="http://schemas.microsoft.com/office/drawing/2014/main" id="{176F7788-94AE-4E05-84B1-A2823EE762E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D4D4D4"/>
                </a:solidFill>
                <a:latin typeface="Consolas"/>
              </a:rPr>
              <a:t>Via Type:</a:t>
            </a:r>
          </a:p>
          <a:p>
            <a:pPr algn="l">
              <a:buNone/>
            </a:pPr>
            <a:r>
              <a:rPr lang="en-US" sz="1600" dirty="0">
                <a:solidFill>
                  <a:srgbClr val="569CD6"/>
                </a:solidFill>
                <a:latin typeface="Consolas"/>
              </a:rPr>
              <a:t>interface </a:t>
            </a:r>
            <a:r>
              <a:rPr lang="en-US" sz="1600" dirty="0">
                <a:solidFill>
                  <a:srgbClr val="4EC9B0"/>
                </a:solidFill>
                <a:latin typeface="Consolas"/>
              </a:rPr>
              <a:t>IMember</a:t>
            </a:r>
            <a:r>
              <a:rPr lang="en-US" sz="1600" dirty="0">
                <a:solidFill>
                  <a:srgbClr val="D4D4D4"/>
                </a:solidFill>
                <a:latin typeface="Consolas"/>
              </a:rPr>
              <a:t> {</a:t>
            </a:r>
          </a:p>
          <a:p>
            <a:pPr algn="l">
              <a:buNone/>
            </a:pPr>
            <a:r>
              <a:rPr lang="en-US" sz="1600" dirty="0">
                <a:solidFill>
                  <a:srgbClr val="D4D4D4"/>
                </a:solidFill>
                <a:latin typeface="Consolas"/>
              </a:rPr>
              <a:t>  age: </a:t>
            </a:r>
            <a:r>
              <a:rPr lang="en-US" sz="1600" dirty="0">
                <a:solidFill>
                  <a:srgbClr val="4EC9B0"/>
                </a:solidFill>
                <a:latin typeface="Consolas"/>
              </a:rPr>
              <a:t>number</a:t>
            </a:r>
          </a:p>
          <a:p>
            <a:pPr algn="l">
              <a:buNone/>
            </a:pPr>
            <a:r>
              <a:rPr lang="en-US" sz="1600" dirty="0">
                <a:solidFill>
                  <a:srgbClr val="D4D4D4"/>
                </a:solidFill>
                <a:latin typeface="Consolas"/>
              </a:rPr>
              <a:t>    &amp; </a:t>
            </a:r>
            <a:r>
              <a:rPr lang="en-US" sz="1600" dirty="0">
                <a:solidFill>
                  <a:srgbClr val="4EC9B0"/>
                </a:solidFill>
                <a:latin typeface="Consolas"/>
              </a:rPr>
              <a:t>Type</a:t>
            </a:r>
            <a:r>
              <a:rPr lang="en-US" sz="1600" dirty="0">
                <a:solidFill>
                  <a:srgbClr val="D4D4D4"/>
                </a:solidFill>
                <a:latin typeface="Consolas"/>
              </a:rPr>
              <a:t>&lt;</a:t>
            </a:r>
            <a:r>
              <a:rPr lang="en-US" sz="1600" dirty="0">
                <a:solidFill>
                  <a:srgbClr val="CE9178"/>
                </a:solidFill>
                <a:latin typeface="Consolas"/>
              </a:rPr>
              <a:t>"uint32"</a:t>
            </a:r>
            <a:r>
              <a:rPr lang="en-US" sz="1600" dirty="0">
                <a:solidFill>
                  <a:srgbClr val="D4D4D4"/>
                </a:solidFill>
                <a:latin typeface="Consolas"/>
              </a:rPr>
              <a:t>&gt;</a:t>
            </a:r>
          </a:p>
          <a:p>
            <a:pPr algn="l">
              <a:buNone/>
            </a:pPr>
            <a:r>
              <a:rPr lang="en-US" sz="1600" dirty="0">
                <a:solidFill>
                  <a:srgbClr val="D4D4D4"/>
                </a:solidFill>
                <a:latin typeface="Consolas"/>
              </a:rPr>
              <a:t>    &amp; </a:t>
            </a:r>
            <a:r>
              <a:rPr lang="en-US" sz="1600" dirty="0">
                <a:solidFill>
                  <a:srgbClr val="4EC9B0"/>
                </a:solidFill>
                <a:latin typeface="Consolas"/>
              </a:rPr>
              <a:t>ExclusiveMinimum</a:t>
            </a:r>
            <a:r>
              <a:rPr lang="en-US" sz="1600" dirty="0">
                <a:solidFill>
                  <a:srgbClr val="D4D4D4"/>
                </a:solidFill>
                <a:latin typeface="Consolas"/>
              </a:rPr>
              <a:t>&lt;18&gt;;</a:t>
            </a:r>
          </a:p>
          <a:p>
            <a:pPr algn="l">
              <a:buNone/>
            </a:pPr>
            <a:r>
              <a:rPr lang="en-US" sz="1600" dirty="0">
                <a:solidFill>
                  <a:srgbClr val="D4D4D4"/>
                </a:solidFill>
                <a:latin typeface="Consolas"/>
              </a:rPr>
              <a:t>}</a:t>
            </a:r>
          </a:p>
          <a:p>
            <a:pPr algn="l">
              <a:buNone/>
            </a:pPr>
            <a:endParaRPr lang="en-US" sz="1600" dirty="0">
              <a:solidFill>
                <a:srgbClr val="D4D4D4"/>
              </a:solidFill>
              <a:latin typeface="Consolas"/>
            </a:endParaRPr>
          </a:p>
          <a:p>
            <a:pPr algn="l">
              <a:buNone/>
            </a:pPr>
            <a:r>
              <a:rPr lang="en-US" sz="1600" dirty="0">
                <a:solidFill>
                  <a:srgbClr val="6A9955"/>
                </a:solidFill>
                <a:latin typeface="Consolas"/>
              </a:rPr>
              <a:t>// ✓ Mechanically verifiable</a:t>
            </a:r>
          </a:p>
          <a:p>
            <a:pPr algn="l">
              <a:buNone/>
            </a:pPr>
            <a:r>
              <a:rPr lang="en-US" sz="1600" dirty="0">
                <a:solidFill>
                  <a:srgbClr val="6A9955"/>
                </a:solidFill>
                <a:latin typeface="Consolas"/>
              </a:rPr>
              <a:t>// ExclusiveMinimum&lt;18&gt; is &gt;18.</a:t>
            </a:r>
          </a:p>
          <a:p>
            <a:pPr algn="l">
              <a:buNone/>
            </a:pPr>
            <a:r>
              <a:rPr lang="en-US" sz="1600" dirty="0">
                <a:solidFill>
                  <a:srgbClr val="6A9955"/>
                </a:solidFill>
                <a:latin typeface="Consolas"/>
              </a:rPr>
              <a:t>// It's an integer. It's required.</a:t>
            </a:r>
          </a:p>
          <a:p>
            <a:pPr algn="l">
              <a:buNone/>
            </a:pPr>
            <a:r>
              <a:rPr lang="en-US" sz="1600" dirty="0">
                <a:solidFill>
                  <a:srgbClr val="6A9955"/>
                </a:solidFill>
                <a:latin typeface="Consolas"/>
              </a:rPr>
              <a:t>// No ambiguity.</a:t>
            </a:r>
          </a:p>
        </p:txBody>
      </p:sp>
    </p:spTree>
    <p:extLst>
      <p:ext uri="{BB962C8B-B14F-4D97-AF65-F5344CB8AC3E}">
        <p14:creationId xmlns:p14="http://schemas.microsoft.com/office/powerpoint/2010/main" val="21297018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1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1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sz="1800" dirty="0"/>
              <a:t>"Don't think of a pink elephant“</a:t>
            </a:r>
          </a:p>
          <a:p>
            <a:pPr lvl="1"/>
            <a:r>
              <a:rPr lang="en-US" sz="1600" dirty="0"/>
              <a:t>"Don't do X" places X at the center of attention</a:t>
            </a:r>
          </a:p>
          <a:p>
            <a:pPr lvl="1"/>
            <a:r>
              <a:rPr lang="en-US" sz="1600" dirty="0"/>
              <a:t>Paradoxically</a:t>
            </a:r>
            <a:r>
              <a:rPr lang="ko-KR" altLang="en-US" sz="1600" dirty="0"/>
              <a:t> </a:t>
            </a:r>
            <a:r>
              <a:rPr lang="en-US" altLang="ko-KR" sz="1600" dirty="0"/>
              <a:t>increases</a:t>
            </a:r>
            <a:r>
              <a:rPr lang="ko-KR" altLang="en-US" sz="1600" dirty="0"/>
              <a:t> </a:t>
            </a:r>
            <a:r>
              <a:rPr lang="en-US" altLang="ko-KR" sz="1600" dirty="0"/>
              <a:t>generation</a:t>
            </a:r>
            <a:r>
              <a:rPr lang="ko-KR" altLang="en-US" sz="1600" dirty="0"/>
              <a:t> </a:t>
            </a:r>
            <a:r>
              <a:rPr lang="en-US" altLang="ko-KR" sz="1600" dirty="0"/>
              <a:t>probability</a:t>
            </a:r>
          </a:p>
          <a:p>
            <a:pPr lvl="1"/>
            <a:endParaRPr lang="en-US" sz="1800" dirty="0"/>
          </a:p>
          <a:p>
            <a:r>
              <a:rPr lang="en-US" sz="1800" dirty="0"/>
              <a:t>With schemas, this problem disappears</a:t>
            </a:r>
          </a:p>
          <a:p>
            <a:pPr lvl="1"/>
            <a:r>
              <a:rPr lang="en-US" sz="1600" dirty="0"/>
              <a:t>No "any" in schema → LLM cannot generate it</a:t>
            </a:r>
          </a:p>
          <a:p>
            <a:pPr lvl="1"/>
            <a:r>
              <a:rPr lang="en-US" sz="1600" dirty="0"/>
              <a:t>Field types limited to 7 choices → no "varchar“</a:t>
            </a:r>
          </a:p>
          <a:p>
            <a:pPr lvl="1"/>
            <a:endParaRPr lang="en-US" sz="1800" dirty="0"/>
          </a:p>
          <a:p>
            <a:r>
              <a:rPr lang="en-US" sz="1800" dirty="0"/>
              <a:t>Not prohibition, but absence</a:t>
            </a:r>
          </a:p>
          <a:p>
            <a:pPr lvl="1"/>
            <a:r>
              <a:rPr lang="en-US" sz="1600" dirty="0"/>
              <a:t>Prompts prohibit what you don't want</a:t>
            </a:r>
          </a:p>
          <a:p>
            <a:pPr lvl="1"/>
            <a:r>
              <a:rPr lang="en-US" sz="1600" dirty="0"/>
              <a:t>Schemas allow only what you do want</a:t>
            </a:r>
          </a:p>
        </p:txBody>
      </p:sp>
      <p:pic>
        <p:nvPicPr>
          <p:cNvPr id="6" name="내용 개체 틀 5">
            <a:extLst>
              <a:ext uri="{FF2B5EF4-FFF2-40B4-BE49-F238E27FC236}">
                <a16:creationId xmlns:a16="http://schemas.microsoft.com/office/drawing/2014/main" id="{B5942124-FF8B-D9BD-7304-3FDC6CBF3AD5}"/>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1669" r="26877"/>
          <a:stretch>
            <a:fillRect/>
          </a:stretch>
        </p:blipFill>
        <p:spPr>
          <a:xfrm>
            <a:off x="8301386" y="243840"/>
            <a:ext cx="3646837" cy="6377939"/>
          </a:xfrm>
          <a:prstGeom prst="rect">
            <a:avLst/>
          </a:prstGeom>
        </p:spPr>
      </p:pic>
      <p:sp>
        <p:nvSpPr>
          <p:cNvPr id="10" name="Rectangle 1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919910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use the any type"</a:t>
            </a:r>
          </a:p>
          <a:p>
            <a:endParaRPr lang="en-US" dirty="0"/>
          </a:p>
          <a:p>
            <a:r>
              <a:rPr lang="en-US" dirty="0"/>
              <a:t>Schema:</a:t>
            </a:r>
          </a:p>
          <a:p>
            <a:pPr lvl="1"/>
            <a:r>
              <a:rPr lang="en-US" dirty="0"/>
              <a:t>IJsonSchema = 10 variants</a:t>
            </a:r>
          </a:p>
          <a:p>
            <a:pPr lvl="1"/>
            <a:r>
              <a:rPr lang="en-US" dirty="0"/>
              <a:t>No "any" in the union</a:t>
            </a:r>
          </a:p>
          <a:p>
            <a:pPr lvl="1"/>
            <a:r>
              <a:rPr lang="en-US" dirty="0"/>
              <a:t>→ Can't generate it</a:t>
            </a:r>
          </a:p>
        </p:txBody>
      </p:sp>
      <p:sp>
        <p:nvSpPr>
          <p:cNvPr id="4" name="사각형: 둥근 모서리 3">
            <a:extLst>
              <a:ext uri="{FF2B5EF4-FFF2-40B4-BE49-F238E27FC236}">
                <a16:creationId xmlns:a16="http://schemas.microsoft.com/office/drawing/2014/main" id="{F8702D85-A6E1-4B85-A971-D080F22BD8B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569CD6"/>
                </a:solidFill>
                <a:latin typeface="Consolas"/>
              </a:rPr>
              <a:t>export type </a:t>
            </a:r>
            <a:r>
              <a:rPr lang="en-US" sz="1600" dirty="0">
                <a:solidFill>
                  <a:srgbClr val="4EC9B0"/>
                </a:solidFill>
                <a:latin typeface="Consolas"/>
              </a:rPr>
              <a:t>IJsonSchema</a:t>
            </a:r>
            <a:r>
              <a:rPr lang="en-US" sz="1600" dirty="0">
                <a:solidFill>
                  <a:srgbClr val="D4D4D4"/>
                </a:solidFill>
                <a:latin typeface="Consolas"/>
              </a:rPr>
              <a:t> =</a:t>
            </a:r>
          </a:p>
          <a:p>
            <a:pPr algn="l">
              <a:buNone/>
            </a:pPr>
            <a:r>
              <a:rPr lang="en-US" sz="1600" dirty="0">
                <a:solidFill>
                  <a:srgbClr val="D4D4D4"/>
                </a:solidFill>
                <a:latin typeface="Consolas"/>
              </a:rPr>
              <a:t>  | </a:t>
            </a:r>
            <a:r>
              <a:rPr lang="en-US" sz="1600" dirty="0">
                <a:solidFill>
                  <a:srgbClr val="4EC9B0"/>
                </a:solidFill>
                <a:latin typeface="Consolas"/>
              </a:rPr>
              <a:t>IJsonSchema.IConstant</a:t>
            </a:r>
          </a:p>
          <a:p>
            <a:pPr algn="l">
              <a:buNone/>
            </a:pPr>
            <a:r>
              <a:rPr lang="en-US" sz="1600" dirty="0">
                <a:solidFill>
                  <a:srgbClr val="D4D4D4"/>
                </a:solidFill>
                <a:latin typeface="Consolas"/>
              </a:rPr>
              <a:t>  | </a:t>
            </a:r>
            <a:r>
              <a:rPr lang="en-US" sz="1600" dirty="0">
                <a:solidFill>
                  <a:srgbClr val="4EC9B0"/>
                </a:solidFill>
                <a:latin typeface="Consolas"/>
              </a:rPr>
              <a:t>IJsonSchema.IBoolean</a:t>
            </a:r>
          </a:p>
          <a:p>
            <a:pPr algn="l">
              <a:buNone/>
            </a:pPr>
            <a:r>
              <a:rPr lang="en-US" sz="1600" dirty="0">
                <a:solidFill>
                  <a:srgbClr val="D4D4D4"/>
                </a:solidFill>
                <a:latin typeface="Consolas"/>
              </a:rPr>
              <a:t>  | </a:t>
            </a:r>
            <a:r>
              <a:rPr lang="en-US" sz="1600" dirty="0">
                <a:solidFill>
                  <a:srgbClr val="4EC9B0"/>
                </a:solidFill>
                <a:latin typeface="Consolas"/>
              </a:rPr>
              <a:t>IJsonSchema.IInteger</a:t>
            </a:r>
          </a:p>
          <a:p>
            <a:pPr algn="l">
              <a:buNone/>
            </a:pPr>
            <a:r>
              <a:rPr lang="en-US" sz="1600" dirty="0">
                <a:solidFill>
                  <a:srgbClr val="D4D4D4"/>
                </a:solidFill>
                <a:latin typeface="Consolas"/>
              </a:rPr>
              <a:t>  | </a:t>
            </a:r>
            <a:r>
              <a:rPr lang="en-US" sz="1600" dirty="0">
                <a:solidFill>
                  <a:srgbClr val="4EC9B0"/>
                </a:solidFill>
                <a:latin typeface="Consolas"/>
              </a:rPr>
              <a:t>IJsonSchema.INumber</a:t>
            </a:r>
          </a:p>
          <a:p>
            <a:pPr algn="l">
              <a:buNone/>
            </a:pPr>
            <a:r>
              <a:rPr lang="en-US" sz="1600" dirty="0">
                <a:solidFill>
                  <a:srgbClr val="D4D4D4"/>
                </a:solidFill>
                <a:latin typeface="Consolas"/>
              </a:rPr>
              <a:t>  | </a:t>
            </a:r>
            <a:r>
              <a:rPr lang="en-US" sz="1600" dirty="0">
                <a:solidFill>
                  <a:srgbClr val="4EC9B0"/>
                </a:solidFill>
                <a:latin typeface="Consolas"/>
              </a:rPr>
              <a:t>IJsonSchema.IString</a:t>
            </a:r>
          </a:p>
          <a:p>
            <a:pPr algn="l">
              <a:buNone/>
            </a:pPr>
            <a:r>
              <a:rPr lang="en-US" sz="1600" dirty="0">
                <a:solidFill>
                  <a:srgbClr val="D4D4D4"/>
                </a:solidFill>
                <a:latin typeface="Consolas"/>
              </a:rPr>
              <a:t>  | </a:t>
            </a:r>
            <a:r>
              <a:rPr lang="en-US" sz="1600" dirty="0">
                <a:solidFill>
                  <a:srgbClr val="4EC9B0"/>
                </a:solidFill>
                <a:latin typeface="Consolas"/>
              </a:rPr>
              <a:t>IJsonSchema.IArray</a:t>
            </a:r>
          </a:p>
          <a:p>
            <a:pPr algn="l">
              <a:buNone/>
            </a:pPr>
            <a:r>
              <a:rPr lang="en-US" sz="1600" dirty="0">
                <a:solidFill>
                  <a:srgbClr val="D4D4D4"/>
                </a:solidFill>
                <a:latin typeface="Consolas"/>
              </a:rPr>
              <a:t>  | </a:t>
            </a:r>
            <a:r>
              <a:rPr lang="en-US" sz="1600" dirty="0">
                <a:solidFill>
                  <a:srgbClr val="4EC9B0"/>
                </a:solidFill>
                <a:latin typeface="Consolas"/>
              </a:rPr>
              <a:t>IJsonSchema.IObject</a:t>
            </a:r>
          </a:p>
          <a:p>
            <a:pPr algn="l">
              <a:buNone/>
            </a:pPr>
            <a:r>
              <a:rPr lang="en-US" sz="1600" dirty="0">
                <a:solidFill>
                  <a:srgbClr val="D4D4D4"/>
                </a:solidFill>
                <a:latin typeface="Consolas"/>
              </a:rPr>
              <a:t>  | </a:t>
            </a:r>
            <a:r>
              <a:rPr lang="en-US" sz="1600" dirty="0">
                <a:solidFill>
                  <a:srgbClr val="4EC9B0"/>
                </a:solidFill>
                <a:latin typeface="Consolas"/>
              </a:rPr>
              <a:t>IJsonSchema.IReference</a:t>
            </a:r>
          </a:p>
          <a:p>
            <a:pPr algn="l">
              <a:buNone/>
            </a:pPr>
            <a:r>
              <a:rPr lang="en-US" sz="1600" dirty="0">
                <a:solidFill>
                  <a:srgbClr val="D4D4D4"/>
                </a:solidFill>
                <a:latin typeface="Consolas"/>
              </a:rPr>
              <a:t>  | </a:t>
            </a:r>
            <a:r>
              <a:rPr lang="en-US" sz="1600" dirty="0">
                <a:solidFill>
                  <a:srgbClr val="4EC9B0"/>
                </a:solidFill>
                <a:latin typeface="Consolas"/>
              </a:rPr>
              <a:t>IJsonSchema.IOneOf</a:t>
            </a:r>
          </a:p>
          <a:p>
            <a:pPr algn="l">
              <a:buNone/>
            </a:pPr>
            <a:r>
              <a:rPr lang="en-US" sz="1600" dirty="0">
                <a:solidFill>
                  <a:srgbClr val="D4D4D4"/>
                </a:solidFill>
                <a:latin typeface="Consolas"/>
              </a:rPr>
              <a:t>  | </a:t>
            </a:r>
            <a:r>
              <a:rPr lang="en-US" sz="1600" dirty="0">
                <a:solidFill>
                  <a:srgbClr val="4EC9B0"/>
                </a:solidFill>
                <a:latin typeface="Consolas"/>
              </a:rPr>
              <a:t>IJsonSchema.INull</a:t>
            </a:r>
            <a:r>
              <a:rPr lang="en-US" sz="1600" dirty="0">
                <a:solidFill>
                  <a:srgbClr val="D4D4D4"/>
                </a:solidFill>
                <a:latin typeface="Consolas"/>
              </a:rPr>
              <a:t>;</a:t>
            </a:r>
          </a:p>
          <a:p>
            <a:pPr algn="l">
              <a:buNone/>
            </a:pPr>
            <a:endParaRPr lang="en-US" sz="1600" dirty="0">
              <a:latin typeface="Consolas"/>
            </a:endParaRPr>
          </a:p>
          <a:p>
            <a:pPr algn="l">
              <a:buNone/>
            </a:pPr>
            <a:r>
              <a:rPr lang="en-US" sz="1600" dirty="0">
                <a:solidFill>
                  <a:srgbClr val="6A9955"/>
                </a:solidFill>
                <a:latin typeface="Consolas"/>
              </a:rPr>
              <a:t>// 10 variants. No "any".</a:t>
            </a:r>
          </a:p>
          <a:p>
            <a:pPr algn="l">
              <a:buNone/>
            </a:pPr>
            <a:r>
              <a:rPr lang="en-US" sz="1600" dirty="0">
                <a:solidFill>
                  <a:srgbClr val="6A9955"/>
                </a:solidFill>
                <a:latin typeface="Consolas"/>
              </a:rPr>
              <a:t>// Can't generate what doesn't exist.</a:t>
            </a:r>
          </a:p>
        </p:txBody>
      </p:sp>
    </p:spTree>
    <p:extLst>
      <p:ext uri="{BB962C8B-B14F-4D97-AF65-F5344CB8AC3E}">
        <p14:creationId xmlns:p14="http://schemas.microsoft.com/office/powerpoint/2010/main" val="3198913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make object type as literal type"</a:t>
            </a:r>
          </a:p>
          <a:p>
            <a:endParaRPr lang="en-US" dirty="0"/>
          </a:p>
          <a:p>
            <a:r>
              <a:rPr lang="en-US" dirty="0"/>
              <a:t>Schema:</a:t>
            </a:r>
          </a:p>
          <a:p>
            <a:pPr lvl="1"/>
            <a:r>
              <a:rPr lang="en-US" dirty="0"/>
              <a:t>Exclude&lt;IJsonSchema, IObject&gt;</a:t>
            </a:r>
          </a:p>
          <a:p>
            <a:pPr lvl="1"/>
            <a:r>
              <a:rPr lang="en-US" dirty="0"/>
              <a:t>Inline object excluded by type</a:t>
            </a:r>
          </a:p>
          <a:p>
            <a:pPr lvl="1"/>
            <a:r>
              <a:rPr lang="en-US" dirty="0"/>
              <a:t>→ Can't generate it</a:t>
            </a:r>
          </a:p>
        </p:txBody>
      </p:sp>
      <p:sp>
        <p:nvSpPr>
          <p:cNvPr id="4" name="사각형: 둥근 모서리 3">
            <a:extLst>
              <a:ext uri="{FF2B5EF4-FFF2-40B4-BE49-F238E27FC236}">
                <a16:creationId xmlns:a16="http://schemas.microsoft.com/office/drawing/2014/main" id="{3FF25A35-1385-41C0-8E18-D4F5958DDCF9}"/>
              </a:ext>
            </a:extLst>
          </p:cNvPr>
          <p:cNvSpPr/>
          <p:nvPr/>
        </p:nvSpPr>
        <p:spPr>
          <a:xfrm>
            <a:off x="6080760" y="2057400"/>
            <a:ext cx="5730240" cy="439928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400" dirty="0">
                <a:solidFill>
                  <a:srgbClr val="569CD6"/>
                </a:solidFill>
                <a:latin typeface="Consolas"/>
              </a:rPr>
              <a:t>export namespace </a:t>
            </a:r>
            <a:r>
              <a:rPr lang="en-US" sz="1400" dirty="0">
                <a:solidFill>
                  <a:srgbClr val="4EC9B0"/>
                </a:solidFill>
                <a:latin typeface="Consolas"/>
              </a:rPr>
              <a:t>IJsonSchema</a:t>
            </a:r>
            <a:r>
              <a:rPr lang="en-US" sz="1400" dirty="0">
                <a:solidFill>
                  <a:srgbClr val="D4D4D4"/>
                </a:solidFill>
                <a:latin typeface="Consolas"/>
              </a:rPr>
              <a:t> {</a:t>
            </a:r>
          </a:p>
          <a:p>
            <a:pPr algn="l">
              <a:buNone/>
            </a:pPr>
            <a:r>
              <a:rPr lang="en-US" sz="1400" dirty="0">
                <a:solidFill>
                  <a:srgbClr val="569CD6"/>
                </a:solidFill>
                <a:latin typeface="Consolas"/>
              </a:rPr>
              <a:t>  export interface </a:t>
            </a:r>
            <a:r>
              <a:rPr lang="en-US" sz="1400" dirty="0">
                <a:solidFill>
                  <a:srgbClr val="4EC9B0"/>
                </a:solidFill>
                <a:latin typeface="Consolas"/>
              </a:rPr>
              <a:t>IObject</a:t>
            </a:r>
            <a:r>
              <a:rPr lang="en-US" sz="1400" dirty="0">
                <a:solidFill>
                  <a:srgbClr val="D4D4D4"/>
                </a:solidFill>
                <a:latin typeface="Consolas"/>
              </a:rPr>
              <a:t> {</a:t>
            </a:r>
          </a:p>
          <a:p>
            <a:pPr algn="l">
              <a:buNone/>
            </a:pPr>
            <a:r>
              <a:rPr lang="en-US" sz="1400" dirty="0">
                <a:solidFill>
                  <a:srgbClr val="D4D4D4"/>
                </a:solidFill>
                <a:latin typeface="Consolas"/>
              </a:rPr>
              <a:t>    type: </a:t>
            </a:r>
            <a:r>
              <a:rPr lang="en-US" sz="1400" dirty="0">
                <a:solidFill>
                  <a:srgbClr val="CE9178"/>
                </a:solidFill>
                <a:latin typeface="Consolas"/>
              </a:rPr>
              <a:t>"object"</a:t>
            </a:r>
            <a:r>
              <a:rPr lang="en-US" sz="1400" dirty="0">
                <a:solidFill>
                  <a:srgbClr val="D4D4D4"/>
                </a:solidFill>
                <a:latin typeface="Consolas"/>
              </a:rPr>
              <a:t>;</a:t>
            </a:r>
          </a:p>
          <a:p>
            <a:pPr algn="l">
              <a:buNone/>
            </a:pPr>
            <a:r>
              <a:rPr lang="en-US" sz="1400" dirty="0">
                <a:solidFill>
                  <a:srgbClr val="D4D4D4"/>
                </a:solidFill>
                <a:latin typeface="Consolas"/>
              </a:rPr>
              <a:t>    properties?: </a:t>
            </a:r>
            <a:r>
              <a:rPr lang="en-US" sz="1400" dirty="0">
                <a:solidFill>
                  <a:srgbClr val="4EC9B0"/>
                </a:solidFill>
                <a:latin typeface="Consolas"/>
              </a:rPr>
              <a:t>Record</a:t>
            </a:r>
            <a:r>
              <a:rPr lang="en-US" sz="1400" dirty="0">
                <a:solidFill>
                  <a:srgbClr val="D4D4D4"/>
                </a:solidFill>
                <a:latin typeface="Consolas"/>
              </a:rPr>
              <a:t>&lt;</a:t>
            </a:r>
          </a:p>
          <a:p>
            <a:pPr algn="l">
              <a:buNone/>
            </a:pP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b="1" dirty="0">
                <a:solidFill>
                  <a:srgbClr val="4EC9B0"/>
                </a:solidFill>
                <a:latin typeface="Consolas"/>
              </a:rPr>
              <a:t>Exclude</a:t>
            </a:r>
            <a:r>
              <a:rPr lang="en-US" sz="1400" b="1" dirty="0">
                <a:solidFill>
                  <a:srgbClr val="D4D4D4"/>
                </a:solidFill>
                <a:latin typeface="Consolas"/>
              </a:rPr>
              <a:t>&lt;</a:t>
            </a:r>
            <a:r>
              <a:rPr lang="en-US" sz="1400" b="1" dirty="0" err="1">
                <a:solidFill>
                  <a:srgbClr val="4EC9B0"/>
                </a:solidFill>
                <a:latin typeface="Consolas"/>
              </a:rPr>
              <a:t>IJsonSchema</a:t>
            </a:r>
            <a:r>
              <a:rPr lang="en-US" sz="1400" b="1" dirty="0">
                <a:solidFill>
                  <a:srgbClr val="D4D4D4"/>
                </a:solidFill>
                <a:latin typeface="Consolas"/>
              </a:rPr>
              <a:t>, </a:t>
            </a:r>
            <a:r>
              <a:rPr lang="en-US" sz="1400" b="1" dirty="0" err="1">
                <a:solidFill>
                  <a:srgbClr val="4EC9B0"/>
                </a:solidFill>
                <a:latin typeface="Consolas"/>
              </a:rPr>
              <a:t>IJsonSchema.IObject</a:t>
            </a:r>
            <a:r>
              <a:rPr lang="en-US" sz="1400" b="1" dirty="0">
                <a:solidFill>
                  <a:srgbClr val="D4D4D4"/>
                </a:solidFill>
                <a:latin typeface="Consolas"/>
              </a:rPr>
              <a:t>&gt;</a:t>
            </a:r>
          </a:p>
          <a:p>
            <a:pPr algn="l">
              <a:buNone/>
            </a:pPr>
            <a:r>
              <a:rPr lang="en-US" sz="1400" dirty="0">
                <a:solidFill>
                  <a:srgbClr val="D4D4D4"/>
                </a:solidFill>
                <a:latin typeface="Consolas"/>
              </a:rPr>
              <a:t>    &gt;;</a:t>
            </a:r>
          </a:p>
          <a:p>
            <a:pPr algn="l">
              <a:buNone/>
            </a:pPr>
            <a:r>
              <a:rPr lang="en-US" sz="1400" dirty="0">
                <a:solidFill>
                  <a:srgbClr val="D4D4D4"/>
                </a:solidFill>
                <a:latin typeface="Consolas"/>
              </a:rPr>
              <a:t>    additionalProperties?: </a:t>
            </a:r>
          </a:p>
          <a:p>
            <a:pPr algn="l">
              <a:buNone/>
            </a:pPr>
            <a:r>
              <a:rPr lang="en-US" sz="1400" dirty="0">
                <a:solidFill>
                  <a:srgbClr val="D4D4D4"/>
                </a:solidFill>
                <a:latin typeface="Consolas"/>
              </a:rPr>
              <a:t>      | </a:t>
            </a:r>
            <a:r>
              <a:rPr lang="en-US" sz="1400" dirty="0" err="1">
                <a:solidFill>
                  <a:srgbClr val="4EC9B0"/>
                </a:solidFill>
                <a:latin typeface="Consolas"/>
              </a:rPr>
              <a:t>boolean</a:t>
            </a:r>
            <a:r>
              <a:rPr lang="en-US" sz="1400" dirty="0">
                <a:solidFill>
                  <a:srgbClr val="D4D4D4"/>
                </a:solidFill>
                <a:latin typeface="Consolas"/>
              </a:rPr>
              <a:t> </a:t>
            </a:r>
          </a:p>
          <a:p>
            <a:pPr algn="l">
              <a:buNone/>
            </a:pPr>
            <a:r>
              <a:rPr lang="en-US" sz="1400" dirty="0">
                <a:solidFill>
                  <a:srgbClr val="D4D4D4"/>
                </a:solidFill>
                <a:latin typeface="Consolas"/>
              </a:rPr>
              <a:t>      | </a:t>
            </a:r>
            <a:r>
              <a:rPr lang="en-US" sz="1400" b="1" dirty="0">
                <a:solidFill>
                  <a:srgbClr val="4EC9B0"/>
                </a:solidFill>
                <a:latin typeface="Consolas"/>
              </a:rPr>
              <a:t>Exclude</a:t>
            </a:r>
            <a:r>
              <a:rPr lang="en-US" sz="1400" b="1" dirty="0">
                <a:solidFill>
                  <a:srgbClr val="D4D4D4"/>
                </a:solidFill>
                <a:latin typeface="Consolas"/>
              </a:rPr>
              <a:t>&lt;</a:t>
            </a:r>
            <a:r>
              <a:rPr lang="en-US" sz="1400" b="1" dirty="0" err="1">
                <a:solidFill>
                  <a:srgbClr val="4EC9B0"/>
                </a:solidFill>
                <a:latin typeface="Consolas"/>
              </a:rPr>
              <a:t>IJsonSchema</a:t>
            </a:r>
            <a:r>
              <a:rPr lang="en-US" sz="1400" b="1" dirty="0">
                <a:solidFill>
                  <a:srgbClr val="D4D4D4"/>
                </a:solidFill>
                <a:latin typeface="Consolas"/>
              </a:rPr>
              <a:t>, </a:t>
            </a:r>
            <a:r>
              <a:rPr lang="en-US" sz="1400" b="1" dirty="0" err="1">
                <a:solidFill>
                  <a:srgbClr val="4EC9B0"/>
                </a:solidFill>
                <a:latin typeface="Consolas"/>
              </a:rPr>
              <a:t>IJsonSchema.IObject</a:t>
            </a:r>
            <a:r>
              <a:rPr lang="en-US" sz="1400" b="1" dirty="0">
                <a:solidFill>
                  <a:srgbClr val="D4D4D4"/>
                </a:solidFill>
                <a:latin typeface="Consolas"/>
              </a:rPr>
              <a:t>&gt;</a:t>
            </a:r>
            <a:r>
              <a:rPr lang="en-US" sz="1400" dirty="0">
                <a:solidFill>
                  <a:srgbClr val="D4D4D4"/>
                </a:solidFill>
                <a:latin typeface="Consolas"/>
              </a:rPr>
              <a:t>;</a:t>
            </a:r>
          </a:p>
          <a:p>
            <a:pPr algn="l">
              <a:buNone/>
            </a:pPr>
            <a:r>
              <a:rPr lang="en-US" sz="1400" dirty="0">
                <a:solidFill>
                  <a:srgbClr val="D4D4D4"/>
                </a:solidFill>
                <a:latin typeface="Consolas"/>
              </a:rPr>
              <a:t>    required?: </a:t>
            </a:r>
            <a:r>
              <a:rPr lang="en-US" sz="1400" dirty="0">
                <a:solidFill>
                  <a:srgbClr val="4EC9B0"/>
                </a:solidFill>
                <a:latin typeface="Consolas"/>
              </a:rPr>
              <a:t>string</a:t>
            </a:r>
            <a:r>
              <a:rPr lang="en-US" sz="1400" dirty="0">
                <a:solidFill>
                  <a:srgbClr val="D4D4D4"/>
                </a:solidFill>
                <a:latin typeface="Consolas"/>
              </a:rPr>
              <a:t>[];</a:t>
            </a:r>
          </a:p>
          <a:p>
            <a:pPr algn="l">
              <a:buNone/>
            </a:pPr>
            <a:r>
              <a:rPr lang="en-US" sz="1400" dirty="0">
                <a:solidFill>
                  <a:srgbClr val="D4D4D4"/>
                </a:solidFill>
                <a:latin typeface="Consolas"/>
              </a:rPr>
              <a:t>    description?: </a:t>
            </a:r>
            <a:r>
              <a:rPr lang="en-US" sz="1400" dirty="0">
                <a:solidFill>
                  <a:srgbClr val="4EC9B0"/>
                </a:solidFill>
                <a:latin typeface="Consolas"/>
              </a:rPr>
              <a:t>string</a:t>
            </a:r>
            <a:r>
              <a:rPr lang="en-US" sz="1400" dirty="0">
                <a:solidFill>
                  <a:srgbClr val="D4D4D4"/>
                </a:solidFill>
                <a:latin typeface="Consolas"/>
              </a:rPr>
              <a:t> | </a:t>
            </a:r>
            <a:r>
              <a:rPr lang="en-US" sz="1400" dirty="0">
                <a:solidFill>
                  <a:srgbClr val="4EC9B0"/>
                </a:solidFill>
                <a:latin typeface="Consolas"/>
              </a:rPr>
              <a:t>undefined</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21728347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r>
              <a:rPr lang="en-US" dirty="0"/>
              <a:t>Prompt engineering is inherently model-dependent</a:t>
            </a:r>
          </a:p>
          <a:p>
            <a:pPr lvl="1"/>
            <a:r>
              <a:rPr lang="en-US" sz="1900" dirty="0"/>
              <a:t>Optimized for GPT ≠ works on Claude ≠ works on Qwen</a:t>
            </a:r>
          </a:p>
          <a:p>
            <a:endParaRPr lang="en-US" dirty="0"/>
          </a:p>
          <a:p>
            <a:r>
              <a:rPr lang="en-US" dirty="0"/>
              <a:t>Function calling is model-neutral</a:t>
            </a:r>
          </a:p>
          <a:p>
            <a:pPr lvl="1"/>
            <a:r>
              <a:rPr lang="en-US" sz="1900" dirty="0"/>
              <a:t>JSON Schema means the same regardless of model</a:t>
            </a:r>
          </a:p>
          <a:p>
            <a:pPr lvl="1"/>
            <a:r>
              <a:rPr lang="en-US" sz="1900" dirty="0"/>
              <a:t>Strong models: 1–2 attempts, weaker: 3–4, both → 100%</a:t>
            </a:r>
          </a:p>
          <a:p>
            <a:endParaRPr lang="en-US" dirty="0"/>
          </a:p>
          <a:p>
            <a:r>
              <a:rPr lang="en-US" dirty="0"/>
              <a:t>Same schema, same pipeline → 100% on all models</a:t>
            </a:r>
          </a:p>
          <a:p>
            <a:pPr lvl="1"/>
            <a:r>
              <a:rPr lang="en-US" sz="1900" dirty="0"/>
              <a:t>Qwen, GLM, DeepSeek, OpenAI — no model-specific tuning</a:t>
            </a:r>
          </a:p>
          <a:p>
            <a:pPr lvl="1"/>
            <a:r>
              <a:rPr lang="en-US" sz="1900" dirty="0"/>
              <a:t>"Can this model do it?" → "Which is most cost-effective?"</a:t>
            </a:r>
          </a:p>
          <a:p>
            <a:pPr lvl="1"/>
            <a:r>
              <a:rPr lang="en-US" sz="1900" dirty="0"/>
              <a:t>Cost = avg retries × tokens/attempt × cost/token</a:t>
            </a:r>
          </a:p>
        </p:txBody>
      </p:sp>
    </p:spTree>
    <p:extLst>
      <p:ext uri="{BB962C8B-B14F-4D97-AF65-F5344CB8AC3E}">
        <p14:creationId xmlns:p14="http://schemas.microsoft.com/office/powerpoint/2010/main" val="21408268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OpenAI Cases</a:t>
            </a:r>
          </a:p>
          <a:p>
            <a:endParaRPr lang="en-US" sz="1800" dirty="0"/>
          </a:p>
          <a:p>
            <a:r>
              <a:rPr lang="en-US" sz="1800" dirty="0"/>
              <a:t>GPT-4 → GPT-4o: same prompts suddenly fail</a:t>
            </a:r>
          </a:p>
          <a:p>
            <a:pPr lvl="1"/>
            <a:r>
              <a:rPr lang="en-US" sz="1800" u="sng" dirty="0">
                <a:solidFill>
                  <a:srgbClr val="4A86C8"/>
                </a:solidFill>
              </a:rPr>
              <a:t>github.com/chapman4444/gpt4o-regression-report</a:t>
            </a:r>
            <a:endParaRPr lang="en-US" sz="1800" dirty="0"/>
          </a:p>
          <a:p>
            <a:endParaRPr lang="en-US" sz="1800" dirty="0"/>
          </a:p>
          <a:p>
            <a:r>
              <a:rPr lang="en-US" sz="1800" dirty="0"/>
              <a:t>GPT-4 → GPT-5: prompt rewrite required</a:t>
            </a:r>
          </a:p>
          <a:p>
            <a:pPr lvl="1"/>
            <a:r>
              <a:rPr lang="en-US" sz="1800" dirty="0"/>
              <a:t>OpenAI had to ship a Prompt Optimizer tool</a:t>
            </a:r>
          </a:p>
          <a:p>
            <a:pPr lvl="1"/>
            <a:r>
              <a:rPr lang="en-US" sz="1800" u="sng" dirty="0">
                <a:solidFill>
                  <a:srgbClr val="4A86C8"/>
                </a:solidFill>
              </a:rPr>
              <a:t>cookbook.openai.com/examples/gpt-5</a:t>
            </a:r>
            <a:endParaRPr lang="en-US" sz="1800" dirty="0"/>
          </a:p>
          <a:p>
            <a:endParaRPr lang="en-US" sz="1800" dirty="0"/>
          </a:p>
          <a:p>
            <a:r>
              <a:rPr lang="en-US" sz="1800" dirty="0"/>
              <a:t>GPT-4o retirement (2026.03.31): API endpoints shut down</a:t>
            </a:r>
          </a:p>
          <a:p>
            <a:pPr lvl="1"/>
            <a:r>
              <a:rPr lang="en-US" sz="1800" u="sng" dirty="0">
                <a:solidFill>
                  <a:srgbClr val="4A86C8"/>
                </a:solidFill>
              </a:rPr>
              <a:t>echostash.app/blog/gpt-4o-retirement</a:t>
            </a:r>
            <a:endParaRPr lang="en-US" sz="1800" dirty="0"/>
          </a:p>
        </p:txBody>
      </p:sp>
    </p:spTree>
    <p:extLst>
      <p:ext uri="{BB962C8B-B14F-4D97-AF65-F5344CB8AC3E}">
        <p14:creationId xmlns:p14="http://schemas.microsoft.com/office/powerpoint/2010/main" val="28217769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Anthropic + Conclusion</a:t>
            </a:r>
          </a:p>
          <a:p>
            <a:endParaRPr lang="en-US" sz="1800" dirty="0"/>
          </a:p>
          <a:p>
            <a:r>
              <a:rPr lang="en-US" sz="1800" dirty="0"/>
              <a:t>Claude 3.x → 4.x: breaking changes every major version</a:t>
            </a:r>
          </a:p>
          <a:p>
            <a:pPr lvl="1"/>
            <a:r>
              <a:rPr lang="en-US" sz="1800" dirty="0"/>
              <a:t>Prefill removed, tool versions changed, style shifted</a:t>
            </a:r>
          </a:p>
          <a:p>
            <a:pPr lvl="1"/>
            <a:r>
              <a:rPr lang="en-US" sz="1800" u="sng" dirty="0">
                <a:solidFill>
                  <a:srgbClr val="4A86C8"/>
                </a:solidFill>
              </a:rPr>
              <a:t>docs.anthropic.com/en/docs/about-claude/models/migrating-to-claude-4</a:t>
            </a:r>
            <a:endParaRPr lang="en-US" sz="1800" dirty="0"/>
          </a:p>
          <a:p>
            <a:endParaRPr lang="en-US" sz="1800" dirty="0"/>
          </a:p>
          <a:p>
            <a:r>
              <a:rPr lang="en-US" sz="1800" dirty="0"/>
              <a:t>Every vendor, every version: prompts must be rewritten</a:t>
            </a:r>
          </a:p>
          <a:p>
            <a:pPr lvl="1"/>
            <a:r>
              <a:rPr lang="en-US" sz="1800" dirty="0"/>
              <a:t>Model-specific tricks = vendor lock-in + technical debt</a:t>
            </a:r>
          </a:p>
          <a:p>
            <a:endParaRPr lang="en-US" sz="1800" dirty="0"/>
          </a:p>
          <a:p>
            <a:r>
              <a:rPr lang="en-US" sz="1800" b="1" dirty="0"/>
              <a:t>Type schemas don't break across versions.</a:t>
            </a:r>
          </a:p>
          <a:p>
            <a:r>
              <a:rPr lang="en-US" sz="1800" b="1" dirty="0"/>
              <a:t>JSON Schema is an industry standard — zero rewrite.</a:t>
            </a:r>
          </a:p>
        </p:txBody>
      </p:sp>
    </p:spTree>
    <p:extLst>
      <p:ext uri="{BB962C8B-B14F-4D97-AF65-F5344CB8AC3E}">
        <p14:creationId xmlns:p14="http://schemas.microsoft.com/office/powerpoint/2010/main" val="336608822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Function calling brings LLM output into software engineering</a:t>
            </a:r>
          </a:p>
          <a:p>
            <a:endParaRPr lang="en-US" dirty="0"/>
          </a:p>
          <a:p>
            <a:r>
              <a:rPr lang="en-US" dirty="0"/>
              <a:t>Structured output → engineering problem</a:t>
            </a:r>
          </a:p>
          <a:p>
            <a:pPr lvl="1"/>
            <a:r>
              <a:rPr lang="en-US" dirty="0"/>
              <a:t>Validation is deterministic — pass/fail</a:t>
            </a:r>
          </a:p>
          <a:p>
            <a:pPr lvl="1"/>
            <a:r>
              <a:rPr lang="en-US" dirty="0"/>
              <a:t>Feedback is precise — "Field X should be Y but got Z"</a:t>
            </a:r>
          </a:p>
          <a:p>
            <a:pPr lvl="1"/>
            <a:r>
              <a:rPr lang="en-US" dirty="0"/>
              <a:t>Correction converges — fix only that part</a:t>
            </a:r>
          </a:p>
          <a:p>
            <a:endParaRPr lang="en-US" dirty="0"/>
          </a:p>
          <a:p>
            <a:r>
              <a:rPr lang="en-US" dirty="0"/>
              <a:t>Type schema + deterministic validator + structured feedback</a:t>
            </a:r>
          </a:p>
          <a:p>
            <a:pPr lvl="1"/>
            <a:r>
              <a:rPr lang="en-US" dirty="0"/>
              <a:t>= harness</a:t>
            </a:r>
          </a:p>
          <a:p>
            <a:pPr lvl="1"/>
            <a:r>
              <a:rPr lang="en-US" dirty="0"/>
              <a:t>6.75% → 100%</a:t>
            </a:r>
          </a:p>
        </p:txBody>
      </p:sp>
    </p:spTree>
    <p:extLst>
      <p:ext uri="{BB962C8B-B14F-4D97-AF65-F5344CB8AC3E}">
        <p14:creationId xmlns:p14="http://schemas.microsoft.com/office/powerpoint/2010/main" val="24110913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 Schema</a:t>
            </a:r>
          </a:p>
          <a:p>
            <a:r>
              <a:rPr lang="en-US" dirty="0"/>
              <a:t>+ Deterministic Validator</a:t>
            </a:r>
          </a:p>
          <a:p>
            <a:r>
              <a:rPr lang="en-US" dirty="0"/>
              <a:t>+ Structured Feedback</a:t>
            </a:r>
          </a:p>
          <a:p>
            <a:endParaRPr lang="en-US" dirty="0"/>
          </a:p>
          <a:p>
            <a:r>
              <a:rPr lang="en-US" dirty="0"/>
              <a:t>Prompt engineering tries to make the probabilistic part reliable.</a:t>
            </a:r>
          </a:p>
          <a:p>
            <a:r>
              <a:rPr lang="en-US" dirty="0"/>
              <a:t>The harness makes the deterministic part airtight.</a:t>
            </a:r>
          </a:p>
          <a:p>
            <a:endParaRPr lang="en-US" dirty="0"/>
          </a:p>
          <a:p>
            <a:r>
              <a:rPr lang="en-US" dirty="0"/>
              <a:t>In domains that demand precision: 6.75% → 100%</a:t>
            </a:r>
          </a:p>
        </p:txBody>
      </p:sp>
    </p:spTree>
    <p:extLst>
      <p:ext uri="{BB962C8B-B14F-4D97-AF65-F5344CB8AC3E}">
        <p14:creationId xmlns:p14="http://schemas.microsoft.com/office/powerpoint/2010/main" val="22147122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"The LLM doesn't need to be accurate.</a:t>
            </a:r>
          </a:p>
          <a:p>
            <a:r>
              <a:rPr lang="en-US" dirty="0"/>
              <a:t>It just needs to be harnessed."</a:t>
            </a:r>
          </a:p>
          <a:p>
            <a:endParaRPr lang="en-US" dirty="0"/>
          </a:p>
          <a:p>
            <a:r>
              <a:rPr lang="en-US" dirty="0"/>
              <a:t>Correctability is not a property of the model —</a:t>
            </a:r>
          </a:p>
          <a:p>
            <a:r>
              <a:rPr lang="en-US" dirty="0"/>
              <a:t>it's a property of the validation infrastructure.</a:t>
            </a:r>
          </a:p>
        </p:txBody>
      </p:sp>
    </p:spTree>
    <p:extLst>
      <p:ext uri="{BB962C8B-B14F-4D97-AF65-F5344CB8AC3E}">
        <p14:creationId xmlns:p14="http://schemas.microsoft.com/office/powerpoint/2010/main" val="29366121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4.5. This Pattern Is Universal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Every domain where output is mechanically verifiable</a:t>
            </a:r>
          </a:p>
          <a:p>
            <a:endParaRPr lang="en-US" dirty="0"/>
          </a:p>
          <a:p>
            <a:r>
              <a:rPr lang="en-US" dirty="0"/>
              <a:t>Applicable Domains</a:t>
            </a:r>
          </a:p>
          <a:p>
            <a:pPr lvl="1"/>
            <a:r>
              <a:rPr lang="en-US" dirty="0"/>
              <a:t>Software: type check → compilation → test execution</a:t>
            </a:r>
          </a:p>
          <a:p>
            <a:pPr lvl="1"/>
            <a:r>
              <a:rPr lang="en-US" dirty="0"/>
              <a:t>Semiconductor: DRC → LVS → SPICE simulation</a:t>
            </a:r>
          </a:p>
          <a:p>
            <a:pPr lvl="1"/>
            <a:r>
              <a:rPr lang="en-US" dirty="0"/>
              <a:t>Chemical Process: mass balance → energy balance → simulation</a:t>
            </a:r>
          </a:p>
          <a:p>
            <a:pPr lvl="1"/>
            <a:r>
              <a:rPr lang="en-US" dirty="0"/>
              <a:t>Control Systems: transfer function → stability → time-domain</a:t>
            </a:r>
          </a:p>
          <a:p>
            <a:endParaRPr lang="en-US" dirty="0"/>
          </a:p>
          <a:p>
            <a:r>
              <a:rPr lang="en-US" dirty="0"/>
              <a:t>Inapplicable: creative writing, strategic decisions</a:t>
            </a:r>
          </a:p>
          <a:p>
            <a:pPr lvl="1"/>
            <a:r>
              <a:rPr lang="en-US" dirty="0"/>
              <a:t>No validator → no feedback loop → no convergence</a:t>
            </a:r>
          </a:p>
        </p:txBody>
      </p:sp>
    </p:spTree>
    <p:extLst>
      <p:ext uri="{BB962C8B-B14F-4D97-AF65-F5344CB8AC3E}">
        <p14:creationId xmlns:p14="http://schemas.microsoft.com/office/powerpoint/2010/main" val="25564371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13D6CDE0-ED4D-44B9-A561-485A02015F23}"/>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Semiconductors — Chip Layout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DRC (fast) → LVS (med) → SPICE simulation (deep) — all deterministic</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IBlock</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ILogicBlock</a:t>
            </a:r>
            <a:r>
              <a:rPr lang="en-US" sz="1400" dirty="0">
                <a:solidFill>
                  <a:srgbClr val="6A9955"/>
                </a:solidFill>
                <a:latin typeface="Consolas"/>
              </a:rPr>
              <a:t>        // children: IBlock[]  ← recursive</a:t>
            </a:r>
          </a:p>
          <a:p>
            <a:pPr>
              <a:buNone/>
            </a:pPr>
            <a:r>
              <a:rPr lang="en-US" sz="1400" dirty="0">
                <a:solidFill>
                  <a:srgbClr val="D4D4D4"/>
                </a:solidFill>
                <a:latin typeface="Consolas"/>
              </a:rPr>
              <a:t>  | </a:t>
            </a:r>
            <a:r>
              <a:rPr lang="en-US" sz="1400" dirty="0">
                <a:solidFill>
                  <a:srgbClr val="4EC9B0"/>
                </a:solidFill>
                <a:latin typeface="Consolas"/>
              </a:rPr>
              <a:t>IMemoryBlock</a:t>
            </a:r>
            <a:r>
              <a:rPr lang="en-US" sz="1400" dirty="0">
                <a:solidFill>
                  <a:srgbClr val="6A9955"/>
                </a:solidFill>
                <a:latin typeface="Consolas"/>
              </a:rPr>
              <a:t>       // children: IBlock[]  ← SRAM, DRAM, ROM, Flash, MRAM</a:t>
            </a:r>
          </a:p>
          <a:p>
            <a:pPr>
              <a:buNone/>
            </a:pPr>
            <a:r>
              <a:rPr lang="en-US" sz="1400" dirty="0">
                <a:solidFill>
                  <a:srgbClr val="D4D4D4"/>
                </a:solidFill>
                <a:latin typeface="Consolas"/>
              </a:rPr>
              <a:t>  | </a:t>
            </a:r>
            <a:r>
              <a:rPr lang="en-US" sz="1400" dirty="0">
                <a:solidFill>
                  <a:srgbClr val="4EC9B0"/>
                </a:solidFill>
                <a:latin typeface="Consolas"/>
              </a:rPr>
              <a:t>IAnalogBlock</a:t>
            </a:r>
            <a:r>
              <a:rPr lang="en-US" sz="1400" dirty="0">
                <a:solidFill>
                  <a:srgbClr val="6A9955"/>
                </a:solidFill>
                <a:latin typeface="Consolas"/>
              </a:rPr>
              <a:t>       // children: IBlock[]  ← PLL, ADC, DAC, SerDes, LDO</a:t>
            </a:r>
          </a:p>
          <a:p>
            <a:pPr>
              <a:buNone/>
            </a:pPr>
            <a:r>
              <a:rPr lang="en-US" sz="1400" dirty="0">
                <a:solidFill>
                  <a:srgbClr val="D4D4D4"/>
                </a:solidFill>
                <a:latin typeface="Consolas"/>
              </a:rPr>
              <a:t>  | </a:t>
            </a:r>
            <a:r>
              <a:rPr lang="en-US" sz="1400" dirty="0">
                <a:solidFill>
                  <a:srgbClr val="4EC9B0"/>
                </a:solidFill>
                <a:latin typeface="Consolas"/>
              </a:rPr>
              <a:t>IIOBlock</a:t>
            </a:r>
            <a:r>
              <a:rPr lang="en-US" sz="1400" dirty="0">
                <a:solidFill>
                  <a:srgbClr val="D4D4D4"/>
                </a:solidFill>
                <a:latin typeface="Consolas"/>
              </a:rPr>
              <a:t> | </a:t>
            </a:r>
            <a:r>
              <a:rPr lang="en-US" sz="1400" dirty="0">
                <a:solidFill>
                  <a:srgbClr val="4EC9B0"/>
                </a:solidFill>
                <a:latin typeface="Consolas"/>
              </a:rPr>
              <a:t>IClockTree</a:t>
            </a:r>
            <a:r>
              <a:rPr lang="en-US" sz="1400" dirty="0">
                <a:solidFill>
                  <a:srgbClr val="D4D4D4"/>
                </a:solidFill>
                <a:latin typeface="Consolas"/>
              </a:rPr>
              <a:t> | </a:t>
            </a:r>
            <a:r>
              <a:rPr lang="en-US" sz="1400" dirty="0">
                <a:solidFill>
                  <a:srgbClr val="4EC9B0"/>
                </a:solidFill>
                <a:latin typeface="Consolas"/>
              </a:rPr>
              <a:t>IInterconnect</a:t>
            </a:r>
            <a:r>
              <a:rPr lang="en-US" sz="1400" dirty="0">
                <a:solidFill>
                  <a:srgbClr val="D4D4D4"/>
                </a:solidFill>
                <a:latin typeface="Consolas"/>
              </a:rPr>
              <a:t> | </a:t>
            </a:r>
            <a:r>
              <a:rPr lang="en-US" sz="1400" dirty="0">
                <a:solidFill>
                  <a:srgbClr val="4EC9B0"/>
                </a:solidFill>
                <a:latin typeface="Consolas"/>
              </a:rPr>
              <a:t>IPowerGrid</a:t>
            </a:r>
            <a:r>
              <a:rPr lang="en-US" sz="1400" dirty="0">
                <a:solidFill>
                  <a:srgbClr val="D4D4D4"/>
                </a:solidFill>
                <a:latin typeface="Consolas"/>
              </a:rPr>
              <a:t> | </a:t>
            </a:r>
            <a:r>
              <a:rPr lang="en-US" sz="1400" dirty="0">
                <a:solidFill>
                  <a:srgbClr val="4EC9B0"/>
                </a:solidFill>
                <a:latin typeface="Consolas"/>
              </a:rPr>
              <a:t>ICPU</a:t>
            </a:r>
            <a:r>
              <a:rPr lang="en-US" sz="1400" dirty="0">
                <a:solidFill>
                  <a:srgbClr val="D4D4D4"/>
                </a:solidFill>
                <a:latin typeface="Consolas"/>
              </a:rPr>
              <a:t> | </a:t>
            </a:r>
            <a:r>
              <a:rPr lang="en-US" sz="1400" dirty="0">
                <a:solidFill>
                  <a:srgbClr val="4EC9B0"/>
                </a:solidFill>
                <a:latin typeface="Consolas"/>
              </a:rPr>
              <a:t>IGPU</a:t>
            </a:r>
          </a:p>
          <a:p>
            <a:pPr>
              <a:buNone/>
            </a:pPr>
            <a:r>
              <a:rPr lang="en-US" sz="1400" dirty="0">
                <a:solidFill>
                  <a:srgbClr val="D4D4D4"/>
                </a:solidFill>
                <a:latin typeface="Consolas"/>
              </a:rPr>
              <a:t>  | </a:t>
            </a:r>
            <a:r>
              <a:rPr lang="en-US" sz="1400" dirty="0">
                <a:solidFill>
                  <a:srgbClr val="4EC9B0"/>
                </a:solidFill>
                <a:latin typeface="Consolas"/>
              </a:rPr>
              <a:t>INPU</a:t>
            </a:r>
            <a:r>
              <a:rPr lang="en-US" sz="1400" dirty="0">
                <a:solidFill>
                  <a:srgbClr val="D4D4D4"/>
                </a:solidFill>
                <a:latin typeface="Consolas"/>
              </a:rPr>
              <a:t> | </a:t>
            </a:r>
            <a:r>
              <a:rPr lang="en-US" sz="1400" dirty="0">
                <a:solidFill>
                  <a:srgbClr val="4EC9B0"/>
                </a:solidFill>
                <a:latin typeface="Consolas"/>
              </a:rPr>
              <a:t>IDSP</a:t>
            </a:r>
            <a:r>
              <a:rPr lang="en-US" sz="1400" dirty="0">
                <a:solidFill>
                  <a:srgbClr val="D4D4D4"/>
                </a:solidFill>
                <a:latin typeface="Consolas"/>
              </a:rPr>
              <a:t> | </a:t>
            </a:r>
            <a:r>
              <a:rPr lang="en-US" sz="1400" dirty="0">
                <a:solidFill>
                  <a:srgbClr val="4EC9B0"/>
                </a:solidFill>
                <a:latin typeface="Consolas"/>
              </a:rPr>
              <a:t>ISecurityBlock</a:t>
            </a:r>
            <a:r>
              <a:rPr lang="en-US" sz="1400" dirty="0">
                <a:solidFill>
                  <a:srgbClr val="D4D4D4"/>
                </a:solidFill>
                <a:latin typeface="Consolas"/>
              </a:rPr>
              <a:t> | </a:t>
            </a:r>
            <a:r>
              <a:rPr lang="en-US" sz="1400" dirty="0">
                <a:solidFill>
                  <a:srgbClr val="4EC9B0"/>
                </a:solidFill>
                <a:latin typeface="Consolas"/>
              </a:rPr>
              <a:t>IDebugBlock</a:t>
            </a:r>
            <a:r>
              <a:rPr lang="en-US" sz="1400" dirty="0">
                <a:solidFill>
                  <a:srgbClr val="D4D4D4"/>
                </a:solidFill>
                <a:latin typeface="Consolas"/>
              </a:rPr>
              <a:t> | </a:t>
            </a:r>
            <a:r>
              <a:rPr lang="en-US" sz="1400" dirty="0">
                <a:solidFill>
                  <a:srgbClr val="4EC9B0"/>
                </a:solidFill>
                <a:latin typeface="Consolas"/>
              </a:rPr>
              <a:t>IPhyBlock</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IStandardCell</a:t>
            </a:r>
            <a:r>
              <a:rPr lang="en-US" sz="1400" dirty="0">
                <a:solidFill>
                  <a:srgbClr val="D4D4D4"/>
                </a:solidFill>
                <a:latin typeface="Consolas"/>
              </a:rPr>
              <a:t> =</a:t>
            </a:r>
            <a:r>
              <a:rPr lang="en-US" sz="1400" dirty="0">
                <a:solidFill>
                  <a:srgbClr val="6A9955"/>
                </a:solidFill>
                <a:latin typeface="Consolas"/>
              </a:rPr>
              <a:t>                    // hundreds per PDK</a:t>
            </a:r>
          </a:p>
          <a:p>
            <a:pPr>
              <a:buNone/>
            </a:pPr>
            <a:r>
              <a:rPr lang="en-US" sz="1400" dirty="0">
                <a:solidFill>
                  <a:srgbClr val="D4D4D4"/>
                </a:solidFill>
                <a:latin typeface="Consolas"/>
              </a:rPr>
              <a:t>  | </a:t>
            </a:r>
            <a:r>
              <a:rPr lang="en-US" sz="1400" dirty="0">
                <a:solidFill>
                  <a:srgbClr val="4EC9B0"/>
                </a:solidFill>
                <a:latin typeface="Consolas"/>
              </a:rPr>
              <a:t>IAND</a:t>
            </a:r>
            <a:r>
              <a:rPr lang="en-US" sz="1400" dirty="0">
                <a:solidFill>
                  <a:srgbClr val="D4D4D4"/>
                </a:solidFill>
                <a:latin typeface="Consolas"/>
              </a:rPr>
              <a:t> | </a:t>
            </a:r>
            <a:r>
              <a:rPr lang="en-US" sz="1400" dirty="0">
                <a:solidFill>
                  <a:srgbClr val="4EC9B0"/>
                </a:solidFill>
                <a:latin typeface="Consolas"/>
              </a:rPr>
              <a:t>IOR</a:t>
            </a:r>
            <a:r>
              <a:rPr lang="en-US" sz="1400" dirty="0">
                <a:solidFill>
                  <a:srgbClr val="D4D4D4"/>
                </a:solidFill>
                <a:latin typeface="Consolas"/>
              </a:rPr>
              <a:t> | </a:t>
            </a:r>
            <a:r>
              <a:rPr lang="en-US" sz="1400" dirty="0">
                <a:solidFill>
                  <a:srgbClr val="4EC9B0"/>
                </a:solidFill>
                <a:latin typeface="Consolas"/>
              </a:rPr>
              <a:t>INAND</a:t>
            </a:r>
            <a:r>
              <a:rPr lang="en-US" sz="1400" dirty="0">
                <a:solidFill>
                  <a:srgbClr val="D4D4D4"/>
                </a:solidFill>
                <a:latin typeface="Consolas"/>
              </a:rPr>
              <a:t> | </a:t>
            </a:r>
            <a:r>
              <a:rPr lang="en-US" sz="1400" dirty="0">
                <a:solidFill>
                  <a:srgbClr val="4EC9B0"/>
                </a:solidFill>
                <a:latin typeface="Consolas"/>
              </a:rPr>
              <a:t>INOR</a:t>
            </a:r>
            <a:r>
              <a:rPr lang="en-US" sz="1400" dirty="0">
                <a:solidFill>
                  <a:srgbClr val="D4D4D4"/>
                </a:solidFill>
                <a:latin typeface="Consolas"/>
              </a:rPr>
              <a:t> | </a:t>
            </a:r>
            <a:r>
              <a:rPr lang="en-US" sz="1400" dirty="0">
                <a:solidFill>
                  <a:srgbClr val="4EC9B0"/>
                </a:solidFill>
                <a:latin typeface="Consolas"/>
              </a:rPr>
              <a:t>IXOR</a:t>
            </a:r>
            <a:r>
              <a:rPr lang="en-US" sz="1400" dirty="0">
                <a:solidFill>
                  <a:srgbClr val="D4D4D4"/>
                </a:solidFill>
                <a:latin typeface="Consolas"/>
              </a:rPr>
              <a:t> | </a:t>
            </a:r>
            <a:r>
              <a:rPr lang="en-US" sz="1400" dirty="0">
                <a:solidFill>
                  <a:srgbClr val="4EC9B0"/>
                </a:solidFill>
                <a:latin typeface="Consolas"/>
              </a:rPr>
              <a:t>IXNOR</a:t>
            </a:r>
            <a:r>
              <a:rPr lang="en-US" sz="1400" dirty="0">
                <a:solidFill>
                  <a:srgbClr val="D4D4D4"/>
                </a:solidFill>
                <a:latin typeface="Consolas"/>
              </a:rPr>
              <a:t> | </a:t>
            </a:r>
            <a:r>
              <a:rPr lang="en-US" sz="1400" dirty="0">
                <a:solidFill>
                  <a:srgbClr val="4EC9B0"/>
                </a:solidFill>
                <a:latin typeface="Consolas"/>
              </a:rPr>
              <a:t>INOT</a:t>
            </a:r>
            <a:r>
              <a:rPr lang="en-US" sz="1400" dirty="0">
                <a:solidFill>
                  <a:srgbClr val="D4D4D4"/>
                </a:solidFill>
                <a:latin typeface="Consolas"/>
              </a:rPr>
              <a:t> | </a:t>
            </a:r>
            <a:r>
              <a:rPr lang="en-US" sz="1400" dirty="0">
                <a:solidFill>
                  <a:srgbClr val="4EC9B0"/>
                </a:solidFill>
                <a:latin typeface="Consolas"/>
              </a:rPr>
              <a:t>IBUF</a:t>
            </a:r>
            <a:r>
              <a:rPr lang="en-US" sz="1400" dirty="0">
                <a:solidFill>
                  <a:srgbClr val="D4D4D4"/>
                </a:solidFill>
                <a:latin typeface="Consolas"/>
              </a:rPr>
              <a:t> | </a:t>
            </a:r>
            <a:r>
              <a:rPr lang="en-US" sz="1400" dirty="0">
                <a:solidFill>
                  <a:srgbClr val="4EC9B0"/>
                </a:solidFill>
                <a:latin typeface="Consolas"/>
              </a:rPr>
              <a:t>IMUX</a:t>
            </a:r>
            <a:r>
              <a:rPr lang="en-US" sz="1400" dirty="0">
                <a:solidFill>
                  <a:srgbClr val="D4D4D4"/>
                </a:solidFill>
                <a:latin typeface="Consolas"/>
              </a:rPr>
              <a:t> | </a:t>
            </a:r>
            <a:r>
              <a:rPr lang="en-US" sz="1400" dirty="0">
                <a:solidFill>
                  <a:srgbClr val="4EC9B0"/>
                </a:solidFill>
                <a:latin typeface="Consolas"/>
              </a:rPr>
              <a:t>IDEMUX</a:t>
            </a:r>
          </a:p>
          <a:p>
            <a:pPr>
              <a:buNone/>
            </a:pPr>
            <a:r>
              <a:rPr lang="en-US" sz="1400" dirty="0">
                <a:solidFill>
                  <a:srgbClr val="D4D4D4"/>
                </a:solidFill>
                <a:latin typeface="Consolas"/>
              </a:rPr>
              <a:t>  | </a:t>
            </a:r>
            <a:r>
              <a:rPr lang="en-US" sz="1400" dirty="0">
                <a:solidFill>
                  <a:srgbClr val="4EC9B0"/>
                </a:solidFill>
                <a:latin typeface="Consolas"/>
              </a:rPr>
              <a:t>IAOI</a:t>
            </a:r>
            <a:r>
              <a:rPr lang="en-US" sz="1400" dirty="0">
                <a:solidFill>
                  <a:srgbClr val="D4D4D4"/>
                </a:solidFill>
                <a:latin typeface="Consolas"/>
              </a:rPr>
              <a:t> | </a:t>
            </a:r>
            <a:r>
              <a:rPr lang="en-US" sz="1400" dirty="0">
                <a:solidFill>
                  <a:srgbClr val="4EC9B0"/>
                </a:solidFill>
                <a:latin typeface="Consolas"/>
              </a:rPr>
              <a:t>IOAI</a:t>
            </a:r>
            <a:r>
              <a:rPr lang="en-US" sz="1400" dirty="0">
                <a:solidFill>
                  <a:srgbClr val="D4D4D4"/>
                </a:solidFill>
                <a:latin typeface="Consolas"/>
              </a:rPr>
              <a:t> | </a:t>
            </a:r>
            <a:r>
              <a:rPr lang="en-US" sz="1400" dirty="0">
                <a:solidFill>
                  <a:srgbClr val="4EC9B0"/>
                </a:solidFill>
                <a:latin typeface="Consolas"/>
              </a:rPr>
              <a:t>IHA</a:t>
            </a:r>
            <a:r>
              <a:rPr lang="en-US" sz="1400" dirty="0">
                <a:solidFill>
                  <a:srgbClr val="D4D4D4"/>
                </a:solidFill>
                <a:latin typeface="Consolas"/>
              </a:rPr>
              <a:t> | </a:t>
            </a:r>
            <a:r>
              <a:rPr lang="en-US" sz="1400" dirty="0">
                <a:solidFill>
                  <a:srgbClr val="4EC9B0"/>
                </a:solidFill>
                <a:latin typeface="Consolas"/>
              </a:rPr>
              <a:t>IFA</a:t>
            </a:r>
            <a:r>
              <a:rPr lang="en-US" sz="1400" dirty="0">
                <a:solidFill>
                  <a:srgbClr val="D4D4D4"/>
                </a:solidFill>
                <a:latin typeface="Consolas"/>
              </a:rPr>
              <a:t> | </a:t>
            </a:r>
            <a:r>
              <a:rPr lang="en-US" sz="1400" dirty="0">
                <a:solidFill>
                  <a:srgbClr val="4EC9B0"/>
                </a:solidFill>
                <a:latin typeface="Consolas"/>
              </a:rPr>
              <a:t>IDFF</a:t>
            </a:r>
            <a:r>
              <a:rPr lang="en-US" sz="1400" dirty="0">
                <a:solidFill>
                  <a:srgbClr val="D4D4D4"/>
                </a:solidFill>
                <a:latin typeface="Consolas"/>
              </a:rPr>
              <a:t> | </a:t>
            </a:r>
            <a:r>
              <a:rPr lang="en-US" sz="1400" dirty="0">
                <a:solidFill>
                  <a:srgbClr val="4EC9B0"/>
                </a:solidFill>
                <a:latin typeface="Consolas"/>
              </a:rPr>
              <a:t>IJKFF</a:t>
            </a:r>
            <a:r>
              <a:rPr lang="en-US" sz="1400" dirty="0">
                <a:solidFill>
                  <a:srgbClr val="D4D4D4"/>
                </a:solidFill>
                <a:latin typeface="Consolas"/>
              </a:rPr>
              <a:t> | </a:t>
            </a:r>
            <a:r>
              <a:rPr lang="en-US" sz="1400" dirty="0">
                <a:solidFill>
                  <a:srgbClr val="4EC9B0"/>
                </a:solidFill>
                <a:latin typeface="Consolas"/>
              </a:rPr>
              <a:t>ILatch</a:t>
            </a:r>
            <a:r>
              <a:rPr lang="en-US" sz="1400" dirty="0">
                <a:solidFill>
                  <a:srgbClr val="D4D4D4"/>
                </a:solidFill>
                <a:latin typeface="Consolas"/>
              </a:rPr>
              <a:t> | </a:t>
            </a:r>
            <a:r>
              <a:rPr lang="en-US" sz="1400" dirty="0">
                <a:solidFill>
                  <a:srgbClr val="4EC9B0"/>
                </a:solidFill>
                <a:latin typeface="Consolas"/>
              </a:rPr>
              <a:t>IScanFF</a:t>
            </a:r>
            <a:r>
              <a:rPr lang="en-US" sz="1400" dirty="0">
                <a:solidFill>
                  <a:srgbClr val="D4D4D4"/>
                </a:solidFill>
                <a:latin typeface="Consolas"/>
              </a:rPr>
              <a:t> | </a:t>
            </a:r>
            <a:r>
              <a:rPr lang="en-US" sz="1400" dirty="0">
                <a:solidFill>
                  <a:srgbClr val="4EC9B0"/>
                </a:solidFill>
                <a:latin typeface="Consolas"/>
              </a:rPr>
              <a:t>IRetentionFF</a:t>
            </a:r>
          </a:p>
          <a:p>
            <a:pPr>
              <a:buNone/>
            </a:pPr>
            <a:r>
              <a:rPr lang="en-US" sz="1400" dirty="0">
                <a:solidFill>
                  <a:srgbClr val="D4D4D4"/>
                </a:solidFill>
                <a:latin typeface="Consolas"/>
              </a:rPr>
              <a:t>  | </a:t>
            </a:r>
            <a:r>
              <a:rPr lang="en-US" sz="1400" dirty="0">
                <a:solidFill>
                  <a:srgbClr val="4EC9B0"/>
                </a:solidFill>
                <a:latin typeface="Consolas"/>
              </a:rPr>
              <a:t>IICG</a:t>
            </a:r>
            <a:r>
              <a:rPr lang="en-US" sz="1400" dirty="0">
                <a:solidFill>
                  <a:srgbClr val="D4D4D4"/>
                </a:solidFill>
                <a:latin typeface="Consolas"/>
              </a:rPr>
              <a:t> | </a:t>
            </a:r>
            <a:r>
              <a:rPr lang="en-US" sz="1400" dirty="0">
                <a:solidFill>
                  <a:srgbClr val="4EC9B0"/>
                </a:solidFill>
                <a:latin typeface="Consolas"/>
              </a:rPr>
              <a:t>IClkBuf</a:t>
            </a:r>
            <a:r>
              <a:rPr lang="en-US" sz="1400" dirty="0">
                <a:solidFill>
                  <a:srgbClr val="D4D4D4"/>
                </a:solidFill>
                <a:latin typeface="Consolas"/>
              </a:rPr>
              <a:t> | </a:t>
            </a:r>
            <a:r>
              <a:rPr lang="en-US" sz="1400" dirty="0">
                <a:solidFill>
                  <a:srgbClr val="4EC9B0"/>
                </a:solidFill>
                <a:latin typeface="Consolas"/>
              </a:rPr>
              <a:t>IClkInv</a:t>
            </a:r>
            <a:r>
              <a:rPr lang="en-US" sz="1400" dirty="0">
                <a:solidFill>
                  <a:srgbClr val="D4D4D4"/>
                </a:solidFill>
                <a:latin typeface="Consolas"/>
              </a:rPr>
              <a:t> | </a:t>
            </a:r>
            <a:r>
              <a:rPr lang="en-US" sz="1400" dirty="0">
                <a:solidFill>
                  <a:srgbClr val="4EC9B0"/>
                </a:solidFill>
                <a:latin typeface="Consolas"/>
              </a:rPr>
              <a:t>ITieCell</a:t>
            </a:r>
            <a:r>
              <a:rPr lang="en-US" sz="1400" dirty="0">
                <a:solidFill>
                  <a:srgbClr val="D4D4D4"/>
                </a:solidFill>
                <a:latin typeface="Consolas"/>
              </a:rPr>
              <a:t> | </a:t>
            </a:r>
            <a:r>
              <a:rPr lang="en-US" sz="1400" dirty="0">
                <a:solidFill>
                  <a:srgbClr val="4EC9B0"/>
                </a:solidFill>
                <a:latin typeface="Consolas"/>
              </a:rPr>
              <a:t>ITapCell</a:t>
            </a:r>
            <a:r>
              <a:rPr lang="en-US" sz="1400" dirty="0">
                <a:solidFill>
                  <a:srgbClr val="D4D4D4"/>
                </a:solidFill>
                <a:latin typeface="Consolas"/>
              </a:rPr>
              <a:t> | </a:t>
            </a:r>
            <a:r>
              <a:rPr lang="en-US" sz="1400" dirty="0">
                <a:solidFill>
                  <a:srgbClr val="4EC9B0"/>
                </a:solidFill>
                <a:latin typeface="Consolas"/>
              </a:rPr>
              <a:t>IFiller</a:t>
            </a:r>
            <a:r>
              <a:rPr lang="en-US" sz="1400" dirty="0">
                <a:solidFill>
                  <a:srgbClr val="D4D4D4"/>
                </a:solidFill>
                <a:latin typeface="Consolas"/>
              </a:rPr>
              <a:t> | </a:t>
            </a:r>
            <a:r>
              <a:rPr lang="en-US" sz="1400" dirty="0">
                <a:solidFill>
                  <a:srgbClr val="4EC9B0"/>
                </a:solidFill>
                <a:latin typeface="Consolas"/>
              </a:rPr>
              <a:t>IDecap</a:t>
            </a:r>
            <a:r>
              <a:rPr lang="en-US" sz="1400" dirty="0">
                <a:solidFill>
                  <a:srgbClr val="D4D4D4"/>
                </a:solidFill>
                <a:latin typeface="Consolas"/>
              </a:rPr>
              <a:t> | </a:t>
            </a:r>
            <a:r>
              <a:rPr lang="en-US" sz="1400" dirty="0">
                <a:solidFill>
                  <a:srgbClr val="4EC9B0"/>
                </a:solidFill>
                <a:latin typeface="Consolas"/>
              </a:rPr>
              <a:t>IEndcap</a:t>
            </a:r>
          </a:p>
          <a:p>
            <a:pPr>
              <a:buNone/>
            </a:pPr>
            <a:r>
              <a:rPr lang="en-US" sz="1400" dirty="0">
                <a:solidFill>
                  <a:srgbClr val="D4D4D4"/>
                </a:solidFill>
                <a:latin typeface="Consolas"/>
              </a:rPr>
              <a:t>  | </a:t>
            </a:r>
            <a:r>
              <a:rPr lang="en-US" sz="1400" dirty="0">
                <a:solidFill>
                  <a:srgbClr val="4EC9B0"/>
                </a:solidFill>
                <a:latin typeface="Consolas"/>
              </a:rPr>
              <a:t>ILevelShifter</a:t>
            </a:r>
            <a:r>
              <a:rPr lang="en-US" sz="1400" dirty="0">
                <a:solidFill>
                  <a:srgbClr val="D4D4D4"/>
                </a:solidFill>
                <a:latin typeface="Consolas"/>
              </a:rPr>
              <a:t> | </a:t>
            </a:r>
            <a:r>
              <a:rPr lang="en-US" sz="1400" dirty="0">
                <a:solidFill>
                  <a:srgbClr val="4EC9B0"/>
                </a:solidFill>
                <a:latin typeface="Consolas"/>
              </a:rPr>
              <a:t>IIsolationCell</a:t>
            </a:r>
            <a:r>
              <a:rPr lang="en-US" sz="1400" dirty="0">
                <a:solidFill>
                  <a:srgbClr val="D4D4D4"/>
                </a:solidFill>
                <a:latin typeface="Consolas"/>
              </a:rPr>
              <a:t> | </a:t>
            </a:r>
            <a:r>
              <a:rPr lang="en-US" sz="1400" dirty="0">
                <a:solidFill>
                  <a:srgbClr val="4EC9B0"/>
                </a:solidFill>
                <a:latin typeface="Consolas"/>
              </a:rPr>
              <a:t>IPowerGate</a:t>
            </a:r>
            <a:r>
              <a:rPr lang="en-US" sz="1400" dirty="0">
                <a:solidFill>
                  <a:srgbClr val="D4D4D4"/>
                </a:solidFill>
                <a:latin typeface="Consolas"/>
              </a:rPr>
              <a:t> | </a:t>
            </a:r>
            <a:r>
              <a:rPr lang="en-US" sz="1400" dirty="0">
                <a:solidFill>
                  <a:srgbClr val="4EC9B0"/>
                </a:solidFill>
                <a:latin typeface="Consolas"/>
              </a:rPr>
              <a:t>IAntennaCell</a:t>
            </a:r>
            <a:r>
              <a:rPr lang="en-US" sz="1400" dirty="0">
                <a:solidFill>
                  <a:srgbClr val="D4D4D4"/>
                </a:solidFill>
                <a:latin typeface="Consolas"/>
              </a:rPr>
              <a:t> | </a:t>
            </a:r>
            <a:r>
              <a:rPr lang="en-US" sz="1400" dirty="0">
                <a:solidFill>
                  <a:srgbClr val="4EC9B0"/>
                </a:solidFill>
                <a:latin typeface="Consolas"/>
              </a:rPr>
              <a:t>ISpareCell</a:t>
            </a:r>
            <a:r>
              <a:rPr lang="en-US" sz="1400" dirty="0">
                <a:solidFill>
                  <a:srgbClr val="D4D4D4"/>
                </a:solidFill>
                <a:latin typeface="Consolas"/>
              </a:rPr>
              <a:t> | </a:t>
            </a:r>
            <a:r>
              <a:rPr lang="en-US" sz="1400" dirty="0">
                <a:solidFill>
                  <a:srgbClr val="4EC9B0"/>
                </a:solidFill>
                <a:latin typeface="Consolas"/>
              </a:rPr>
              <a:t>IECOCell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IBlock contains IBlock[] — recursive like IJsonSchema</a:t>
            </a:r>
          </a:p>
          <a:p>
            <a:pPr>
              <a:buNone/>
            </a:pPr>
            <a:r>
              <a:rPr lang="en-US" sz="1400" dirty="0">
                <a:solidFill>
                  <a:srgbClr val="6A9955"/>
                </a:solidFill>
                <a:latin typeface="Consolas"/>
              </a:rPr>
              <a:t>// each ILogicBlock.cells: IStandardCell[] — union within union</a:t>
            </a:r>
          </a:p>
          <a:p>
            <a:pPr>
              <a:buNone/>
            </a:pPr>
            <a:r>
              <a:rPr lang="en-US" sz="1400" dirty="0">
                <a:solidFill>
                  <a:srgbClr val="6A9955"/>
                </a:solidFill>
                <a:latin typeface="Consolas"/>
              </a:rPr>
              <a:t>// DRC → LVS → SPICE — all deterministic, all validatable</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4A90D9"/>
                </a:solidFill>
                <a:latin typeface="Segoe UI Semibold"/>
              </a:rPr>
              <a:t>Physical rules of chip design are not negotiable</a:t>
            </a:r>
          </a:p>
        </p:txBody>
      </p:sp>
    </p:spTree>
    <p:extLst>
      <p:ext uri="{BB962C8B-B14F-4D97-AF65-F5344CB8AC3E}">
        <p14:creationId xmlns:p14="http://schemas.microsoft.com/office/powerpoint/2010/main" val="6664964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D1589C49-AEB4-4B73-A923-235E358A5E1F}"/>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Chemical Process — Unit Operations</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Mass balance (fast) → Energy balance (med) → ASPEN simulation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IUnitOperation</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IReactor</a:t>
            </a:r>
            <a:r>
              <a:rPr lang="en-US" sz="1400" dirty="0">
                <a:solidFill>
                  <a:srgbClr val="6A9955"/>
                </a:solidFill>
                <a:latin typeface="Consolas"/>
              </a:rPr>
              <a:t>            // sub_units: IUnitOperation[]  ← recursive flowsheet</a:t>
            </a:r>
          </a:p>
          <a:p>
            <a:pPr>
              <a:buNone/>
            </a:pPr>
            <a:r>
              <a:rPr lang="en-US" sz="1400" dirty="0">
                <a:solidFill>
                  <a:srgbClr val="D4D4D4"/>
                </a:solidFill>
                <a:latin typeface="Consolas"/>
              </a:rPr>
              <a:t>  | </a:t>
            </a:r>
            <a:r>
              <a:rPr lang="en-US" sz="1400" dirty="0">
                <a:solidFill>
                  <a:srgbClr val="4EC9B0"/>
                </a:solidFill>
                <a:latin typeface="Consolas"/>
              </a:rPr>
              <a:t>IDistColumn</a:t>
            </a:r>
            <a:r>
              <a:rPr lang="en-US" sz="1400" dirty="0">
                <a:solidFill>
                  <a:srgbClr val="6A9955"/>
                </a:solidFill>
                <a:latin typeface="Consolas"/>
              </a:rPr>
              <a:t>         // sub_units: IUnitOperation[]  ← condenser + reboiler inside</a:t>
            </a:r>
          </a:p>
          <a:p>
            <a:pPr>
              <a:buNone/>
            </a:pPr>
            <a:r>
              <a:rPr lang="en-US" sz="1400" dirty="0">
                <a:solidFill>
                  <a:srgbClr val="D4D4D4"/>
                </a:solidFill>
                <a:latin typeface="Consolas"/>
              </a:rPr>
              <a:t>  | </a:t>
            </a:r>
            <a:r>
              <a:rPr lang="en-US" sz="1400" dirty="0">
                <a:solidFill>
                  <a:srgbClr val="4EC9B0"/>
                </a:solidFill>
                <a:latin typeface="Consolas"/>
              </a:rPr>
              <a:t>IAbsorber</a:t>
            </a:r>
            <a:r>
              <a:rPr lang="en-US" sz="1400" dirty="0">
                <a:solidFill>
                  <a:srgbClr val="D4D4D4"/>
                </a:solidFill>
                <a:latin typeface="Consolas"/>
              </a:rPr>
              <a:t> | </a:t>
            </a:r>
            <a:r>
              <a:rPr lang="en-US" sz="1400" dirty="0">
                <a:solidFill>
                  <a:srgbClr val="4EC9B0"/>
                </a:solidFill>
                <a:latin typeface="Consolas"/>
              </a:rPr>
              <a:t>IStripper</a:t>
            </a:r>
            <a:r>
              <a:rPr lang="en-US" sz="1400" dirty="0">
                <a:solidFill>
                  <a:srgbClr val="D4D4D4"/>
                </a:solidFill>
                <a:latin typeface="Consolas"/>
              </a:rPr>
              <a:t> | </a:t>
            </a:r>
            <a:r>
              <a:rPr lang="en-US" sz="1400" dirty="0">
                <a:solidFill>
                  <a:srgbClr val="4EC9B0"/>
                </a:solidFill>
                <a:latin typeface="Consolas"/>
              </a:rPr>
              <a:t>IExtractor</a:t>
            </a:r>
            <a:r>
              <a:rPr lang="en-US" sz="1400" dirty="0">
                <a:solidFill>
                  <a:srgbClr val="D4D4D4"/>
                </a:solidFill>
                <a:latin typeface="Consolas"/>
              </a:rPr>
              <a:t> | </a:t>
            </a:r>
            <a:r>
              <a:rPr lang="en-US" sz="1400" dirty="0">
                <a:solidFill>
                  <a:srgbClr val="4EC9B0"/>
                </a:solidFill>
                <a:latin typeface="Consolas"/>
              </a:rPr>
              <a:t>ICrystallizer</a:t>
            </a:r>
            <a:r>
              <a:rPr lang="en-US" sz="1400" dirty="0">
                <a:solidFill>
                  <a:srgbClr val="D4D4D4"/>
                </a:solidFill>
                <a:latin typeface="Consolas"/>
              </a:rPr>
              <a:t> | </a:t>
            </a:r>
            <a:r>
              <a:rPr lang="en-US" sz="1400" dirty="0">
                <a:solidFill>
                  <a:srgbClr val="4EC9B0"/>
                </a:solidFill>
                <a:latin typeface="Consolas"/>
              </a:rPr>
              <a:t>IDryer</a:t>
            </a:r>
            <a:r>
              <a:rPr lang="en-US" sz="1400" dirty="0">
                <a:solidFill>
                  <a:srgbClr val="D4D4D4"/>
                </a:solidFill>
                <a:latin typeface="Consolas"/>
              </a:rPr>
              <a:t> | </a:t>
            </a:r>
            <a:r>
              <a:rPr lang="en-US" sz="1400" dirty="0">
                <a:solidFill>
                  <a:srgbClr val="4EC9B0"/>
                </a:solidFill>
                <a:latin typeface="Consolas"/>
              </a:rPr>
              <a:t>IEvaporator</a:t>
            </a:r>
          </a:p>
          <a:p>
            <a:pPr>
              <a:buNone/>
            </a:pPr>
            <a:r>
              <a:rPr lang="en-US" sz="1400" dirty="0">
                <a:solidFill>
                  <a:srgbClr val="D4D4D4"/>
                </a:solidFill>
                <a:latin typeface="Consolas"/>
              </a:rPr>
              <a:t>  | </a:t>
            </a:r>
            <a:r>
              <a:rPr lang="en-US" sz="1400" dirty="0">
                <a:solidFill>
                  <a:srgbClr val="4EC9B0"/>
                </a:solidFill>
                <a:latin typeface="Consolas"/>
              </a:rPr>
              <a:t>IHeatExchanger</a:t>
            </a:r>
            <a:r>
              <a:rPr lang="en-US" sz="1400" dirty="0">
                <a:solidFill>
                  <a:srgbClr val="D4D4D4"/>
                </a:solidFill>
                <a:latin typeface="Consolas"/>
              </a:rPr>
              <a:t> | </a:t>
            </a:r>
            <a:r>
              <a:rPr lang="en-US" sz="1400" dirty="0">
                <a:solidFill>
                  <a:srgbClr val="4EC9B0"/>
                </a:solidFill>
                <a:latin typeface="Consolas"/>
              </a:rPr>
              <a:t>ICondenser</a:t>
            </a:r>
            <a:r>
              <a:rPr lang="en-US" sz="1400" dirty="0">
                <a:solidFill>
                  <a:srgbClr val="D4D4D4"/>
                </a:solidFill>
                <a:latin typeface="Consolas"/>
              </a:rPr>
              <a:t> | </a:t>
            </a:r>
            <a:r>
              <a:rPr lang="en-US" sz="1400" dirty="0">
                <a:solidFill>
                  <a:srgbClr val="4EC9B0"/>
                </a:solidFill>
                <a:latin typeface="Consolas"/>
              </a:rPr>
              <a:t>IReboiler</a:t>
            </a:r>
            <a:r>
              <a:rPr lang="en-US" sz="1400" dirty="0">
                <a:solidFill>
                  <a:srgbClr val="D4D4D4"/>
                </a:solidFill>
                <a:latin typeface="Consolas"/>
              </a:rPr>
              <a:t> | </a:t>
            </a:r>
            <a:r>
              <a:rPr lang="en-US" sz="1400" dirty="0">
                <a:solidFill>
                  <a:srgbClr val="4EC9B0"/>
                </a:solidFill>
                <a:latin typeface="Consolas"/>
              </a:rPr>
              <a:t>IHeater</a:t>
            </a:r>
            <a:r>
              <a:rPr lang="en-US" sz="1400" dirty="0">
                <a:solidFill>
                  <a:srgbClr val="D4D4D4"/>
                </a:solidFill>
                <a:latin typeface="Consolas"/>
              </a:rPr>
              <a:t> | </a:t>
            </a:r>
            <a:r>
              <a:rPr lang="en-US" sz="1400" dirty="0">
                <a:solidFill>
                  <a:srgbClr val="4EC9B0"/>
                </a:solidFill>
                <a:latin typeface="Consolas"/>
              </a:rPr>
              <a:t>ICooler</a:t>
            </a:r>
            <a:r>
              <a:rPr lang="en-US" sz="1400" dirty="0">
                <a:solidFill>
                  <a:srgbClr val="D4D4D4"/>
                </a:solidFill>
                <a:latin typeface="Consolas"/>
              </a:rPr>
              <a:t> | </a:t>
            </a:r>
            <a:r>
              <a:rPr lang="en-US" sz="1400" dirty="0">
                <a:solidFill>
                  <a:srgbClr val="4EC9B0"/>
                </a:solidFill>
                <a:latin typeface="Consolas"/>
              </a:rPr>
              <a:t>IFurnace</a:t>
            </a:r>
          </a:p>
          <a:p>
            <a:pPr>
              <a:buNone/>
            </a:pPr>
            <a:r>
              <a:rPr lang="en-US" sz="1400" dirty="0">
                <a:solidFill>
                  <a:srgbClr val="D4D4D4"/>
                </a:solidFill>
                <a:latin typeface="Consolas"/>
              </a:rPr>
              <a:t>  | </a:t>
            </a:r>
            <a:r>
              <a:rPr lang="en-US" sz="1400" dirty="0">
                <a:solidFill>
                  <a:srgbClr val="4EC9B0"/>
                </a:solidFill>
                <a:latin typeface="Consolas"/>
              </a:rPr>
              <a:t>IMixer</a:t>
            </a:r>
            <a:r>
              <a:rPr lang="en-US" sz="1400" dirty="0">
                <a:solidFill>
                  <a:srgbClr val="D4D4D4"/>
                </a:solidFill>
                <a:latin typeface="Consolas"/>
              </a:rPr>
              <a:t> | </a:t>
            </a:r>
            <a:r>
              <a:rPr lang="en-US" sz="1400" dirty="0">
                <a:solidFill>
                  <a:srgbClr val="4EC9B0"/>
                </a:solidFill>
                <a:latin typeface="Consolas"/>
              </a:rPr>
              <a:t>ISplitter</a:t>
            </a:r>
            <a:r>
              <a:rPr lang="en-US" sz="1400" dirty="0">
                <a:solidFill>
                  <a:srgbClr val="D4D4D4"/>
                </a:solidFill>
                <a:latin typeface="Consolas"/>
              </a:rPr>
              <a:t> | </a:t>
            </a:r>
            <a:r>
              <a:rPr lang="en-US" sz="1400" dirty="0">
                <a:solidFill>
                  <a:srgbClr val="4EC9B0"/>
                </a:solidFill>
                <a:latin typeface="Consolas"/>
              </a:rPr>
              <a:t>IPump</a:t>
            </a:r>
            <a:r>
              <a:rPr lang="en-US" sz="1400" dirty="0">
                <a:solidFill>
                  <a:srgbClr val="D4D4D4"/>
                </a:solidFill>
                <a:latin typeface="Consolas"/>
              </a:rPr>
              <a:t> | </a:t>
            </a:r>
            <a:r>
              <a:rPr lang="en-US" sz="1400" dirty="0">
                <a:solidFill>
                  <a:srgbClr val="4EC9B0"/>
                </a:solidFill>
                <a:latin typeface="Consolas"/>
              </a:rPr>
              <a:t>ICompressor</a:t>
            </a:r>
            <a:r>
              <a:rPr lang="en-US" sz="1400" dirty="0">
                <a:solidFill>
                  <a:srgbClr val="D4D4D4"/>
                </a:solidFill>
                <a:latin typeface="Consolas"/>
              </a:rPr>
              <a:t> | </a:t>
            </a:r>
            <a:r>
              <a:rPr lang="en-US" sz="1400" dirty="0">
                <a:solidFill>
                  <a:srgbClr val="4EC9B0"/>
                </a:solidFill>
                <a:latin typeface="Consolas"/>
              </a:rPr>
              <a:t>IExpander</a:t>
            </a:r>
            <a:r>
              <a:rPr lang="en-US" sz="1400" dirty="0">
                <a:solidFill>
                  <a:srgbClr val="D4D4D4"/>
                </a:solidFill>
                <a:latin typeface="Consolas"/>
              </a:rPr>
              <a:t> | </a:t>
            </a:r>
            <a:r>
              <a:rPr lang="en-US" sz="1400" dirty="0">
                <a:solidFill>
                  <a:srgbClr val="4EC9B0"/>
                </a:solidFill>
                <a:latin typeface="Consolas"/>
              </a:rPr>
              <a:t>ITurbine</a:t>
            </a:r>
            <a:r>
              <a:rPr lang="en-US" sz="1400" dirty="0">
                <a:solidFill>
                  <a:srgbClr val="D4D4D4"/>
                </a:solidFill>
                <a:latin typeface="Consolas"/>
              </a:rPr>
              <a:t> | </a:t>
            </a:r>
            <a:r>
              <a:rPr lang="en-US" sz="1400" dirty="0">
                <a:solidFill>
                  <a:srgbClr val="4EC9B0"/>
                </a:solidFill>
                <a:latin typeface="Consolas"/>
              </a:rPr>
              <a:t>IValve</a:t>
            </a:r>
          </a:p>
          <a:p>
            <a:pPr>
              <a:buNone/>
            </a:pPr>
            <a:r>
              <a:rPr lang="en-US" sz="1400" dirty="0">
                <a:solidFill>
                  <a:srgbClr val="D4D4D4"/>
                </a:solidFill>
                <a:latin typeface="Consolas"/>
              </a:rPr>
              <a:t>  | </a:t>
            </a:r>
            <a:r>
              <a:rPr lang="en-US" sz="1400" dirty="0">
                <a:solidFill>
                  <a:srgbClr val="4EC9B0"/>
                </a:solidFill>
                <a:latin typeface="Consolas"/>
              </a:rPr>
              <a:t>ISeparator</a:t>
            </a:r>
            <a:r>
              <a:rPr lang="en-US" sz="1400" dirty="0">
                <a:solidFill>
                  <a:srgbClr val="D4D4D4"/>
                </a:solidFill>
                <a:latin typeface="Consolas"/>
              </a:rPr>
              <a:t> | </a:t>
            </a:r>
            <a:r>
              <a:rPr lang="en-US" sz="1400" dirty="0">
                <a:solidFill>
                  <a:srgbClr val="4EC9B0"/>
                </a:solidFill>
                <a:latin typeface="Consolas"/>
              </a:rPr>
              <a:t>IFilter</a:t>
            </a:r>
            <a:r>
              <a:rPr lang="en-US" sz="1400" dirty="0">
                <a:solidFill>
                  <a:srgbClr val="D4D4D4"/>
                </a:solidFill>
                <a:latin typeface="Consolas"/>
              </a:rPr>
              <a:t> | </a:t>
            </a:r>
            <a:r>
              <a:rPr lang="en-US" sz="1400" dirty="0">
                <a:solidFill>
                  <a:srgbClr val="4EC9B0"/>
                </a:solidFill>
                <a:latin typeface="Consolas"/>
              </a:rPr>
              <a:t>ICyclone</a:t>
            </a:r>
            <a:r>
              <a:rPr lang="en-US" sz="1400" dirty="0">
                <a:solidFill>
                  <a:srgbClr val="D4D4D4"/>
                </a:solidFill>
                <a:latin typeface="Consolas"/>
              </a:rPr>
              <a:t> | </a:t>
            </a:r>
            <a:r>
              <a:rPr lang="en-US" sz="1400" dirty="0">
                <a:solidFill>
                  <a:srgbClr val="4EC9B0"/>
                </a:solidFill>
                <a:latin typeface="Consolas"/>
              </a:rPr>
              <a:t>ICentrifuge</a:t>
            </a:r>
            <a:r>
              <a:rPr lang="en-US" sz="1400" dirty="0">
                <a:solidFill>
                  <a:srgbClr val="D4D4D4"/>
                </a:solidFill>
                <a:latin typeface="Consolas"/>
              </a:rPr>
              <a:t> | </a:t>
            </a:r>
            <a:r>
              <a:rPr lang="en-US" sz="1400" dirty="0">
                <a:solidFill>
                  <a:srgbClr val="4EC9B0"/>
                </a:solidFill>
                <a:latin typeface="Consolas"/>
              </a:rPr>
              <a:t>IMembrane</a:t>
            </a:r>
            <a:r>
              <a:rPr lang="en-US" sz="1400" dirty="0">
                <a:solidFill>
                  <a:srgbClr val="D4D4D4"/>
                </a:solidFill>
                <a:latin typeface="Consolas"/>
              </a:rPr>
              <a:t> | </a:t>
            </a:r>
            <a:r>
              <a:rPr lang="en-US" sz="1400" dirty="0">
                <a:solidFill>
                  <a:srgbClr val="4EC9B0"/>
                </a:solidFill>
                <a:latin typeface="Consolas"/>
              </a:rPr>
              <a:t>IAdsorber</a:t>
            </a:r>
          </a:p>
          <a:p>
            <a:pPr>
              <a:buNone/>
            </a:pPr>
            <a:r>
              <a:rPr lang="en-US" sz="1400" dirty="0">
                <a:solidFill>
                  <a:srgbClr val="D4D4D4"/>
                </a:solidFill>
                <a:latin typeface="Consolas"/>
              </a:rPr>
              <a:t>  | </a:t>
            </a:r>
            <a:r>
              <a:rPr lang="en-US" sz="1400" dirty="0">
                <a:solidFill>
                  <a:srgbClr val="4EC9B0"/>
                </a:solidFill>
                <a:latin typeface="Consolas"/>
              </a:rPr>
              <a:t>IPipe</a:t>
            </a:r>
            <a:r>
              <a:rPr lang="en-US" sz="1400" dirty="0">
                <a:solidFill>
                  <a:srgbClr val="D4D4D4"/>
                </a:solidFill>
                <a:latin typeface="Consolas"/>
              </a:rPr>
              <a:t> | </a:t>
            </a:r>
            <a:r>
              <a:rPr lang="en-US" sz="1400" dirty="0">
                <a:solidFill>
                  <a:srgbClr val="4EC9B0"/>
                </a:solidFill>
                <a:latin typeface="Consolas"/>
              </a:rPr>
              <a:t>IOrifice</a:t>
            </a:r>
            <a:r>
              <a:rPr lang="en-US" sz="1400" dirty="0">
                <a:solidFill>
                  <a:srgbClr val="D4D4D4"/>
                </a:solidFill>
                <a:latin typeface="Consolas"/>
              </a:rPr>
              <a:t> | </a:t>
            </a:r>
            <a:r>
              <a:rPr lang="en-US" sz="1400" dirty="0">
                <a:solidFill>
                  <a:srgbClr val="4EC9B0"/>
                </a:solidFill>
                <a:latin typeface="Consolas"/>
              </a:rPr>
              <a:t>ITank</a:t>
            </a:r>
            <a:r>
              <a:rPr lang="en-US" sz="1400" dirty="0">
                <a:solidFill>
                  <a:srgbClr val="D4D4D4"/>
                </a:solidFill>
                <a:latin typeface="Consolas"/>
              </a:rPr>
              <a:t> | </a:t>
            </a:r>
            <a:r>
              <a:rPr lang="en-US" sz="1400" dirty="0">
                <a:solidFill>
                  <a:srgbClr val="4EC9B0"/>
                </a:solidFill>
                <a:latin typeface="Consolas"/>
              </a:rPr>
              <a:t>IFlare</a:t>
            </a:r>
            <a:r>
              <a:rPr lang="en-US" sz="1400" dirty="0">
                <a:solidFill>
                  <a:srgbClr val="D4D4D4"/>
                </a:solidFill>
                <a:latin typeface="Consolas"/>
              </a:rPr>
              <a:t> | </a:t>
            </a:r>
            <a:r>
              <a:rPr lang="en-US" sz="1400" dirty="0">
                <a:solidFill>
                  <a:srgbClr val="4EC9B0"/>
                </a:solidFill>
                <a:latin typeface="Consolas"/>
              </a:rPr>
              <a:t>IEjector</a:t>
            </a:r>
            <a:r>
              <a:rPr lang="en-US" sz="1400" dirty="0">
                <a:solidFill>
                  <a:srgbClr val="D4D4D4"/>
                </a:solidFill>
                <a:latin typeface="Consolas"/>
              </a:rPr>
              <a:t> | </a:t>
            </a:r>
            <a:r>
              <a:rPr lang="en-US" sz="1400" dirty="0">
                <a:solidFill>
                  <a:srgbClr val="4EC9B0"/>
                </a:solidFill>
                <a:latin typeface="Consolas"/>
              </a:rPr>
              <a:t>ISpreadsheet</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IReactor</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ICSTR</a:t>
            </a:r>
            <a:r>
              <a:rPr lang="en-US" sz="1400" dirty="0">
                <a:solidFill>
                  <a:srgbClr val="D4D4D4"/>
                </a:solidFill>
                <a:latin typeface="Consolas"/>
              </a:rPr>
              <a:t> | </a:t>
            </a:r>
            <a:r>
              <a:rPr lang="en-US" sz="1400" dirty="0">
                <a:solidFill>
                  <a:srgbClr val="4EC9B0"/>
                </a:solidFill>
                <a:latin typeface="Consolas"/>
              </a:rPr>
              <a:t>IPFR</a:t>
            </a:r>
            <a:r>
              <a:rPr lang="en-US" sz="1400" dirty="0">
                <a:solidFill>
                  <a:srgbClr val="D4D4D4"/>
                </a:solidFill>
                <a:latin typeface="Consolas"/>
              </a:rPr>
              <a:t> | </a:t>
            </a:r>
            <a:r>
              <a:rPr lang="en-US" sz="1400" dirty="0">
                <a:solidFill>
                  <a:srgbClr val="4EC9B0"/>
                </a:solidFill>
                <a:latin typeface="Consolas"/>
              </a:rPr>
              <a:t>IBatchReactor</a:t>
            </a:r>
            <a:r>
              <a:rPr lang="en-US" sz="1400" dirty="0">
                <a:solidFill>
                  <a:srgbClr val="D4D4D4"/>
                </a:solidFill>
                <a:latin typeface="Consolas"/>
              </a:rPr>
              <a:t> | </a:t>
            </a:r>
            <a:r>
              <a:rPr lang="en-US" sz="1400" dirty="0">
                <a:solidFill>
                  <a:srgbClr val="4EC9B0"/>
                </a:solidFill>
                <a:latin typeface="Consolas"/>
              </a:rPr>
              <a:t>IGibbsReactor</a:t>
            </a:r>
            <a:r>
              <a:rPr lang="en-US" sz="1400" dirty="0">
                <a:solidFill>
                  <a:srgbClr val="D4D4D4"/>
                </a:solidFill>
                <a:latin typeface="Consolas"/>
              </a:rPr>
              <a:t> | </a:t>
            </a:r>
            <a:r>
              <a:rPr lang="en-US" sz="1400" dirty="0">
                <a:solidFill>
                  <a:srgbClr val="4EC9B0"/>
                </a:solidFill>
                <a:latin typeface="Consolas"/>
              </a:rPr>
              <a:t>IEquilibrium</a:t>
            </a:r>
            <a:r>
              <a:rPr lang="en-US" sz="1400" dirty="0">
                <a:solidFill>
                  <a:srgbClr val="D4D4D4"/>
                </a:solidFill>
                <a:latin typeface="Consolas"/>
              </a:rPr>
              <a:t> | </a:t>
            </a:r>
            <a:r>
              <a:rPr lang="en-US" sz="1400" dirty="0">
                <a:solidFill>
                  <a:srgbClr val="4EC9B0"/>
                </a:solidFill>
                <a:latin typeface="Consolas"/>
              </a:rPr>
              <a:t>IConversion</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IThermodynamicModel</a:t>
            </a:r>
            <a:r>
              <a:rPr lang="en-US" sz="1400" dirty="0">
                <a:solidFill>
                  <a:srgbClr val="D4D4D4"/>
                </a:solidFill>
                <a:latin typeface="Consolas"/>
              </a:rPr>
              <a:t> =</a:t>
            </a:r>
            <a:r>
              <a:rPr lang="en-US" sz="1400" dirty="0">
                <a:solidFill>
                  <a:srgbClr val="6A9955"/>
                </a:solidFill>
                <a:latin typeface="Consolas"/>
              </a:rPr>
              <a:t>              // governs phase equilibria</a:t>
            </a:r>
          </a:p>
          <a:p>
            <a:pPr>
              <a:buNone/>
            </a:pPr>
            <a:r>
              <a:rPr lang="en-US" sz="1400" dirty="0">
                <a:solidFill>
                  <a:srgbClr val="D4D4D4"/>
                </a:solidFill>
                <a:latin typeface="Consolas"/>
              </a:rPr>
              <a:t>  | </a:t>
            </a:r>
            <a:r>
              <a:rPr lang="en-US" sz="1400" dirty="0">
                <a:solidFill>
                  <a:srgbClr val="4EC9B0"/>
                </a:solidFill>
                <a:latin typeface="Consolas"/>
              </a:rPr>
              <a:t>IPengRobinson</a:t>
            </a:r>
            <a:r>
              <a:rPr lang="en-US" sz="1400" dirty="0">
                <a:solidFill>
                  <a:srgbClr val="D4D4D4"/>
                </a:solidFill>
                <a:latin typeface="Consolas"/>
              </a:rPr>
              <a:t> | </a:t>
            </a:r>
            <a:r>
              <a:rPr lang="en-US" sz="1400" dirty="0">
                <a:solidFill>
                  <a:srgbClr val="4EC9B0"/>
                </a:solidFill>
                <a:latin typeface="Consolas"/>
              </a:rPr>
              <a:t>ISRK</a:t>
            </a:r>
            <a:r>
              <a:rPr lang="en-US" sz="1400" dirty="0">
                <a:solidFill>
                  <a:srgbClr val="D4D4D4"/>
                </a:solidFill>
                <a:latin typeface="Consolas"/>
              </a:rPr>
              <a:t> | </a:t>
            </a:r>
            <a:r>
              <a:rPr lang="en-US" sz="1400" dirty="0">
                <a:solidFill>
                  <a:srgbClr val="4EC9B0"/>
                </a:solidFill>
                <a:latin typeface="Consolas"/>
              </a:rPr>
              <a:t>INRTL</a:t>
            </a:r>
            <a:r>
              <a:rPr lang="en-US" sz="1400" dirty="0">
                <a:solidFill>
                  <a:srgbClr val="D4D4D4"/>
                </a:solidFill>
                <a:latin typeface="Consolas"/>
              </a:rPr>
              <a:t> | </a:t>
            </a:r>
            <a:r>
              <a:rPr lang="en-US" sz="1400" dirty="0">
                <a:solidFill>
                  <a:srgbClr val="4EC9B0"/>
                </a:solidFill>
                <a:latin typeface="Consolas"/>
              </a:rPr>
              <a:t>IUNIQUAC</a:t>
            </a:r>
            <a:r>
              <a:rPr lang="en-US" sz="1400" dirty="0">
                <a:solidFill>
                  <a:srgbClr val="D4D4D4"/>
                </a:solidFill>
                <a:latin typeface="Consolas"/>
              </a:rPr>
              <a:t> | </a:t>
            </a:r>
            <a:r>
              <a:rPr lang="en-US" sz="1400" dirty="0">
                <a:solidFill>
                  <a:srgbClr val="4EC9B0"/>
                </a:solidFill>
                <a:latin typeface="Consolas"/>
              </a:rPr>
              <a:t>IWilson</a:t>
            </a:r>
            <a:r>
              <a:rPr lang="en-US" sz="1400" dirty="0">
                <a:solidFill>
                  <a:srgbClr val="D4D4D4"/>
                </a:solidFill>
                <a:latin typeface="Consolas"/>
              </a:rPr>
              <a:t> | </a:t>
            </a:r>
            <a:r>
              <a:rPr lang="en-US" sz="1400" dirty="0">
                <a:solidFill>
                  <a:srgbClr val="4EC9B0"/>
                </a:solidFill>
                <a:latin typeface="Consolas"/>
              </a:rPr>
              <a:t>ICPA</a:t>
            </a:r>
            <a:r>
              <a:rPr lang="en-US" sz="1400" dirty="0">
                <a:solidFill>
                  <a:srgbClr val="D4D4D4"/>
                </a:solidFill>
                <a:latin typeface="Consolas"/>
              </a:rPr>
              <a:t> | </a:t>
            </a:r>
            <a:r>
              <a:rPr lang="en-US" sz="1400" dirty="0">
                <a:solidFill>
                  <a:srgbClr val="4EC9B0"/>
                </a:solidFill>
                <a:latin typeface="Consolas"/>
              </a:rPr>
              <a:t>ISAFT</a:t>
            </a:r>
            <a:r>
              <a:rPr lang="en-US" sz="1400" dirty="0">
                <a:solidFill>
                  <a:srgbClr val="D4D4D4"/>
                </a:solidFill>
                <a:latin typeface="Consolas"/>
              </a:rPr>
              <a:t> | </a:t>
            </a:r>
            <a:r>
              <a:rPr lang="en-US" sz="1400" dirty="0">
                <a:solidFill>
                  <a:srgbClr val="4EC9B0"/>
                </a:solidFill>
                <a:latin typeface="Consolas"/>
              </a:rPr>
              <a:t>IELECNRTL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IDistColumn contains IUnitOperation[] — recursive like IJsonSchema</a:t>
            </a:r>
          </a:p>
          <a:p>
            <a:pPr>
              <a:buNone/>
            </a:pPr>
            <a:r>
              <a:rPr lang="en-US" sz="1400" dirty="0">
                <a:solidFill>
                  <a:srgbClr val="6A9955"/>
                </a:solidFill>
                <a:latin typeface="Consolas"/>
              </a:rPr>
              <a:t>// each IReactor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50C878"/>
                </a:solidFill>
                <a:latin typeface="Segoe UI Semibold"/>
              </a:rPr>
              <a:t>ASPEN and HYSYS: deterministic validation for 40+ years</a:t>
            </a:r>
          </a:p>
        </p:txBody>
      </p:sp>
    </p:spTree>
    <p:extLst>
      <p:ext uri="{BB962C8B-B14F-4D97-AF65-F5344CB8AC3E}">
        <p14:creationId xmlns:p14="http://schemas.microsoft.com/office/powerpoint/2010/main" val="35600503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F1C63935-A9C4-4060-9ACD-F8CCE6899B12}"/>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Construction (BIM) — IFC Element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IFC 4.3: 1,300+ entity types — collision detection, code compliance</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IfcElement</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IfcWall</a:t>
            </a:r>
            <a:r>
              <a:rPr lang="en-US" sz="1400" dirty="0">
                <a:solidFill>
                  <a:srgbClr val="6A9955"/>
                </a:solidFill>
                <a:latin typeface="Consolas"/>
              </a:rPr>
              <a:t>              // components: IfcElement[]  ← recursive assembly</a:t>
            </a:r>
          </a:p>
          <a:p>
            <a:pPr>
              <a:buNone/>
            </a:pPr>
            <a:r>
              <a:rPr lang="en-US" sz="1400" dirty="0">
                <a:solidFill>
                  <a:srgbClr val="D4D4D4"/>
                </a:solidFill>
                <a:latin typeface="Consolas"/>
              </a:rPr>
              <a:t>  | </a:t>
            </a:r>
            <a:r>
              <a:rPr lang="en-US" sz="1400" dirty="0">
                <a:solidFill>
                  <a:srgbClr val="4EC9B0"/>
                </a:solidFill>
                <a:latin typeface="Consolas"/>
              </a:rPr>
              <a:t>IfcSlab</a:t>
            </a:r>
            <a:r>
              <a:rPr lang="en-US" sz="1400" dirty="0">
                <a:solidFill>
                  <a:srgbClr val="D4D4D4"/>
                </a:solidFill>
                <a:latin typeface="Consolas"/>
              </a:rPr>
              <a:t> | </a:t>
            </a:r>
            <a:r>
              <a:rPr lang="en-US" sz="1400" dirty="0">
                <a:solidFill>
                  <a:srgbClr val="4EC9B0"/>
                </a:solidFill>
                <a:latin typeface="Consolas"/>
              </a:rPr>
              <a:t>IfcBeam</a:t>
            </a:r>
            <a:r>
              <a:rPr lang="en-US" sz="1400" dirty="0">
                <a:solidFill>
                  <a:srgbClr val="D4D4D4"/>
                </a:solidFill>
                <a:latin typeface="Consolas"/>
              </a:rPr>
              <a:t> | </a:t>
            </a:r>
            <a:r>
              <a:rPr lang="en-US" sz="1400" dirty="0">
                <a:solidFill>
                  <a:srgbClr val="4EC9B0"/>
                </a:solidFill>
                <a:latin typeface="Consolas"/>
              </a:rPr>
              <a:t>IfcColumn</a:t>
            </a:r>
            <a:r>
              <a:rPr lang="en-US" sz="1400" dirty="0">
                <a:solidFill>
                  <a:srgbClr val="D4D4D4"/>
                </a:solidFill>
                <a:latin typeface="Consolas"/>
              </a:rPr>
              <a:t> | </a:t>
            </a:r>
            <a:r>
              <a:rPr lang="en-US" sz="1400" dirty="0">
                <a:solidFill>
                  <a:srgbClr val="4EC9B0"/>
                </a:solidFill>
                <a:latin typeface="Consolas"/>
              </a:rPr>
              <a:t>IfcRoof</a:t>
            </a:r>
            <a:r>
              <a:rPr lang="en-US" sz="1400" dirty="0">
                <a:solidFill>
                  <a:srgbClr val="D4D4D4"/>
                </a:solidFill>
                <a:latin typeface="Consolas"/>
              </a:rPr>
              <a:t> | </a:t>
            </a:r>
            <a:r>
              <a:rPr lang="en-US" sz="1400" dirty="0">
                <a:solidFill>
                  <a:srgbClr val="4EC9B0"/>
                </a:solidFill>
                <a:latin typeface="Consolas"/>
              </a:rPr>
              <a:t>IfcStair</a:t>
            </a:r>
            <a:r>
              <a:rPr lang="en-US" sz="1400" dirty="0">
                <a:solidFill>
                  <a:srgbClr val="D4D4D4"/>
                </a:solidFill>
                <a:latin typeface="Consolas"/>
              </a:rPr>
              <a:t> | </a:t>
            </a:r>
            <a:r>
              <a:rPr lang="en-US" sz="1400" dirty="0">
                <a:solidFill>
                  <a:srgbClr val="4EC9B0"/>
                </a:solidFill>
                <a:latin typeface="Consolas"/>
              </a:rPr>
              <a:t>IfcRamp</a:t>
            </a:r>
            <a:r>
              <a:rPr lang="en-US" sz="1400" dirty="0">
                <a:solidFill>
                  <a:srgbClr val="D4D4D4"/>
                </a:solidFill>
                <a:latin typeface="Consolas"/>
              </a:rPr>
              <a:t> | </a:t>
            </a:r>
            <a:r>
              <a:rPr lang="en-US" sz="1400" dirty="0">
                <a:solidFill>
                  <a:srgbClr val="4EC9B0"/>
                </a:solidFill>
                <a:latin typeface="Consolas"/>
              </a:rPr>
              <a:t>IfcFooting</a:t>
            </a:r>
          </a:p>
          <a:p>
            <a:pPr>
              <a:buNone/>
            </a:pPr>
            <a:r>
              <a:rPr lang="en-US" sz="1400" dirty="0">
                <a:solidFill>
                  <a:srgbClr val="D4D4D4"/>
                </a:solidFill>
                <a:latin typeface="Consolas"/>
              </a:rPr>
              <a:t>  | </a:t>
            </a:r>
            <a:r>
              <a:rPr lang="en-US" sz="1400" dirty="0">
                <a:solidFill>
                  <a:srgbClr val="4EC9B0"/>
                </a:solidFill>
                <a:latin typeface="Consolas"/>
              </a:rPr>
              <a:t>IfcDoor</a:t>
            </a:r>
            <a:r>
              <a:rPr lang="en-US" sz="1400" dirty="0">
                <a:solidFill>
                  <a:srgbClr val="D4D4D4"/>
                </a:solidFill>
                <a:latin typeface="Consolas"/>
              </a:rPr>
              <a:t> | </a:t>
            </a:r>
            <a:r>
              <a:rPr lang="en-US" sz="1400" dirty="0">
                <a:solidFill>
                  <a:srgbClr val="4EC9B0"/>
                </a:solidFill>
                <a:latin typeface="Consolas"/>
              </a:rPr>
              <a:t>IfcWindow</a:t>
            </a:r>
            <a:r>
              <a:rPr lang="en-US" sz="1400" dirty="0">
                <a:solidFill>
                  <a:srgbClr val="D4D4D4"/>
                </a:solidFill>
                <a:latin typeface="Consolas"/>
              </a:rPr>
              <a:t> | </a:t>
            </a:r>
            <a:r>
              <a:rPr lang="en-US" sz="1400" dirty="0">
                <a:solidFill>
                  <a:srgbClr val="4EC9B0"/>
                </a:solidFill>
                <a:latin typeface="Consolas"/>
              </a:rPr>
              <a:t>IfcCurtainWall</a:t>
            </a:r>
            <a:r>
              <a:rPr lang="en-US" sz="1400" dirty="0">
                <a:solidFill>
                  <a:srgbClr val="D4D4D4"/>
                </a:solidFill>
                <a:latin typeface="Consolas"/>
              </a:rPr>
              <a:t> | </a:t>
            </a:r>
            <a:r>
              <a:rPr lang="en-US" sz="1400" dirty="0">
                <a:solidFill>
                  <a:srgbClr val="4EC9B0"/>
                </a:solidFill>
                <a:latin typeface="Consolas"/>
              </a:rPr>
              <a:t>IfcRailing</a:t>
            </a:r>
            <a:r>
              <a:rPr lang="en-US" sz="1400" dirty="0">
                <a:solidFill>
                  <a:srgbClr val="D4D4D4"/>
                </a:solidFill>
                <a:latin typeface="Consolas"/>
              </a:rPr>
              <a:t> | </a:t>
            </a:r>
            <a:r>
              <a:rPr lang="en-US" sz="1400" dirty="0">
                <a:solidFill>
                  <a:srgbClr val="4EC9B0"/>
                </a:solidFill>
                <a:latin typeface="Consolas"/>
              </a:rPr>
              <a:t>IfcCovering</a:t>
            </a:r>
            <a:r>
              <a:rPr lang="en-US" sz="1400" dirty="0">
                <a:solidFill>
                  <a:srgbClr val="D4D4D4"/>
                </a:solidFill>
                <a:latin typeface="Consolas"/>
              </a:rPr>
              <a:t> | </a:t>
            </a:r>
            <a:r>
              <a:rPr lang="en-US" sz="1400" dirty="0">
                <a:solidFill>
                  <a:srgbClr val="4EC9B0"/>
                </a:solidFill>
                <a:latin typeface="Consolas"/>
              </a:rPr>
              <a:t>IfcPlate</a:t>
            </a:r>
          </a:p>
          <a:p>
            <a:pPr>
              <a:buNone/>
            </a:pPr>
            <a:r>
              <a:rPr lang="en-US" sz="1400" dirty="0">
                <a:solidFill>
                  <a:srgbClr val="D4D4D4"/>
                </a:solidFill>
                <a:latin typeface="Consolas"/>
              </a:rPr>
              <a:t>  | </a:t>
            </a:r>
            <a:r>
              <a:rPr lang="en-US" sz="1400" dirty="0">
                <a:solidFill>
                  <a:srgbClr val="4EC9B0"/>
                </a:solidFill>
                <a:latin typeface="Consolas"/>
              </a:rPr>
              <a:t>IfcPile</a:t>
            </a:r>
            <a:r>
              <a:rPr lang="en-US" sz="1400" dirty="0">
                <a:solidFill>
                  <a:srgbClr val="D4D4D4"/>
                </a:solidFill>
                <a:latin typeface="Consolas"/>
              </a:rPr>
              <a:t> | </a:t>
            </a:r>
            <a:r>
              <a:rPr lang="en-US" sz="1400" dirty="0">
                <a:solidFill>
                  <a:srgbClr val="4EC9B0"/>
                </a:solidFill>
                <a:latin typeface="Consolas"/>
              </a:rPr>
              <a:t>IfcMember</a:t>
            </a:r>
            <a:r>
              <a:rPr lang="en-US" sz="1400" dirty="0">
                <a:solidFill>
                  <a:srgbClr val="D4D4D4"/>
                </a:solidFill>
                <a:latin typeface="Consolas"/>
              </a:rPr>
              <a:t> | </a:t>
            </a:r>
            <a:r>
              <a:rPr lang="en-US" sz="1400" dirty="0">
                <a:solidFill>
                  <a:srgbClr val="4EC9B0"/>
                </a:solidFill>
                <a:latin typeface="Consolas"/>
              </a:rPr>
              <a:t>IfcChimney</a:t>
            </a:r>
            <a:r>
              <a:rPr lang="en-US" sz="1400" dirty="0">
                <a:solidFill>
                  <a:srgbClr val="D4D4D4"/>
                </a:solidFill>
                <a:latin typeface="Consolas"/>
              </a:rPr>
              <a:t> | </a:t>
            </a:r>
            <a:r>
              <a:rPr lang="en-US" sz="1400" dirty="0">
                <a:solidFill>
                  <a:srgbClr val="4EC9B0"/>
                </a:solidFill>
                <a:latin typeface="Consolas"/>
              </a:rPr>
              <a:t>IfcShadingDevice</a:t>
            </a:r>
            <a:r>
              <a:rPr lang="en-US" sz="1400" dirty="0">
                <a:solidFill>
                  <a:srgbClr val="D4D4D4"/>
                </a:solidFill>
                <a:latin typeface="Consolas"/>
              </a:rPr>
              <a:t> | </a:t>
            </a:r>
            <a:r>
              <a:rPr lang="en-US" sz="1400" dirty="0">
                <a:solidFill>
                  <a:srgbClr val="4EC9B0"/>
                </a:solidFill>
                <a:latin typeface="Consolas"/>
              </a:rPr>
              <a:t>IfcBuildingProxy</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IfcDistributionElement</a:t>
            </a:r>
            <a:r>
              <a:rPr lang="en-US" sz="1400" dirty="0">
                <a:solidFill>
                  <a:srgbClr val="D4D4D4"/>
                </a:solidFill>
                <a:latin typeface="Consolas"/>
              </a:rPr>
              <a:t> =</a:t>
            </a:r>
            <a:r>
              <a:rPr lang="en-US" sz="1400" dirty="0">
                <a:solidFill>
                  <a:srgbClr val="6A9955"/>
                </a:solidFill>
                <a:latin typeface="Consolas"/>
              </a:rPr>
              <a:t>       // union within union (MEP)</a:t>
            </a:r>
          </a:p>
          <a:p>
            <a:pPr>
              <a:buNone/>
            </a:pPr>
            <a:r>
              <a:rPr lang="en-US" sz="1400" dirty="0">
                <a:solidFill>
                  <a:srgbClr val="D4D4D4"/>
                </a:solidFill>
                <a:latin typeface="Consolas"/>
              </a:rPr>
              <a:t>  | </a:t>
            </a:r>
            <a:r>
              <a:rPr lang="en-US" sz="1400" dirty="0">
                <a:solidFill>
                  <a:srgbClr val="4EC9B0"/>
                </a:solidFill>
                <a:latin typeface="Consolas"/>
              </a:rPr>
              <a:t>IfcPipeSegment</a:t>
            </a:r>
            <a:r>
              <a:rPr lang="en-US" sz="1400" dirty="0">
                <a:solidFill>
                  <a:srgbClr val="D4D4D4"/>
                </a:solidFill>
                <a:latin typeface="Consolas"/>
              </a:rPr>
              <a:t> | </a:t>
            </a:r>
            <a:r>
              <a:rPr lang="en-US" sz="1400" dirty="0">
                <a:solidFill>
                  <a:srgbClr val="4EC9B0"/>
                </a:solidFill>
                <a:latin typeface="Consolas"/>
              </a:rPr>
              <a:t>IfcPipeFitting</a:t>
            </a:r>
            <a:r>
              <a:rPr lang="en-US" sz="1400" dirty="0">
                <a:solidFill>
                  <a:srgbClr val="D4D4D4"/>
                </a:solidFill>
                <a:latin typeface="Consolas"/>
              </a:rPr>
              <a:t> | </a:t>
            </a:r>
            <a:r>
              <a:rPr lang="en-US" sz="1400" dirty="0">
                <a:solidFill>
                  <a:srgbClr val="4EC9B0"/>
                </a:solidFill>
                <a:latin typeface="Consolas"/>
              </a:rPr>
              <a:t>IfcDuctSegment</a:t>
            </a:r>
            <a:r>
              <a:rPr lang="en-US" sz="1400" dirty="0">
                <a:solidFill>
                  <a:srgbClr val="D4D4D4"/>
                </a:solidFill>
                <a:latin typeface="Consolas"/>
              </a:rPr>
              <a:t> | </a:t>
            </a:r>
            <a:r>
              <a:rPr lang="en-US" sz="1400" dirty="0">
                <a:solidFill>
                  <a:srgbClr val="4EC9B0"/>
                </a:solidFill>
                <a:latin typeface="Consolas"/>
              </a:rPr>
              <a:t>IfcDuctFitting</a:t>
            </a:r>
          </a:p>
          <a:p>
            <a:pPr>
              <a:buNone/>
            </a:pPr>
            <a:r>
              <a:rPr lang="en-US" sz="1400" dirty="0">
                <a:solidFill>
                  <a:srgbClr val="D4D4D4"/>
                </a:solidFill>
                <a:latin typeface="Consolas"/>
              </a:rPr>
              <a:t>  | </a:t>
            </a:r>
            <a:r>
              <a:rPr lang="en-US" sz="1400" dirty="0">
                <a:solidFill>
                  <a:srgbClr val="4EC9B0"/>
                </a:solidFill>
                <a:latin typeface="Consolas"/>
              </a:rPr>
              <a:t>IfcCableSegment</a:t>
            </a:r>
            <a:r>
              <a:rPr lang="en-US" sz="1400" dirty="0">
                <a:solidFill>
                  <a:srgbClr val="D4D4D4"/>
                </a:solidFill>
                <a:latin typeface="Consolas"/>
              </a:rPr>
              <a:t> | </a:t>
            </a:r>
            <a:r>
              <a:rPr lang="en-US" sz="1400" dirty="0">
                <a:solidFill>
                  <a:srgbClr val="4EC9B0"/>
                </a:solidFill>
                <a:latin typeface="Consolas"/>
              </a:rPr>
              <a:t>IfcCableCarrier</a:t>
            </a:r>
            <a:r>
              <a:rPr lang="en-US" sz="1400" dirty="0">
                <a:solidFill>
                  <a:srgbClr val="D4D4D4"/>
                </a:solidFill>
                <a:latin typeface="Consolas"/>
              </a:rPr>
              <a:t> | </a:t>
            </a:r>
            <a:r>
              <a:rPr lang="en-US" sz="1400" dirty="0">
                <a:solidFill>
                  <a:srgbClr val="4EC9B0"/>
                </a:solidFill>
                <a:latin typeface="Consolas"/>
              </a:rPr>
              <a:t>IfcJunctionBox</a:t>
            </a:r>
            <a:r>
              <a:rPr lang="en-US" sz="1400" dirty="0">
                <a:solidFill>
                  <a:srgbClr val="D4D4D4"/>
                </a:solidFill>
                <a:latin typeface="Consolas"/>
              </a:rPr>
              <a:t> | </a:t>
            </a:r>
            <a:r>
              <a:rPr lang="en-US" sz="1400" dirty="0">
                <a:solidFill>
                  <a:srgbClr val="4EC9B0"/>
                </a:solidFill>
                <a:latin typeface="Consolas"/>
              </a:rPr>
              <a:t>IfcOutlet</a:t>
            </a:r>
            <a:r>
              <a:rPr lang="en-US" sz="1400" dirty="0">
                <a:solidFill>
                  <a:srgbClr val="D4D4D4"/>
                </a:solidFill>
                <a:latin typeface="Consolas"/>
              </a:rPr>
              <a:t> | </a:t>
            </a:r>
            <a:r>
              <a:rPr lang="en-US" sz="1400" dirty="0">
                <a:solidFill>
                  <a:srgbClr val="4EC9B0"/>
                </a:solidFill>
                <a:latin typeface="Consolas"/>
              </a:rPr>
              <a:t>IfcSwitch</a:t>
            </a:r>
          </a:p>
          <a:p>
            <a:pPr>
              <a:buNone/>
            </a:pPr>
            <a:r>
              <a:rPr lang="en-US" sz="1400" dirty="0">
                <a:solidFill>
                  <a:srgbClr val="D4D4D4"/>
                </a:solidFill>
                <a:latin typeface="Consolas"/>
              </a:rPr>
              <a:t>  | </a:t>
            </a:r>
            <a:r>
              <a:rPr lang="en-US" sz="1400" dirty="0">
                <a:solidFill>
                  <a:srgbClr val="4EC9B0"/>
                </a:solidFill>
                <a:latin typeface="Consolas"/>
              </a:rPr>
              <a:t>IfcPump</a:t>
            </a:r>
            <a:r>
              <a:rPr lang="en-US" sz="1400" dirty="0">
                <a:solidFill>
                  <a:srgbClr val="D4D4D4"/>
                </a:solidFill>
                <a:latin typeface="Consolas"/>
              </a:rPr>
              <a:t> | </a:t>
            </a:r>
            <a:r>
              <a:rPr lang="en-US" sz="1400" dirty="0">
                <a:solidFill>
                  <a:srgbClr val="4EC9B0"/>
                </a:solidFill>
                <a:latin typeface="Consolas"/>
              </a:rPr>
              <a:t>IfcFan</a:t>
            </a:r>
            <a:r>
              <a:rPr lang="en-US" sz="1400" dirty="0">
                <a:solidFill>
                  <a:srgbClr val="D4D4D4"/>
                </a:solidFill>
                <a:latin typeface="Consolas"/>
              </a:rPr>
              <a:t> | </a:t>
            </a:r>
            <a:r>
              <a:rPr lang="en-US" sz="1400" dirty="0">
                <a:solidFill>
                  <a:srgbClr val="4EC9B0"/>
                </a:solidFill>
                <a:latin typeface="Consolas"/>
              </a:rPr>
              <a:t>IfcBoiler</a:t>
            </a:r>
            <a:r>
              <a:rPr lang="en-US" sz="1400" dirty="0">
                <a:solidFill>
                  <a:srgbClr val="D4D4D4"/>
                </a:solidFill>
                <a:latin typeface="Consolas"/>
              </a:rPr>
              <a:t> | </a:t>
            </a:r>
            <a:r>
              <a:rPr lang="en-US" sz="1400" dirty="0">
                <a:solidFill>
                  <a:srgbClr val="4EC9B0"/>
                </a:solidFill>
                <a:latin typeface="Consolas"/>
              </a:rPr>
              <a:t>IfcChiller</a:t>
            </a:r>
            <a:r>
              <a:rPr lang="en-US" sz="1400" dirty="0">
                <a:solidFill>
                  <a:srgbClr val="D4D4D4"/>
                </a:solidFill>
                <a:latin typeface="Consolas"/>
              </a:rPr>
              <a:t> | </a:t>
            </a:r>
            <a:r>
              <a:rPr lang="en-US" sz="1400" dirty="0">
                <a:solidFill>
                  <a:srgbClr val="4EC9B0"/>
                </a:solidFill>
                <a:latin typeface="Consolas"/>
              </a:rPr>
              <a:t>IfcCoil</a:t>
            </a:r>
            <a:r>
              <a:rPr lang="en-US" sz="1400" dirty="0">
                <a:solidFill>
                  <a:srgbClr val="D4D4D4"/>
                </a:solidFill>
                <a:latin typeface="Consolas"/>
              </a:rPr>
              <a:t> | </a:t>
            </a:r>
            <a:r>
              <a:rPr lang="en-US" sz="1400" dirty="0">
                <a:solidFill>
                  <a:srgbClr val="4EC9B0"/>
                </a:solidFill>
                <a:latin typeface="Consolas"/>
              </a:rPr>
              <a:t>IfcCondenser</a:t>
            </a:r>
            <a:r>
              <a:rPr lang="en-US" sz="1400" dirty="0">
                <a:solidFill>
                  <a:srgbClr val="D4D4D4"/>
                </a:solidFill>
                <a:latin typeface="Consolas"/>
              </a:rPr>
              <a:t> | </a:t>
            </a:r>
            <a:r>
              <a:rPr lang="en-US" sz="1400" dirty="0">
                <a:solidFill>
                  <a:srgbClr val="4EC9B0"/>
                </a:solidFill>
                <a:latin typeface="Consolas"/>
              </a:rPr>
              <a:t>IfcCoolingTower</a:t>
            </a:r>
          </a:p>
          <a:p>
            <a:pPr>
              <a:buNone/>
            </a:pPr>
            <a:r>
              <a:rPr lang="en-US" sz="1400" dirty="0">
                <a:solidFill>
                  <a:srgbClr val="D4D4D4"/>
                </a:solidFill>
                <a:latin typeface="Consolas"/>
              </a:rPr>
              <a:t>  | </a:t>
            </a:r>
            <a:r>
              <a:rPr lang="en-US" sz="1400" dirty="0">
                <a:solidFill>
                  <a:srgbClr val="4EC9B0"/>
                </a:solidFill>
                <a:latin typeface="Consolas"/>
              </a:rPr>
              <a:t>IfcValve</a:t>
            </a:r>
            <a:r>
              <a:rPr lang="en-US" sz="1400" dirty="0">
                <a:solidFill>
                  <a:srgbClr val="D4D4D4"/>
                </a:solidFill>
                <a:latin typeface="Consolas"/>
              </a:rPr>
              <a:t> | </a:t>
            </a:r>
            <a:r>
              <a:rPr lang="en-US" sz="1400" dirty="0">
                <a:solidFill>
                  <a:srgbClr val="4EC9B0"/>
                </a:solidFill>
                <a:latin typeface="Consolas"/>
              </a:rPr>
              <a:t>IfcSensor</a:t>
            </a:r>
            <a:r>
              <a:rPr lang="en-US" sz="1400" dirty="0">
                <a:solidFill>
                  <a:srgbClr val="D4D4D4"/>
                </a:solidFill>
                <a:latin typeface="Consolas"/>
              </a:rPr>
              <a:t> | </a:t>
            </a:r>
            <a:r>
              <a:rPr lang="en-US" sz="1400" dirty="0">
                <a:solidFill>
                  <a:srgbClr val="4EC9B0"/>
                </a:solidFill>
                <a:latin typeface="Consolas"/>
              </a:rPr>
              <a:t>IfcActuator</a:t>
            </a:r>
            <a:r>
              <a:rPr lang="en-US" sz="1400" dirty="0">
                <a:solidFill>
                  <a:srgbClr val="D4D4D4"/>
                </a:solidFill>
                <a:latin typeface="Consolas"/>
              </a:rPr>
              <a:t> | </a:t>
            </a:r>
            <a:r>
              <a:rPr lang="en-US" sz="1400" dirty="0">
                <a:solidFill>
                  <a:srgbClr val="4EC9B0"/>
                </a:solidFill>
                <a:latin typeface="Consolas"/>
              </a:rPr>
              <a:t>IfcAlarm</a:t>
            </a:r>
            <a:r>
              <a:rPr lang="en-US" sz="1400" dirty="0">
                <a:solidFill>
                  <a:srgbClr val="D4D4D4"/>
                </a:solidFill>
                <a:latin typeface="Consolas"/>
              </a:rPr>
              <a:t> | </a:t>
            </a:r>
            <a:r>
              <a:rPr lang="en-US" sz="1400" dirty="0">
                <a:solidFill>
                  <a:srgbClr val="4EC9B0"/>
                </a:solidFill>
                <a:latin typeface="Consolas"/>
              </a:rPr>
              <a:t>IfcController</a:t>
            </a:r>
            <a:r>
              <a:rPr lang="en-US" sz="1400" dirty="0">
                <a:solidFill>
                  <a:srgbClr val="D4D4D4"/>
                </a:solidFill>
                <a:latin typeface="Consolas"/>
              </a:rPr>
              <a:t> | </a:t>
            </a:r>
            <a:r>
              <a:rPr lang="en-US" sz="1400" dirty="0">
                <a:solidFill>
                  <a:srgbClr val="4EC9B0"/>
                </a:solidFill>
                <a:latin typeface="Consolas"/>
              </a:rPr>
              <a:t>IfcFlowMeter</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IfcSpatialElement</a:t>
            </a:r>
            <a:r>
              <a:rPr lang="en-US" sz="1400" dirty="0">
                <a:solidFill>
                  <a:srgbClr val="D4D4D4"/>
                </a:solidFill>
                <a:latin typeface="Consolas"/>
              </a:rPr>
              <a:t> =</a:t>
            </a:r>
            <a:r>
              <a:rPr lang="en-US" sz="1400" dirty="0">
                <a:solidFill>
                  <a:srgbClr val="6A9955"/>
                </a:solidFill>
                <a:latin typeface="Consolas"/>
              </a:rPr>
              <a:t>           // spatial hierarchy ← recursive</a:t>
            </a:r>
          </a:p>
          <a:p>
            <a:pPr>
              <a:buNone/>
            </a:pPr>
            <a:r>
              <a:rPr lang="en-US" sz="1400" dirty="0">
                <a:solidFill>
                  <a:srgbClr val="D4D4D4"/>
                </a:solidFill>
                <a:latin typeface="Consolas"/>
              </a:rPr>
              <a:t>  | </a:t>
            </a:r>
            <a:r>
              <a:rPr lang="en-US" sz="1400" dirty="0">
                <a:solidFill>
                  <a:srgbClr val="4EC9B0"/>
                </a:solidFill>
                <a:latin typeface="Consolas"/>
              </a:rPr>
              <a:t>IfcSite</a:t>
            </a:r>
            <a:r>
              <a:rPr lang="en-US" sz="1400" dirty="0">
                <a:solidFill>
                  <a:srgbClr val="D4D4D4"/>
                </a:solidFill>
                <a:latin typeface="Consolas"/>
              </a:rPr>
              <a:t> | </a:t>
            </a:r>
            <a:r>
              <a:rPr lang="en-US" sz="1400" dirty="0">
                <a:solidFill>
                  <a:srgbClr val="4EC9B0"/>
                </a:solidFill>
                <a:latin typeface="Consolas"/>
              </a:rPr>
              <a:t>IfcBuilding</a:t>
            </a:r>
            <a:r>
              <a:rPr lang="en-US" sz="1400" dirty="0">
                <a:solidFill>
                  <a:srgbClr val="D4D4D4"/>
                </a:solidFill>
                <a:latin typeface="Consolas"/>
              </a:rPr>
              <a:t> | </a:t>
            </a:r>
            <a:r>
              <a:rPr lang="en-US" sz="1400" dirty="0">
                <a:solidFill>
                  <a:srgbClr val="4EC9B0"/>
                </a:solidFill>
                <a:latin typeface="Consolas"/>
              </a:rPr>
              <a:t>IfcBuildingStorey</a:t>
            </a:r>
            <a:r>
              <a:rPr lang="en-US" sz="1400" dirty="0">
                <a:solidFill>
                  <a:srgbClr val="D4D4D4"/>
                </a:solidFill>
                <a:latin typeface="Consolas"/>
              </a:rPr>
              <a:t> | </a:t>
            </a:r>
            <a:r>
              <a:rPr lang="en-US" sz="1400" dirty="0">
                <a:solidFill>
                  <a:srgbClr val="4EC9B0"/>
                </a:solidFill>
                <a:latin typeface="Consolas"/>
              </a:rPr>
              <a:t>IfcSpace</a:t>
            </a:r>
            <a:r>
              <a:rPr lang="en-US" sz="1400" dirty="0">
                <a:solidFill>
                  <a:srgbClr val="D4D4D4"/>
                </a:solidFill>
                <a:latin typeface="Consolas"/>
              </a:rPr>
              <a:t> | </a:t>
            </a:r>
            <a:r>
              <a:rPr lang="en-US" sz="1400" dirty="0">
                <a:solidFill>
                  <a:srgbClr val="4EC9B0"/>
                </a:solidFill>
                <a:latin typeface="Consolas"/>
              </a:rPr>
              <a:t>IfcFacility</a:t>
            </a:r>
            <a:r>
              <a:rPr lang="en-US" sz="1400" dirty="0">
                <a:solidFill>
                  <a:srgbClr val="D4D4D4"/>
                </a:solidFill>
                <a:latin typeface="Consolas"/>
              </a:rPr>
              <a:t> | </a:t>
            </a:r>
            <a:r>
              <a:rPr lang="en-US" sz="1400" dirty="0">
                <a:solidFill>
                  <a:srgbClr val="4EC9B0"/>
                </a:solidFill>
                <a:latin typeface="Consolas"/>
              </a:rPr>
              <a:t>IfcBridge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IfcWall contains IfcElement[] — recursive like IJsonSchema</a:t>
            </a:r>
          </a:p>
          <a:p>
            <a:pPr>
              <a:buNone/>
            </a:pPr>
            <a:r>
              <a:rPr lang="en-US" sz="1400" dirty="0">
                <a:solidFill>
                  <a:srgbClr val="6A9955"/>
                </a:solidFill>
                <a:latin typeface="Consolas"/>
              </a:rPr>
              <a:t>// IfcDistributionElement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FF9F43"/>
                </a:solidFill>
                <a:latin typeface="Segoe UI Semibold"/>
              </a:rPr>
              <a:t>BIM tools like Revit: collision detection for decades</a:t>
            </a:r>
          </a:p>
        </p:txBody>
      </p:sp>
    </p:spTree>
    <p:extLst>
      <p:ext uri="{BB962C8B-B14F-4D97-AF65-F5344CB8AC3E}">
        <p14:creationId xmlns:p14="http://schemas.microsoft.com/office/powerpoint/2010/main" val="4740467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B4F4345E-F019-4CF8-89AC-960DDAF46810}"/>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Control Systems — Controller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Transfer function (fast) → Stability analysis (med) → Time-domain sim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IController</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IPID</a:t>
            </a:r>
            <a:r>
              <a:rPr lang="en-US" sz="1400" dirty="0">
                <a:solidFill>
                  <a:srgbClr val="6A9955"/>
                </a:solidFill>
                <a:latin typeface="Consolas"/>
              </a:rPr>
              <a:t>               // inner: IController  ← cascade recursion</a:t>
            </a:r>
          </a:p>
          <a:p>
            <a:pPr>
              <a:buNone/>
            </a:pPr>
            <a:r>
              <a:rPr lang="en-US" sz="1400" dirty="0">
                <a:solidFill>
                  <a:srgbClr val="D4D4D4"/>
                </a:solidFill>
                <a:latin typeface="Consolas"/>
              </a:rPr>
              <a:t>  | </a:t>
            </a:r>
            <a:r>
              <a:rPr lang="en-US" sz="1400" dirty="0">
                <a:solidFill>
                  <a:srgbClr val="4EC9B0"/>
                </a:solidFill>
                <a:latin typeface="Consolas"/>
              </a:rPr>
              <a:t>IMPC</a:t>
            </a:r>
            <a:r>
              <a:rPr lang="en-US" sz="1400" dirty="0">
                <a:solidFill>
                  <a:srgbClr val="6A9955"/>
                </a:solidFill>
                <a:latin typeface="Consolas"/>
              </a:rPr>
              <a:t>               // constraints: IConstraint[]  ← another union</a:t>
            </a:r>
          </a:p>
          <a:p>
            <a:pPr>
              <a:buNone/>
            </a:pPr>
            <a:r>
              <a:rPr lang="en-US" sz="1400" dirty="0">
                <a:solidFill>
                  <a:srgbClr val="D4D4D4"/>
                </a:solidFill>
                <a:latin typeface="Consolas"/>
              </a:rPr>
              <a:t>  | </a:t>
            </a:r>
            <a:r>
              <a:rPr lang="en-US" sz="1400" dirty="0">
                <a:solidFill>
                  <a:srgbClr val="4EC9B0"/>
                </a:solidFill>
                <a:latin typeface="Consolas"/>
              </a:rPr>
              <a:t>ILQR</a:t>
            </a:r>
            <a:r>
              <a:rPr lang="en-US" sz="1400" dirty="0">
                <a:solidFill>
                  <a:srgbClr val="D4D4D4"/>
                </a:solidFill>
                <a:latin typeface="Consolas"/>
              </a:rPr>
              <a:t> | </a:t>
            </a:r>
            <a:r>
              <a:rPr lang="en-US" sz="1400" dirty="0">
                <a:solidFill>
                  <a:srgbClr val="4EC9B0"/>
                </a:solidFill>
                <a:latin typeface="Consolas"/>
              </a:rPr>
              <a:t>ILQG</a:t>
            </a:r>
            <a:r>
              <a:rPr lang="en-US" sz="1400" dirty="0">
                <a:solidFill>
                  <a:srgbClr val="D4D4D4"/>
                </a:solidFill>
                <a:latin typeface="Consolas"/>
              </a:rPr>
              <a:t> | </a:t>
            </a:r>
            <a:r>
              <a:rPr lang="en-US" sz="1400" dirty="0">
                <a:solidFill>
                  <a:srgbClr val="4EC9B0"/>
                </a:solidFill>
                <a:latin typeface="Consolas"/>
              </a:rPr>
              <a:t>IHinf</a:t>
            </a:r>
            <a:r>
              <a:rPr lang="en-US" sz="1400" dirty="0">
                <a:solidFill>
                  <a:srgbClr val="D4D4D4"/>
                </a:solidFill>
                <a:latin typeface="Consolas"/>
              </a:rPr>
              <a:t> | </a:t>
            </a:r>
            <a:r>
              <a:rPr lang="en-US" sz="1400" dirty="0">
                <a:solidFill>
                  <a:srgbClr val="4EC9B0"/>
                </a:solidFill>
                <a:latin typeface="Consolas"/>
              </a:rPr>
              <a:t>IFeedforward</a:t>
            </a:r>
            <a:r>
              <a:rPr lang="en-US" sz="1400" dirty="0">
                <a:solidFill>
                  <a:srgbClr val="D4D4D4"/>
                </a:solidFill>
                <a:latin typeface="Consolas"/>
              </a:rPr>
              <a:t> | </a:t>
            </a:r>
            <a:r>
              <a:rPr lang="en-US" sz="1400" dirty="0">
                <a:solidFill>
                  <a:srgbClr val="4EC9B0"/>
                </a:solidFill>
                <a:latin typeface="Consolas"/>
              </a:rPr>
              <a:t>ICascade</a:t>
            </a:r>
            <a:r>
              <a:rPr lang="en-US" sz="1400" dirty="0">
                <a:solidFill>
                  <a:srgbClr val="D4D4D4"/>
                </a:solidFill>
                <a:latin typeface="Consolas"/>
              </a:rPr>
              <a:t> | </a:t>
            </a:r>
            <a:r>
              <a:rPr lang="en-US" sz="1400" dirty="0">
                <a:solidFill>
                  <a:srgbClr val="4EC9B0"/>
                </a:solidFill>
                <a:latin typeface="Consolas"/>
              </a:rPr>
              <a:t>IAdaptive</a:t>
            </a:r>
          </a:p>
          <a:p>
            <a:pPr>
              <a:buNone/>
            </a:pPr>
            <a:r>
              <a:rPr lang="en-US" sz="1400" dirty="0">
                <a:solidFill>
                  <a:srgbClr val="D4D4D4"/>
                </a:solidFill>
                <a:latin typeface="Consolas"/>
              </a:rPr>
              <a:t>  | </a:t>
            </a:r>
            <a:r>
              <a:rPr lang="en-US" sz="1400" dirty="0">
                <a:solidFill>
                  <a:srgbClr val="4EC9B0"/>
                </a:solidFill>
                <a:latin typeface="Consolas"/>
              </a:rPr>
              <a:t>IFuzzy</a:t>
            </a:r>
            <a:r>
              <a:rPr lang="en-US" sz="1400" dirty="0">
                <a:solidFill>
                  <a:srgbClr val="D4D4D4"/>
                </a:solidFill>
                <a:latin typeface="Consolas"/>
              </a:rPr>
              <a:t> | </a:t>
            </a:r>
            <a:r>
              <a:rPr lang="en-US" sz="1400" dirty="0">
                <a:solidFill>
                  <a:srgbClr val="4EC9B0"/>
                </a:solidFill>
                <a:latin typeface="Consolas"/>
              </a:rPr>
              <a:t>ISlidingMode</a:t>
            </a:r>
            <a:r>
              <a:rPr lang="en-US" sz="1400" dirty="0">
                <a:solidFill>
                  <a:srgbClr val="D4D4D4"/>
                </a:solidFill>
                <a:latin typeface="Consolas"/>
              </a:rPr>
              <a:t> | </a:t>
            </a:r>
            <a:r>
              <a:rPr lang="en-US" sz="1400" dirty="0">
                <a:solidFill>
                  <a:srgbClr val="4EC9B0"/>
                </a:solidFill>
                <a:latin typeface="Consolas"/>
              </a:rPr>
              <a:t>IBackstepping</a:t>
            </a:r>
            <a:r>
              <a:rPr lang="en-US" sz="1400" dirty="0">
                <a:solidFill>
                  <a:srgbClr val="D4D4D4"/>
                </a:solidFill>
                <a:latin typeface="Consolas"/>
              </a:rPr>
              <a:t> | </a:t>
            </a:r>
            <a:r>
              <a:rPr lang="en-US" sz="1400" dirty="0">
                <a:solidFill>
                  <a:srgbClr val="4EC9B0"/>
                </a:solidFill>
                <a:latin typeface="Consolas"/>
              </a:rPr>
              <a:t>IRobust</a:t>
            </a:r>
            <a:r>
              <a:rPr lang="en-US" sz="1400" dirty="0">
                <a:solidFill>
                  <a:srgbClr val="D4D4D4"/>
                </a:solidFill>
                <a:latin typeface="Consolas"/>
              </a:rPr>
              <a:t> | </a:t>
            </a:r>
            <a:r>
              <a:rPr lang="en-US" sz="1400" dirty="0">
                <a:solidFill>
                  <a:srgbClr val="4EC9B0"/>
                </a:solidFill>
                <a:latin typeface="Consolas"/>
              </a:rPr>
              <a:t>IGainScheduled</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IConstraint</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IRangeConstraint</a:t>
            </a:r>
            <a:r>
              <a:rPr lang="en-US" sz="1400" dirty="0">
                <a:solidFill>
                  <a:srgbClr val="D4D4D4"/>
                </a:solidFill>
                <a:latin typeface="Consolas"/>
              </a:rPr>
              <a:t> | </a:t>
            </a:r>
            <a:r>
              <a:rPr lang="en-US" sz="1400" dirty="0">
                <a:solidFill>
                  <a:srgbClr val="4EC9B0"/>
                </a:solidFill>
                <a:latin typeface="Consolas"/>
              </a:rPr>
              <a:t>IRateConstraint</a:t>
            </a:r>
            <a:r>
              <a:rPr lang="en-US" sz="1400" dirty="0">
                <a:solidFill>
                  <a:srgbClr val="D4D4D4"/>
                </a:solidFill>
                <a:latin typeface="Consolas"/>
              </a:rPr>
              <a:t> | </a:t>
            </a:r>
            <a:r>
              <a:rPr lang="en-US" sz="1400" dirty="0">
                <a:solidFill>
                  <a:srgbClr val="4EC9B0"/>
                </a:solidFill>
                <a:latin typeface="Consolas"/>
              </a:rPr>
              <a:t>IStabilityConstraint</a:t>
            </a:r>
            <a:r>
              <a:rPr lang="en-US" sz="1400" dirty="0">
                <a:solidFill>
                  <a:srgbClr val="D4D4D4"/>
                </a:solidFill>
                <a:latin typeface="Consolas"/>
              </a:rPr>
              <a:t> | </a:t>
            </a:r>
            <a:r>
              <a:rPr lang="en-US" sz="1400" dirty="0">
                <a:solidFill>
                  <a:srgbClr val="4EC9B0"/>
                </a:solidFill>
                <a:latin typeface="Consolas"/>
              </a:rPr>
              <a:t>ISafetyConstraint</a:t>
            </a:r>
          </a:p>
          <a:p>
            <a:pPr>
              <a:buNone/>
            </a:pPr>
            <a:r>
              <a:rPr lang="en-US" sz="1400" dirty="0">
                <a:solidFill>
                  <a:srgbClr val="D4D4D4"/>
                </a:solidFill>
                <a:latin typeface="Consolas"/>
              </a:rPr>
              <a:t>  | </a:t>
            </a:r>
            <a:r>
              <a:rPr lang="en-US" sz="1400" dirty="0">
                <a:solidFill>
                  <a:srgbClr val="4EC9B0"/>
                </a:solidFill>
                <a:latin typeface="Consolas"/>
              </a:rPr>
              <a:t>IBandwidthConstraint</a:t>
            </a:r>
            <a:r>
              <a:rPr lang="en-US" sz="1400" dirty="0">
                <a:solidFill>
                  <a:srgbClr val="D4D4D4"/>
                </a:solidFill>
                <a:latin typeface="Consolas"/>
              </a:rPr>
              <a:t> | </a:t>
            </a:r>
            <a:r>
              <a:rPr lang="en-US" sz="1400" dirty="0">
                <a:solidFill>
                  <a:srgbClr val="4EC9B0"/>
                </a:solidFill>
                <a:latin typeface="Consolas"/>
              </a:rPr>
              <a:t>IRobustnessConstraint</a:t>
            </a:r>
            <a:r>
              <a:rPr lang="en-US" sz="1400" dirty="0">
                <a:solidFill>
                  <a:srgbClr val="D4D4D4"/>
                </a:solidFill>
                <a:latin typeface="Consolas"/>
              </a:rPr>
              <a:t> | </a:t>
            </a:r>
            <a:r>
              <a:rPr lang="en-US" sz="1400" dirty="0">
                <a:solidFill>
                  <a:srgbClr val="4EC9B0"/>
                </a:solidFill>
                <a:latin typeface="Consolas"/>
              </a:rPr>
              <a:t>IEnergyConstraint</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IPlantModel</a:t>
            </a:r>
            <a:r>
              <a:rPr lang="en-US" sz="1400" dirty="0">
                <a:solidFill>
                  <a:srgbClr val="D4D4D4"/>
                </a:solidFill>
                <a:latin typeface="Consolas"/>
              </a:rPr>
              <a:t> =</a:t>
            </a:r>
            <a:r>
              <a:rPr lang="en-US" sz="1400" dirty="0">
                <a:solidFill>
                  <a:srgbClr val="6A9955"/>
                </a:solidFill>
                <a:latin typeface="Consolas"/>
              </a:rPr>
              <a:t>                        // subsystems: IPlantModel[]  ← recursive</a:t>
            </a:r>
          </a:p>
          <a:p>
            <a:pPr>
              <a:buNone/>
            </a:pPr>
            <a:r>
              <a:rPr lang="en-US" sz="1400" dirty="0">
                <a:solidFill>
                  <a:srgbClr val="D4D4D4"/>
                </a:solidFill>
                <a:latin typeface="Consolas"/>
              </a:rPr>
              <a:t>  | </a:t>
            </a:r>
            <a:r>
              <a:rPr lang="en-US" sz="1400" dirty="0">
                <a:solidFill>
                  <a:srgbClr val="4EC9B0"/>
                </a:solidFill>
                <a:latin typeface="Consolas"/>
              </a:rPr>
              <a:t>ILinearPlant</a:t>
            </a:r>
            <a:r>
              <a:rPr lang="en-US" sz="1400" dirty="0">
                <a:solidFill>
                  <a:srgbClr val="D4D4D4"/>
                </a:solidFill>
                <a:latin typeface="Consolas"/>
              </a:rPr>
              <a:t> | </a:t>
            </a:r>
            <a:r>
              <a:rPr lang="en-US" sz="1400" dirty="0">
                <a:solidFill>
                  <a:srgbClr val="4EC9B0"/>
                </a:solidFill>
                <a:latin typeface="Consolas"/>
              </a:rPr>
              <a:t>INonlinearPlant</a:t>
            </a:r>
            <a:r>
              <a:rPr lang="en-US" sz="1400" dirty="0">
                <a:solidFill>
                  <a:srgbClr val="D4D4D4"/>
                </a:solidFill>
                <a:latin typeface="Consolas"/>
              </a:rPr>
              <a:t> | </a:t>
            </a:r>
            <a:r>
              <a:rPr lang="en-US" sz="1400" dirty="0">
                <a:solidFill>
                  <a:srgbClr val="4EC9B0"/>
                </a:solidFill>
                <a:latin typeface="Consolas"/>
              </a:rPr>
              <a:t>IDelayPlant</a:t>
            </a:r>
            <a:r>
              <a:rPr lang="en-US" sz="1400" dirty="0">
                <a:solidFill>
                  <a:srgbClr val="D4D4D4"/>
                </a:solidFill>
                <a:latin typeface="Consolas"/>
              </a:rPr>
              <a:t> | </a:t>
            </a:r>
            <a:r>
              <a:rPr lang="en-US" sz="1400" dirty="0">
                <a:solidFill>
                  <a:srgbClr val="4EC9B0"/>
                </a:solidFill>
                <a:latin typeface="Consolas"/>
              </a:rPr>
              <a:t>IHybridPlant</a:t>
            </a:r>
            <a:r>
              <a:rPr lang="en-US" sz="1400" dirty="0">
                <a:solidFill>
                  <a:srgbClr val="D4D4D4"/>
                </a:solidFill>
                <a:latin typeface="Consolas"/>
              </a:rPr>
              <a:t> | </a:t>
            </a:r>
            <a:r>
              <a:rPr lang="en-US" sz="1400" dirty="0">
                <a:solidFill>
                  <a:srgbClr val="4EC9B0"/>
                </a:solidFill>
                <a:latin typeface="Consolas"/>
              </a:rPr>
              <a:t>ISwitchedPlant</a:t>
            </a:r>
          </a:p>
          <a:p>
            <a:pPr>
              <a:buNone/>
            </a:pPr>
            <a:r>
              <a:rPr lang="en-US" sz="1400" dirty="0">
                <a:solidFill>
                  <a:srgbClr val="D4D4D4"/>
                </a:solidFill>
                <a:latin typeface="Consolas"/>
              </a:rPr>
              <a:t>  | </a:t>
            </a:r>
            <a:r>
              <a:rPr lang="en-US" sz="1400" dirty="0">
                <a:solidFill>
                  <a:srgbClr val="4EC9B0"/>
                </a:solidFill>
                <a:latin typeface="Consolas"/>
              </a:rPr>
              <a:t>IStateSpace</a:t>
            </a:r>
            <a:r>
              <a:rPr lang="en-US" sz="1400" dirty="0">
                <a:solidFill>
                  <a:srgbClr val="D4D4D4"/>
                </a:solidFill>
                <a:latin typeface="Consolas"/>
              </a:rPr>
              <a:t> | </a:t>
            </a:r>
            <a:r>
              <a:rPr lang="en-US" sz="1400" dirty="0">
                <a:solidFill>
                  <a:srgbClr val="4EC9B0"/>
                </a:solidFill>
                <a:latin typeface="Consolas"/>
              </a:rPr>
              <a:t>ITransferFunction</a:t>
            </a:r>
            <a:r>
              <a:rPr lang="en-US" sz="1400" dirty="0">
                <a:solidFill>
                  <a:srgbClr val="D4D4D4"/>
                </a:solidFill>
                <a:latin typeface="Consolas"/>
              </a:rPr>
              <a:t> | </a:t>
            </a:r>
            <a:r>
              <a:rPr lang="en-US" sz="1400" dirty="0">
                <a:solidFill>
                  <a:srgbClr val="4EC9B0"/>
                </a:solidFill>
                <a:latin typeface="Consolas"/>
              </a:rPr>
              <a:t>IZeroPoleGain</a:t>
            </a:r>
            <a:r>
              <a:rPr lang="en-US" sz="1400" dirty="0">
                <a:solidFill>
                  <a:srgbClr val="D4D4D4"/>
                </a:solidFill>
                <a:latin typeface="Consolas"/>
              </a:rPr>
              <a:t> | </a:t>
            </a:r>
            <a:r>
              <a:rPr lang="en-US" sz="1400" dirty="0">
                <a:solidFill>
                  <a:srgbClr val="4EC9B0"/>
                </a:solidFill>
                <a:latin typeface="Consolas"/>
              </a:rPr>
              <a:t>IFreqResponse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IEstimator</a:t>
            </a:r>
            <a:r>
              <a:rPr lang="en-US" sz="1400" dirty="0">
                <a:solidFill>
                  <a:srgbClr val="D4D4D4"/>
                </a:solidFill>
                <a:latin typeface="Consolas"/>
              </a:rPr>
              <a:t> = </a:t>
            </a:r>
            <a:r>
              <a:rPr lang="en-US" sz="1400" dirty="0">
                <a:solidFill>
                  <a:srgbClr val="4EC9B0"/>
                </a:solidFill>
                <a:latin typeface="Consolas"/>
              </a:rPr>
              <a:t>IKalmanFilter</a:t>
            </a:r>
            <a:r>
              <a:rPr lang="en-US" sz="1400" dirty="0">
                <a:solidFill>
                  <a:srgbClr val="D4D4D4"/>
                </a:solidFill>
                <a:latin typeface="Consolas"/>
              </a:rPr>
              <a:t> | </a:t>
            </a:r>
            <a:r>
              <a:rPr lang="en-US" sz="1400" dirty="0">
                <a:solidFill>
                  <a:srgbClr val="4EC9B0"/>
                </a:solidFill>
                <a:latin typeface="Consolas"/>
              </a:rPr>
              <a:t>IEKF</a:t>
            </a:r>
            <a:r>
              <a:rPr lang="en-US" sz="1400" dirty="0">
                <a:solidFill>
                  <a:srgbClr val="D4D4D4"/>
                </a:solidFill>
                <a:latin typeface="Consolas"/>
              </a:rPr>
              <a:t> | </a:t>
            </a:r>
            <a:r>
              <a:rPr lang="en-US" sz="1400" dirty="0">
                <a:solidFill>
                  <a:srgbClr val="4EC9B0"/>
                </a:solidFill>
                <a:latin typeface="Consolas"/>
              </a:rPr>
              <a:t>IUKF</a:t>
            </a:r>
            <a:r>
              <a:rPr lang="en-US" sz="1400" dirty="0">
                <a:solidFill>
                  <a:srgbClr val="D4D4D4"/>
                </a:solidFill>
                <a:latin typeface="Consolas"/>
              </a:rPr>
              <a:t> | </a:t>
            </a:r>
            <a:r>
              <a:rPr lang="en-US" sz="1400" dirty="0">
                <a:solidFill>
                  <a:srgbClr val="4EC9B0"/>
                </a:solidFill>
                <a:latin typeface="Consolas"/>
              </a:rPr>
              <a:t>IParticleFilter</a:t>
            </a:r>
            <a:r>
              <a:rPr lang="en-US" sz="1400" dirty="0">
                <a:solidFill>
                  <a:srgbClr val="D4D4D4"/>
                </a:solidFill>
                <a:latin typeface="Consolas"/>
              </a:rPr>
              <a:t> | </a:t>
            </a:r>
            <a:r>
              <a:rPr lang="en-US" sz="1400" dirty="0">
                <a:solidFill>
                  <a:srgbClr val="4EC9B0"/>
                </a:solidFill>
                <a:latin typeface="Consolas"/>
              </a:rPr>
              <a:t>ILuenberger</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ICascade.inner: IController — recursive like IJsonSchema</a:t>
            </a:r>
          </a:p>
          <a:p>
            <a:pPr>
              <a:buNone/>
            </a:pPr>
            <a:r>
              <a:rPr lang="en-US" sz="1400" dirty="0">
                <a:solidFill>
                  <a:srgbClr val="6A9955"/>
                </a:solidFill>
                <a:latin typeface="Consolas"/>
              </a:rPr>
              <a:t>// IMPC.constraints: IConstraint[]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A855F7"/>
                </a:solidFill>
                <a:latin typeface="Segoe UI Semibold"/>
              </a:rPr>
              <a:t>60+ years of Bode, Nyquist, and pole-placement analysis tools</a:t>
            </a:r>
          </a:p>
        </p:txBody>
      </p:sp>
    </p:spTree>
    <p:extLst>
      <p:ext uri="{BB962C8B-B14F-4D97-AF65-F5344CB8AC3E}">
        <p14:creationId xmlns:p14="http://schemas.microsoft.com/office/powerpoint/2010/main" val="18473309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p:txBody>
          <a:bodyPr/>
          <a:lstStyle/>
          <a:p>
            <a:r>
              <a:rPr lang="en-US" dirty="0"/>
              <a:t>Qwen Series</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p:txBody>
          <a:bodyPr/>
          <a:lstStyle/>
          <a:p>
            <a:r>
              <a:rPr lang="en-US" dirty="0"/>
              <a:t>Small Models and QA Engineering</a:t>
            </a:r>
          </a:p>
          <a:p>
            <a:r>
              <a:rPr lang="en-US" dirty="0"/>
              <a:t>Why Open Weights Changed Everything</a:t>
            </a:r>
          </a:p>
        </p:txBody>
      </p:sp>
    </p:spTree>
    <p:extLst>
      <p:ext uri="{BB962C8B-B14F-4D97-AF65-F5344CB8AC3E}">
        <p14:creationId xmlns:p14="http://schemas.microsoft.com/office/powerpoint/2010/main" val="30662011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5.1. Small/Medium Models Excel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AutoBe's only criterion: how accurately a model fills complex JSON Schemas</a:t>
            </a:r>
          </a:p>
          <a:p>
            <a:endParaRPr lang="en-US" dirty="0"/>
          </a:p>
          <a:p>
            <a:r>
              <a:rPr lang="en-US" dirty="0"/>
              <a:t>GLM, Kimi — strong FC at large scale</a:t>
            </a:r>
          </a:p>
          <a:p>
            <a:r>
              <a:rPr lang="en-US" dirty="0"/>
              <a:t>At small/medium scale, Qwen was the only one</a:t>
            </a:r>
          </a:p>
          <a:p>
            <a:endParaRPr lang="en-US" dirty="0"/>
          </a:p>
          <a:p>
            <a:r>
              <a:rPr lang="en-US" dirty="0"/>
              <a:t>Even 3B active params supports tool choice</a:t>
            </a:r>
          </a:p>
          <a:p>
            <a:pPr lvl="1"/>
            <a:r>
              <a:rPr lang="en-US" dirty="0"/>
              <a:t>Handles 10+ variant recursive unions at 35B class</a:t>
            </a:r>
          </a:p>
        </p:txBody>
      </p:sp>
    </p:spTree>
    <p:extLst>
      <p:ext uri="{BB962C8B-B14F-4D97-AF65-F5344CB8AC3E}">
        <p14:creationId xmlns:p14="http://schemas.microsoft.com/office/powerpoint/2010/main" val="12176033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5.2. R&amp;D Cost: Users vs Developers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For users: even the most expensive model is cheaper than hiring a backend developer</a:t>
            </a:r>
          </a:p>
          <a:p>
            <a:endParaRPr lang="en-US" dirty="0"/>
          </a:p>
          <a:p>
            <a:r>
              <a:rPr lang="en-US" dirty="0"/>
              <a:t>For developers: thousands of generate-compile-feedback cycles per feature</a:t>
            </a:r>
          </a:p>
          <a:p>
            <a:pPr lvl="1"/>
            <a:r>
              <a:rPr lang="en-US" dirty="0"/>
              <a:t>Commercial models at this scale = financial ruin</a:t>
            </a:r>
          </a:p>
          <a:p>
            <a:endParaRPr lang="en-US" dirty="0"/>
          </a:p>
          <a:p>
            <a:r>
              <a:rPr lang="en-US" dirty="0"/>
              <a:t>Local models make R&amp;D cycles possible</a:t>
            </a:r>
          </a:p>
          <a:p>
            <a:pPr lvl="1"/>
            <a:r>
              <a:rPr lang="en-US" dirty="0"/>
              <a:t>Experiment without limits, without cost</a:t>
            </a:r>
          </a:p>
          <a:p>
            <a:pPr lvl="1"/>
            <a:r>
              <a:rPr lang="en-US" dirty="0"/>
              <a:t>6.75% → 100% required hundreds of cycles — only possible with local models</a:t>
            </a:r>
          </a:p>
        </p:txBody>
      </p:sp>
    </p:spTree>
    <p:extLst>
      <p:ext uri="{BB962C8B-B14F-4D97-AF65-F5344CB8AC3E}">
        <p14:creationId xmlns:p14="http://schemas.microsoft.com/office/powerpoint/2010/main" val="40516957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5.3. Small Models = Best QA Engineers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Large models' advantage = their blind spot</a:t>
            </a:r>
          </a:p>
          <a:p>
            <a:pPr lvl="1"/>
            <a:r>
              <a:rPr lang="en-US" dirty="0"/>
              <a:t>"Correctly guess" ambiguous schemas — our mistakes stay hidden</a:t>
            </a:r>
          </a:p>
          <a:p>
            <a:endParaRPr lang="en-US" dirty="0"/>
          </a:p>
          <a:p>
            <a:r>
              <a:rPr lang="en-US" dirty="0"/>
              <a:t>Small model results:</a:t>
            </a:r>
          </a:p>
          <a:p>
            <a:pPr lvl="1"/>
            <a:r>
              <a:rPr lang="en-US" dirty="0"/>
              <a:t>qwen3-30b-a3b (3B active): ~10% — found fundamental schema ambiguities</a:t>
            </a:r>
          </a:p>
          <a:p>
            <a:pPr lvl="1"/>
            <a:r>
              <a:rPr lang="en-US" dirty="0"/>
              <a:t>qwen3-next-80b-a3b (3B active): ~20% — found subtle type mismatches</a:t>
            </a:r>
          </a:p>
          <a:p>
            <a:endParaRPr lang="en-US" dirty="0"/>
          </a:p>
          <a:p>
            <a:r>
              <a:rPr lang="en-US" dirty="0"/>
              <a:t>10% success = most valuable result</a:t>
            </a:r>
          </a:p>
          <a:p>
            <a:pPr lvl="1"/>
            <a:r>
              <a:rPr lang="en-US" dirty="0"/>
              <a:t>Every failure → system vulnerability → fix for ALL models</a:t>
            </a:r>
          </a:p>
        </p:txBody>
      </p:sp>
    </p:spTree>
    <p:extLst>
      <p:ext uri="{BB962C8B-B14F-4D97-AF65-F5344CB8AC3E}">
        <p14:creationId xmlns:p14="http://schemas.microsoft.com/office/powerpoint/2010/main" val="1173034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5.4. No Vendor Lock-In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Commercial API risks:</a:t>
            </a:r>
          </a:p>
          <a:p>
            <a:pPr lvl="1"/>
            <a:r>
              <a:rPr lang="en-US" dirty="0"/>
              <a:t>Pricing changes at vendor's discretion</a:t>
            </a:r>
          </a:p>
          <a:p>
            <a:pPr lvl="1"/>
            <a:r>
              <a:rPr lang="en-US" dirty="0"/>
              <a:t>Model deprecations — today's model could disappear tomorrow</a:t>
            </a:r>
          </a:p>
          <a:p>
            <a:pPr lvl="1"/>
            <a:r>
              <a:rPr lang="en-US" dirty="0"/>
              <a:t>Request limits</a:t>
            </a:r>
          </a:p>
          <a:p>
            <a:endParaRPr lang="en-US" dirty="0"/>
          </a:p>
          <a:p>
            <a:r>
              <a:rPr lang="en-US" dirty="0"/>
              <a:t>AutoBe's function calling schemas are model-neutral</a:t>
            </a:r>
          </a:p>
          <a:p>
            <a:pPr lvl="1"/>
            <a:r>
              <a:rPr lang="en-US" dirty="0"/>
              <a:t>No model-specific prompt tricks</a:t>
            </a:r>
          </a:p>
          <a:p>
            <a:pPr lvl="1"/>
            <a:r>
              <a:rPr lang="en-US" dirty="0"/>
              <a:t>JSON Schema + type-based validation = industry standards</a:t>
            </a:r>
          </a:p>
          <a:p>
            <a:pPr lvl="1"/>
            <a:r>
              <a:rPr lang="en-US" dirty="0"/>
              <a:t>System unchanged even when models change</a:t>
            </a:r>
          </a:p>
        </p:txBody>
      </p:sp>
    </p:spTree>
    <p:extLst>
      <p:ext uri="{BB962C8B-B14F-4D97-AF65-F5344CB8AC3E}">
        <p14:creationId xmlns:p14="http://schemas.microsoft.com/office/powerpoint/2010/main" val="26276231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5.5. Open Source + Open Weights: Virtuous Cycle</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 = open source</a:t>
            </a:r>
          </a:p>
          <a:p>
            <a:r>
              <a:rPr lang="en-US" dirty="0"/>
              <a:t>Qwen = open weight</a:t>
            </a:r>
          </a:p>
          <a:p>
            <a:endParaRPr lang="en-US" dirty="0"/>
          </a:p>
          <a:p>
            <a:r>
              <a:rPr lang="en-US" dirty="0"/>
              <a:t>The virtuous cycle:</a:t>
            </a:r>
          </a:p>
          <a:p>
            <a:pPr lvl="1"/>
            <a:r>
              <a:rPr lang="en-US" dirty="0"/>
              <a:t>AutoBe strengthens its system using Qwen</a:t>
            </a:r>
          </a:p>
          <a:p>
            <a:pPr lvl="1"/>
            <a:r>
              <a:rPr lang="en-US" dirty="0"/>
              <a:t>Strengthened system proves Qwen's production viability</a:t>
            </a:r>
          </a:p>
          <a:p>
            <a:pPr lvl="1"/>
            <a:r>
              <a:rPr lang="en-US" dirty="0"/>
              <a:t>Qwen's improvements raise AutoBe's performance</a:t>
            </a:r>
          </a:p>
          <a:p>
            <a:pPr lvl="1"/>
            <a:r>
              <a:rPr lang="en-US" dirty="0"/>
              <a:t>AutoBe's discoveries (e.g., double-stringify) can contribute to Qwen</a:t>
            </a:r>
          </a:p>
        </p:txBody>
      </p:sp>
    </p:spTree>
    <p:extLst>
      <p:ext uri="{BB962C8B-B14F-4D97-AF65-F5344CB8AC3E}">
        <p14:creationId xmlns:p14="http://schemas.microsoft.com/office/powerpoint/2010/main" val="42679475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p:txBody>
          <a:bodyPr/>
          <a:lstStyle/>
          <a:p>
            <a:r>
              <a:rPr lang="en-US" dirty="0"/>
              <a:t>Conclusion</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p:txBody>
          <a:bodyPr/>
          <a:lstStyle/>
          <a:p>
            <a:r>
              <a:rPr lang="en-US" dirty="0"/>
              <a:t>6.75% → 100%</a:t>
            </a:r>
          </a:p>
        </p:txBody>
      </p:sp>
    </p:spTree>
    <p:extLst>
      <p:ext uri="{BB962C8B-B14F-4D97-AF65-F5344CB8AC3E}">
        <p14:creationId xmlns:p14="http://schemas.microsoft.com/office/powerpoint/2010/main" val="54242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Conclusion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 Communicate through types and there are no misunderstandings</a:t>
            </a:r>
          </a:p>
          <a:p>
            <a:r>
              <a:rPr lang="en-US" dirty="0"/>
              <a:t>➜ Constrain through schemas and there are no pink elephants</a:t>
            </a:r>
          </a:p>
          <a:p>
            <a:r>
              <a:rPr lang="en-US" dirty="0"/>
              <a:t>➜ With a deterministic loop, even 6.75% becomes 100%</a:t>
            </a:r>
          </a:p>
          <a:p>
            <a:r>
              <a:rPr lang="en-US" dirty="0"/>
              <a:t>➜ This pattern transfers to every domain with deterministic validators</a:t>
            </a:r>
          </a:p>
          <a:p>
            <a:endParaRPr lang="en-US" dirty="0"/>
          </a:p>
          <a:p>
            <a:r>
              <a:rPr lang="en-US" b="1" dirty="0"/>
              <a:t>Type Schema + Compiler + Feedback = Deterministic Loop</a:t>
            </a:r>
          </a:p>
        </p:txBody>
      </p:sp>
    </p:spTree>
    <p:extLst>
      <p:ext uri="{BB962C8B-B14F-4D97-AF65-F5344CB8AC3E}">
        <p14:creationId xmlns:p14="http://schemas.microsoft.com/office/powerpoint/2010/main" val="1905797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The Journey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6.75%  Raw function calling success</a:t>
            </a:r>
          </a:p>
          <a:p>
            <a:pPr lvl="1"/>
            <a:r>
              <a:rPr lang="en-US" dirty="0"/>
              <a:t>↓</a:t>
            </a:r>
          </a:p>
          <a:p>
            <a:r>
              <a:rPr lang="en-US" dirty="0"/>
              <a:t>Typia  Parse → Coerce → Validate → Feedback</a:t>
            </a:r>
          </a:p>
          <a:p>
            <a:pPr lvl="1"/>
            <a:r>
              <a:rPr lang="en-US" dirty="0"/>
              <a:t>↓</a:t>
            </a:r>
          </a:p>
          <a:p>
            <a:r>
              <a:rPr lang="en-US" dirty="0"/>
              <a:t>Loop  Deterministic harness overcomes probabilistic LLM</a:t>
            </a:r>
          </a:p>
          <a:p>
            <a:pPr lvl="1"/>
            <a:r>
              <a:rPr lang="en-US" dirty="0"/>
              <a:t>↓</a:t>
            </a:r>
          </a:p>
          <a:p>
            <a:r>
              <a:rPr lang="en-US" dirty="0"/>
              <a:t>100%  All 4 Qwen models, same harness — transferable to all domains</a:t>
            </a:r>
          </a:p>
        </p:txBody>
      </p:sp>
    </p:spTree>
    <p:extLst>
      <p:ext uri="{BB962C8B-B14F-4D97-AF65-F5344CB8AC3E}">
        <p14:creationId xmlns:p14="http://schemas.microsoft.com/office/powerpoint/2010/main" val="331520851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Three Principles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Types &gt; Prompts</a:t>
            </a:r>
          </a:p>
          <a:p>
            <a:endParaRPr lang="en-US" dirty="0"/>
          </a:p>
          <a:p>
            <a:r>
              <a:rPr lang="en-US" dirty="0"/>
              <a:t>Schemas &gt; Prohibition</a:t>
            </a:r>
          </a:p>
          <a:p>
            <a:endParaRPr lang="en-US" dirty="0"/>
          </a:p>
          <a:p>
            <a:r>
              <a:rPr lang="en-US" dirty="0"/>
              <a:t>Validation &gt; Accuracy</a:t>
            </a:r>
          </a:p>
        </p:txBody>
      </p:sp>
    </p:spTree>
    <p:extLst>
      <p:ext uri="{BB962C8B-B14F-4D97-AF65-F5344CB8AC3E}">
        <p14:creationId xmlns:p14="http://schemas.microsoft.com/office/powerpoint/2010/main" val="306235072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6.75% is not a failure —</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it's the first input to the loop.</a:t>
            </a:r>
          </a:p>
          <a:p>
            <a:endParaRPr lang="en-US" dirty="0"/>
          </a:p>
          <a:p>
            <a:r>
              <a:rPr lang="en-US" dirty="0"/>
              <a:t>If you can verify, you converge.</a:t>
            </a:r>
          </a:p>
        </p:txBody>
      </p:sp>
    </p:spTree>
    <p:extLst>
      <p:ext uri="{BB962C8B-B14F-4D97-AF65-F5344CB8AC3E}">
        <p14:creationId xmlns:p14="http://schemas.microsoft.com/office/powerpoint/2010/main" val="160415461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4294EE26-2BE2-8517-F2AE-1EB8763A843D}"/>
              </a:ext>
            </a:extLst>
          </p:cNvPr>
          <p:cNvSpPr>
            <a:spLocks noGrp="1"/>
          </p:cNvSpPr>
          <p:nvPr>
            <p:ph type="title"/>
          </p:nvPr>
        </p:nvSpPr>
        <p:spPr/>
        <p:txBody>
          <a:bodyPr/>
          <a:lstStyle/>
          <a:p>
            <a:r>
              <a:rPr lang="en-US" dirty="0"/>
              <a:t>Thank You</a:t>
            </a:r>
          </a:p>
        </p:txBody>
      </p:sp>
      <p:sp>
        <p:nvSpPr>
          <p:cNvPr id="5" name="텍스트 개체 틀 4">
            <a:extLst>
              <a:ext uri="{FF2B5EF4-FFF2-40B4-BE49-F238E27FC236}">
                <a16:creationId xmlns:a16="http://schemas.microsoft.com/office/drawing/2014/main" id="{AF14B22B-4E98-263D-5291-3C89687F8085}"/>
              </a:ext>
            </a:extLst>
          </p:cNvPr>
          <p:cNvSpPr>
            <a:spLocks noGrp="1"/>
          </p:cNvSpPr>
          <p:nvPr>
            <p:ph type="body" idx="1"/>
          </p:nvPr>
        </p:nvSpPr>
        <p:spPr/>
        <p:txBody>
          <a:bodyPr>
            <a:normAutofit/>
          </a:bodyPr>
          <a:lstStyle/>
          <a:p>
            <a:r>
              <a:rPr lang="en-US" dirty="0"/>
              <a:t>Developed by Wrtn Technologies · wrtn.io</a:t>
            </a:r>
          </a:p>
          <a:p>
            <a:r>
              <a:rPr lang="en-US" dirty="0"/>
              <a:t>Function Calling Harness · Qwen Meetup Korea</a:t>
            </a:r>
          </a:p>
        </p:txBody>
      </p:sp>
    </p:spTree>
    <p:extLst>
      <p:ext uri="{BB962C8B-B14F-4D97-AF65-F5344CB8AC3E}">
        <p14:creationId xmlns:p14="http://schemas.microsoft.com/office/powerpoint/2010/main" val="889141785"/>
      </p:ext>
    </p:extLst>
  </p:cSld>
  <p:clrMapOvr>
    <a:masterClrMapping/>
  </p:clrMapOvr>
</p:sld>
</file>

<file path=ppt/theme/theme1.xml><?xml version="1.0" encoding="utf-8"?>
<a:theme xmlns:a="http://schemas.openxmlformats.org/drawingml/2006/main" name="기본">
  <a:themeElements>
    <a:clrScheme name="기본">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기본">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CBE745-F2E2-4DC4-86C5-90F295BEEB6B}">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738</TotalTime>
  <Words>8525</Words>
  <Application>Microsoft Office PowerPoint</Application>
  <PresentationFormat>와이드스크린</PresentationFormat>
  <Paragraphs>887</Paragraphs>
  <Slides>65</Slides>
  <Notes>65</Notes>
  <HiddenSlides>0</HiddenSlides>
  <MMClips>0</MMClips>
  <ScaleCrop>false</ScaleCrop>
  <HeadingPairs>
    <vt:vector size="6" baseType="variant">
      <vt:variant>
        <vt:lpstr>사용한 글꼴</vt:lpstr>
      </vt:variant>
      <vt:variant>
        <vt:i4>7</vt:i4>
      </vt:variant>
      <vt:variant>
        <vt:lpstr>테마</vt:lpstr>
      </vt:variant>
      <vt:variant>
        <vt:i4>2</vt:i4>
      </vt:variant>
      <vt:variant>
        <vt:lpstr>슬라이드 제목</vt:lpstr>
      </vt:variant>
      <vt:variant>
        <vt:i4>65</vt:i4>
      </vt:variant>
    </vt:vector>
  </HeadingPairs>
  <TitlesOfParts>
    <vt:vector size="74" baseType="lpstr">
      <vt:lpstr>맑은 고딕</vt:lpstr>
      <vt:lpstr>Aptos</vt:lpstr>
      <vt:lpstr>Arial</vt:lpstr>
      <vt:lpstr>Consolas</vt:lpstr>
      <vt:lpstr>Corbel</vt:lpstr>
      <vt:lpstr>Segoe UI</vt:lpstr>
      <vt:lpstr>Segoe UI Semibold</vt:lpstr>
      <vt:lpstr>기본</vt:lpstr>
      <vt:lpstr>기본 [1774069290905]</vt:lpstr>
      <vt:lpstr>Function Calling Harness</vt:lpstr>
      <vt:lpstr>TL;DR</vt:lpstr>
      <vt:lpstr>TL;DR</vt:lpstr>
      <vt:lpstr>TL;DR</vt:lpstr>
      <vt:lpstr>TL;DR</vt:lpstr>
      <vt:lpstr>1. Preface</vt:lpstr>
      <vt:lpstr>1. Preface</vt:lpstr>
      <vt:lpstr>1. Preface</vt:lpstr>
      <vt:lpstr>100%</vt:lpstr>
      <vt:lpstr>AutoBe</vt:lpstr>
      <vt:lpstr>2.1. What AutoBe Does</vt:lpstr>
      <vt:lpstr>2.2. LLMs Don’t Write Code</vt:lpstr>
      <vt:lpstr>PowerPoint 프레젠테이션</vt:lpstr>
      <vt:lpstr>PowerPoint 프레젠테이션</vt:lpstr>
      <vt:lpstr>2.3. Self-Healing Loops</vt:lpstr>
      <vt:lpstr>2.4. AST Specs Are Better</vt:lpstr>
      <vt:lpstr>2.5. Four Qwen Models, All 100%</vt:lpstr>
      <vt:lpstr>PowerPoint 프레젠테이션</vt:lpstr>
      <vt:lpstr>PowerPoint 프레젠테이션</vt:lpstr>
      <vt:lpstr>PowerPoint 프레젠테이션</vt:lpstr>
      <vt:lpstr>Typia</vt:lpstr>
      <vt:lpstr>2.1. What Is Typia</vt:lpstr>
      <vt:lpstr>PowerPoint 프레젠테이션</vt:lpstr>
      <vt:lpstr>PowerPoint 프레젠테이션</vt:lpstr>
      <vt:lpstr>JSDoc → LLM Description</vt:lpstr>
      <vt:lpstr>2.2. typia.llm.application&lt;Class&gt;()</vt:lpstr>
      <vt:lpstr>PowerPoint 프레젠테이션</vt:lpstr>
      <vt:lpstr>PowerPoint 프레젠테이션</vt:lpstr>
      <vt:lpstr>PowerPoint 프레젠테이션</vt:lpstr>
      <vt:lpstr>The parse() coerce() Recursive Cycle</vt:lpstr>
      <vt:lpstr>Validation &amp; Precise Feedback</vt:lpstr>
      <vt:lpstr>PowerPoint 프레젠테이션</vt:lpstr>
      <vt:lpstr>The Only Compiler-Level Solution</vt:lpstr>
      <vt:lpstr>The Only Union Type Support</vt:lpstr>
      <vt:lpstr>Harness Engineering: AutoBe + Typia</vt:lpstr>
      <vt:lpstr> </vt:lpstr>
      <vt:lpstr>Function Calling</vt:lpstr>
      <vt:lpstr>4.1. Natural Language vs Types</vt:lpstr>
      <vt:lpstr>4.1. Natural Language vs Types</vt:lpstr>
      <vt:lpstr>4.2. Pink Elephant Problem</vt:lpstr>
      <vt:lpstr>4.2. Pink Elephant Problem</vt:lpstr>
      <vt:lpstr>4.2. Pink Elephant Problem</vt:lpstr>
      <vt:lpstr>4.3. Model Neutrality</vt:lpstr>
      <vt:lpstr>4.3. Model Neutrality</vt:lpstr>
      <vt:lpstr>4.3. Model Neutrality</vt:lpstr>
      <vt:lpstr>4.4. The Core: Verifiability</vt:lpstr>
      <vt:lpstr>4.4. The Core: Verifiability</vt:lpstr>
      <vt:lpstr>4.4. The Core: Verifiability</vt:lpstr>
      <vt:lpstr>4.5. This Pattern Is Universal</vt:lpstr>
      <vt:lpstr>PowerPoint 프레젠테이션</vt:lpstr>
      <vt:lpstr>PowerPoint 프레젠테이션</vt:lpstr>
      <vt:lpstr>PowerPoint 프레젠테이션</vt:lpstr>
      <vt:lpstr>PowerPoint 프레젠테이션</vt:lpstr>
      <vt:lpstr>Qwen Series</vt:lpstr>
      <vt:lpstr>5.1. Small/Medium Models Excel</vt:lpstr>
      <vt:lpstr>5.2. R&amp;D Cost: Users vs Developers</vt:lpstr>
      <vt:lpstr>5.3. Small Models = Best QA Engineers</vt:lpstr>
      <vt:lpstr>5.4. No Vendor Lock-In</vt:lpstr>
      <vt:lpstr>5.5. Open Source + Open Weights: Virtuous Cycle</vt:lpstr>
      <vt:lpstr>Conclusion</vt:lpstr>
      <vt:lpstr>Conclusion</vt:lpstr>
      <vt:lpstr>The Journey</vt:lpstr>
      <vt:lpstr>Three Principles</vt:lpstr>
      <vt:lpstr>6.75% is not a failure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119</cp:revision>
  <dcterms:created xsi:type="dcterms:W3CDTF">2026-03-21T07:18:57Z</dcterms:created>
  <dcterms:modified xsi:type="dcterms:W3CDTF">2026-03-22T06:35:32Z</dcterms:modified>
</cp:coreProperties>
</file>