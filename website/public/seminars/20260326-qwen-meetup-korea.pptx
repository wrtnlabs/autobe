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708" r:id="rId2"/>
  </p:sldMasterIdLst>
  <p:notesMasterIdLst>
    <p:notesMasterId r:id="rId66"/>
  </p:notesMasterIdLst>
  <p:sldIdLst>
    <p:sldId id="1019" r:id="rId3"/>
    <p:sldId id="1084" r:id="rId4"/>
    <p:sldId id="1020" r:id="rId5"/>
    <p:sldId id="1021" r:id="rId6"/>
    <p:sldId id="1085" r:id="rId7"/>
    <p:sldId id="1023" r:id="rId8"/>
    <p:sldId id="1086" r:id="rId9"/>
    <p:sldId id="1024" r:id="rId10"/>
    <p:sldId id="1025" r:id="rId11"/>
    <p:sldId id="1026" r:id="rId12"/>
    <p:sldId id="1027" r:id="rId13"/>
    <p:sldId id="1028" r:id="rId14"/>
    <p:sldId id="1029" r:id="rId15"/>
    <p:sldId id="1030" r:id="rId16"/>
    <p:sldId id="1031" r:id="rId17"/>
    <p:sldId id="1032" r:id="rId18"/>
    <p:sldId id="1033" r:id="rId19"/>
    <p:sldId id="1089" r:id="rId20"/>
    <p:sldId id="1090" r:id="rId21"/>
    <p:sldId id="1036" r:id="rId22"/>
    <p:sldId id="1037" r:id="rId23"/>
    <p:sldId id="1038" r:id="rId24"/>
    <p:sldId id="1099" r:id="rId25"/>
    <p:sldId id="1039" r:id="rId26"/>
    <p:sldId id="1040" r:id="rId27"/>
    <p:sldId id="1041" r:id="rId28"/>
    <p:sldId id="1042" r:id="rId29"/>
    <p:sldId id="1044" r:id="rId30"/>
    <p:sldId id="1045" r:id="rId31"/>
    <p:sldId id="1046" r:id="rId32"/>
    <p:sldId id="1050" r:id="rId33"/>
    <p:sldId id="1051" r:id="rId34"/>
    <p:sldId id="1053" r:id="rId35"/>
    <p:sldId id="1054" r:id="rId36"/>
    <p:sldId id="1055" r:id="rId37"/>
    <p:sldId id="1056" r:id="rId38"/>
    <p:sldId id="1057" r:id="rId39"/>
    <p:sldId id="1058" r:id="rId40"/>
    <p:sldId id="1059" r:id="rId41"/>
    <p:sldId id="1060" r:id="rId42"/>
    <p:sldId id="1061" r:id="rId43"/>
    <p:sldId id="1062" r:id="rId44"/>
    <p:sldId id="1063" r:id="rId45"/>
    <p:sldId id="1064" r:id="rId46"/>
    <p:sldId id="1065" r:id="rId47"/>
    <p:sldId id="1066" r:id="rId48"/>
    <p:sldId id="1067" r:id="rId49"/>
    <p:sldId id="1068" r:id="rId50"/>
    <p:sldId id="1069" r:id="rId51"/>
    <p:sldId id="1070" r:id="rId52"/>
    <p:sldId id="1071" r:id="rId53"/>
    <p:sldId id="1072" r:id="rId54"/>
    <p:sldId id="1073" r:id="rId55"/>
    <p:sldId id="1074" r:id="rId56"/>
    <p:sldId id="1075" r:id="rId57"/>
    <p:sldId id="1076" r:id="rId58"/>
    <p:sldId id="1077" r:id="rId59"/>
    <p:sldId id="1078" r:id="rId60"/>
    <p:sldId id="1100" r:id="rId61"/>
    <p:sldId id="1080" r:id="rId62"/>
    <p:sldId id="1081" r:id="rId63"/>
    <p:sldId id="1082" r:id="rId64"/>
    <p:sldId id="1083"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1" autoAdjust="0"/>
    <p:restoredTop sz="77106" autoAdjust="0"/>
  </p:normalViewPr>
  <p:slideViewPr>
    <p:cSldViewPr snapToGrid="0">
      <p:cViewPr varScale="1">
        <p:scale>
          <a:sx n="89" d="100"/>
          <a:sy n="89" d="100"/>
        </p:scale>
        <p:origin x="396"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7A8162-2290-455D-95C8-B42E3A61F3C7}" type="datetimeFigureOut">
              <a:rPr lang="en-US" smtClean="0"/>
              <a:t>3/26/2026</a:t>
            </a:fld>
            <a:endParaRPr 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B23B31-05C0-45CF-9342-21BE32BFCBD5}" type="slidenum">
              <a:rPr lang="en-US" smtClean="0"/>
              <a:t>‹#›</a:t>
            </a:fld>
            <a:endParaRPr lang="en-US"/>
          </a:p>
        </p:txBody>
      </p:sp>
    </p:spTree>
    <p:extLst>
      <p:ext uri="{BB962C8B-B14F-4D97-AF65-F5344CB8AC3E}">
        <p14:creationId xmlns:p14="http://schemas.microsoft.com/office/powerpoint/2010/main" val="4124626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ko-KR" altLang="en-US" dirty="0"/>
              <a:t>안녕하세요</a:t>
            </a:r>
            <a:r>
              <a:rPr lang="en-US" altLang="ko-KR" dirty="0"/>
              <a:t>, </a:t>
            </a:r>
            <a:r>
              <a:rPr lang="ko-KR" altLang="en-US" dirty="0" err="1"/>
              <a:t>뤼튼테크놀로지스의</a:t>
            </a:r>
            <a:r>
              <a:rPr lang="ko-KR" altLang="en-US" dirty="0"/>
              <a:t> 오픈소스 개발자 삼촌이라고 합니다</a:t>
            </a:r>
            <a:r>
              <a:rPr lang="en-US" altLang="ko-KR" dirty="0"/>
              <a:t>.</a:t>
            </a:r>
          </a:p>
          <a:p>
            <a:endParaRPr lang="en-US" altLang="ko-KR" dirty="0"/>
          </a:p>
          <a:p>
            <a:r>
              <a:rPr lang="ko-KR" altLang="en-US" dirty="0"/>
              <a:t>오늘의 주제 </a:t>
            </a:r>
            <a:r>
              <a:rPr lang="en-US" altLang="ko-KR" dirty="0"/>
              <a:t>Function Calling Harness, 6.75% </a:t>
            </a:r>
            <a:r>
              <a:rPr lang="ko-KR" altLang="en-US" dirty="0"/>
              <a:t>성공률을 </a:t>
            </a:r>
            <a:r>
              <a:rPr lang="en-US" altLang="ko-KR" dirty="0"/>
              <a:t>100%</a:t>
            </a:r>
            <a:r>
              <a:rPr lang="ko-KR" altLang="en-US" dirty="0"/>
              <a:t>로 끌어올린 이야기</a:t>
            </a:r>
            <a:r>
              <a:rPr lang="en-US" altLang="ko-KR" dirty="0"/>
              <a:t>, </a:t>
            </a:r>
            <a:r>
              <a:rPr lang="ko-KR" altLang="en-US"/>
              <a:t>지금 발표 </a:t>
            </a:r>
            <a:r>
              <a:rPr lang="ko-KR" altLang="en-US" dirty="0"/>
              <a:t>시작하겠습니다</a:t>
            </a:r>
            <a:endParaRPr lang="ko-K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먼저 이번 발표를 간단히 요약해드리겠습니다</a:t>
            </a:r>
          </a:p>
        </p:txBody>
      </p:sp>
      <p:sp>
        <p:nvSpPr>
          <p:cNvPr id="4" name="슬라이드 번호 개체 틀 3"/>
          <p:cNvSpPr>
            <a:spLocks noGrp="1"/>
          </p:cNvSpPr>
          <p:nvPr>
            <p:ph type="sldNum" sz="quarter" idx="5"/>
          </p:nvPr>
        </p:nvSpPr>
        <p:spPr/>
        <p:txBody>
          <a:bodyPr/>
          <a:lstStyle/>
          <a:p>
            <a:fld id="{EBB23B31-05C0-45CF-9342-21BE32BFCBD5}" type="slidenum">
              <a:rPr lang="en-US" smtClean="0"/>
              <a:t>2</a:t>
            </a:fld>
            <a:endParaRPr lang="en-US"/>
          </a:p>
        </p:txBody>
      </p:sp>
    </p:spTree>
    <p:extLst>
      <p:ext uri="{BB962C8B-B14F-4D97-AF65-F5344CB8AC3E}">
        <p14:creationId xmlns:p14="http://schemas.microsoft.com/office/powerpoint/2010/main" val="2018145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altLang="ko-KR" dirty="0" err="1"/>
              <a:t>AutoBe</a:t>
            </a:r>
            <a:r>
              <a:rPr lang="en-US" altLang="ko-KR" dirty="0"/>
              <a:t>, </a:t>
            </a:r>
            <a:r>
              <a:rPr lang="ko-KR" altLang="en-US" dirty="0" err="1"/>
              <a:t>백엔드를</a:t>
            </a:r>
            <a:r>
              <a:rPr lang="ko-KR" altLang="en-US" dirty="0"/>
              <a:t> 자동으로 만들어주는 에이전트입니다</a:t>
            </a:r>
            <a:r>
              <a:rPr lang="en-US" altLang="ko-KR" dirty="0"/>
              <a:t>.</a:t>
            </a:r>
          </a:p>
          <a:p>
            <a:endParaRPr lang="en-US" altLang="ko-KR" dirty="0"/>
          </a:p>
          <a:p>
            <a:r>
              <a:rPr lang="en-US" altLang="ko-KR" dirty="0"/>
              <a:t>AI</a:t>
            </a:r>
            <a:r>
              <a:rPr lang="ko-KR" altLang="en-US" dirty="0"/>
              <a:t>로 텍스트 코딩을 </a:t>
            </a:r>
            <a:r>
              <a:rPr lang="ko-KR" altLang="en-US" dirty="0" err="1"/>
              <a:t>하는게</a:t>
            </a:r>
            <a:r>
              <a:rPr lang="ko-KR" altLang="en-US" dirty="0"/>
              <a:t> 아니라</a:t>
            </a:r>
            <a:r>
              <a:rPr lang="en-US" altLang="ko-KR" dirty="0"/>
              <a:t>, </a:t>
            </a:r>
            <a:r>
              <a:rPr lang="ko-KR" altLang="en-US" dirty="0"/>
              <a:t>저희가 만든 컴파일러 </a:t>
            </a:r>
            <a:r>
              <a:rPr lang="en-US" altLang="ko-KR" dirty="0"/>
              <a:t>AST </a:t>
            </a:r>
            <a:r>
              <a:rPr lang="ko-KR" altLang="en-US" dirty="0"/>
              <a:t>구조를 </a:t>
            </a:r>
            <a:r>
              <a:rPr lang="en-US" altLang="ko-KR" dirty="0"/>
              <a:t>function calling</a:t>
            </a:r>
            <a:r>
              <a:rPr lang="ko-KR" altLang="en-US" dirty="0"/>
              <a:t>으로 조립합니다</a:t>
            </a:r>
            <a:r>
              <a:rPr lang="en-US" altLang="ko-KR" dirty="0"/>
              <a:t>.</a:t>
            </a:r>
          </a:p>
          <a:p>
            <a:endParaRPr lang="en-US" altLang="ko-KR" dirty="0"/>
          </a:p>
          <a:p>
            <a:r>
              <a:rPr lang="ko-KR" altLang="en-US" dirty="0"/>
              <a:t>그래서 </a:t>
            </a:r>
            <a:r>
              <a:rPr lang="en-US" altLang="ko-KR" dirty="0"/>
              <a:t>function calling</a:t>
            </a:r>
            <a:r>
              <a:rPr lang="ko-KR" altLang="en-US" dirty="0"/>
              <a:t>에 사용되는 타입이 극도로 복잡하며 무한한 재귀 및 유니언 구조를 띕니다</a:t>
            </a:r>
            <a:r>
              <a:rPr lang="en-US" altLang="ko-KR" dirty="0"/>
              <a:t>.</a:t>
            </a:r>
            <a:endParaRPr lang="ko-K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그리고 </a:t>
            </a:r>
            <a:r>
              <a:rPr lang="en-US" altLang="ko-KR" dirty="0"/>
              <a:t>Typia, </a:t>
            </a:r>
            <a:r>
              <a:rPr lang="ko-KR" altLang="en-US" dirty="0"/>
              <a:t>컴파일러 라이브러리입니다</a:t>
            </a:r>
            <a:r>
              <a:rPr lang="en-US" altLang="ko-KR" dirty="0"/>
              <a:t>.</a:t>
            </a:r>
          </a:p>
          <a:p>
            <a:endParaRPr lang="en-US" altLang="ko-KR" dirty="0"/>
          </a:p>
          <a:p>
            <a:r>
              <a:rPr lang="en-US" altLang="ko-KR" dirty="0"/>
              <a:t>TS </a:t>
            </a:r>
            <a:r>
              <a:rPr lang="ko-KR" altLang="en-US" dirty="0"/>
              <a:t>타입을 분석</a:t>
            </a:r>
            <a:r>
              <a:rPr lang="en-US" altLang="ko-KR" dirty="0"/>
              <a:t>, function calling</a:t>
            </a:r>
            <a:r>
              <a:rPr lang="ko-KR" altLang="en-US" dirty="0"/>
              <a:t>의 성공률을 </a:t>
            </a:r>
            <a:r>
              <a:rPr lang="ko-KR" altLang="en-US" dirty="0" err="1"/>
              <a:t>높이기위한</a:t>
            </a:r>
            <a:r>
              <a:rPr lang="ko-KR" altLang="en-US" dirty="0"/>
              <a:t> 다양한 테크닉들을 최적으로 구사합니다</a:t>
            </a:r>
            <a:r>
              <a:rPr lang="en-US" altLang="ko-KR" dirty="0"/>
              <a:t>.</a:t>
            </a:r>
          </a:p>
          <a:p>
            <a:endParaRPr lang="en-US" altLang="ko-KR" dirty="0"/>
          </a:p>
          <a:p>
            <a:r>
              <a:rPr lang="en-US" altLang="ko-KR" dirty="0" err="1"/>
              <a:t>Funtion</a:t>
            </a:r>
            <a:r>
              <a:rPr lang="en-US" altLang="ko-KR" dirty="0"/>
              <a:t> calling </a:t>
            </a:r>
            <a:r>
              <a:rPr lang="ko-KR" altLang="en-US" dirty="0"/>
              <a:t>성공률 </a:t>
            </a:r>
            <a:r>
              <a:rPr lang="en-US" altLang="ko-KR" dirty="0"/>
              <a:t>6.75%</a:t>
            </a:r>
            <a:r>
              <a:rPr lang="ko-KR" altLang="en-US" dirty="0"/>
              <a:t>를 </a:t>
            </a:r>
            <a:r>
              <a:rPr lang="en-US" altLang="ko-KR" dirty="0"/>
              <a:t>100%</a:t>
            </a:r>
            <a:r>
              <a:rPr lang="ko-KR" altLang="en-US" dirty="0"/>
              <a:t>로 만드는 비결입니다</a:t>
            </a:r>
            <a:r>
              <a:rPr lang="en-US" altLang="ko-KR" dirty="0"/>
              <a:t>.</a:t>
            </a:r>
          </a:p>
        </p:txBody>
      </p:sp>
      <p:sp>
        <p:nvSpPr>
          <p:cNvPr id="4" name="슬라이드 번호 개체 틀 3"/>
          <p:cNvSpPr>
            <a:spLocks noGrp="1"/>
          </p:cNvSpPr>
          <p:nvPr>
            <p:ph type="sldNum" sz="quarter" idx="5"/>
          </p:nvPr>
        </p:nvSpPr>
        <p:spPr/>
        <p:txBody>
          <a:bodyPr/>
          <a:lstStyle/>
          <a:p>
            <a:fld id="{EBB23B31-05C0-45CF-9342-21BE32BFCBD5}" type="slidenum">
              <a:rPr lang="en-US" smtClean="0"/>
              <a:t>4</a:t>
            </a:fld>
            <a:endParaRPr lang="en-US"/>
          </a:p>
        </p:txBody>
      </p:sp>
    </p:spTree>
    <p:extLst>
      <p:ext uri="{BB962C8B-B14F-4D97-AF65-F5344CB8AC3E}">
        <p14:creationId xmlns:p14="http://schemas.microsoft.com/office/powerpoint/2010/main" val="2674924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ko-KR" altLang="en-US" dirty="0"/>
              <a:t>그리고 </a:t>
            </a:r>
            <a:r>
              <a:rPr lang="en-US" altLang="ko-KR" dirty="0"/>
              <a:t>Function Calling.</a:t>
            </a:r>
          </a:p>
          <a:p>
            <a:endParaRPr lang="en-US" altLang="ko-KR" dirty="0"/>
          </a:p>
          <a:p>
            <a:r>
              <a:rPr lang="ko-KR" altLang="en-US" dirty="0"/>
              <a:t>이것은 애매모호함이 없고</a:t>
            </a:r>
            <a:r>
              <a:rPr lang="en-US" altLang="ko-KR" dirty="0"/>
              <a:t>, AI</a:t>
            </a:r>
            <a:r>
              <a:rPr lang="ko-KR" altLang="en-US" dirty="0"/>
              <a:t> 모델 중립적이며</a:t>
            </a:r>
            <a:r>
              <a:rPr lang="en-US" altLang="ko-KR" dirty="0"/>
              <a:t>, </a:t>
            </a:r>
            <a:r>
              <a:rPr lang="ko-KR" altLang="en-US" dirty="0"/>
              <a:t>기계적으로 검증 가능하고</a:t>
            </a:r>
            <a:r>
              <a:rPr lang="en-US" altLang="ko-KR" dirty="0"/>
              <a:t>, </a:t>
            </a:r>
            <a:r>
              <a:rPr lang="ko-KR" altLang="en-US" dirty="0"/>
              <a:t>따라서 결정론적으로 수렴합니다</a:t>
            </a:r>
            <a:r>
              <a:rPr lang="en-US" altLang="ko-KR" dirty="0"/>
              <a:t>.</a:t>
            </a:r>
          </a:p>
          <a:p>
            <a:endParaRPr lang="en-US" altLang="ko-KR" dirty="0"/>
          </a:p>
          <a:p>
            <a:r>
              <a:rPr lang="ko-KR" altLang="en-US" dirty="0"/>
              <a:t>그리하여 공학 설계 분야에 </a:t>
            </a:r>
            <a:r>
              <a:rPr lang="en-US" altLang="ko-KR" dirty="0"/>
              <a:t>AI</a:t>
            </a:r>
            <a:r>
              <a:rPr lang="ko-KR" altLang="en-US" dirty="0"/>
              <a:t>를 도입할 때 필수입니다</a:t>
            </a:r>
            <a:r>
              <a:rPr lang="en-US" altLang="ko-KR" dirty="0"/>
              <a:t>.</a:t>
            </a:r>
            <a:endParaRPr lang="ko-K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마지막으로 </a:t>
            </a:r>
            <a:r>
              <a:rPr lang="en-US" altLang="ko-KR" dirty="0"/>
              <a:t>Qwen </a:t>
            </a:r>
            <a:r>
              <a:rPr lang="ko-KR" altLang="en-US" dirty="0"/>
              <a:t>시리즈</a:t>
            </a:r>
            <a:r>
              <a:rPr lang="en-US" altLang="ko-KR" dirty="0"/>
              <a:t>.</a:t>
            </a:r>
          </a:p>
          <a:p>
            <a:endParaRPr lang="en-US" altLang="ko-KR" dirty="0"/>
          </a:p>
          <a:p>
            <a:r>
              <a:rPr lang="ko-KR" altLang="en-US" dirty="0"/>
              <a:t>이들은 </a:t>
            </a:r>
            <a:r>
              <a:rPr lang="en-US" altLang="ko-KR" dirty="0"/>
              <a:t>small/medium </a:t>
            </a:r>
            <a:r>
              <a:rPr lang="ko-KR" altLang="en-US" dirty="0"/>
              <a:t>사이즈에서 최고의 </a:t>
            </a:r>
            <a:r>
              <a:rPr lang="en-US" altLang="ko-KR" dirty="0"/>
              <a:t>function calling </a:t>
            </a:r>
            <a:r>
              <a:rPr lang="ko-KR" altLang="en-US" dirty="0"/>
              <a:t>성능을 보여줍니다</a:t>
            </a:r>
            <a:r>
              <a:rPr lang="en-US" altLang="ko-KR" dirty="0"/>
              <a:t>.</a:t>
            </a:r>
          </a:p>
          <a:p>
            <a:endParaRPr lang="en-US" altLang="ko-KR" dirty="0"/>
          </a:p>
          <a:p>
            <a:r>
              <a:rPr lang="ko-KR" altLang="en-US" dirty="0"/>
              <a:t>그리고 이러한 작은 모델들이 도리어 다 자주 실수함으로써 시스템과 로직의 취약성을 잘 드러내어</a:t>
            </a:r>
            <a:r>
              <a:rPr lang="en-US" altLang="ko-KR" dirty="0"/>
              <a:t>, </a:t>
            </a:r>
            <a:r>
              <a:rPr lang="ko-KR" altLang="en-US" dirty="0"/>
              <a:t>디버깅하거나 </a:t>
            </a:r>
            <a:r>
              <a:rPr lang="en-US" altLang="ko-KR" dirty="0"/>
              <a:t>QA</a:t>
            </a:r>
            <a:r>
              <a:rPr lang="ko-KR" altLang="en-US" dirty="0"/>
              <a:t>하는데 있어서 최고의 선택입니다</a:t>
            </a:r>
            <a:r>
              <a:rPr lang="en-US" altLang="ko-KR" dirty="0"/>
              <a:t>.</a:t>
            </a:r>
            <a:endParaRPr lang="ko-K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그럼 이제 본격적인 이야기를 시작하겠습니다</a:t>
            </a:r>
          </a:p>
        </p:txBody>
      </p:sp>
      <p:sp>
        <p:nvSpPr>
          <p:cNvPr id="4" name="슬라이드 번호 개체 틀 3"/>
          <p:cNvSpPr>
            <a:spLocks noGrp="1"/>
          </p:cNvSpPr>
          <p:nvPr>
            <p:ph type="sldNum" sz="quarter" idx="5"/>
          </p:nvPr>
        </p:nvSpPr>
        <p:spPr/>
        <p:txBody>
          <a:bodyPr/>
          <a:lstStyle/>
          <a:p>
            <a:fld id="{EBB23B31-05C0-45CF-9342-21BE32BFCBD5}" type="slidenum">
              <a:rPr lang="en-US" smtClean="0"/>
              <a:t>7</a:t>
            </a:fld>
            <a:endParaRPr lang="en-US"/>
          </a:p>
        </p:txBody>
      </p:sp>
    </p:spTree>
    <p:extLst>
      <p:ext uri="{BB962C8B-B14F-4D97-AF65-F5344CB8AC3E}">
        <p14:creationId xmlns:p14="http://schemas.microsoft.com/office/powerpoint/2010/main" val="37114918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업계 컨센서스는 </a:t>
            </a:r>
            <a:r>
              <a:rPr lang="en-US" altLang="ko-KR" dirty="0" err="1"/>
              <a:t>fuction</a:t>
            </a:r>
            <a:r>
              <a:rPr lang="en-US" altLang="ko-KR" dirty="0"/>
              <a:t> calling</a:t>
            </a:r>
            <a:r>
              <a:rPr lang="ko-KR" altLang="en-US" dirty="0"/>
              <a:t>에 대하여</a:t>
            </a:r>
            <a:r>
              <a:rPr lang="en-US" altLang="ko-KR" dirty="0"/>
              <a:t>, </a:t>
            </a:r>
            <a:r>
              <a:rPr lang="ko-KR" altLang="en-US" dirty="0"/>
              <a:t>복잡다단한 타입에 대한 </a:t>
            </a:r>
            <a:r>
              <a:rPr lang="en-US" altLang="ko-KR" dirty="0"/>
              <a:t>function calling</a:t>
            </a:r>
            <a:r>
              <a:rPr lang="ko-KR" altLang="en-US" dirty="0"/>
              <a:t>에 대하여 꽤나 회의적입니다</a:t>
            </a:r>
            <a:r>
              <a:rPr lang="en-US" altLang="ko-KR" dirty="0"/>
              <a:t>.</a:t>
            </a:r>
          </a:p>
          <a:p>
            <a:endParaRPr lang="en-US" altLang="ko-KR" dirty="0"/>
          </a:p>
          <a:p>
            <a:r>
              <a:rPr lang="ko-KR" altLang="en-US" dirty="0"/>
              <a:t>간단한 타입은 되어도 복잡한 타입은 안된다</a:t>
            </a:r>
            <a:r>
              <a:rPr lang="en-US" altLang="ko-KR" dirty="0"/>
              <a:t>.</a:t>
            </a:r>
          </a:p>
          <a:p>
            <a:endParaRPr lang="en-US" altLang="ko-KR" dirty="0"/>
          </a:p>
          <a:p>
            <a:r>
              <a:rPr lang="en-US" altLang="ko-KR" dirty="0"/>
              <a:t>Function calling</a:t>
            </a:r>
            <a:r>
              <a:rPr lang="ko-KR" altLang="en-US" dirty="0"/>
              <a:t>의 성공률을 높이기 위한 </a:t>
            </a:r>
            <a:r>
              <a:rPr lang="en-US" altLang="ko-KR" dirty="0"/>
              <a:t>strict mode</a:t>
            </a:r>
            <a:r>
              <a:rPr lang="ko-KR" altLang="en-US" dirty="0"/>
              <a:t>가</a:t>
            </a:r>
            <a:r>
              <a:rPr lang="en-US" altLang="ko-KR" dirty="0"/>
              <a:t>,</a:t>
            </a:r>
            <a:r>
              <a:rPr lang="ko-KR" altLang="en-US" dirty="0"/>
              <a:t> 도리에 생성물의 품질을 낮춘다</a:t>
            </a:r>
            <a:r>
              <a:rPr lang="en-US" altLang="ko-KR" dirty="0"/>
              <a:t>.</a:t>
            </a:r>
          </a:p>
          <a:p>
            <a:endParaRPr lang="en-US" altLang="ko-KR" dirty="0"/>
          </a:p>
          <a:p>
            <a:r>
              <a:rPr lang="ko-KR" altLang="en-US" dirty="0"/>
              <a:t>뭐 이런 류의 연구와 비판이 지배적입니다</a:t>
            </a:r>
            <a:r>
              <a:rPr lang="en-US" altLang="ko-KR" dirty="0"/>
              <a:t>.</a:t>
            </a:r>
            <a:endParaRPr lang="ko-K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1"/>
          <p:cNvSpPr>
            <a:spLocks noGrp="1" noRot="1" noChangeAspect="1"/>
          </p:cNvSpPr>
          <p:nvPr>
            <p:ph type="sldImg"/>
          </p:nvPr>
        </p:nvSpPr>
        <p:spPr/>
      </p:sp>
      <p:sp>
        <p:nvSpPr>
          <p:cNvPr id="3" name="NP2"/>
          <p:cNvSpPr>
            <a:spLocks noGrp="1"/>
          </p:cNvSpPr>
          <p:nvPr>
            <p:ph type="body" idx="1"/>
          </p:nvPr>
        </p:nvSpPr>
        <p:spPr/>
        <p:txBody>
          <a:bodyPr/>
          <a:lstStyle/>
          <a:p>
            <a:r>
              <a:rPr lang="ko-KR" altLang="en-US" dirty="0"/>
              <a:t>하지만 공학</a:t>
            </a:r>
            <a:r>
              <a:rPr lang="en-US" altLang="ko-KR" dirty="0"/>
              <a:t>/</a:t>
            </a:r>
            <a:r>
              <a:rPr lang="ko-KR" altLang="en-US" dirty="0"/>
              <a:t>설계 분야에서는 대안이 없습니다</a:t>
            </a:r>
            <a:r>
              <a:rPr lang="en-US" altLang="ko-KR" dirty="0"/>
              <a:t>.</a:t>
            </a:r>
          </a:p>
          <a:p>
            <a:endParaRPr lang="en-US" altLang="ko-KR" dirty="0"/>
          </a:p>
          <a:p>
            <a:r>
              <a:rPr lang="en-US" altLang="ko-KR" dirty="0"/>
              <a:t>- </a:t>
            </a:r>
            <a:r>
              <a:rPr lang="ko-KR" altLang="en-US" dirty="0"/>
              <a:t>자유로운 형태의 텍스트는 기계적으로 검증할 수 없습니다</a:t>
            </a:r>
            <a:r>
              <a:rPr lang="en-US" altLang="ko-KR" dirty="0"/>
              <a:t>.</a:t>
            </a:r>
          </a:p>
          <a:p>
            <a:r>
              <a:rPr lang="en-US" altLang="ko-KR" dirty="0"/>
              <a:t>- </a:t>
            </a:r>
            <a:r>
              <a:rPr lang="ko-KR" altLang="en-US" dirty="0"/>
              <a:t>정형화된 구조가 없으니 로직 피드백도 어렵습니다</a:t>
            </a:r>
            <a:r>
              <a:rPr lang="en-US" altLang="ko-KR" dirty="0"/>
              <a:t>.</a:t>
            </a:r>
          </a:p>
          <a:p>
            <a:pPr marL="171450" indent="-171450">
              <a:buFontTx/>
              <a:buChar char="-"/>
            </a:pPr>
            <a:r>
              <a:rPr lang="ko-KR" altLang="en-US" dirty="0"/>
              <a:t>로직 피드백이 없으니 그 안정성을 보장할 수 없습니다</a:t>
            </a:r>
            <a:endParaRPr lang="en-US" altLang="ko-KR" dirty="0"/>
          </a:p>
          <a:p>
            <a:pPr marL="0" indent="0">
              <a:buFontTx/>
              <a:buNone/>
            </a:pPr>
            <a:endParaRPr lang="en-US" altLang="ko-KR" dirty="0"/>
          </a:p>
          <a:p>
            <a:pPr marL="0" indent="0">
              <a:buFontTx/>
              <a:buNone/>
            </a:pPr>
            <a:r>
              <a:rPr lang="ko-KR" altLang="en-US" dirty="0"/>
              <a:t>그래서 공학</a:t>
            </a:r>
            <a:r>
              <a:rPr lang="en-US" altLang="ko-KR" dirty="0"/>
              <a:t>/</a:t>
            </a:r>
            <a:r>
              <a:rPr lang="ko-KR" altLang="en-US" dirty="0"/>
              <a:t>설계 분야에 </a:t>
            </a:r>
            <a:r>
              <a:rPr lang="en-US" altLang="ko-KR" dirty="0"/>
              <a:t>AI</a:t>
            </a:r>
            <a:r>
              <a:rPr lang="ko-KR" altLang="en-US" dirty="0"/>
              <a:t>를 </a:t>
            </a:r>
            <a:r>
              <a:rPr lang="ko-KR" altLang="en-US" dirty="0" err="1"/>
              <a:t>도입하자니</a:t>
            </a:r>
            <a:r>
              <a:rPr lang="en-US" altLang="ko-KR" dirty="0"/>
              <a:t>, </a:t>
            </a:r>
            <a:r>
              <a:rPr lang="ko-KR" altLang="en-US" dirty="0"/>
              <a:t>결국 안되는 </a:t>
            </a:r>
            <a:r>
              <a:rPr lang="en-US" altLang="ko-KR" dirty="0"/>
              <a:t>function calling</a:t>
            </a:r>
            <a:r>
              <a:rPr lang="ko-KR" altLang="en-US" dirty="0"/>
              <a:t>을 되게 </a:t>
            </a:r>
            <a:r>
              <a:rPr lang="ko-KR" altLang="en-US" dirty="0" err="1"/>
              <a:t>만들어야합니다</a:t>
            </a:r>
            <a:r>
              <a:rPr lang="en-US" altLang="ko-KR" dirty="0"/>
              <a:t>.</a:t>
            </a:r>
            <a:endParaRPr lang="ko-K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
          <p:cNvSpPr>
            <a:spLocks noGrp="1" noRot="1" noChangeAspect="1"/>
          </p:cNvSpPr>
          <p:nvPr>
            <p:ph type="sldImg"/>
          </p:nvPr>
        </p:nvSpPr>
        <p:spPr/>
      </p:sp>
      <p:sp>
        <p:nvSpPr>
          <p:cNvPr id="3" name="NP"/>
          <p:cNvSpPr>
            <a:spLocks noGrp="1"/>
          </p:cNvSpPr>
          <p:nvPr>
            <p:ph type="body" idx="1"/>
          </p:nvPr>
        </p:nvSpPr>
        <p:spPr/>
        <p:txBody>
          <a:bodyPr/>
          <a:lstStyle/>
          <a:p>
            <a:r>
              <a:rPr lang="ko-KR" altLang="en-US" dirty="0"/>
              <a:t>저희가 측정했을 때도 논문과 다르지 않았습니다</a:t>
            </a:r>
            <a:r>
              <a:rPr lang="en-US" altLang="ko-KR" dirty="0"/>
              <a:t>. </a:t>
            </a:r>
            <a:r>
              <a:rPr lang="ko-KR" altLang="en-US" dirty="0"/>
              <a:t>복잡다단한 구조들에 대한 성공률은 </a:t>
            </a:r>
            <a:r>
              <a:rPr lang="en-US" altLang="ko-KR" dirty="0"/>
              <a:t>qwen3-coder-next</a:t>
            </a:r>
            <a:r>
              <a:rPr lang="ko-KR" altLang="en-US" dirty="0"/>
              <a:t>의 </a:t>
            </a:r>
            <a:r>
              <a:rPr lang="en-US" altLang="ko-KR" dirty="0"/>
              <a:t>6.75%</a:t>
            </a:r>
            <a:r>
              <a:rPr lang="ko-KR" altLang="en-US" dirty="0"/>
              <a:t>나</a:t>
            </a:r>
            <a:r>
              <a:rPr lang="en-US" altLang="ko-KR" dirty="0"/>
              <a:t>, GPT 5.4</a:t>
            </a:r>
            <a:r>
              <a:rPr lang="ko-KR" altLang="en-US" dirty="0"/>
              <a:t>의 </a:t>
            </a:r>
            <a:r>
              <a:rPr lang="en-US" altLang="ko-KR" dirty="0"/>
              <a:t>9.91%</a:t>
            </a:r>
            <a:r>
              <a:rPr lang="ko-KR" altLang="en-US" dirty="0"/>
              <a:t>나</a:t>
            </a:r>
            <a:r>
              <a:rPr lang="en-US" altLang="ko-KR" dirty="0"/>
              <a:t>, </a:t>
            </a:r>
            <a:r>
              <a:rPr lang="ko-KR" altLang="en-US" dirty="0"/>
              <a:t>뭐 오십보백보입니다</a:t>
            </a:r>
            <a:r>
              <a:rPr lang="en-US" altLang="ko-KR" dirty="0"/>
              <a:t>.</a:t>
            </a:r>
          </a:p>
          <a:p>
            <a:endParaRPr lang="en-US" altLang="ko-KR" dirty="0"/>
          </a:p>
          <a:p>
            <a:r>
              <a:rPr lang="ko-KR" altLang="en-US" dirty="0"/>
              <a:t>따라서 정답은 더 크고 비싼 모델을 쓰고 프롬프트를 우아하게 </a:t>
            </a:r>
            <a:r>
              <a:rPr lang="ko-KR" altLang="en-US" dirty="0" err="1"/>
              <a:t>짜는게</a:t>
            </a:r>
            <a:r>
              <a:rPr lang="ko-KR" altLang="en-US" dirty="0"/>
              <a:t> 아니라</a:t>
            </a:r>
            <a:endParaRPr lang="en-US" altLang="ko-KR" dirty="0"/>
          </a:p>
          <a:p>
            <a:endParaRPr lang="en-US" altLang="ko-KR" dirty="0"/>
          </a:p>
          <a:p>
            <a:r>
              <a:rPr lang="ko-KR" altLang="en-US" dirty="0"/>
              <a:t>컴파일러와 결합한 강력한 </a:t>
            </a:r>
            <a:r>
              <a:rPr lang="ko-KR" altLang="en-US" dirty="0" err="1"/>
              <a:t>하네스</a:t>
            </a:r>
            <a:r>
              <a:rPr lang="ko-KR" altLang="en-US" dirty="0"/>
              <a:t> 엔지니어링 뿐이었습니다</a:t>
            </a:r>
            <a:r>
              <a:rPr lang="en-US" altLang="ko-KR" dirty="0"/>
              <a:t>.</a:t>
            </a:r>
            <a:endParaRPr lang="ko-K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
          <p:cNvSpPr>
            <a:spLocks noGrp="1" noRot="1" noChangeAspect="1"/>
          </p:cNvSpPr>
          <p:nvPr>
            <p:ph type="sldImg"/>
          </p:nvPr>
        </p:nvSpPr>
        <p:spPr/>
      </p:sp>
      <p:sp>
        <p:nvSpPr>
          <p:cNvPr id="3" name="NP"/>
          <p:cNvSpPr>
            <a:spLocks noGrp="1"/>
          </p:cNvSpPr>
          <p:nvPr>
            <p:ph type="body" idx="1"/>
          </p:nvPr>
        </p:nvSpPr>
        <p:spPr/>
        <p:txBody>
          <a:bodyPr/>
          <a:lstStyle/>
          <a:p>
            <a:r>
              <a:rPr lang="ko-KR" altLang="en-US" dirty="0"/>
              <a:t>그리고 컴파일러를 통해 </a:t>
            </a:r>
            <a:r>
              <a:rPr lang="ko-KR" altLang="en-US" dirty="0" err="1"/>
              <a:t>하네스</a:t>
            </a:r>
            <a:r>
              <a:rPr lang="ko-KR" altLang="en-US" dirty="0"/>
              <a:t> 엔지니어링을 실현하자</a:t>
            </a:r>
            <a:endParaRPr lang="en-US" altLang="ko-KR" dirty="0"/>
          </a:p>
          <a:p>
            <a:endParaRPr lang="en-US" altLang="ko-KR" dirty="0"/>
          </a:p>
          <a:p>
            <a:r>
              <a:rPr lang="en-US" altLang="ko-KR" dirty="0"/>
              <a:t>Qwen3.5 </a:t>
            </a:r>
            <a:r>
              <a:rPr lang="ko-KR" altLang="en-US" dirty="0"/>
              <a:t>기준</a:t>
            </a:r>
            <a:r>
              <a:rPr lang="en-US" altLang="ko-KR" dirty="0"/>
              <a:t>, </a:t>
            </a:r>
            <a:r>
              <a:rPr lang="ko-KR" altLang="en-US" dirty="0"/>
              <a:t>모든 모델에서 </a:t>
            </a:r>
            <a:r>
              <a:rPr lang="en-US" altLang="ko-KR" dirty="0"/>
              <a:t>function calling</a:t>
            </a:r>
            <a:r>
              <a:rPr lang="ko-KR" altLang="en-US" dirty="0"/>
              <a:t>의 성공률은 </a:t>
            </a:r>
            <a:r>
              <a:rPr lang="en-US" altLang="ko-KR" dirty="0"/>
              <a:t>100%</a:t>
            </a:r>
            <a:r>
              <a:rPr lang="ko-KR" altLang="en-US" dirty="0"/>
              <a:t>가 되었습니다</a:t>
            </a:r>
            <a:r>
              <a:rPr lang="en-US" altLang="ko-KR" dirty="0"/>
              <a:t>.</a:t>
            </a:r>
          </a:p>
          <a:p>
            <a:endParaRPr lang="en-US" altLang="ko-KR" dirty="0"/>
          </a:p>
          <a:p>
            <a:r>
              <a:rPr lang="ko-KR" altLang="en-US" dirty="0"/>
              <a:t>타입에 의한 제약과 컴파일러의 의한 검증</a:t>
            </a:r>
            <a:r>
              <a:rPr lang="en-US" altLang="ko-KR" dirty="0"/>
              <a:t>, </a:t>
            </a:r>
            <a:r>
              <a:rPr lang="ko-KR" altLang="en-US" dirty="0"/>
              <a:t>그리고 이를 통한 상세한 피드백</a:t>
            </a:r>
            <a:r>
              <a:rPr lang="en-US" altLang="ko-KR" dirty="0"/>
              <a:t>. </a:t>
            </a:r>
            <a:r>
              <a:rPr lang="ko-KR" altLang="en-US" dirty="0"/>
              <a:t>이것이 이를 가능하게 만들었습니다</a:t>
            </a:r>
            <a:r>
              <a:rPr lang="en-US" altLang="ko-KR" dirty="0"/>
              <a:t>.</a:t>
            </a:r>
            <a:endParaRPr lang="ko-K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
          <p:cNvSpPr>
            <a:spLocks noGrp="1" noRot="1" noChangeAspect="1"/>
          </p:cNvSpPr>
          <p:nvPr>
            <p:ph type="sldImg"/>
          </p:nvPr>
        </p:nvSpPr>
        <p:spPr/>
      </p:sp>
      <p:sp>
        <p:nvSpPr>
          <p:cNvPr id="3" name="NP"/>
          <p:cNvSpPr>
            <a:spLocks noGrp="1"/>
          </p:cNvSpPr>
          <p:nvPr>
            <p:ph type="body" idx="1"/>
          </p:nvPr>
        </p:nvSpPr>
        <p:spPr/>
        <p:txBody>
          <a:bodyPr/>
          <a:lstStyle/>
          <a:p>
            <a:r>
              <a:rPr lang="ko-KR" altLang="en-US" dirty="0"/>
              <a:t>그럼 이 </a:t>
            </a:r>
            <a:r>
              <a:rPr lang="ko-KR" altLang="en-US" dirty="0" err="1"/>
              <a:t>하네스</a:t>
            </a:r>
            <a:r>
              <a:rPr lang="ko-KR" altLang="en-US" dirty="0"/>
              <a:t> 엔지니어링을 구사</a:t>
            </a:r>
            <a:endParaRPr lang="en-US" altLang="ko-KR" dirty="0"/>
          </a:p>
          <a:p>
            <a:endParaRPr lang="en-US" altLang="ko-KR" dirty="0"/>
          </a:p>
          <a:p>
            <a:r>
              <a:rPr lang="ko-KR" altLang="en-US" dirty="0"/>
              <a:t>공학 설계의 목적을 달성한 첫번째 프로젝트</a:t>
            </a:r>
            <a:endParaRPr lang="en-US" altLang="ko-KR" dirty="0"/>
          </a:p>
          <a:p>
            <a:endParaRPr lang="en-US" altLang="ko-KR" dirty="0"/>
          </a:p>
          <a:p>
            <a:r>
              <a:rPr lang="en-US" altLang="ko-KR" dirty="0" err="1"/>
              <a:t>AutoBe</a:t>
            </a:r>
            <a:r>
              <a:rPr lang="ko-KR" altLang="en-US" dirty="0"/>
              <a:t>에 대하여 알아보겠습니다</a:t>
            </a:r>
            <a:r>
              <a:rPr lang="en-US" altLang="ko-KR" dirty="0"/>
              <a:t>.</a:t>
            </a:r>
            <a:endParaRPr lang="ko-K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
          <p:cNvSpPr>
            <a:spLocks noGrp="1" noRot="1" noChangeAspect="1"/>
          </p:cNvSpPr>
          <p:nvPr>
            <p:ph type="sldImg"/>
          </p:nvPr>
        </p:nvSpPr>
        <p:spPr/>
      </p:sp>
      <p:sp>
        <p:nvSpPr>
          <p:cNvPr id="3" name="NP"/>
          <p:cNvSpPr>
            <a:spLocks noGrp="1"/>
          </p:cNvSpPr>
          <p:nvPr>
            <p:ph type="body" idx="1"/>
          </p:nvPr>
        </p:nvSpPr>
        <p:spPr/>
        <p:txBody>
          <a:bodyPr/>
          <a:lstStyle/>
          <a:p>
            <a:r>
              <a:rPr lang="en-US" altLang="ko-KR" dirty="0" err="1"/>
              <a:t>AutoBe</a:t>
            </a:r>
            <a:r>
              <a:rPr lang="ko-KR" altLang="en-US" dirty="0"/>
              <a:t>에서 여러분이 쇼핑몰을 </a:t>
            </a:r>
            <a:r>
              <a:rPr lang="ko-KR" altLang="en-US" dirty="0" err="1"/>
              <a:t>만들어달라고하면</a:t>
            </a:r>
            <a:r>
              <a:rPr lang="en-US" altLang="ko-KR" dirty="0"/>
              <a:t>, </a:t>
            </a:r>
            <a:r>
              <a:rPr lang="ko-KR" altLang="en-US" dirty="0"/>
              <a:t>예</a:t>
            </a:r>
            <a:r>
              <a:rPr lang="en-US" altLang="ko-KR" dirty="0"/>
              <a:t>, </a:t>
            </a:r>
            <a:r>
              <a:rPr lang="ko-KR" altLang="en-US" dirty="0"/>
              <a:t>실제로 만들어줍니다</a:t>
            </a:r>
            <a:r>
              <a:rPr lang="en-US" altLang="ko-KR" dirty="0"/>
              <a:t>.</a:t>
            </a:r>
          </a:p>
          <a:p>
            <a:endParaRPr lang="en-US" altLang="ko-KR" dirty="0"/>
          </a:p>
          <a:p>
            <a:r>
              <a:rPr lang="ko-KR" altLang="en-US" dirty="0" err="1"/>
              <a:t>표준요구사항정의서에서부터</a:t>
            </a:r>
            <a:r>
              <a:rPr lang="en-US" altLang="ko-KR" dirty="0"/>
              <a:t>, DB/API </a:t>
            </a:r>
            <a:r>
              <a:rPr lang="ko-KR" altLang="en-US" dirty="0"/>
              <a:t>설계도와 테스트 코드</a:t>
            </a:r>
            <a:r>
              <a:rPr lang="en-US" altLang="ko-KR" dirty="0"/>
              <a:t>, </a:t>
            </a:r>
            <a:r>
              <a:rPr lang="ko-KR" altLang="en-US" dirty="0"/>
              <a:t>그리고 클라이언트가 사용할 수 있는 </a:t>
            </a:r>
            <a:r>
              <a:rPr lang="en-US" altLang="ko-KR" dirty="0"/>
              <a:t>SDK </a:t>
            </a:r>
            <a:r>
              <a:rPr lang="ko-KR" altLang="en-US" dirty="0"/>
              <a:t>연동 라이브러리까지</a:t>
            </a:r>
            <a:r>
              <a:rPr lang="en-US" altLang="ko-KR" dirty="0"/>
              <a:t>.</a:t>
            </a:r>
          </a:p>
          <a:p>
            <a:endParaRPr lang="en-US" altLang="ko-KR" dirty="0"/>
          </a:p>
          <a:p>
            <a:r>
              <a:rPr lang="ko-KR" altLang="en-US" dirty="0" err="1"/>
              <a:t>백엔드의</a:t>
            </a:r>
            <a:r>
              <a:rPr lang="ko-KR" altLang="en-US" dirty="0"/>
              <a:t> 설계와 로직에 대한 </a:t>
            </a:r>
            <a:r>
              <a:rPr lang="ko-KR" altLang="en-US" dirty="0" err="1"/>
              <a:t>모든걸</a:t>
            </a:r>
            <a:r>
              <a:rPr lang="ko-KR" altLang="en-US" dirty="0"/>
              <a:t> 만들어줍니다</a:t>
            </a:r>
            <a:r>
              <a:rPr lang="en-US" altLang="ko-KR" dirty="0"/>
              <a:t>.</a:t>
            </a:r>
            <a:endParaRPr lang="ko-K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
          <p:cNvSpPr>
            <a:spLocks noGrp="1" noRot="1" noChangeAspect="1"/>
          </p:cNvSpPr>
          <p:nvPr>
            <p:ph type="sldImg"/>
          </p:nvPr>
        </p:nvSpPr>
        <p:spPr/>
      </p:sp>
      <p:sp>
        <p:nvSpPr>
          <p:cNvPr id="3" name="NP"/>
          <p:cNvSpPr>
            <a:spLocks noGrp="1"/>
          </p:cNvSpPr>
          <p:nvPr>
            <p:ph type="body" idx="1"/>
          </p:nvPr>
        </p:nvSpPr>
        <p:spPr/>
        <p:txBody>
          <a:bodyPr/>
          <a:lstStyle/>
          <a:p>
            <a:r>
              <a:rPr lang="ko-KR" altLang="en-US" dirty="0"/>
              <a:t>그리고 이 때</a:t>
            </a:r>
            <a:r>
              <a:rPr lang="en-US" altLang="ko-KR" dirty="0"/>
              <a:t>, </a:t>
            </a:r>
            <a:r>
              <a:rPr lang="en-US" altLang="ko-KR" dirty="0" err="1"/>
              <a:t>AutoBe</a:t>
            </a:r>
            <a:r>
              <a:rPr lang="ko-KR" altLang="en-US" dirty="0"/>
              <a:t>는 </a:t>
            </a:r>
            <a:r>
              <a:rPr lang="en-US" altLang="ko-KR" dirty="0"/>
              <a:t>LLM</a:t>
            </a:r>
            <a:r>
              <a:rPr lang="ko-KR" altLang="en-US" dirty="0"/>
              <a:t>에게 텍스트 코드를 </a:t>
            </a:r>
            <a:r>
              <a:rPr lang="ko-KR" altLang="en-US" dirty="0" err="1"/>
              <a:t>쓰게하지</a:t>
            </a:r>
            <a:r>
              <a:rPr lang="ko-KR" altLang="en-US" dirty="0"/>
              <a:t> 않습니다</a:t>
            </a:r>
            <a:r>
              <a:rPr lang="en-US" altLang="ko-KR" dirty="0"/>
              <a:t>.</a:t>
            </a:r>
          </a:p>
          <a:p>
            <a:endParaRPr lang="en-US" altLang="ko-KR" dirty="0"/>
          </a:p>
          <a:p>
            <a:r>
              <a:rPr lang="ko-KR" altLang="en-US" dirty="0"/>
              <a:t>저희가 개발한 컴파일러의 </a:t>
            </a:r>
            <a:r>
              <a:rPr lang="en-US" altLang="ko-KR" dirty="0"/>
              <a:t>AST </a:t>
            </a:r>
            <a:r>
              <a:rPr lang="ko-KR" altLang="en-US" dirty="0"/>
              <a:t>구조에 대하여</a:t>
            </a:r>
            <a:r>
              <a:rPr lang="en-US" altLang="ko-KR" dirty="0"/>
              <a:t>, function calling</a:t>
            </a:r>
            <a:r>
              <a:rPr lang="ko-KR" altLang="en-US" dirty="0"/>
              <a:t>으로 </a:t>
            </a:r>
            <a:r>
              <a:rPr lang="ko-KR" altLang="en-US" dirty="0" err="1"/>
              <a:t>조립하게합니다</a:t>
            </a:r>
            <a:r>
              <a:rPr lang="en-US" altLang="ko-KR" dirty="0"/>
              <a:t>.</a:t>
            </a:r>
            <a:endParaRPr lang="ko-K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
          <p:cNvSpPr>
            <a:spLocks noGrp="1" noRot="1" noChangeAspect="1"/>
          </p:cNvSpPr>
          <p:nvPr>
            <p:ph type="sldImg"/>
          </p:nvPr>
        </p:nvSpPr>
        <p:spPr/>
      </p:sp>
      <p:sp>
        <p:nvSpPr>
          <p:cNvPr id="3" name="N"/>
          <p:cNvSpPr>
            <a:spLocks noGrp="1"/>
          </p:cNvSpPr>
          <p:nvPr>
            <p:ph type="body" idx="1"/>
          </p:nvPr>
        </p:nvSpPr>
        <p:spPr/>
        <p:txBody>
          <a:bodyPr/>
          <a:lstStyle/>
          <a:p>
            <a:r>
              <a:rPr lang="ko-KR" altLang="en-US" dirty="0"/>
              <a:t>그리고 이 때</a:t>
            </a:r>
            <a:r>
              <a:rPr lang="en-US" altLang="ko-KR" dirty="0"/>
              <a:t>, </a:t>
            </a:r>
            <a:r>
              <a:rPr lang="ko-KR" altLang="en-US" dirty="0"/>
              <a:t>컴파일러의 </a:t>
            </a:r>
            <a:r>
              <a:rPr lang="en-US" altLang="ko-KR" dirty="0"/>
              <a:t>AST </a:t>
            </a:r>
            <a:r>
              <a:rPr lang="ko-KR" altLang="en-US" dirty="0"/>
              <a:t>구조는 복잡합니다</a:t>
            </a:r>
            <a:r>
              <a:rPr lang="en-US" altLang="ko-KR" dirty="0"/>
              <a:t>.</a:t>
            </a:r>
          </a:p>
          <a:p>
            <a:endParaRPr lang="en-US" altLang="ko-KR" dirty="0"/>
          </a:p>
          <a:p>
            <a:r>
              <a:rPr lang="ko-KR" altLang="en-US" dirty="0" err="1"/>
              <a:t>보시다시피</a:t>
            </a:r>
            <a:r>
              <a:rPr lang="ko-KR" altLang="en-US" dirty="0"/>
              <a:t> 그 구조가 유니언 타입이고</a:t>
            </a:r>
            <a:r>
              <a:rPr lang="en-US" altLang="ko-KR" dirty="0"/>
              <a:t>, </a:t>
            </a:r>
            <a:r>
              <a:rPr lang="ko-KR" altLang="en-US" dirty="0"/>
              <a:t>다시 개개별별 타입들이 꼬리를 물고 재귀적으로 참조합니다</a:t>
            </a:r>
            <a:r>
              <a:rPr lang="en-US" altLang="ko-KR" dirty="0"/>
              <a:t>.</a:t>
            </a:r>
          </a:p>
          <a:p>
            <a:endParaRPr lang="en-US" altLang="ko-KR" dirty="0"/>
          </a:p>
          <a:p>
            <a:r>
              <a:rPr lang="ko-KR" altLang="en-US" dirty="0"/>
              <a:t>무한한 경우의 수와 </a:t>
            </a:r>
            <a:r>
              <a:rPr lang="ko-KR" altLang="en-US" dirty="0" err="1"/>
              <a:t>뎁스를</a:t>
            </a:r>
            <a:r>
              <a:rPr lang="ko-KR" altLang="en-US" dirty="0"/>
              <a:t> 가집니다</a:t>
            </a:r>
            <a:r>
              <a:rPr lang="en-US" altLang="ko-KR" dirty="0"/>
              <a:t>.</a:t>
            </a:r>
            <a:endParaRPr lang="ko-K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이게 테스트 프로그램에 대한 컴파일러까지 가면 더 복잡합니다</a:t>
            </a:r>
            <a:r>
              <a:rPr lang="en-US" altLang="ko-KR" dirty="0"/>
              <a:t>.</a:t>
            </a:r>
          </a:p>
          <a:p>
            <a:endParaRPr lang="en-US" altLang="ko-KR" dirty="0"/>
          </a:p>
          <a:p>
            <a:r>
              <a:rPr lang="en-US" altLang="ko-KR" dirty="0"/>
              <a:t>30</a:t>
            </a:r>
            <a:r>
              <a:rPr lang="ko-KR" altLang="en-US" dirty="0"/>
              <a:t>여개가 넘는 유니언 타입이 어이지고</a:t>
            </a:r>
            <a:r>
              <a:rPr lang="en-US" altLang="ko-KR" dirty="0"/>
              <a:t>, </a:t>
            </a:r>
            <a:r>
              <a:rPr lang="ko-KR" altLang="en-US" dirty="0"/>
              <a:t>이들이 또 내부에서 재귀적으로 다시 그 유니언 타입을 거느립니다</a:t>
            </a:r>
            <a:r>
              <a:rPr lang="en-US" altLang="ko-KR" dirty="0"/>
              <a:t>.</a:t>
            </a:r>
          </a:p>
          <a:p>
            <a:endParaRPr lang="en-US" altLang="ko-KR" dirty="0"/>
          </a:p>
          <a:p>
            <a:r>
              <a:rPr lang="ko-KR" altLang="en-US" dirty="0"/>
              <a:t>무한한 경우의 수</a:t>
            </a:r>
            <a:r>
              <a:rPr lang="en-US" altLang="ko-KR" dirty="0"/>
              <a:t>, </a:t>
            </a:r>
            <a:r>
              <a:rPr lang="ko-KR" altLang="en-US" dirty="0"/>
              <a:t>무한한 넓이와 깊이</a:t>
            </a:r>
            <a:r>
              <a:rPr lang="en-US" altLang="ko-KR" dirty="0"/>
              <a:t>.</a:t>
            </a:r>
          </a:p>
          <a:p>
            <a:endParaRPr lang="en-US" altLang="ko-KR" dirty="0"/>
          </a:p>
          <a:p>
            <a:r>
              <a:rPr lang="ko-KR" altLang="en-US" dirty="0"/>
              <a:t>이것이 컴파일러 </a:t>
            </a:r>
            <a:r>
              <a:rPr lang="en-US" altLang="ko-KR" dirty="0"/>
              <a:t>AST</a:t>
            </a:r>
            <a:r>
              <a:rPr lang="ko-KR" altLang="en-US" dirty="0"/>
              <a:t>의 본질이고</a:t>
            </a:r>
            <a:r>
              <a:rPr lang="en-US" altLang="ko-KR" dirty="0"/>
              <a:t>, </a:t>
            </a:r>
            <a:r>
              <a:rPr lang="ko-KR" altLang="en-US" dirty="0"/>
              <a:t>사실 모든 공학 설계 분야의 본질이기도 합니다</a:t>
            </a:r>
            <a:r>
              <a:rPr lang="en-US" altLang="ko-KR" dirty="0"/>
              <a:t>.</a:t>
            </a:r>
            <a:endParaRPr lang="ko-KR" dirty="0"/>
          </a:p>
        </p:txBody>
      </p:sp>
      <p:sp>
        <p:nvSpPr>
          <p:cNvPr id="4" name="슬라이드 번호 개체 틀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CCB9699-E895-4047-86EF-009608022D02}"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4277843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
          <p:cNvSpPr>
            <a:spLocks noGrp="1" noRot="1" noChangeAspect="1"/>
          </p:cNvSpPr>
          <p:nvPr>
            <p:ph type="sldImg"/>
          </p:nvPr>
        </p:nvSpPr>
        <p:spPr/>
      </p:sp>
      <p:sp>
        <p:nvSpPr>
          <p:cNvPr id="3" name="NP"/>
          <p:cNvSpPr>
            <a:spLocks noGrp="1"/>
          </p:cNvSpPr>
          <p:nvPr>
            <p:ph type="body" idx="1"/>
          </p:nvPr>
        </p:nvSpPr>
        <p:spPr/>
        <p:txBody>
          <a:bodyPr/>
          <a:lstStyle/>
          <a:p>
            <a:r>
              <a:rPr lang="ko-KR" altLang="en-US" dirty="0"/>
              <a:t>그리고 </a:t>
            </a:r>
            <a:r>
              <a:rPr lang="ko-KR" altLang="en-US" dirty="0" err="1"/>
              <a:t>우여곡절끝에</a:t>
            </a:r>
            <a:r>
              <a:rPr lang="ko-KR" altLang="en-US" dirty="0"/>
              <a:t> </a:t>
            </a:r>
            <a:r>
              <a:rPr lang="en-US" altLang="ko-KR" dirty="0"/>
              <a:t>function calling</a:t>
            </a:r>
            <a:r>
              <a:rPr lang="ko-KR" altLang="en-US" dirty="0"/>
              <a:t>으로 </a:t>
            </a:r>
            <a:r>
              <a:rPr lang="en-US" altLang="ko-KR" dirty="0"/>
              <a:t>AST </a:t>
            </a:r>
            <a:r>
              <a:rPr lang="ko-KR" altLang="en-US" dirty="0"/>
              <a:t>데이터를 구성하는데 성공했어도</a:t>
            </a:r>
            <a:r>
              <a:rPr lang="en-US" altLang="ko-KR" dirty="0"/>
              <a:t>, </a:t>
            </a:r>
            <a:r>
              <a:rPr lang="ko-KR" altLang="en-US" dirty="0"/>
              <a:t>여기서 한 단계가 더 있습니다</a:t>
            </a:r>
            <a:r>
              <a:rPr lang="en-US" altLang="ko-KR" dirty="0"/>
              <a:t>.</a:t>
            </a:r>
          </a:p>
          <a:p>
            <a:endParaRPr lang="en-US" altLang="ko-KR" dirty="0"/>
          </a:p>
          <a:p>
            <a:pPr marL="171450" indent="-171450">
              <a:buFontTx/>
              <a:buChar char="-"/>
            </a:pPr>
            <a:r>
              <a:rPr lang="ko-KR" altLang="en-US" dirty="0"/>
              <a:t>바로 그 </a:t>
            </a:r>
            <a:r>
              <a:rPr lang="en-US" altLang="ko-KR" dirty="0"/>
              <a:t>AST </a:t>
            </a:r>
            <a:r>
              <a:rPr lang="ko-KR" altLang="en-US" dirty="0"/>
              <a:t>구조가 실제 타입과 맞는지 검증하는 </a:t>
            </a:r>
            <a:r>
              <a:rPr lang="en-US" altLang="ko-KR" dirty="0"/>
              <a:t>validate</a:t>
            </a:r>
          </a:p>
          <a:p>
            <a:pPr marL="171450" indent="-171450">
              <a:buFontTx/>
              <a:buChar char="-"/>
            </a:pPr>
            <a:r>
              <a:rPr lang="ko-KR" altLang="en-US" dirty="0"/>
              <a:t>그 데이터가 컴파일적으로 유효한지 진단해주는 </a:t>
            </a:r>
            <a:r>
              <a:rPr lang="en-US" altLang="ko-KR" dirty="0"/>
              <a:t>diagnose</a:t>
            </a:r>
          </a:p>
          <a:p>
            <a:pPr marL="171450" indent="-171450">
              <a:buFontTx/>
              <a:buChar char="-"/>
            </a:pPr>
            <a:r>
              <a:rPr lang="ko-KR" altLang="en-US" dirty="0"/>
              <a:t>그리고 유효하지 </a:t>
            </a:r>
            <a:r>
              <a:rPr lang="ko-KR" altLang="en-US" dirty="0" err="1"/>
              <a:t>않을때</a:t>
            </a:r>
            <a:r>
              <a:rPr lang="ko-KR" altLang="en-US" dirty="0"/>
              <a:t> 이를 교정해주는 </a:t>
            </a:r>
            <a:r>
              <a:rPr lang="en-US" altLang="ko-KR" dirty="0"/>
              <a:t>corrector</a:t>
            </a:r>
          </a:p>
          <a:p>
            <a:pPr marL="0" indent="0">
              <a:buFontTx/>
              <a:buNone/>
            </a:pPr>
            <a:endParaRPr lang="en-US" altLang="ko-KR" dirty="0"/>
          </a:p>
          <a:p>
            <a:pPr marL="0" indent="0">
              <a:buFontTx/>
              <a:buNone/>
            </a:pPr>
            <a:r>
              <a:rPr lang="ko-KR" altLang="en-US" dirty="0"/>
              <a:t>이러한 </a:t>
            </a:r>
            <a:r>
              <a:rPr lang="en-US" altLang="ko-KR" dirty="0"/>
              <a:t>self-</a:t>
            </a:r>
            <a:r>
              <a:rPr lang="en-US" altLang="ko-KR" dirty="0" err="1"/>
              <a:t>healilng</a:t>
            </a:r>
            <a:r>
              <a:rPr lang="en-US" altLang="ko-KR" dirty="0"/>
              <a:t> loops</a:t>
            </a:r>
            <a:r>
              <a:rPr lang="ko-KR" altLang="en-US" dirty="0"/>
              <a:t>를 통해</a:t>
            </a:r>
            <a:r>
              <a:rPr lang="en-US" altLang="ko-KR" dirty="0"/>
              <a:t>, AI</a:t>
            </a:r>
            <a:r>
              <a:rPr lang="ko-KR" altLang="en-US" dirty="0"/>
              <a:t>가 생성하는 데이터를 점진적으로 개선하며 성공할 때까지 반복합니다</a:t>
            </a:r>
            <a:r>
              <a:rPr lang="en-US" altLang="ko-KR" dirty="0"/>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
          <p:cNvSpPr>
            <a:spLocks noGrp="1" noRot="1" noChangeAspect="1"/>
          </p:cNvSpPr>
          <p:nvPr>
            <p:ph type="sldImg"/>
          </p:nvPr>
        </p:nvSpPr>
        <p:spPr/>
      </p:sp>
      <p:sp>
        <p:nvSpPr>
          <p:cNvPr id="3" name="NP"/>
          <p:cNvSpPr>
            <a:spLocks noGrp="1"/>
          </p:cNvSpPr>
          <p:nvPr>
            <p:ph type="body" idx="1"/>
          </p:nvPr>
        </p:nvSpPr>
        <p:spPr/>
        <p:txBody>
          <a:bodyPr/>
          <a:lstStyle/>
          <a:p>
            <a:r>
              <a:rPr lang="ko-KR" altLang="en-US" dirty="0"/>
              <a:t>그리고 </a:t>
            </a:r>
            <a:r>
              <a:rPr lang="en-US" altLang="ko-KR" dirty="0"/>
              <a:t>AST </a:t>
            </a:r>
            <a:r>
              <a:rPr lang="ko-KR" altLang="en-US" dirty="0"/>
              <a:t>스펙으로 코딩 에이전트 </a:t>
            </a:r>
            <a:r>
              <a:rPr lang="ko-KR" altLang="en-US" dirty="0" err="1"/>
              <a:t>만드는게</a:t>
            </a:r>
            <a:r>
              <a:rPr lang="en-US" altLang="ko-KR" dirty="0"/>
              <a:t>,</a:t>
            </a:r>
            <a:r>
              <a:rPr lang="ko-KR" altLang="en-US" dirty="0"/>
              <a:t> 텍스트 코딩 에이전트보다 나은 측면이 많습니다</a:t>
            </a:r>
            <a:r>
              <a:rPr lang="en-US" altLang="ko-KR" dirty="0"/>
              <a:t>.</a:t>
            </a:r>
          </a:p>
          <a:p>
            <a:endParaRPr lang="en-US" altLang="ko-KR" dirty="0"/>
          </a:p>
          <a:p>
            <a:r>
              <a:rPr lang="ko-KR" altLang="en-US" dirty="0" err="1"/>
              <a:t>금지룰을</a:t>
            </a:r>
            <a:r>
              <a:rPr lang="ko-KR" altLang="en-US" dirty="0"/>
              <a:t> </a:t>
            </a:r>
            <a:r>
              <a:rPr lang="ko-KR" altLang="en-US" dirty="0" err="1"/>
              <a:t>도배하는게</a:t>
            </a:r>
            <a:r>
              <a:rPr lang="ko-KR" altLang="en-US" dirty="0"/>
              <a:t> 아니라 스펙으로써 제약할 수 있고</a:t>
            </a:r>
            <a:r>
              <a:rPr lang="en-US" altLang="ko-KR" dirty="0"/>
              <a:t>,</a:t>
            </a:r>
          </a:p>
          <a:p>
            <a:endParaRPr lang="en-US" altLang="ko-KR" dirty="0"/>
          </a:p>
          <a:p>
            <a:r>
              <a:rPr lang="ko-KR" altLang="en-US" dirty="0"/>
              <a:t>또한 </a:t>
            </a:r>
            <a:r>
              <a:rPr lang="en-US" altLang="ko-KR" dirty="0" err="1"/>
              <a:t>Diagnoser</a:t>
            </a:r>
            <a:r>
              <a:rPr lang="ko-KR" altLang="en-US" dirty="0"/>
              <a:t>가 발행하는 컴파일 에러 메시지를</a:t>
            </a:r>
            <a:r>
              <a:rPr lang="en-US" altLang="ko-KR" dirty="0"/>
              <a:t>, </a:t>
            </a:r>
            <a:r>
              <a:rPr lang="ko-KR" altLang="en-US" dirty="0"/>
              <a:t>보다 </a:t>
            </a:r>
            <a:r>
              <a:rPr lang="en-US" altLang="ko-KR" dirty="0"/>
              <a:t>AI </a:t>
            </a:r>
            <a:r>
              <a:rPr lang="ko-KR" altLang="en-US" dirty="0"/>
              <a:t>친화적으로 만들어 적확성을 높일 수 있습니다</a:t>
            </a:r>
            <a:r>
              <a:rPr lang="en-US" altLang="ko-KR" dirty="0"/>
              <a:t>.</a:t>
            </a:r>
            <a:endParaRPr lang="ko-K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
          <p:cNvSpPr>
            <a:spLocks noGrp="1" noRot="1" noChangeAspect="1"/>
          </p:cNvSpPr>
          <p:nvPr>
            <p:ph type="sldImg"/>
          </p:nvPr>
        </p:nvSpPr>
        <p:spPr/>
      </p:sp>
      <p:sp>
        <p:nvSpPr>
          <p:cNvPr id="3" name="NP"/>
          <p:cNvSpPr>
            <a:spLocks noGrp="1"/>
          </p:cNvSpPr>
          <p:nvPr>
            <p:ph type="body" idx="1"/>
          </p:nvPr>
        </p:nvSpPr>
        <p:spPr/>
        <p:txBody>
          <a:bodyPr/>
          <a:lstStyle/>
          <a:p>
            <a:r>
              <a:rPr lang="ko-KR" altLang="en-US" dirty="0"/>
              <a:t>그리하여 </a:t>
            </a:r>
            <a:r>
              <a:rPr lang="en-US" altLang="ko-KR" dirty="0" err="1"/>
              <a:t>AutoBe</a:t>
            </a:r>
            <a:r>
              <a:rPr lang="ko-KR" altLang="en-US" dirty="0"/>
              <a:t>로 </a:t>
            </a:r>
            <a:r>
              <a:rPr lang="ko-KR" altLang="en-US" dirty="0" err="1"/>
              <a:t>백엔드를</a:t>
            </a:r>
            <a:r>
              <a:rPr lang="ko-KR" altLang="en-US" dirty="0"/>
              <a:t> 생성해보면</a:t>
            </a:r>
            <a:r>
              <a:rPr lang="en-US" altLang="ko-KR" dirty="0"/>
              <a:t>, </a:t>
            </a:r>
            <a:r>
              <a:rPr lang="ko-KR" dirty="0" err="1"/>
              <a:t>Qwen</a:t>
            </a:r>
            <a:r>
              <a:rPr lang="ko-KR" dirty="0"/>
              <a:t> 모델 </a:t>
            </a:r>
            <a:r>
              <a:rPr lang="ko-KR" altLang="en-US" dirty="0"/>
              <a:t>다섯</a:t>
            </a:r>
            <a:r>
              <a:rPr lang="ko-KR" dirty="0"/>
              <a:t> 개, 전부 100% </a:t>
            </a:r>
            <a:r>
              <a:rPr lang="ko-KR" altLang="en-US" dirty="0"/>
              <a:t>혹은 그에 준하게 </a:t>
            </a:r>
            <a:r>
              <a:rPr lang="ko-KR" dirty="0"/>
              <a:t>컴파일 성공</a:t>
            </a:r>
            <a:r>
              <a:rPr lang="ko-KR" altLang="en-US" dirty="0"/>
              <a:t>합니다</a:t>
            </a:r>
            <a:r>
              <a:rPr lang="ko-KR" dirty="0"/>
              <a:t>.</a:t>
            </a:r>
            <a:endParaRPr lang="en-US" altLang="ko-KR" dirty="0"/>
          </a:p>
          <a:p>
            <a:endParaRPr lang="ko-KR" dirty="0"/>
          </a:p>
          <a:p>
            <a:r>
              <a:rPr lang="ko-KR" dirty="0"/>
              <a:t>397B부터 35B까지. 3B active parameter 모델로도 </a:t>
            </a:r>
            <a:r>
              <a:rPr lang="ko-KR" altLang="en-US" dirty="0"/>
              <a:t>아마존이나 </a:t>
            </a:r>
            <a:r>
              <a:rPr lang="ko-KR" altLang="en-US" dirty="0" err="1"/>
              <a:t>쿠팡급</a:t>
            </a:r>
            <a:r>
              <a:rPr lang="ko-KR" altLang="en-US" dirty="0"/>
              <a:t> </a:t>
            </a:r>
            <a:r>
              <a:rPr lang="ko-KR" dirty="0"/>
              <a:t>쇼핑몰 백엔드를 완성합니다.</a:t>
            </a:r>
            <a:endParaRPr lang="en-US" altLang="ko-KR" dirty="0"/>
          </a:p>
          <a:p>
            <a:endParaRPr lang="ko-KR" dirty="0"/>
          </a:p>
          <a:p>
            <a:r>
              <a:rPr lang="ko-KR" dirty="0"/>
              <a:t>같은 스키마, 같은 파이프라인, 같은 결과.</a:t>
            </a:r>
            <a:endParaRPr lang="en-US" altLang="ko-KR" dirty="0"/>
          </a:p>
          <a:p>
            <a:endParaRPr lang="en-US" altLang="ko-KR" dirty="0"/>
          </a:p>
          <a:p>
            <a:r>
              <a:rPr lang="ko-KR" altLang="en-US" dirty="0"/>
              <a:t>심지어 </a:t>
            </a:r>
            <a:r>
              <a:rPr lang="ko-KR" altLang="en-US" dirty="0" err="1"/>
              <a:t>프론티어</a:t>
            </a:r>
            <a:r>
              <a:rPr lang="ko-KR" altLang="en-US" dirty="0"/>
              <a:t> 모델을 써도</a:t>
            </a:r>
            <a:r>
              <a:rPr lang="en-US" altLang="ko-KR" dirty="0"/>
              <a:t>, </a:t>
            </a:r>
            <a:r>
              <a:rPr lang="ko-KR" altLang="en-US" dirty="0"/>
              <a:t>코드 퀄리티의 분포가 다 고릅니다</a:t>
            </a:r>
            <a:r>
              <a:rPr lang="en-US" altLang="ko-KR" dirty="0"/>
              <a:t>.</a:t>
            </a:r>
            <a:endParaRPr lang="ko-K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
          <p:cNvSpPr>
            <a:spLocks noGrp="1" noRot="1" noChangeAspect="1"/>
          </p:cNvSpPr>
          <p:nvPr>
            <p:ph type="sldImg"/>
          </p:nvPr>
        </p:nvSpPr>
        <p:spPr/>
      </p:sp>
      <p:sp>
        <p:nvSpPr>
          <p:cNvPr id="3" name="NP"/>
          <p:cNvSpPr>
            <a:spLocks noGrp="1"/>
          </p:cNvSpPr>
          <p:nvPr>
            <p:ph type="body" idx="1"/>
          </p:nvPr>
        </p:nvSpPr>
        <p:spPr/>
        <p:txBody>
          <a:bodyPr/>
          <a:lstStyle/>
          <a:p>
            <a:r>
              <a:rPr lang="en-US" altLang="ko-KR" dirty="0" err="1"/>
              <a:t>AutoBe</a:t>
            </a:r>
            <a:r>
              <a:rPr lang="ko-KR" altLang="en-US" dirty="0"/>
              <a:t>가 </a:t>
            </a:r>
            <a:r>
              <a:rPr lang="en-US" altLang="ko-KR" dirty="0"/>
              <a:t>function calling</a:t>
            </a:r>
            <a:r>
              <a:rPr lang="ko-KR" altLang="en-US" dirty="0"/>
              <a:t>으로 만들어낸 </a:t>
            </a:r>
            <a:r>
              <a:rPr lang="en-US" altLang="ko-KR" dirty="0"/>
              <a:t>DB </a:t>
            </a:r>
            <a:r>
              <a:rPr lang="ko-KR" altLang="en-US" dirty="0"/>
              <a:t>설계도 겸 해설서입니다</a:t>
            </a:r>
            <a:endParaRPr lang="ko-K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
          <p:cNvSpPr>
            <a:spLocks noGrp="1" noRot="1" noChangeAspect="1"/>
          </p:cNvSpPr>
          <p:nvPr>
            <p:ph type="sldImg"/>
          </p:nvPr>
        </p:nvSpPr>
        <p:spPr/>
      </p:sp>
      <p:sp>
        <p:nvSpPr>
          <p:cNvPr id="3" name="NP"/>
          <p:cNvSpPr>
            <a:spLocks noGrp="1"/>
          </p:cNvSpPr>
          <p:nvPr>
            <p:ph type="body" idx="1"/>
          </p:nvPr>
        </p:nvSpPr>
        <p:spPr/>
        <p:txBody>
          <a:bodyPr/>
          <a:lstStyle/>
          <a:p>
            <a:r>
              <a:rPr lang="ko-KR" altLang="en-US" dirty="0"/>
              <a:t>그리고 그것의 </a:t>
            </a:r>
            <a:r>
              <a:rPr lang="en-US" altLang="ko-KR" dirty="0"/>
              <a:t>ORM </a:t>
            </a:r>
            <a:r>
              <a:rPr lang="ko-KR" altLang="en-US" dirty="0"/>
              <a:t>스키마 정의서</a:t>
            </a:r>
            <a:endParaRPr lang="ko-K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
          <p:cNvSpPr>
            <a:spLocks noGrp="1" noRot="1" noChangeAspect="1"/>
          </p:cNvSpPr>
          <p:nvPr>
            <p:ph type="sldImg"/>
          </p:nvPr>
        </p:nvSpPr>
        <p:spPr/>
      </p:sp>
      <p:sp>
        <p:nvSpPr>
          <p:cNvPr id="3" name="NP"/>
          <p:cNvSpPr>
            <a:spLocks noGrp="1"/>
          </p:cNvSpPr>
          <p:nvPr>
            <p:ph type="body" idx="1"/>
          </p:nvPr>
        </p:nvSpPr>
        <p:spPr/>
        <p:txBody>
          <a:bodyPr/>
          <a:lstStyle/>
          <a:p>
            <a:r>
              <a:rPr lang="en-US" altLang="ko-KR" dirty="0"/>
              <a:t>DTO </a:t>
            </a:r>
            <a:r>
              <a:rPr lang="ko-KR" altLang="en-US" dirty="0"/>
              <a:t>스펙 정의 및 테스트 코드입니다</a:t>
            </a:r>
            <a:endParaRPr lang="ko-K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EBB23B31-05C0-45CF-9342-21BE32BFCBD5}" type="slidenum">
              <a:rPr lang="en-US" smtClean="0"/>
              <a:t>23</a:t>
            </a:fld>
            <a:endParaRPr lang="en-US"/>
          </a:p>
        </p:txBody>
      </p:sp>
    </p:spTree>
    <p:extLst>
      <p:ext uri="{BB962C8B-B14F-4D97-AF65-F5344CB8AC3E}">
        <p14:creationId xmlns:p14="http://schemas.microsoft.com/office/powerpoint/2010/main" val="20430884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
          <p:cNvSpPr>
            <a:spLocks noGrp="1" noRot="1" noChangeAspect="1"/>
          </p:cNvSpPr>
          <p:nvPr>
            <p:ph type="sldImg"/>
          </p:nvPr>
        </p:nvSpPr>
        <p:spPr/>
      </p:sp>
      <p:sp>
        <p:nvSpPr>
          <p:cNvPr id="3" name="NP"/>
          <p:cNvSpPr>
            <a:spLocks noGrp="1"/>
          </p:cNvSpPr>
          <p:nvPr>
            <p:ph type="body" idx="1"/>
          </p:nvPr>
        </p:nvSpPr>
        <p:spPr/>
        <p:txBody>
          <a:bodyPr/>
          <a:lstStyle/>
          <a:p>
            <a:r>
              <a:rPr lang="ko-KR" altLang="en-US" dirty="0"/>
              <a:t>자</a:t>
            </a:r>
            <a:r>
              <a:rPr lang="en-US" altLang="ko-KR" dirty="0"/>
              <a:t>, </a:t>
            </a:r>
            <a:r>
              <a:rPr lang="ko-KR" altLang="en-US" dirty="0"/>
              <a:t>그럼 이번에는 </a:t>
            </a:r>
            <a:r>
              <a:rPr lang="en-US" altLang="ko-KR" dirty="0"/>
              <a:t>typia</a:t>
            </a:r>
          </a:p>
          <a:p>
            <a:endParaRPr lang="en-US" altLang="ko-KR" dirty="0"/>
          </a:p>
          <a:p>
            <a:r>
              <a:rPr lang="en-US" altLang="ko-KR" dirty="0"/>
              <a:t>Function calling </a:t>
            </a:r>
            <a:r>
              <a:rPr lang="ko-KR" altLang="en-US" dirty="0"/>
              <a:t>성공률을 </a:t>
            </a:r>
            <a:r>
              <a:rPr lang="en-US" altLang="ko-KR" dirty="0"/>
              <a:t>6.75%</a:t>
            </a:r>
            <a:r>
              <a:rPr lang="ko-KR" altLang="en-US" dirty="0"/>
              <a:t>에서 </a:t>
            </a:r>
            <a:r>
              <a:rPr lang="en-US" altLang="ko-KR" dirty="0"/>
              <a:t>100%</a:t>
            </a:r>
            <a:r>
              <a:rPr lang="ko-KR" altLang="en-US" dirty="0"/>
              <a:t>로 만들어주는 이야기를 해봅시다</a:t>
            </a:r>
            <a:r>
              <a:rPr lang="en-US" altLang="ko-KR" dirty="0"/>
              <a:t>.</a:t>
            </a:r>
            <a:endParaRPr lang="ko-K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
          <p:cNvSpPr>
            <a:spLocks noGrp="1" noRot="1" noChangeAspect="1"/>
          </p:cNvSpPr>
          <p:nvPr>
            <p:ph type="sldImg"/>
          </p:nvPr>
        </p:nvSpPr>
        <p:spPr/>
      </p:sp>
      <p:sp>
        <p:nvSpPr>
          <p:cNvPr id="3" name="NP"/>
          <p:cNvSpPr>
            <a:spLocks noGrp="1"/>
          </p:cNvSpPr>
          <p:nvPr>
            <p:ph type="body" idx="1"/>
          </p:nvPr>
        </p:nvSpPr>
        <p:spPr/>
        <p:txBody>
          <a:bodyPr/>
          <a:lstStyle/>
          <a:p>
            <a:r>
              <a:rPr lang="en-US" altLang="ko-KR" dirty="0"/>
              <a:t>Typia</a:t>
            </a:r>
            <a:r>
              <a:rPr lang="ko-KR" altLang="en-US" dirty="0"/>
              <a:t>는 </a:t>
            </a:r>
            <a:r>
              <a:rPr lang="en-US" altLang="ko-KR" dirty="0"/>
              <a:t>TypeScript </a:t>
            </a:r>
            <a:r>
              <a:rPr lang="ko-KR" altLang="en-US" dirty="0"/>
              <a:t>컴파일러의 플러그인 라이브러리입니다</a:t>
            </a:r>
            <a:r>
              <a:rPr lang="en-US" altLang="ko-KR" dirty="0"/>
              <a:t>.</a:t>
            </a:r>
          </a:p>
          <a:p>
            <a:endParaRPr lang="en-US" altLang="ko-KR" dirty="0"/>
          </a:p>
          <a:p>
            <a:r>
              <a:rPr lang="en-US" altLang="ko-KR" dirty="0"/>
              <a:t>TypeScript </a:t>
            </a:r>
            <a:r>
              <a:rPr lang="ko-KR" altLang="en-US" dirty="0"/>
              <a:t>소스코드를 컴파일러 수준에서 분석</a:t>
            </a:r>
            <a:r>
              <a:rPr lang="en-US" altLang="ko-KR" dirty="0"/>
              <a:t>, </a:t>
            </a:r>
            <a:r>
              <a:rPr lang="ko-KR" altLang="en-US" dirty="0"/>
              <a:t>각 타입에 대한 최적의 로직 코드를 자동으로 만들어줍니다</a:t>
            </a:r>
            <a:r>
              <a:rPr lang="en-US" altLang="ko-KR" dirty="0"/>
              <a:t>.</a:t>
            </a:r>
          </a:p>
          <a:p>
            <a:endParaRPr lang="en-US" altLang="ko-KR" dirty="0"/>
          </a:p>
          <a:p>
            <a:r>
              <a:rPr lang="ko-KR" altLang="en-US" dirty="0"/>
              <a:t>한 때 </a:t>
            </a:r>
            <a:r>
              <a:rPr lang="en-US" altLang="ko-KR" dirty="0"/>
              <a:t>2</a:t>
            </a:r>
            <a:r>
              <a:rPr lang="ko-KR" altLang="en-US" dirty="0" err="1"/>
              <a:t>만배</a:t>
            </a:r>
            <a:r>
              <a:rPr lang="ko-KR" altLang="en-US" dirty="0"/>
              <a:t> 빠른 </a:t>
            </a:r>
            <a:r>
              <a:rPr lang="en-US" altLang="ko-KR" dirty="0"/>
              <a:t>validator</a:t>
            </a:r>
            <a:r>
              <a:rPr lang="ko-KR" altLang="en-US" dirty="0"/>
              <a:t>라는 제목으로 유명했었습니다</a:t>
            </a:r>
            <a:r>
              <a:rPr lang="en-US" altLang="ko-KR" dirty="0"/>
              <a:t>.</a:t>
            </a:r>
            <a:endParaRPr lang="ko-K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그리고 </a:t>
            </a:r>
            <a:r>
              <a:rPr lang="en-US" altLang="ko-KR" dirty="0"/>
              <a:t>typia</a:t>
            </a:r>
            <a:r>
              <a:rPr lang="ko-KR" altLang="en-US" dirty="0"/>
              <a:t>가 만들어주는 최적의 </a:t>
            </a:r>
            <a:r>
              <a:rPr lang="ko-KR" altLang="en-US" dirty="0" err="1"/>
              <a:t>코드란</a:t>
            </a:r>
            <a:r>
              <a:rPr lang="ko-KR" altLang="en-US" dirty="0"/>
              <a:t> 이러합니다</a:t>
            </a:r>
            <a:r>
              <a:rPr lang="en-US" altLang="ko-KR" dirty="0"/>
              <a:t>.</a:t>
            </a:r>
          </a:p>
          <a:p>
            <a:endParaRPr lang="en-US" altLang="ko-KR" dirty="0"/>
          </a:p>
          <a:p>
            <a:r>
              <a:rPr lang="en-US" altLang="ko-KR" dirty="0"/>
              <a:t>Typia</a:t>
            </a:r>
            <a:r>
              <a:rPr lang="ko-KR" altLang="en-US" dirty="0"/>
              <a:t>의 </a:t>
            </a:r>
            <a:r>
              <a:rPr lang="en-US" altLang="ko-KR" dirty="0"/>
              <a:t>is </a:t>
            </a:r>
            <a:r>
              <a:rPr lang="ko-KR" altLang="en-US" dirty="0"/>
              <a:t>함수를 쓰자</a:t>
            </a:r>
            <a:r>
              <a:rPr lang="en-US" altLang="ko-KR" dirty="0"/>
              <a:t>, </a:t>
            </a:r>
            <a:r>
              <a:rPr lang="ko-KR" altLang="en-US" dirty="0"/>
              <a:t>이를 컴파일할 때</a:t>
            </a:r>
            <a:r>
              <a:rPr lang="en-US" altLang="ko-KR" dirty="0"/>
              <a:t>, </a:t>
            </a:r>
            <a:r>
              <a:rPr lang="ko-KR" altLang="en-US" dirty="0"/>
              <a:t>자동으로 최적의 타입 검사 코드로 바뀝니다</a:t>
            </a:r>
            <a:r>
              <a:rPr lang="en-US" altLang="ko-KR" dirty="0"/>
              <a:t>.</a:t>
            </a:r>
          </a:p>
          <a:p>
            <a:endParaRPr lang="en-US" altLang="ko-KR" dirty="0"/>
          </a:p>
          <a:p>
            <a:r>
              <a:rPr lang="ko-KR" altLang="en-US" dirty="0"/>
              <a:t>이를 </a:t>
            </a:r>
            <a:r>
              <a:rPr lang="en-US" altLang="ko-KR" dirty="0"/>
              <a:t>transformer</a:t>
            </a:r>
            <a:r>
              <a:rPr lang="ko-KR" altLang="en-US" dirty="0"/>
              <a:t>라고 합니다</a:t>
            </a:r>
            <a:r>
              <a:rPr lang="en-US" altLang="ko-KR" dirty="0"/>
              <a:t>.</a:t>
            </a:r>
            <a:endParaRPr lang="ko-KR" dirty="0"/>
          </a:p>
        </p:txBody>
      </p:sp>
      <p:sp>
        <p:nvSpPr>
          <p:cNvPr id="4" name="슬라이드 번호 개체 틀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CCB9699-E895-4047-86EF-009608022D02}"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5851114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그리고 </a:t>
            </a:r>
            <a:r>
              <a:rPr lang="en-US" altLang="ko-KR" dirty="0" err="1"/>
              <a:t>typia.llm.parameters</a:t>
            </a:r>
            <a:r>
              <a:rPr lang="en-US" altLang="ko-KR" dirty="0"/>
              <a:t> </a:t>
            </a:r>
            <a:r>
              <a:rPr lang="ko-KR" altLang="en-US" dirty="0"/>
              <a:t>함수를 쓰면</a:t>
            </a:r>
            <a:r>
              <a:rPr lang="en-US" altLang="ko-KR" dirty="0"/>
              <a:t>, </a:t>
            </a:r>
            <a:r>
              <a:rPr lang="ko-KR" altLang="en-US" dirty="0"/>
              <a:t>보다시피 </a:t>
            </a:r>
            <a:r>
              <a:rPr lang="en-US" altLang="ko-KR" dirty="0"/>
              <a:t>TS </a:t>
            </a:r>
            <a:r>
              <a:rPr lang="ko-KR" altLang="en-US" dirty="0"/>
              <a:t>타입이 </a:t>
            </a:r>
            <a:r>
              <a:rPr lang="en-US" altLang="ko-KR" dirty="0"/>
              <a:t>structured output </a:t>
            </a:r>
            <a:r>
              <a:rPr lang="en-US" altLang="ko-KR" dirty="0" err="1"/>
              <a:t>schem</a:t>
            </a:r>
            <a:r>
              <a:rPr lang="ko-KR" altLang="en-US" dirty="0"/>
              <a:t>로 자동 변환됩니다</a:t>
            </a:r>
            <a:r>
              <a:rPr lang="en-US" altLang="ko-KR" dirty="0"/>
              <a:t>.</a:t>
            </a:r>
          </a:p>
          <a:p>
            <a:endParaRPr lang="en-US" altLang="ko-KR" dirty="0"/>
          </a:p>
          <a:p>
            <a:r>
              <a:rPr lang="ko-KR" altLang="en-US" dirty="0"/>
              <a:t>주석도 </a:t>
            </a:r>
            <a:r>
              <a:rPr lang="en-US" altLang="ko-KR" dirty="0"/>
              <a:t>structured output</a:t>
            </a:r>
            <a:r>
              <a:rPr lang="ko-KR" altLang="en-US" dirty="0"/>
              <a:t>의 </a:t>
            </a:r>
            <a:r>
              <a:rPr lang="en-US" altLang="ko-KR" dirty="0"/>
              <a:t>description</a:t>
            </a:r>
            <a:r>
              <a:rPr lang="ko-KR" altLang="en-US" dirty="0"/>
              <a:t>이 됩니다</a:t>
            </a:r>
            <a:r>
              <a:rPr lang="en-US" altLang="ko-KR" dirty="0"/>
              <a:t>.</a:t>
            </a:r>
          </a:p>
        </p:txBody>
      </p:sp>
      <p:sp>
        <p:nvSpPr>
          <p:cNvPr id="4" name="슬라이드 번호 개체 틀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CCB9699-E895-4047-86EF-009608022D02}"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22870592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
          <p:cNvSpPr>
            <a:spLocks noGrp="1" noRot="1" noChangeAspect="1"/>
          </p:cNvSpPr>
          <p:nvPr>
            <p:ph type="sldImg"/>
          </p:nvPr>
        </p:nvSpPr>
        <p:spPr/>
      </p:sp>
      <p:sp>
        <p:nvSpPr>
          <p:cNvPr id="3" name="NP"/>
          <p:cNvSpPr>
            <a:spLocks noGrp="1"/>
          </p:cNvSpPr>
          <p:nvPr>
            <p:ph type="body" idx="1"/>
          </p:nvPr>
        </p:nvSpPr>
        <p:spPr/>
        <p:txBody>
          <a:bodyPr/>
          <a:lstStyle/>
          <a:p>
            <a:r>
              <a:rPr lang="ko-KR" altLang="en-US" dirty="0"/>
              <a:t>그리고 이를 클래스에 사용하면</a:t>
            </a:r>
            <a:r>
              <a:rPr lang="en-US" altLang="ko-KR" dirty="0"/>
              <a:t>, </a:t>
            </a:r>
            <a:r>
              <a:rPr lang="ko-KR" altLang="en-US" dirty="0"/>
              <a:t>해당 클래스의 모든 함수들이 자동 </a:t>
            </a:r>
            <a:r>
              <a:rPr lang="en-US" altLang="ko-KR" dirty="0"/>
              <a:t>function calling schema</a:t>
            </a:r>
            <a:r>
              <a:rPr lang="ko-KR" altLang="en-US" dirty="0"/>
              <a:t>로 바뀝니다</a:t>
            </a:r>
            <a:r>
              <a:rPr lang="en-US" altLang="ko-KR" dirty="0"/>
              <a:t>.</a:t>
            </a:r>
          </a:p>
          <a:p>
            <a:endParaRPr lang="en-US" altLang="ko-KR" dirty="0"/>
          </a:p>
          <a:p>
            <a:r>
              <a:rPr lang="ko-KR" altLang="en-US" dirty="0"/>
              <a:t>그리고 각 함수마다 </a:t>
            </a:r>
            <a:r>
              <a:rPr lang="en-US" altLang="ko-KR" dirty="0"/>
              <a:t>structured output </a:t>
            </a:r>
            <a:r>
              <a:rPr lang="ko-KR" altLang="en-US" dirty="0"/>
              <a:t>스키마 외에 다음 세 가지 기능들이 더 추가됩니다</a:t>
            </a:r>
            <a:r>
              <a:rPr lang="en-US" altLang="ko-KR" dirty="0"/>
              <a:t>.</a:t>
            </a:r>
          </a:p>
          <a:p>
            <a:endParaRPr lang="en-US" altLang="ko-KR" dirty="0"/>
          </a:p>
          <a:p>
            <a:pPr marL="171450" indent="-171450">
              <a:buFontTx/>
              <a:buChar char="-"/>
            </a:pPr>
            <a:r>
              <a:rPr lang="en-US" altLang="ko-KR" dirty="0"/>
              <a:t>parse(): </a:t>
            </a:r>
            <a:r>
              <a:rPr lang="ko-KR" altLang="en-US" dirty="0"/>
              <a:t>느슨한 </a:t>
            </a:r>
            <a:r>
              <a:rPr lang="en-US" altLang="ko-KR" dirty="0"/>
              <a:t>JSON </a:t>
            </a:r>
            <a:r>
              <a:rPr lang="ko-KR" altLang="en-US" dirty="0"/>
              <a:t>파서입니다</a:t>
            </a:r>
            <a:endParaRPr lang="en-US" altLang="ko-KR" dirty="0"/>
          </a:p>
          <a:p>
            <a:pPr marL="171450" indent="-171450">
              <a:buFontTx/>
              <a:buChar char="-"/>
            </a:pPr>
            <a:r>
              <a:rPr lang="en-US" altLang="ko-KR" dirty="0"/>
              <a:t>coerce(): </a:t>
            </a:r>
            <a:r>
              <a:rPr lang="ko-KR" altLang="en-US" dirty="0"/>
              <a:t>타입을 자동 교정해줍니다</a:t>
            </a:r>
            <a:endParaRPr lang="en-US" altLang="ko-KR" dirty="0"/>
          </a:p>
          <a:p>
            <a:pPr marL="171450" indent="-171450">
              <a:buFontTx/>
              <a:buChar char="-"/>
            </a:pPr>
            <a:r>
              <a:rPr lang="en-US" altLang="ko-KR" dirty="0"/>
              <a:t>validate(): </a:t>
            </a:r>
            <a:r>
              <a:rPr lang="ko-KR" altLang="en-US" dirty="0"/>
              <a:t>틀린 타입을 찾아 상세 피드백 메시지를 발행해줍니다</a:t>
            </a:r>
            <a:endParaRPr lang="ko-K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그리고 여기서 타입 교정이란 이러한 것입니다</a:t>
            </a:r>
            <a:r>
              <a:rPr lang="en-US" altLang="ko-KR" dirty="0"/>
              <a:t>.</a:t>
            </a:r>
          </a:p>
          <a:p>
            <a:endParaRPr lang="en-US" altLang="ko-KR" dirty="0"/>
          </a:p>
          <a:p>
            <a:r>
              <a:rPr lang="ko-KR" altLang="en-US" dirty="0"/>
              <a:t>우측에 보면 결제 타입 </a:t>
            </a:r>
            <a:r>
              <a:rPr lang="en-US" altLang="ko-KR" dirty="0" err="1"/>
              <a:t>IPayment</a:t>
            </a:r>
            <a:r>
              <a:rPr lang="ko-KR" altLang="en-US" dirty="0"/>
              <a:t>는 카드결제와 은행결제의 유니언 타입입니다</a:t>
            </a:r>
            <a:r>
              <a:rPr lang="en-US" altLang="ko-KR" dirty="0"/>
              <a:t>. </a:t>
            </a:r>
            <a:r>
              <a:rPr lang="ko-KR" altLang="en-US" dirty="0"/>
              <a:t>즉</a:t>
            </a:r>
            <a:r>
              <a:rPr lang="en-US" altLang="ko-KR" dirty="0"/>
              <a:t>, </a:t>
            </a:r>
            <a:r>
              <a:rPr lang="ko-KR" altLang="en-US" dirty="0"/>
              <a:t>고객은 카드 결제할 수도 있고</a:t>
            </a:r>
            <a:r>
              <a:rPr lang="en-US" altLang="ko-KR" dirty="0"/>
              <a:t>, </a:t>
            </a:r>
            <a:r>
              <a:rPr lang="ko-KR" altLang="en-US" dirty="0"/>
              <a:t>은행 결제할 수도 있습니다</a:t>
            </a:r>
            <a:r>
              <a:rPr lang="en-US" altLang="ko-KR" dirty="0"/>
              <a:t>.</a:t>
            </a:r>
          </a:p>
          <a:p>
            <a:endParaRPr lang="en-US" altLang="ko-KR" dirty="0"/>
          </a:p>
          <a:p>
            <a:r>
              <a:rPr lang="ko-KR" altLang="en-US" dirty="0"/>
              <a:t>근데 </a:t>
            </a:r>
            <a:r>
              <a:rPr lang="en-US" altLang="ko-KR" dirty="0"/>
              <a:t>Qwen 3.5</a:t>
            </a:r>
            <a:r>
              <a:rPr lang="ko-KR" altLang="en-US" dirty="0"/>
              <a:t>와 </a:t>
            </a:r>
            <a:r>
              <a:rPr lang="en-US" altLang="ko-KR" dirty="0"/>
              <a:t>Anthropic Claude</a:t>
            </a:r>
            <a:r>
              <a:rPr lang="ko-KR" altLang="en-US" dirty="0"/>
              <a:t>는</a:t>
            </a:r>
            <a:r>
              <a:rPr lang="en-US" altLang="ko-KR" dirty="0"/>
              <a:t>, </a:t>
            </a:r>
            <a:r>
              <a:rPr lang="ko-KR" altLang="en-US" dirty="0"/>
              <a:t>여기서 </a:t>
            </a:r>
            <a:r>
              <a:rPr lang="en-US" altLang="ko-KR" dirty="0"/>
              <a:t>100% </a:t>
            </a:r>
            <a:r>
              <a:rPr lang="ko-KR" altLang="en-US" dirty="0"/>
              <a:t>확률로 이 유니언 타입에 대하여 이중을 </a:t>
            </a:r>
            <a:r>
              <a:rPr lang="en-US" altLang="ko-KR" dirty="0" err="1"/>
              <a:t>JSON.stringify</a:t>
            </a:r>
            <a:r>
              <a:rPr lang="ko-KR" altLang="en-US" dirty="0"/>
              <a:t>를 시전</a:t>
            </a:r>
            <a:r>
              <a:rPr lang="en-US" altLang="ko-KR" dirty="0"/>
              <a:t>, </a:t>
            </a:r>
            <a:r>
              <a:rPr lang="ko-KR" altLang="en-US" dirty="0"/>
              <a:t>틀린 타입을 </a:t>
            </a:r>
            <a:r>
              <a:rPr lang="ko-KR" altLang="en-US" dirty="0" err="1"/>
              <a:t>뱉어냅니다</a:t>
            </a:r>
            <a:r>
              <a:rPr lang="en-US" altLang="ko-KR" dirty="0"/>
              <a:t>.</a:t>
            </a:r>
          </a:p>
          <a:p>
            <a:endParaRPr lang="en-US" altLang="ko-KR" dirty="0"/>
          </a:p>
          <a:p>
            <a:r>
              <a:rPr lang="ko-KR" altLang="en-US" dirty="0"/>
              <a:t>이를 </a:t>
            </a:r>
            <a:r>
              <a:rPr lang="en-US" altLang="ko-KR" dirty="0"/>
              <a:t>typia</a:t>
            </a:r>
            <a:r>
              <a:rPr lang="ko-KR" altLang="en-US" dirty="0"/>
              <a:t>는 컴파일러 수준에서 올바른 타입 정보를 파악</a:t>
            </a:r>
            <a:r>
              <a:rPr lang="en-US" altLang="ko-KR" dirty="0"/>
              <a:t>, </a:t>
            </a:r>
            <a:r>
              <a:rPr lang="ko-KR" altLang="en-US" dirty="0"/>
              <a:t>강제 교정해줍니다</a:t>
            </a:r>
            <a:r>
              <a:rPr lang="en-US" altLang="ko-KR" dirty="0"/>
              <a:t>. </a:t>
            </a:r>
            <a:r>
              <a:rPr lang="ko-KR" altLang="en-US" dirty="0"/>
              <a:t>이것이 </a:t>
            </a:r>
            <a:r>
              <a:rPr lang="en-US" altLang="ko-KR" dirty="0"/>
              <a:t>coerce</a:t>
            </a:r>
            <a:r>
              <a:rPr lang="ko-KR" altLang="en-US" dirty="0"/>
              <a:t>입니다</a:t>
            </a:r>
            <a:r>
              <a:rPr lang="en-US" altLang="ko-KR" dirty="0"/>
              <a:t>.</a:t>
            </a:r>
            <a:endParaRPr lang="ko-KR" dirty="0"/>
          </a:p>
        </p:txBody>
      </p:sp>
      <p:sp>
        <p:nvSpPr>
          <p:cNvPr id="4" name="슬라이드 번호 개체 틀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CCB9699-E895-4047-86EF-009608022D02}"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5851114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I"/>
          <p:cNvSpPr>
            <a:spLocks noGrp="1" noRot="1" noChangeAspect="1"/>
          </p:cNvSpPr>
          <p:nvPr>
            <p:ph type="sldImg"/>
          </p:nvPr>
        </p:nvSpPr>
        <p:spPr/>
      </p:sp>
      <p:sp>
        <p:nvSpPr>
          <p:cNvPr id="3" name="NP"/>
          <p:cNvSpPr>
            <a:spLocks noGrp="1"/>
          </p:cNvSpPr>
          <p:nvPr>
            <p:ph type="body" idx="1"/>
          </p:nvPr>
        </p:nvSpPr>
        <p:spPr/>
        <p:txBody>
          <a:bodyPr/>
          <a:lstStyle/>
          <a:p>
            <a:r>
              <a:rPr lang="ko-KR" altLang="en-US" dirty="0"/>
              <a:t>그리고 느슨한 </a:t>
            </a:r>
            <a:r>
              <a:rPr lang="en-US" altLang="ko-KR" dirty="0"/>
              <a:t>JSON </a:t>
            </a:r>
            <a:r>
              <a:rPr lang="en-US" altLang="ko-KR" dirty="0" err="1"/>
              <a:t>parsin</a:t>
            </a:r>
            <a:r>
              <a:rPr lang="ko-KR" altLang="en-US" dirty="0"/>
              <a:t>이란 이러합니다</a:t>
            </a:r>
            <a:r>
              <a:rPr lang="en-US" altLang="ko-KR" dirty="0"/>
              <a:t>.</a:t>
            </a:r>
          </a:p>
          <a:p>
            <a:endParaRPr lang="en-US" altLang="ko-KR" dirty="0"/>
          </a:p>
          <a:p>
            <a:r>
              <a:rPr lang="ko-KR" altLang="en-US" dirty="0"/>
              <a:t>보시면 뭐가 </a:t>
            </a:r>
            <a:r>
              <a:rPr lang="ko-KR" altLang="en-US" dirty="0" err="1"/>
              <a:t>이상한게</a:t>
            </a:r>
            <a:r>
              <a:rPr lang="ko-KR" altLang="en-US" dirty="0"/>
              <a:t> 많지요</a:t>
            </a:r>
            <a:r>
              <a:rPr lang="en-US" altLang="ko-KR" dirty="0"/>
              <a:t>? Qwen </a:t>
            </a:r>
            <a:r>
              <a:rPr lang="ko-KR" altLang="en-US" dirty="0"/>
              <a:t>등의 </a:t>
            </a:r>
            <a:r>
              <a:rPr lang="en-US" altLang="ko-KR" dirty="0"/>
              <a:t>small/medium </a:t>
            </a:r>
            <a:r>
              <a:rPr lang="ko-KR" altLang="en-US" dirty="0"/>
              <a:t>사이즈에서 정말 흔하게 발생하는 문제 중 하나입니다</a:t>
            </a:r>
            <a:r>
              <a:rPr lang="en-US" altLang="ko-KR" dirty="0"/>
              <a:t>.</a:t>
            </a:r>
          </a:p>
          <a:p>
            <a:endParaRPr lang="en-US" altLang="ko-KR" dirty="0"/>
          </a:p>
          <a:p>
            <a:pPr marL="171450" indent="-171450">
              <a:buFontTx/>
              <a:buChar char="-"/>
            </a:pPr>
            <a:r>
              <a:rPr lang="ko-KR" altLang="en-US" dirty="0"/>
              <a:t>첫째로 </a:t>
            </a:r>
            <a:r>
              <a:rPr lang="en-US" altLang="ko-KR" dirty="0"/>
              <a:t>JSON</a:t>
            </a:r>
            <a:r>
              <a:rPr lang="ko-KR" altLang="en-US" dirty="0"/>
              <a:t>을 </a:t>
            </a:r>
            <a:r>
              <a:rPr lang="ko-KR" altLang="en-US" dirty="0" err="1"/>
              <a:t>준게</a:t>
            </a:r>
            <a:r>
              <a:rPr lang="ko-KR" altLang="en-US" dirty="0"/>
              <a:t> 아니라 마크다운을 줘버렸습니다</a:t>
            </a:r>
            <a:r>
              <a:rPr lang="en-US" altLang="ko-KR" dirty="0"/>
              <a:t>.</a:t>
            </a:r>
          </a:p>
          <a:p>
            <a:pPr marL="171450" indent="-171450">
              <a:buFontTx/>
              <a:buChar char="-"/>
            </a:pPr>
            <a:r>
              <a:rPr lang="ko-KR" altLang="en-US" dirty="0"/>
              <a:t>둘째로 </a:t>
            </a:r>
            <a:r>
              <a:rPr lang="en-US" altLang="ko-KR" dirty="0" err="1"/>
              <a:t>order.payment</a:t>
            </a:r>
            <a:r>
              <a:rPr lang="ko-KR" altLang="en-US" dirty="0"/>
              <a:t>를 보면 예</a:t>
            </a:r>
            <a:r>
              <a:rPr lang="en-US" altLang="ko-KR" dirty="0"/>
              <a:t>, </a:t>
            </a:r>
            <a:r>
              <a:rPr lang="ko-KR" altLang="en-US" dirty="0"/>
              <a:t>앞서의 이중 </a:t>
            </a:r>
            <a:r>
              <a:rPr lang="en-US" altLang="ko-KR" dirty="0" err="1"/>
              <a:t>JSON.stringify</a:t>
            </a:r>
            <a:r>
              <a:rPr lang="en-US" altLang="ko-KR" dirty="0"/>
              <a:t> </a:t>
            </a:r>
            <a:r>
              <a:rPr lang="ko-KR" altLang="en-US" dirty="0"/>
              <a:t>문제가 발생하였습니다</a:t>
            </a:r>
            <a:r>
              <a:rPr lang="en-US" altLang="ko-KR" dirty="0"/>
              <a:t>. </a:t>
            </a:r>
            <a:r>
              <a:rPr lang="ko-KR" altLang="en-US" dirty="0"/>
              <a:t>근데 그 </a:t>
            </a:r>
            <a:r>
              <a:rPr lang="en-US" altLang="ko-KR" dirty="0"/>
              <a:t>inline JSON string</a:t>
            </a:r>
            <a:r>
              <a:rPr lang="ko-KR" altLang="en-US" dirty="0"/>
              <a:t>조차도 </a:t>
            </a:r>
            <a:r>
              <a:rPr lang="ko-KR" altLang="en-US" dirty="0" err="1"/>
              <a:t>다시보니까</a:t>
            </a:r>
            <a:r>
              <a:rPr lang="ko-KR" altLang="en-US" dirty="0"/>
              <a:t> </a:t>
            </a:r>
            <a:r>
              <a:rPr lang="ko-KR" altLang="en-US" dirty="0" err="1"/>
              <a:t>엉터리네요</a:t>
            </a:r>
            <a:r>
              <a:rPr lang="en-US" altLang="ko-KR" dirty="0"/>
              <a:t>?</a:t>
            </a:r>
          </a:p>
          <a:p>
            <a:pPr marL="171450" indent="-171450">
              <a:buFontTx/>
              <a:buChar char="-"/>
            </a:pPr>
            <a:r>
              <a:rPr lang="ko-KR" altLang="en-US" dirty="0"/>
              <a:t>셋째로 </a:t>
            </a:r>
            <a:r>
              <a:rPr lang="en-US" altLang="ko-KR" dirty="0"/>
              <a:t>product</a:t>
            </a:r>
            <a:r>
              <a:rPr lang="ko-KR" altLang="en-US" dirty="0"/>
              <a:t>의 멤버 속성들을 보면</a:t>
            </a:r>
            <a:r>
              <a:rPr lang="en-US" altLang="ko-KR" dirty="0"/>
              <a:t>, </a:t>
            </a:r>
            <a:r>
              <a:rPr lang="ko-KR" altLang="en-US" dirty="0" err="1"/>
              <a:t>키값이</a:t>
            </a:r>
            <a:r>
              <a:rPr lang="ko-KR" altLang="en-US" dirty="0"/>
              <a:t> 따옴표로 감싸지지 않았고</a:t>
            </a:r>
            <a:r>
              <a:rPr lang="en-US" altLang="ko-KR" dirty="0"/>
              <a:t>, number </a:t>
            </a:r>
            <a:r>
              <a:rPr lang="ko-KR" altLang="en-US" dirty="0"/>
              <a:t>대신 </a:t>
            </a:r>
            <a:r>
              <a:rPr lang="en-US" altLang="ko-KR" dirty="0"/>
              <a:t>string</a:t>
            </a:r>
            <a:r>
              <a:rPr lang="ko-KR" altLang="en-US" dirty="0"/>
              <a:t>을 썼으며</a:t>
            </a:r>
            <a:r>
              <a:rPr lang="en-US" altLang="ko-KR" dirty="0"/>
              <a:t>, quantity </a:t>
            </a:r>
            <a:r>
              <a:rPr lang="ko-KR" altLang="en-US" dirty="0"/>
              <a:t>뒤에는 </a:t>
            </a:r>
            <a:r>
              <a:rPr lang="en-US" altLang="ko-KR" dirty="0"/>
              <a:t>trailing comma</a:t>
            </a:r>
            <a:r>
              <a:rPr lang="ko-KR" altLang="en-US" dirty="0"/>
              <a:t>가 붙어버렸네요</a:t>
            </a:r>
            <a:r>
              <a:rPr lang="en-US" altLang="ko-KR" dirty="0"/>
              <a:t>?</a:t>
            </a:r>
          </a:p>
          <a:p>
            <a:pPr marL="171450" indent="-171450">
              <a:buFontTx/>
              <a:buChar char="-"/>
            </a:pPr>
            <a:r>
              <a:rPr lang="ko-KR" altLang="en-US" dirty="0"/>
              <a:t>마지막으로 </a:t>
            </a:r>
            <a:r>
              <a:rPr lang="en-US" altLang="ko-KR" dirty="0" err="1"/>
              <a:t>customer.vip</a:t>
            </a:r>
            <a:r>
              <a:rPr lang="ko-KR" altLang="en-US" dirty="0"/>
              <a:t>가 쓰다 말았고</a:t>
            </a:r>
            <a:r>
              <a:rPr lang="en-US" altLang="ko-KR" dirty="0"/>
              <a:t>, </a:t>
            </a:r>
            <a:r>
              <a:rPr lang="ko-KR" altLang="en-US" dirty="0"/>
              <a:t>이후에 괄호도 안 닫고 마크다운 </a:t>
            </a:r>
            <a:r>
              <a:rPr lang="en-US" altLang="ko-KR" dirty="0" err="1"/>
              <a:t>json</a:t>
            </a:r>
            <a:r>
              <a:rPr lang="en-US" altLang="ko-KR" dirty="0"/>
              <a:t> </a:t>
            </a:r>
            <a:r>
              <a:rPr lang="ko-KR" altLang="en-US" dirty="0"/>
              <a:t>블록도 안 닫았습니다</a:t>
            </a:r>
            <a:endParaRPr lang="en-US" altLang="ko-KR" dirty="0"/>
          </a:p>
          <a:p>
            <a:pPr marL="0" indent="0">
              <a:buFontTx/>
              <a:buNone/>
            </a:pPr>
            <a:endParaRPr lang="en-US" altLang="ko-KR" dirty="0"/>
          </a:p>
          <a:p>
            <a:pPr marL="0" indent="0">
              <a:buFontTx/>
              <a:buNone/>
            </a:pPr>
            <a:r>
              <a:rPr lang="ko-KR" altLang="en-US" dirty="0"/>
              <a:t>이것을 </a:t>
            </a:r>
            <a:r>
              <a:rPr lang="en-US" altLang="ko-KR" dirty="0"/>
              <a:t>typia</a:t>
            </a:r>
            <a:r>
              <a:rPr lang="ko-KR" altLang="en-US" dirty="0"/>
              <a:t>는 </a:t>
            </a:r>
            <a:r>
              <a:rPr lang="en-US" altLang="ko-KR" dirty="0"/>
              <a:t>parse</a:t>
            </a:r>
            <a:r>
              <a:rPr lang="ko-KR" altLang="en-US" dirty="0"/>
              <a:t>와 </a:t>
            </a:r>
            <a:r>
              <a:rPr lang="en-US" altLang="ko-KR" dirty="0"/>
              <a:t>coerce</a:t>
            </a:r>
            <a:r>
              <a:rPr lang="ko-KR" altLang="en-US" dirty="0"/>
              <a:t>를 재귀적으로 교차해가며 복원해줍니다</a:t>
            </a:r>
            <a:r>
              <a:rPr lang="en-US" altLang="ko-KR" dirty="0"/>
              <a:t>. </a:t>
            </a:r>
            <a:r>
              <a:rPr lang="ko-KR" altLang="en-US" dirty="0"/>
              <a:t>이것이 </a:t>
            </a:r>
            <a:r>
              <a:rPr lang="en-US" altLang="ko-KR" dirty="0"/>
              <a:t>lenient JSON parsing</a:t>
            </a:r>
            <a:r>
              <a:rPr lang="ko-KR" altLang="en-US" dirty="0"/>
              <a:t>입니다</a:t>
            </a:r>
            <a:r>
              <a:rPr lang="en-US" altLang="ko-KR" dirty="0"/>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altLang="en-US" dirty="0"/>
              <a:t>그러나 파싱과 교정 이후에도</a:t>
            </a:r>
            <a:r>
              <a:rPr lang="en-US" altLang="ko-KR" dirty="0"/>
              <a:t>, </a:t>
            </a:r>
            <a:r>
              <a:rPr lang="ko-KR" altLang="en-US" dirty="0"/>
              <a:t>여전히 잘못된 타입의 값들은 </a:t>
            </a:r>
            <a:r>
              <a:rPr lang="ko-KR" altLang="en-US" dirty="0" err="1"/>
              <a:t>남아있을수</a:t>
            </a:r>
            <a:r>
              <a:rPr lang="ko-KR" altLang="en-US" dirty="0"/>
              <a:t> 있습니다</a:t>
            </a:r>
            <a:r>
              <a:rPr lang="en-US" altLang="ko-KR" dirty="0"/>
              <a:t>.</a:t>
            </a:r>
          </a:p>
          <a:p>
            <a:endParaRPr lang="en-US" altLang="ko-KR" dirty="0"/>
          </a:p>
          <a:p>
            <a:r>
              <a:rPr lang="ko-KR" altLang="en-US" dirty="0"/>
              <a:t>처음부터 속성을 안 채웠거나</a:t>
            </a:r>
            <a:r>
              <a:rPr lang="en-US" altLang="ko-KR" dirty="0"/>
              <a:t>, </a:t>
            </a:r>
            <a:r>
              <a:rPr lang="ko-KR" altLang="en-US" dirty="0"/>
              <a:t>교정조차 불가능한 값을 만들 때가 바로 그것입니다</a:t>
            </a:r>
            <a:r>
              <a:rPr lang="en-US" altLang="ko-KR" dirty="0"/>
              <a:t>.</a:t>
            </a:r>
            <a:endParaRPr lang="ko-KR" altLang="ko-KR" dirty="0"/>
          </a:p>
          <a:p>
            <a:endParaRPr lang="en-US" altLang="ko-KR" dirty="0"/>
          </a:p>
          <a:p>
            <a:r>
              <a:rPr lang="ko-KR" altLang="en-US" dirty="0"/>
              <a:t>이 때</a:t>
            </a:r>
            <a:r>
              <a:rPr lang="en-US" altLang="ko-KR" dirty="0"/>
              <a:t>,</a:t>
            </a:r>
            <a:r>
              <a:rPr lang="ko-KR" altLang="en-US" dirty="0"/>
              <a:t> </a:t>
            </a:r>
            <a:r>
              <a:rPr lang="en-US" altLang="ko-KR" dirty="0"/>
              <a:t>typia</a:t>
            </a:r>
            <a:r>
              <a:rPr lang="ko-KR" altLang="en-US" dirty="0"/>
              <a:t>는 이들이 각각 어디가 어떻게 잘못되었는지</a:t>
            </a:r>
            <a:r>
              <a:rPr lang="en-US" altLang="ko-KR" dirty="0"/>
              <a:t>, </a:t>
            </a:r>
            <a:r>
              <a:rPr lang="ko-KR" altLang="en-US" dirty="0"/>
              <a:t>위와 같이 보고하여 </a:t>
            </a:r>
            <a:r>
              <a:rPr lang="en-US" altLang="ko-KR" dirty="0"/>
              <a:t>AI</a:t>
            </a:r>
            <a:r>
              <a:rPr lang="ko-KR" altLang="en-US" dirty="0"/>
              <a:t>에게 피드백을 줄 수 있습니다</a:t>
            </a:r>
            <a:r>
              <a:rPr lang="en-US" altLang="ko-KR" dirty="0"/>
              <a:t>.</a:t>
            </a:r>
          </a:p>
          <a:p>
            <a:endParaRPr lang="en-US" altLang="ko-KR" dirty="0"/>
          </a:p>
          <a:p>
            <a:r>
              <a:rPr lang="ko-KR" altLang="en-US" dirty="0"/>
              <a:t>이것이 </a:t>
            </a:r>
            <a:r>
              <a:rPr lang="en-US" altLang="ko-KR" dirty="0"/>
              <a:t>typia</a:t>
            </a:r>
            <a:r>
              <a:rPr lang="ko-KR" altLang="en-US" dirty="0"/>
              <a:t>의 </a:t>
            </a:r>
            <a:r>
              <a:rPr lang="en-US" altLang="ko-KR" dirty="0"/>
              <a:t>validation feedback</a:t>
            </a:r>
            <a:r>
              <a:rPr lang="ko-KR" altLang="en-US" dirty="0"/>
              <a:t>입니다</a:t>
            </a:r>
            <a:r>
              <a:rPr lang="en-US" altLang="ko-KR" dirty="0"/>
              <a:t>.</a:t>
            </a:r>
            <a:endParaRPr lang="ko-K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altLang="en-US" dirty="0"/>
              <a:t>그리고 여기서 막간에 </a:t>
            </a:r>
            <a:r>
              <a:rPr lang="ko-KR" altLang="en-US" dirty="0" err="1"/>
              <a:t>자랑좀</a:t>
            </a:r>
            <a:r>
              <a:rPr lang="ko-KR" altLang="en-US" dirty="0"/>
              <a:t> 하자면</a:t>
            </a:r>
            <a:br>
              <a:rPr lang="en-US" altLang="ko-KR" dirty="0"/>
            </a:br>
            <a:endParaRPr lang="en-US" altLang="ko-KR" dirty="0"/>
          </a:p>
          <a:p>
            <a:r>
              <a:rPr lang="ko-KR" altLang="en-US" dirty="0"/>
              <a:t>우리가 알아본 네 가지 기능</a:t>
            </a:r>
            <a:r>
              <a:rPr lang="en-US" altLang="ko-KR" dirty="0"/>
              <a:t>,</a:t>
            </a:r>
            <a:r>
              <a:rPr lang="ko-KR" altLang="en-US" dirty="0"/>
              <a:t> 컴파일러 수준에서 통합 지원하고 안정화한 것은 </a:t>
            </a:r>
            <a:r>
              <a:rPr lang="en-US" altLang="ko-KR" dirty="0"/>
              <a:t>typia</a:t>
            </a:r>
            <a:r>
              <a:rPr lang="ko-KR" altLang="en-US" dirty="0"/>
              <a:t>가 유일합니다</a:t>
            </a:r>
            <a:r>
              <a:rPr lang="en-US" altLang="ko-KR" dirty="0"/>
              <a:t>.</a:t>
            </a:r>
          </a:p>
          <a:p>
            <a:endParaRPr lang="en-US" altLang="ko-KR" dirty="0"/>
          </a:p>
          <a:p>
            <a:r>
              <a:rPr lang="ko-KR" altLang="en-US" dirty="0"/>
              <a:t>그리고 각각의 기능들에 대하여도</a:t>
            </a:r>
            <a:r>
              <a:rPr lang="en-US" altLang="ko-KR" dirty="0"/>
              <a:t>,</a:t>
            </a:r>
            <a:r>
              <a:rPr lang="ko-KR" altLang="en-US" dirty="0"/>
              <a:t> 유니언 타입에 대한 지원 역시 </a:t>
            </a:r>
            <a:r>
              <a:rPr lang="en-US" altLang="ko-KR" dirty="0"/>
              <a:t>typia</a:t>
            </a:r>
            <a:r>
              <a:rPr lang="ko-KR" altLang="en-US" dirty="0"/>
              <a:t>가 유일합니다</a:t>
            </a:r>
            <a:r>
              <a:rPr lang="en-US" altLang="ko-KR" dirty="0"/>
              <a:t>.</a:t>
            </a:r>
            <a:endParaRPr lang="ko-K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altLang="en-US" dirty="0"/>
              <a:t>자</a:t>
            </a:r>
            <a:r>
              <a:rPr lang="en-US" altLang="ko-KR" dirty="0"/>
              <a:t>, function calling harness</a:t>
            </a:r>
            <a:r>
              <a:rPr lang="ko-KR" altLang="en-US" dirty="0"/>
              <a:t>에 대하여 정리하겠습니다</a:t>
            </a:r>
            <a:r>
              <a:rPr lang="en-US" altLang="ko-KR" dirty="0"/>
              <a:t>.</a:t>
            </a:r>
          </a:p>
          <a:p>
            <a:endParaRPr lang="en-US" altLang="ko-KR" dirty="0"/>
          </a:p>
          <a:p>
            <a:r>
              <a:rPr lang="ko-KR" altLang="ko-KR" dirty="0"/>
              <a:t>Typia 레이어: </a:t>
            </a:r>
            <a:r>
              <a:rPr lang="ko-KR" altLang="ko-KR" dirty="0" err="1"/>
              <a:t>타입→스키마</a:t>
            </a:r>
            <a:r>
              <a:rPr lang="ko-KR" altLang="ko-KR" dirty="0"/>
              <a:t>, 파싱, 교정, 검증 피드백
</a:t>
            </a:r>
            <a:r>
              <a:rPr lang="ko-KR" altLang="ko-KR" dirty="0" err="1"/>
              <a:t>AutoBe</a:t>
            </a:r>
            <a:r>
              <a:rPr lang="ko-KR" altLang="ko-KR" dirty="0"/>
              <a:t> 레이어: 4 AST + 4단계 컴파일러 검증, 자가 치유 루프
</a:t>
            </a:r>
            <a:r>
              <a:rPr lang="ko-KR" altLang="ko-KR" dirty="0" err="1"/>
              <a:t>Typia가</a:t>
            </a:r>
            <a:r>
              <a:rPr lang="ko-KR" altLang="ko-KR" dirty="0"/>
              <a:t> 함수 호출 </a:t>
            </a:r>
            <a:r>
              <a:rPr lang="ko-KR" altLang="ko-KR" dirty="0" err="1"/>
              <a:t>I</a:t>
            </a:r>
            <a:r>
              <a:rPr lang="ko-KR" altLang="ko-KR" dirty="0"/>
              <a:t>/</a:t>
            </a:r>
            <a:r>
              <a:rPr lang="ko-KR" altLang="ko-KR" dirty="0" err="1"/>
              <a:t>O를</a:t>
            </a:r>
            <a:r>
              <a:rPr lang="ko-KR" altLang="ko-KR" dirty="0"/>
              <a:t> 견고하게, </a:t>
            </a:r>
            <a:r>
              <a:rPr lang="ko-KR" altLang="ko-KR" dirty="0" err="1"/>
              <a:t>AutoBe가</a:t>
            </a:r>
            <a:r>
              <a:rPr lang="ko-KR" altLang="ko-KR" dirty="0"/>
              <a:t> 시스템 일관성을 보장합니다.
확률적 모델을 감싸는 결정론적 루프 — 이것이 </a:t>
            </a:r>
            <a:r>
              <a:rPr lang="ko-KR" altLang="ko-KR" dirty="0" err="1"/>
              <a:t>하네스입니다</a:t>
            </a:r>
            <a:r>
              <a:rPr lang="ko-KR" altLang="ko-KR" dirty="0"/>
              <a:t>.</a:t>
            </a:r>
            <a:r>
              <a:rPr lang="ko-KR" dirty="0"/>
              <a:t>
클라이밍 하네스는 당신을 강하게 만들지 않습니다. 당신의 힘을 안전하게 만듭니다.
테스트 하네스는 코드를 올바르게 만들지 않습니다. 버그를 보이게 만듭니다.
Function calling 하네스는 LLM을 똑똑하게 만들지 않습니다. LLM의 실수를 교정 가능하게 만듭니다.
</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altLang="en-US" dirty="0"/>
              <a:t>타입이 곧 스키마이고</a:t>
            </a:r>
            <a:r>
              <a:rPr lang="en-US" altLang="ko-KR" dirty="0"/>
              <a:t>, </a:t>
            </a:r>
            <a:r>
              <a:rPr lang="ko-KR" altLang="en-US" dirty="0" err="1"/>
              <a:t>검증기이며</a:t>
            </a:r>
            <a:r>
              <a:rPr lang="en-US" altLang="ko-KR" dirty="0"/>
              <a:t>, </a:t>
            </a:r>
            <a:r>
              <a:rPr lang="ko-KR" altLang="en-US" dirty="0"/>
              <a:t>프롬프트이다</a:t>
            </a:r>
            <a:r>
              <a:rPr lang="en-US" altLang="ko-KR" dirty="0"/>
              <a:t>.</a:t>
            </a:r>
          </a:p>
          <a:p>
            <a:r>
              <a:rPr lang="ko-KR" dirty="0"/>
              <a:t>
</a:t>
            </a:r>
            <a:r>
              <a:rPr lang="ko-KR" dirty="0" err="1"/>
              <a:t>하네스는</a:t>
            </a:r>
            <a:r>
              <a:rPr lang="ko-KR" dirty="0"/>
              <a:t> 그 주변의 모든 것이다.
</a:t>
            </a:r>
            <a:r>
              <a:rPr lang="ko-KR" altLang="en-US" dirty="0"/>
              <a:t>이것이 </a:t>
            </a:r>
            <a:r>
              <a:rPr lang="en-US" altLang="ko-KR" dirty="0"/>
              <a:t>typia</a:t>
            </a:r>
            <a:r>
              <a:rPr lang="ko-KR" altLang="en-US" dirty="0"/>
              <a:t>의 철학입니다</a:t>
            </a:r>
            <a:r>
              <a:rPr lang="en-US" altLang="ko-KR" dirty="0"/>
              <a:t>.</a:t>
            </a:r>
            <a:endParaRPr lang="ko-K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altLang="en-US" dirty="0"/>
              <a:t>지금까지 우리는 </a:t>
            </a:r>
            <a:r>
              <a:rPr lang="en-US" altLang="ko-KR" dirty="0" err="1"/>
              <a:t>AutoBe</a:t>
            </a:r>
            <a:r>
              <a:rPr lang="ko-KR" altLang="en-US" dirty="0"/>
              <a:t>가 어떻게 </a:t>
            </a:r>
            <a:r>
              <a:rPr lang="en-US" altLang="ko-KR" dirty="0"/>
              <a:t>function calling harness</a:t>
            </a:r>
            <a:r>
              <a:rPr lang="ko-KR" altLang="en-US" dirty="0"/>
              <a:t>로 백엔드 코딩을 자동화했는지 보았고</a:t>
            </a:r>
            <a:endParaRPr lang="en-US" altLang="ko-KR" dirty="0"/>
          </a:p>
          <a:p>
            <a:endParaRPr lang="en-US" altLang="ko-KR" dirty="0"/>
          </a:p>
          <a:p>
            <a:r>
              <a:rPr lang="en-US" altLang="ko-KR" dirty="0"/>
              <a:t>Typia</a:t>
            </a:r>
            <a:r>
              <a:rPr lang="ko-KR" altLang="en-US" dirty="0"/>
              <a:t>가 어떻게 </a:t>
            </a:r>
            <a:r>
              <a:rPr lang="en-US" altLang="ko-KR" dirty="0"/>
              <a:t>function calling harness</a:t>
            </a:r>
            <a:r>
              <a:rPr lang="ko-KR" altLang="en-US" dirty="0"/>
              <a:t>를 뒷받침하는지 배웠습니다</a:t>
            </a:r>
            <a:endParaRPr lang="en-US" altLang="ko-KR" dirty="0"/>
          </a:p>
          <a:p>
            <a:endParaRPr lang="en-US" altLang="ko-KR" dirty="0"/>
          </a:p>
          <a:p>
            <a:r>
              <a:rPr lang="ko-KR" altLang="en-US" dirty="0"/>
              <a:t>이번 단원에서는 바로 그 </a:t>
            </a:r>
            <a:r>
              <a:rPr lang="en-US" altLang="ko-KR" dirty="0"/>
              <a:t>function calling</a:t>
            </a:r>
            <a:r>
              <a:rPr lang="ko-KR" altLang="en-US" dirty="0"/>
              <a:t>의 특장점과</a:t>
            </a:r>
            <a:r>
              <a:rPr lang="en-US" altLang="ko-KR" dirty="0"/>
              <a:t>, </a:t>
            </a:r>
            <a:r>
              <a:rPr lang="ko-KR" altLang="en-US" dirty="0"/>
              <a:t>산업에의 응용 방안에 대하여 알아보겠습니다</a:t>
            </a:r>
            <a:endParaRPr lang="ko-K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자연어 vs 타입.
자연어는 모호하게 진화했습니다. 은유, 뉘앙스, 유머 — 전부 모호성 위에서 동작합니다.
프로그래밍 언어는 모호성을 제거하기 위해 설계됐습니다.
프롬프트로 제약: "age는 18보다 큰 양의 정수여야 합니다."
"18보다 큰"이 &gt;18인지 ≥18인지? LLM이 따랐는지 직접 확인해야 합니다.
타입으로 제약: ExclusiveMinimum&lt;18&gt;. &gt;18. 정수. 필수. 모호성 없음. 기계적 검증 가능.</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코드로 보면 더 명확합니다.
왼쪽: 프롬프트로 제약을 표현합니다. 자연어 규칙이 길어지고, 준수 여부를 수동 검사해야 합니다.
오른쪽: 타입으로 동일한 제약을 표현합니다. ExclusiveMinimum, Format&lt;"email"&gt;, Type&lt;"uint32"&gt; — 기계적으로 검증 가능하고, 모호성이 없습니다.
정밀성이 필요한 도메인에서, 타입 제약은 자연어 지시가 줄 수 없는 확실성을 제공합니다.</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핑크 엘리펀트 문제.
프롬프트 기반 에이전트를 만들어본 분이면 금지 규칙을 써봤을 겁니다.
"유틸리티 함수 만들지 마." "any 타입 쓰지 마." "순환 참조 만들지 마."
"핑크 코끼리를 생각하지 마세요." 첫 번째로 떠오르는 건 핑크 코끼리입니다.
LLM에게 "X 하지 마"라고 하면, X가 주의의 중심에 놓입니다.
금지된 패턴을 피하려면 먼저 그 패턴을 떠올려야 하고, 역설적으로 생성 확률이 올라갑니다.
스키마에서는 이 문제가 사라집니다.</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"any 타입 쓰지 마" — 스키마에 any가 없으면, LLM이 물리적으로 생성할 수 없습니다.
"유틸리티 함수 만들지 마" — 유틸리티 함수 슬롯이 없으면, 끝입니다.
필드 타입이 "boolean" | "int" | "double" | "string" | "uri" | "uuid" | "datetime" — 7개 선택지로 제한되면, "varchar"를 쓸 경로가 없습니다.
금지가 아니라 부재. 프롬프트는 원하지 않는 것을 금지합니다. 스키마는 원하는 것만 허용합니다.
이것이 function calling의 가장 깊은 장점입니다.</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코드로 비교합니다.
왼쪽: 프롬프트 금지 규칙. 길고, 모호하고, 모델의 주의를 오히려 금지 대상에 집중시킵니다.
오른쪽: 스키마 제약. 허용된 타입 7개만 존재. 없는 것은 생성 불가.
모델의 성향과 싸우는 대신, 원하지 않는 출력을 구조적으로 불가능하게 만듭니다.</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모델 중립성.
프롬프트 엔지니어링은 본질적으로 모델 종속입니다. GPT에 최적화한 프롬프트가 Claude에서 다르게 동작하고, Qwen에서 또 다릅니다. 모델 바꿀 때마다 프롬프트 재작성 — 일상입니다.
Function calling 기반 접근은 모델 중립입니다. JSON Schema는 어떤 모델이 읽든 같은 의미입니다.
검증 피드백 루프가 모델 간 성능 차이를 흡수합니다.
강한 모델은 1-2번, 약한 모델은 3-4번 — 둘 다 100%에 도달합니다.</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AutoBe가 Qwen, GLM, DeepSeek, OpenAI — 같은 스키마, 같은 파이프라인으로 전부 100% 컴파일 달성한 것이 이 중립성의 증거입니다. 모델별 프롬프트 튜닝은 단 한 번도 하지 않았습니다.
모델 선택의 성격이 바뀝니다.
"이 모델이 이 태스크를 할 수 있나?" — 능력 질문에서
"어느 모델이 가장 비용 효율적인가?" — 비용 최적화 문제로.
평균 재시도 횟수 × 시도당 토큰 × 토큰당 비용.</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이건 실제 결과 비교표입니다.
Qwen, DeepSeek, OpenAI — 모델이 달라도, 동일한 파이프라인에서 전부 100%.
모델별 프롬프트 튜닝 제로. 스키마와 피드백 루프가 차이를 흡수합니다.</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핵심: 검증 가능성.
하나의 실이 모든 것을 관통합니다.
Function calling의 근본적 장점은 LLM 출력을 소프트웨어 엔지니어링의 영역으로 가져온다는 것입니다.
자유 형식 텍스트 출력은 정확성을 AI 문제로 만듭니다. 파싱도 퍼지, 검증도 퍼지, 교정도 퍼지.
구조화된 출력은 정확성을 엔지니어링 문제로 만듭니다.
검증은 결정론적 — JSON Schema 검증은 명확한 pass/fail.
피드백은 정밀 — "필드 X는 타입 Y여야 하는데 Z를 줬다."
교정은 수렴 — 정밀한 피드백이 모델을 그 부분만 고치게 합니다.</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모델은 여전히 확률적입니다. 여전히 실수합니다.
하지만 모델을 감싸는 구조가 결정론적이기 때문에, 프로세스는 100%로 수렴합니다.
타입 스키마 + 결정론적 검증기 + 구조화된 피드백 = 하네스.
프롬프트 엔지니어링은 확률적 부분을 신뢰할 수 있게 만들려 합니다.
Function calling은 결정론적 부분을 완벽하게 만듭니다.
정밀성이 필요한 도메인에서, 후자가 이깁니다. 6.75%가 100%가 됩니다.</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검증 비용의 자연스러운 위계입니다.
소프트웨어: 타입 체크(ms) → 컴파일(sec) → 테스트 실행(min+).
가장 싼 검증기를 먼저 돌리고, 에러를 고치고, 다음 단계로.
AutoBe의 4단계 파이프라인이 정확히 이 구조입니다.
이건 코드 생성에만 적용되는 게 아닙니다.
"맞다/틀리다"를 기계적으로 판별할 수 있는 모든 도메인에 같은 구조가 가능합니다.</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이 패턴은 보편적입니다.
반도체: DRC(ms) → LVS(sec) → SPICE 시뮬레이션(min+). 전부 결정론적.
화학 공정: 질량 보존 → 에너지 밸런스 → 프로세스 시뮬레이션. 물리 법칙이 검증기.
건축/BIM: 치수 충돌 → 건축 법규 → 조명/HVAC 시뮬레이션.
제어 시스템: 전달 함수 유효성 → 안정성 분석 → 시간 영역 시뮬레이션.
40년 넘은 검증 도구가 있는 모든 공학 분야에서 같은 구조가 가능합니다.
구체적인 타입을 보겠습니다.</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반도체 칩 레이아웃.
IChipLayout — technology_node는 "5nm" | "7nm" | "14nm" | "28nm". IBlock의 type은 "logic" | "memory" | "io" | "analog" | "pll".
sub_blocks가 재귀. AutoBe의 IJsonSchema와 같은 유니온 + 트리 구조입니다.
DRC는 빠르고, LVS는 중간, SPICE는 깊은 검증. 전부 결정론적.
같은 패턴, 다른 도메인.</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화학 공정.
IProcessStream — temperature, pressure, composition, phase, flow_rate.
IUnitOperation — type이 "reactor" | "distillation" | "heat_exchanger" | "compressor" 등.
질량 보존: 입구 합 = 출구 합. 에너지 밸런스. 열역학 일관성.
물리 법칙이 검증기입니다. ASPEN, HYSYS가 40년 넘게 결정론적 검증을 제공해왔습니다.</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건축/BIM — IFC 요소 계층.
IRoom, IOpening, IFixture. 문 너비 900mm 이상 (접근성), 최소 통로 폭 800mm, 소방 구획.
Revit 같은 BIM 도구가 수십 년간 충돌 감지를 제공해왔습니다.
여기서도 type 필드에 열거형 variant — "bedroom" | "living" | "kitchen"...
재귀 트리 구조. AutoBe와 같은 패턴.</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제어 시스템.
IControlLoop — "PID" | "MPC" | "LQR" | "feedforward" | "cascade".
ITransferFunction — 다항식 계수, 지연.
보드 플롯, 나이퀴스트 플롯, 극점 배치: 60년 넘는 분석 도구 역사.
전달 함수 유효성(빠름) → 안정성 마진 분석(중간) → 시간 영역 시뮬레이션(깊음).
모든 타입에 type 필드와 열거형 variant가 있습니다. 재귀 중첩됩니다.
이건 우연이 아닙니다 — 공학 데이터의 본성입니다.
하지만 한계도 명확합니다. 결정론적 검증기가 없는 도메인 — 창작, 감성, 전략 — 에는 적용 불가능합니다.
이건 만능 솔루션이 아닙니다. 정확성이 필수이고 기계적으로 검증 가능한 도메인을 위한 솔루션입니다.</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챕터 5. Qwen 시리즈.
오늘 이 자리가 Qwen 밋업인 이유를 이야기합니다.
소형 모델과 QA 엔지니어링 — 왜 작은 모델이 AutoBe에게 가장 중요한 테스트 도구였는지.</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AutoBe의 전체 파이프라인은 function calling입니다.
모델이 좋은 산문을 쓰는지, 자연스럽게 대화하는지는 관계없습니다.
유일한 기준은 복잡한 JSON Schema를 얼마나 정확하게 채우는지.
Qwen만 function calling을 잘하는 건 아닙니다. GLM, Kimi도 대형 모델에서는 강합니다.
하지만 소형/중형 스케일에서 이 복잡도의 function calling을 처리할 수 있는 건 Qwen뿐이었습니다.
3B active 파라미터의 MoE 모델이 tool choice를 지원하고 10개 이상 재귀 유니온 variant를 처리합니다.</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R&amp;D 비용 — 사용자 vs 개발자.
AutoBe를 사용하는 고객에게 모델 비용은 이슈가 아닙니다. 가장 비싼 모델도 백엔드 개발자 한 명 인건비보다 쌉니다.
문제는 우리처럼 AutoBe를 개발하는 쪽입니다.
새 타입 설계나 검증 규칙을 추가할 때마다 전체 파이프라인을 처음부터 끝까지 돌려야 합니다.
수천 번의 생성-컴파일-피드백 사이클. 상용 모델로 이 규모를 하면 파산합니다.
로컬 모델이 R&amp;D 사이클을 가능하게 합니다.
6.75%에서 100%까지 가는 여정에는 수백 번의 실험 사이클이 필요했고, 로컬 모델이 아니면 불가능했습니다.</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소형 모델이 최고의 QA 엔지니어인 이유.
대형 모델은 실수를 덜 합니다. 장점이자 동시에 맹점입니다.
우리 시스템에 취약점이 있어도, 대형 모델은 그 실패를 잘 트리거하지 않습니다.
스키마의 모호한 부분을 "올바르게 추측"해서 통과합니다. 우리의 실수는 숨겨집니다.
소형 모델로 바꾸면 이야기가 달라집니다.
qwen3-30b-a3b-thinking — 3B active, 성공률 약 10%. 모든 실패가 시스템 취약점을 가리켰고, 각 수정이 모든 모델에 대한 파이프라인을 강화했습니다.
AI는 확률적입니다. 대형 모델도 "덜 자주" 실수하지, "절대 안" 하는 게 아닙니다.
프로덕션에서 "드물게"는 장애를 의미합니다.
35B 모델도 취약점을 찾지 못할 만큼 시스템이 견고해지면, 어떤 모델이든 실패 확률은 0에 수렴합니다.</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벤더 종속 없음.
상용 API의 가격 변경, 모델 중단, 요청 제한은 벤더 재량입니다.
오늘 쓰는 모델이 내일 사라질 수 있습니다.
AutoBe의 function calling 스키마는 모델 중립입니다.
모델별 프롬프트 트릭 없음. JSON Schema와 타입 기반 검증은 업계 표준 — 모델이 바뀌어도 시스템은 그대로입니다.</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오픈소스 + 오픈웨이트: 선순환.
AutoBe는 오픈소스(AGPL 3.0). Qwen은 오픈웨이트. 둘 다 오픈 생태계의 일부입니다.
이 조합이 수천 번의 실험, 엣지 케이스 발견, 시스템 강화를 가능하게 했습니다.
상용 모델로는 재정적으로 불가능한 규모입니다.
선순환: AutoBe가 Qwen으로 시스템을 강화하고, 강화된 시스템이 Qwen의 프로덕션 수준 가능성을 증명하고,
Qwen의 개선이 AutoBe의 전체 성능을 올리고, AutoBe의 발견(예: double-stringify 문제)이 Qwen 개선에 기여할 수 있습니다.</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altLang="en-US" dirty="0"/>
              <a:t>자</a:t>
            </a:r>
            <a:r>
              <a:rPr lang="en-US" altLang="ko-KR" dirty="0"/>
              <a:t>,</a:t>
            </a:r>
            <a:r>
              <a:rPr lang="ko-KR" altLang="en-US" dirty="0"/>
              <a:t> 그럼 정리하겠습니다</a:t>
            </a:r>
            <a:r>
              <a:rPr lang="en-US" altLang="ko-KR" dirty="0"/>
              <a:t>.</a:t>
            </a:r>
            <a:endParaRPr lang="ko-KR"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JSON이 깨지니까 lenient parsing을 만들었습니다.
타입이 틀리니까 type coercion을 만들었습니다.
값이 틀리니까 validation feedback을 만들었습니다.
시스템에 일관성이 없으니까 컴파일러 파이프라인을 만들었습니다.
AutoBe는 4개 Qwen 모델 전부에서 100% 컴파일을 달성했습니다.
더 나은 프롬프트가 아니라, 잘못될 수 있는 모든 방식에 대한 축적된 엔지니어링으로.</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여정을 정리합니다.
세 가지: 출력을 제약하는 타입 스키마, 결과를 검증하는 컴파일러, 에러를 교정하는 구조화된 피드백.
이 셋이 확률적 모델을 감싸는 결정론적 루프를 이룹니다.
이 패턴은 코드 생성에 한정되지 않습니다.
결정론적 검증기가 존재하는 모든 공학 도메인에 같은 구조를 만들 수 있습니다.</a:t>
            </a:r>
            <a:br>
              <a:rPr lang="en-US" altLang="ko-KR" dirty="0"/>
            </a:br>
            <a:endParaRPr lang="en-US" altLang="ko-KR"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세 가지 원칙.
</a:t>
            </a:r>
            <a:r>
              <a:rPr lang="ko-KR" altLang="en-US" dirty="0"/>
              <a:t>－　타입으로</a:t>
            </a:r>
            <a:r>
              <a:rPr lang="ko-KR" dirty="0"/>
              <a:t> 소통하면 오해가 없</a:t>
            </a:r>
            <a:r>
              <a:rPr lang="ko-KR" altLang="en-US" dirty="0"/>
              <a:t>다</a:t>
            </a:r>
            <a:endParaRPr lang="en-US" altLang="ko-KR" dirty="0"/>
          </a:p>
          <a:p>
            <a:r>
              <a:rPr lang="ko-KR" altLang="en-US" dirty="0"/>
              <a:t>－　스키마로 제약하면 핑크 코끼리 문제가 없다</a:t>
            </a:r>
            <a:endParaRPr lang="en-US" altLang="ko-KR" dirty="0"/>
          </a:p>
          <a:p>
            <a:r>
              <a:rPr lang="ko-KR" altLang="en-US" dirty="0"/>
              <a:t>－　피드백 루프가 있으면 </a:t>
            </a:r>
            <a:r>
              <a:rPr lang="ko-KR" altLang="en-US" dirty="0" err="1"/>
              <a:t>정확해진다</a:t>
            </a:r>
            <a:r>
              <a:rPr lang="en-US" altLang="ko-KR" dirty="0"/>
              <a:t>,</a:t>
            </a:r>
            <a:r>
              <a:rPr lang="ko-KR" altLang="en-US" dirty="0"/>
              <a:t> </a:t>
            </a:r>
            <a:r>
              <a:rPr lang="en-US" altLang="ko-KR" dirty="0"/>
              <a:t>6.75%</a:t>
            </a:r>
            <a:r>
              <a:rPr lang="ko-KR" altLang="en-US" dirty="0"/>
              <a:t>도 결국 </a:t>
            </a:r>
            <a:r>
              <a:rPr lang="en-US" altLang="ko-KR" dirty="0"/>
              <a:t>100%</a:t>
            </a:r>
            <a:r>
              <a:rPr lang="ko-KR" altLang="en-US" dirty="0"/>
              <a:t>로 수렴한다</a:t>
            </a:r>
            <a:endParaRPr lang="en-US" altLang="ko-KR"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dirty="0"/>
              <a:t>[잠시 멈춤, 핵심 메시지]
6.75%는 실패가 아닙니다.
루프의 첫 번째 입력입니다.
검증할 수 있으면, 수렴합니다.
If you can verify, you converge.</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ko-KR" altLang="en-US" dirty="0"/>
              <a:t>감사합니다</a:t>
            </a:r>
            <a:r>
              <a:rPr lang="en-US" altLang="ko-KR" dirty="0"/>
              <a:t>, </a:t>
            </a:r>
            <a:r>
              <a:rPr lang="ko-KR" altLang="en-US" dirty="0"/>
              <a:t>이제 질문 받겠습니다</a:t>
            </a:r>
            <a:r>
              <a:rPr lang="en-US" altLang="ko-KR" dirty="0"/>
              <a:t>.</a:t>
            </a:r>
          </a:p>
          <a:p>
            <a:endParaRPr lang="en-US" altLang="ko-KR" dirty="0"/>
          </a:p>
          <a:p>
            <a:r>
              <a:rPr lang="ko-KR" altLang="en-US" dirty="0"/>
              <a:t>그럼 이번 발표 </a:t>
            </a:r>
            <a:r>
              <a:rPr lang="en-US" altLang="ko-KR" dirty="0"/>
              <a:t>function calling harness, </a:t>
            </a:r>
            <a:r>
              <a:rPr lang="ko-KR" altLang="en-US" dirty="0"/>
              <a:t>여기까지 하겠습니다</a:t>
            </a:r>
            <a:r>
              <a:rPr lang="en-US" altLang="ko-KR" dirty="0"/>
              <a:t>, </a:t>
            </a:r>
            <a:r>
              <a:rPr lang="ko-KR" altLang="en-US" dirty="0"/>
              <a:t>감사합니다</a:t>
            </a:r>
            <a:r>
              <a:rPr lang="en-US" altLang="ko-KR" dirty="0"/>
              <a:t>.</a:t>
            </a:r>
            <a:endParaRPr lang="ko-K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ko-KR" altLang="en-US"/>
              <a:t>마스터 제목 스타일 편집</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82B2B681-DACA-4D89-9D8A-94ED0431FFA9}" type="datetimeFigureOut">
              <a:rPr lang="en-US" smtClean="0"/>
              <a:t>3/26/2026</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F864E9F2-A8EE-4CDC-ABC8-B4149FF8DC8F}" type="slidenum">
              <a:rPr lang="en-US" smtClean="0"/>
              <a:t>‹#›</a:t>
            </a:fld>
            <a:endParaRPr lang="en-US"/>
          </a:p>
        </p:txBody>
      </p:sp>
      <p:cxnSp>
        <p:nvCxnSpPr>
          <p:cNvPr id="8" name="Straight Connector 7"/>
          <p:cNvCxnSpPr/>
          <p:nvPr/>
        </p:nvCxnSpPr>
        <p:spPr>
          <a:xfrm>
            <a:off x="1978660" y="3733800"/>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0488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82B2B681-DACA-4D89-9D8A-94ED0431FFA9}"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64E9F2-A8EE-4CDC-ABC8-B4149FF8DC8F}" type="slidenum">
              <a:rPr lang="en-US" smtClean="0"/>
              <a:t>‹#›</a:t>
            </a:fld>
            <a:endParaRPr lang="en-US"/>
          </a:p>
        </p:txBody>
      </p:sp>
    </p:spTree>
    <p:extLst>
      <p:ext uri="{BB962C8B-B14F-4D97-AF65-F5344CB8AC3E}">
        <p14:creationId xmlns:p14="http://schemas.microsoft.com/office/powerpoint/2010/main" val="2535835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ko-KR" altLang="en-US"/>
              <a:t>마스터 제목 스타일 편집</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82B2B681-DACA-4D89-9D8A-94ED0431FFA9}"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64E9F2-A8EE-4CDC-ABC8-B4149FF8DC8F}" type="slidenum">
              <a:rPr lang="en-US" smtClean="0"/>
              <a:t>‹#›</a:t>
            </a:fld>
            <a:endParaRPr lang="en-US"/>
          </a:p>
        </p:txBody>
      </p:sp>
      <p:cxnSp>
        <p:nvCxnSpPr>
          <p:cNvPr id="7" name="Straight Connector 6"/>
          <p:cNvCxnSpPr/>
          <p:nvPr/>
        </p:nvCxnSpPr>
        <p:spPr>
          <a:xfrm>
            <a:off x="1981200" y="4020408"/>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2624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82B2B681-DACA-4D89-9D8A-94ED0431FFA9}" type="datetimeFigureOut">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64E9F2-A8EE-4CDC-ABC8-B4149FF8DC8F}" type="slidenum">
              <a:rPr lang="en-US" smtClean="0"/>
              <a:t>‹#›</a:t>
            </a:fld>
            <a:endParaRPr lang="en-US"/>
          </a:p>
        </p:txBody>
      </p:sp>
    </p:spTree>
    <p:extLst>
      <p:ext uri="{BB962C8B-B14F-4D97-AF65-F5344CB8AC3E}">
        <p14:creationId xmlns:p14="http://schemas.microsoft.com/office/powerpoint/2010/main" val="1155169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82B2B681-DACA-4D89-9D8A-94ED0431FFA9}" type="datetimeFigureOut">
              <a:rPr lang="en-US" smtClean="0"/>
              <a:t>3/26/2026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864E9F2-A8EE-4CDC-ABC8-B4149FF8DC8F}" type="slidenum">
              <a:rPr lang="en-US" smtClean="0"/>
              <a:t>‹#›</a:t>
            </a:fld>
            <a:endParaRPr lang="en-US"/>
          </a:p>
        </p:txBody>
      </p:sp>
    </p:spTree>
    <p:extLst>
      <p:ext uri="{BB962C8B-B14F-4D97-AF65-F5344CB8AC3E}">
        <p14:creationId xmlns:p14="http://schemas.microsoft.com/office/powerpoint/2010/main" val="3477538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82B2B681-DACA-4D89-9D8A-94ED0431FFA9}" type="datetimeFigureOut">
              <a:rPr lang="en-US" smtClean="0"/>
              <a:t>3/26/2026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864E9F2-A8EE-4CDC-ABC8-B4149FF8DC8F}" type="slidenum">
              <a:rPr lang="en-US" smtClean="0"/>
              <a:t>‹#›</a:t>
            </a:fld>
            <a:endParaRPr lang="en-US"/>
          </a:p>
        </p:txBody>
      </p:sp>
    </p:spTree>
    <p:extLst>
      <p:ext uri="{BB962C8B-B14F-4D97-AF65-F5344CB8AC3E}">
        <p14:creationId xmlns:p14="http://schemas.microsoft.com/office/powerpoint/2010/main" val="1751456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B2B681-DACA-4D89-9D8A-94ED0431FFA9}" type="datetimeFigureOut">
              <a:rPr lang="en-US" smtClean="0"/>
              <a:t>3/26/2026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864E9F2-A8EE-4CDC-ABC8-B4149FF8DC8F}" type="slidenum">
              <a:rPr lang="en-US" smtClean="0"/>
              <a:t>‹#›</a:t>
            </a:fld>
            <a:endParaRPr lang="en-US"/>
          </a:p>
        </p:txBody>
      </p:sp>
    </p:spTree>
    <p:extLst>
      <p:ext uri="{BB962C8B-B14F-4D97-AF65-F5344CB8AC3E}">
        <p14:creationId xmlns:p14="http://schemas.microsoft.com/office/powerpoint/2010/main" val="2807793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ko-KR" altLang="en-US"/>
              <a:t>마스터 제목 스타일 편집</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82B2B681-DACA-4D89-9D8A-94ED0431FFA9}" type="datetimeFigureOut">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64E9F2-A8EE-4CDC-ABC8-B4149FF8DC8F}" type="slidenum">
              <a:rPr lang="en-US" smtClean="0"/>
              <a:t>‹#›</a:t>
            </a:fld>
            <a:endParaRPr lang="en-US"/>
          </a:p>
        </p:txBody>
      </p:sp>
    </p:spTree>
    <p:extLst>
      <p:ext uri="{BB962C8B-B14F-4D97-AF65-F5344CB8AC3E}">
        <p14:creationId xmlns:p14="http://schemas.microsoft.com/office/powerpoint/2010/main" val="849673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82B2B681-DACA-4D89-9D8A-94ED0431FFA9}" type="datetimeFigureOut">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64E9F2-A8EE-4CDC-ABC8-B4149FF8DC8F}" type="slidenum">
              <a:rPr lang="en-US" smtClean="0"/>
              <a:t>‹#›</a:t>
            </a:fld>
            <a:endParaRPr lang="en-US"/>
          </a:p>
        </p:txBody>
      </p:sp>
    </p:spTree>
    <p:extLst>
      <p:ext uri="{BB962C8B-B14F-4D97-AF65-F5344CB8AC3E}">
        <p14:creationId xmlns:p14="http://schemas.microsoft.com/office/powerpoint/2010/main" val="406813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82B2B681-DACA-4D89-9D8A-94ED0431FFA9}"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64E9F2-A8EE-4CDC-ABC8-B4149FF8DC8F}" type="slidenum">
              <a:rPr lang="en-US" smtClean="0"/>
              <a:t>‹#›</a:t>
            </a:fld>
            <a:endParaRPr lang="en-US"/>
          </a:p>
        </p:txBody>
      </p:sp>
    </p:spTree>
    <p:extLst>
      <p:ext uri="{BB962C8B-B14F-4D97-AF65-F5344CB8AC3E}">
        <p14:creationId xmlns:p14="http://schemas.microsoft.com/office/powerpoint/2010/main" val="1421163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82B2B681-DACA-4D89-9D8A-94ED0431FFA9}"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64E9F2-A8EE-4CDC-ABC8-B4149FF8DC8F}" type="slidenum">
              <a:rPr lang="en-US" smtClean="0"/>
              <a:t>‹#›</a:t>
            </a:fld>
            <a:endParaRPr lang="en-US"/>
          </a:p>
        </p:txBody>
      </p:sp>
    </p:spTree>
    <p:extLst>
      <p:ext uri="{BB962C8B-B14F-4D97-AF65-F5344CB8AC3E}">
        <p14:creationId xmlns:p14="http://schemas.microsoft.com/office/powerpoint/2010/main" val="645369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bg>
      <p:bgRef idx="1001">
        <a:schemeClr val="bg1"/>
      </p:bgRef>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ko-KR" altLang="en-US"/>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ko-KR" altLang="en-US"/>
              <a:t>마스터 제목 스타일 편집</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ADAB3498-A523-4A42-BB38-782B1991896F}" type="datetimeFigureOut">
              <a:rPr lang="ko-KR" altLang="en-US" smtClean="0"/>
              <a:t>2026-03-26</a:t>
            </a:fld>
            <a:endParaRPr lang="ko-KR" alt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ko-KR" alt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2F79BD98-6794-46E2-8E86-251C3D6F4DAE}" type="slidenum">
              <a:rPr lang="ko-KR" altLang="en-US" smtClean="0"/>
              <a:t>‹#›</a:t>
            </a:fld>
            <a:endParaRPr lang="ko-KR" altLang="en-US"/>
          </a:p>
        </p:txBody>
      </p:sp>
      <p:cxnSp>
        <p:nvCxnSpPr>
          <p:cNvPr id="8" name="Straight Connector 7"/>
          <p:cNvCxnSpPr/>
          <p:nvPr/>
        </p:nvCxnSpPr>
        <p:spPr>
          <a:xfrm>
            <a:off x="1978660" y="3733800"/>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12370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ADAB3498-A523-4A42-BB38-782B1991896F}" type="datetimeFigureOut">
              <a:rPr lang="ko-KR" altLang="en-US" smtClean="0"/>
              <a:t>2026-03-26</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2F79BD98-6794-46E2-8E86-251C3D6F4DAE}" type="slidenum">
              <a:rPr lang="ko-KR" altLang="en-US" smtClean="0"/>
              <a:t>‹#›</a:t>
            </a:fld>
            <a:endParaRPr lang="ko-KR" altLang="en-US"/>
          </a:p>
        </p:txBody>
      </p:sp>
    </p:spTree>
    <p:extLst>
      <p:ext uri="{BB962C8B-B14F-4D97-AF65-F5344CB8AC3E}">
        <p14:creationId xmlns:p14="http://schemas.microsoft.com/office/powerpoint/2010/main" val="6222243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ko-KR" altLang="en-US"/>
              <a:t>마스터 제목 스타일 편집</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ADAB3498-A523-4A42-BB38-782B1991896F}" type="datetimeFigureOut">
              <a:rPr lang="ko-KR" altLang="en-US" smtClean="0"/>
              <a:t>2026-03-26</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2F79BD98-6794-46E2-8E86-251C3D6F4DAE}" type="slidenum">
              <a:rPr lang="ko-KR" altLang="en-US" smtClean="0"/>
              <a:t>‹#›</a:t>
            </a:fld>
            <a:endParaRPr lang="ko-KR" altLang="en-US"/>
          </a:p>
        </p:txBody>
      </p:sp>
      <p:cxnSp>
        <p:nvCxnSpPr>
          <p:cNvPr id="7" name="Straight Connector 6"/>
          <p:cNvCxnSpPr/>
          <p:nvPr/>
        </p:nvCxnSpPr>
        <p:spPr>
          <a:xfrm>
            <a:off x="1981200" y="4020408"/>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28834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ADAB3498-A523-4A42-BB38-782B1991896F}" type="datetimeFigureOut">
              <a:rPr lang="ko-KR" altLang="en-US" smtClean="0"/>
              <a:t>2026-03-26</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2F79BD98-6794-46E2-8E86-251C3D6F4DAE}" type="slidenum">
              <a:rPr lang="ko-KR" altLang="en-US" smtClean="0"/>
              <a:t>‹#›</a:t>
            </a:fld>
            <a:endParaRPr lang="ko-KR" altLang="en-US"/>
          </a:p>
        </p:txBody>
      </p:sp>
    </p:spTree>
    <p:extLst>
      <p:ext uri="{BB962C8B-B14F-4D97-AF65-F5344CB8AC3E}">
        <p14:creationId xmlns:p14="http://schemas.microsoft.com/office/powerpoint/2010/main" val="21700261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bg>
      <p:bgRef idx="1001">
        <a:schemeClr val="bg1"/>
      </p:bgRef>
    </p:bg>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ADAB3498-A523-4A42-BB38-782B1991896F}" type="datetimeFigureOut">
              <a:rPr lang="ko-KR" altLang="en-US" smtClean="0"/>
              <a:t>2026-03-26</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2F79BD98-6794-46E2-8E86-251C3D6F4DAE}" type="slidenum">
              <a:rPr lang="ko-KR" altLang="en-US" smtClean="0"/>
              <a:t>‹#›</a:t>
            </a:fld>
            <a:endParaRPr lang="ko-KR" altLang="en-US"/>
          </a:p>
        </p:txBody>
      </p:sp>
    </p:spTree>
    <p:extLst>
      <p:ext uri="{BB962C8B-B14F-4D97-AF65-F5344CB8AC3E}">
        <p14:creationId xmlns:p14="http://schemas.microsoft.com/office/powerpoint/2010/main" val="12138636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ADAB3498-A523-4A42-BB38-782B1991896F}" type="datetimeFigureOut">
              <a:rPr lang="ko-KR" altLang="en-US" smtClean="0"/>
              <a:t>2026-03-26</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2F79BD98-6794-46E2-8E86-251C3D6F4DAE}" type="slidenum">
              <a:rPr lang="ko-KR" altLang="en-US" smtClean="0"/>
              <a:t>‹#›</a:t>
            </a:fld>
            <a:endParaRPr lang="ko-KR" altLang="en-US"/>
          </a:p>
        </p:txBody>
      </p:sp>
    </p:spTree>
    <p:extLst>
      <p:ext uri="{BB962C8B-B14F-4D97-AF65-F5344CB8AC3E}">
        <p14:creationId xmlns:p14="http://schemas.microsoft.com/office/powerpoint/2010/main" val="15719112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bg>
      <p:bgRef idx="1001">
        <a:schemeClr val="bg1"/>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AB3498-A523-4A42-BB38-782B1991896F}" type="datetimeFigureOut">
              <a:rPr lang="ko-KR" altLang="en-US" smtClean="0"/>
              <a:t>2026-03-26</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2F79BD98-6794-46E2-8E86-251C3D6F4DAE}" type="slidenum">
              <a:rPr lang="ko-KR" altLang="en-US" smtClean="0"/>
              <a:t>‹#›</a:t>
            </a:fld>
            <a:endParaRPr lang="ko-KR" altLang="en-US"/>
          </a:p>
        </p:txBody>
      </p:sp>
    </p:spTree>
    <p:extLst>
      <p:ext uri="{BB962C8B-B14F-4D97-AF65-F5344CB8AC3E}">
        <p14:creationId xmlns:p14="http://schemas.microsoft.com/office/powerpoint/2010/main" val="28545481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ko-KR" altLang="en-US"/>
              <a:t>마스터 제목 스타일 편집</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ADAB3498-A523-4A42-BB38-782B1991896F}" type="datetimeFigureOut">
              <a:rPr lang="ko-KR" altLang="en-US" smtClean="0"/>
              <a:t>2026-03-26</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2F79BD98-6794-46E2-8E86-251C3D6F4DAE}" type="slidenum">
              <a:rPr lang="ko-KR" altLang="en-US" smtClean="0"/>
              <a:t>‹#›</a:t>
            </a:fld>
            <a:endParaRPr lang="ko-KR" altLang="en-US"/>
          </a:p>
        </p:txBody>
      </p:sp>
    </p:spTree>
    <p:extLst>
      <p:ext uri="{BB962C8B-B14F-4D97-AF65-F5344CB8AC3E}">
        <p14:creationId xmlns:p14="http://schemas.microsoft.com/office/powerpoint/2010/main" val="24891077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ADAB3498-A523-4A42-BB38-782B1991896F}" type="datetimeFigureOut">
              <a:rPr lang="ko-KR" altLang="en-US" smtClean="0"/>
              <a:t>2026-03-26</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2F79BD98-6794-46E2-8E86-251C3D6F4DAE}" type="slidenum">
              <a:rPr lang="ko-KR" altLang="en-US" smtClean="0"/>
              <a:t>‹#›</a:t>
            </a:fld>
            <a:endParaRPr lang="ko-KR" altLang="en-US"/>
          </a:p>
        </p:txBody>
      </p:sp>
    </p:spTree>
    <p:extLst>
      <p:ext uri="{BB962C8B-B14F-4D97-AF65-F5344CB8AC3E}">
        <p14:creationId xmlns:p14="http://schemas.microsoft.com/office/powerpoint/2010/main" val="17925656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ADAB3498-A523-4A42-BB38-782B1991896F}" type="datetimeFigureOut">
              <a:rPr lang="ko-KR" altLang="en-US" smtClean="0"/>
              <a:t>2026-03-26</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2F79BD98-6794-46E2-8E86-251C3D6F4DAE}" type="slidenum">
              <a:rPr lang="ko-KR" altLang="en-US" smtClean="0"/>
              <a:t>‹#›</a:t>
            </a:fld>
            <a:endParaRPr lang="ko-KR" altLang="en-US"/>
          </a:p>
        </p:txBody>
      </p:sp>
    </p:spTree>
    <p:extLst>
      <p:ext uri="{BB962C8B-B14F-4D97-AF65-F5344CB8AC3E}">
        <p14:creationId xmlns:p14="http://schemas.microsoft.com/office/powerpoint/2010/main" val="27875200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ADAB3498-A523-4A42-BB38-782B1991896F}" type="datetimeFigureOut">
              <a:rPr lang="ko-KR" altLang="en-US" smtClean="0"/>
              <a:t>2026-03-26</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2F79BD98-6794-46E2-8E86-251C3D6F4DAE}" type="slidenum">
              <a:rPr lang="ko-KR" altLang="en-US" smtClean="0"/>
              <a:t>‹#›</a:t>
            </a:fld>
            <a:endParaRPr lang="ko-KR" altLang="en-US"/>
          </a:p>
        </p:txBody>
      </p:sp>
    </p:spTree>
    <p:extLst>
      <p:ext uri="{BB962C8B-B14F-4D97-AF65-F5344CB8AC3E}">
        <p14:creationId xmlns:p14="http://schemas.microsoft.com/office/powerpoint/2010/main" val="681770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tx1"/>
                </a:solidFill>
              </a:defRPr>
            </a:lvl1pPr>
          </a:lstStyle>
          <a:p>
            <a:fld id="{82B2B681-DACA-4D89-9D8A-94ED0431FFA9}" type="datetimeFigureOut">
              <a:rPr lang="en-US" smtClean="0"/>
              <a:t>3/26/2026</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tx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tx1"/>
                </a:solidFill>
              </a:defRPr>
            </a:lvl1pPr>
          </a:lstStyle>
          <a:p>
            <a:fld id="{F864E9F2-A8EE-4CDC-ABC8-B4149FF8DC8F}" type="slidenum">
              <a:rPr lang="en-US" smtClean="0"/>
              <a:t>‹#›</a:t>
            </a:fld>
            <a:endParaRPr lang="en-US"/>
          </a:p>
        </p:txBody>
      </p:sp>
    </p:spTree>
    <p:extLst>
      <p:ext uri="{BB962C8B-B14F-4D97-AF65-F5344CB8AC3E}">
        <p14:creationId xmlns:p14="http://schemas.microsoft.com/office/powerpoint/2010/main" val="25290906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tx1"/>
        </a:buClr>
        <a:buSzPct val="80000"/>
        <a:buFont typeface="Corbel" pitchFamily="34" charset="0"/>
        <a:buChar char="•"/>
        <a:defRPr sz="2200" kern="1200">
          <a:solidFill>
            <a:schemeClr val="tx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2000" kern="1200">
          <a:solidFill>
            <a:schemeClr val="tx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800" kern="1200">
          <a:solidFill>
            <a:schemeClr val="tx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ko-KR" altLang="en-US"/>
          </a:p>
        </p:txBody>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tx1"/>
                </a:solidFill>
              </a:defRPr>
            </a:lvl1pPr>
          </a:lstStyle>
          <a:p>
            <a:fld id="{ADAB3498-A523-4A42-BB38-782B1991896F}" type="datetimeFigureOut">
              <a:rPr lang="ko-KR" altLang="en-US" smtClean="0"/>
              <a:t>2026-03-26</a:t>
            </a:fld>
            <a:endParaRPr lang="ko-KR" alt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tx1"/>
                </a:solidFill>
              </a:defRPr>
            </a:lvl1pPr>
          </a:lstStyle>
          <a:p>
            <a:endParaRPr lang="ko-KR" alt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tx1"/>
                </a:solidFill>
              </a:defRPr>
            </a:lvl1pPr>
          </a:lstStyle>
          <a:p>
            <a:fld id="{2F79BD98-6794-46E2-8E86-251C3D6F4DAE}" type="slidenum">
              <a:rPr lang="ko-KR" altLang="en-US" smtClean="0"/>
              <a:t>‹#›</a:t>
            </a:fld>
            <a:endParaRPr lang="ko-KR" altLang="en-US"/>
          </a:p>
        </p:txBody>
      </p:sp>
    </p:spTree>
    <p:extLst>
      <p:ext uri="{BB962C8B-B14F-4D97-AF65-F5344CB8AC3E}">
        <p14:creationId xmlns:p14="http://schemas.microsoft.com/office/powerpoint/2010/main" val="69510862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1" hangingPunct="1">
        <a:lnSpc>
          <a:spcPct val="90000"/>
        </a:lnSpc>
        <a:spcBef>
          <a:spcPct val="0"/>
        </a:spcBef>
        <a:buNone/>
        <a:defRPr sz="4400" kern="1200">
          <a:solidFill>
            <a:srgbClr val="F0F0F0"/>
          </a:solidFill>
          <a:latin typeface="+mj-lt"/>
          <a:ea typeface="+mj-ea"/>
          <a:cs typeface="+mj-cs"/>
        </a:defRPr>
      </a:lvl1pPr>
    </p:titleStyle>
    <p:bodyStyle>
      <a:lvl1pPr marL="228600" indent="-182880" algn="l" defTabSz="914400" rtl="0" eaLnBrk="1" latinLnBrk="1" hangingPunct="1">
        <a:lnSpc>
          <a:spcPct val="90000"/>
        </a:lnSpc>
        <a:spcBef>
          <a:spcPts val="1400"/>
        </a:spcBef>
        <a:buClr>
          <a:schemeClr val="tx1"/>
        </a:buClr>
        <a:buSzPct val="80000"/>
        <a:buFont typeface="Corbel" pitchFamily="34" charset="0"/>
        <a:buChar char="•"/>
        <a:defRPr sz="2200" kern="1200">
          <a:solidFill>
            <a:srgbClr val="D0D0D0"/>
          </a:solidFill>
          <a:latin typeface="+mn-lt"/>
          <a:ea typeface="+mn-ea"/>
          <a:cs typeface="+mn-cs"/>
        </a:defRPr>
      </a:lvl1pPr>
      <a:lvl2pPr marL="457200" indent="-182880" algn="l" defTabSz="914400" rtl="0" eaLnBrk="1" latinLnBrk="1" hangingPunct="1">
        <a:lnSpc>
          <a:spcPct val="90000"/>
        </a:lnSpc>
        <a:spcBef>
          <a:spcPts val="200"/>
        </a:spcBef>
        <a:spcAft>
          <a:spcPts val="400"/>
        </a:spcAft>
        <a:buClr>
          <a:schemeClr val="tx1"/>
        </a:buClr>
        <a:buSzPct val="80000"/>
        <a:buFont typeface="Corbel" pitchFamily="34" charset="0"/>
        <a:buChar char="•"/>
        <a:defRPr sz="2000" kern="1200">
          <a:solidFill>
            <a:srgbClr val="B0B0B0"/>
          </a:solidFill>
          <a:latin typeface="+mn-lt"/>
          <a:ea typeface="+mn-ea"/>
          <a:cs typeface="+mn-cs"/>
        </a:defRPr>
      </a:lvl2pPr>
      <a:lvl3pPr marL="731520" indent="-182880" algn="l" defTabSz="914400" rtl="0" eaLnBrk="1" latinLnBrk="1" hangingPunct="1">
        <a:lnSpc>
          <a:spcPct val="90000"/>
        </a:lnSpc>
        <a:spcBef>
          <a:spcPts val="200"/>
        </a:spcBef>
        <a:spcAft>
          <a:spcPts val="400"/>
        </a:spcAft>
        <a:buClr>
          <a:schemeClr val="tx1"/>
        </a:buClr>
        <a:buSzPct val="80000"/>
        <a:buFont typeface="Corbel" pitchFamily="34" charset="0"/>
        <a:buChar char="•"/>
        <a:defRPr sz="1800" kern="1200">
          <a:solidFill>
            <a:srgbClr val="B0B0B0"/>
          </a:solidFill>
          <a:latin typeface="+mn-lt"/>
          <a:ea typeface="+mn-ea"/>
          <a:cs typeface="+mn-cs"/>
        </a:defRPr>
      </a:lvl3pPr>
      <a:lvl4pPr marL="1005840" indent="-182880" algn="l" defTabSz="914400" rtl="0" eaLnBrk="1" latinLnBrk="1" hangingPunct="1">
        <a:lnSpc>
          <a:spcPct val="90000"/>
        </a:lnSpc>
        <a:spcBef>
          <a:spcPts val="200"/>
        </a:spcBef>
        <a:spcAft>
          <a:spcPts val="400"/>
        </a:spcAft>
        <a:buClr>
          <a:schemeClr val="tx1"/>
        </a:buClr>
        <a:buSzPct val="80000"/>
        <a:buFont typeface="Corbel" pitchFamily="34" charset="0"/>
        <a:buChar char="•"/>
        <a:defRPr sz="1600" kern="1200">
          <a:solidFill>
            <a:srgbClr val="B0B0B0"/>
          </a:solidFill>
          <a:latin typeface="+mn-lt"/>
          <a:ea typeface="+mn-ea"/>
          <a:cs typeface="+mn-cs"/>
        </a:defRPr>
      </a:lvl4pPr>
      <a:lvl5pPr marL="1280160" indent="-182880" algn="l" defTabSz="914400" rtl="0" eaLnBrk="1" latinLnBrk="1" hangingPunct="1">
        <a:lnSpc>
          <a:spcPct val="90000"/>
        </a:lnSpc>
        <a:spcBef>
          <a:spcPts val="200"/>
        </a:spcBef>
        <a:spcAft>
          <a:spcPts val="400"/>
        </a:spcAft>
        <a:buClr>
          <a:schemeClr val="tx1"/>
        </a:buClr>
        <a:buSzPct val="80000"/>
        <a:buFont typeface="Corbel" pitchFamily="34" charset="0"/>
        <a:buChar char="•"/>
        <a:defRPr sz="1600" kern="1200">
          <a:solidFill>
            <a:srgbClr val="B0B0B0"/>
          </a:solidFill>
          <a:latin typeface="+mn-lt"/>
          <a:ea typeface="+mn-ea"/>
          <a:cs typeface="+mn-cs"/>
        </a:defRPr>
      </a:lvl5pPr>
      <a:lvl6pPr marL="1600000" indent="-228600" algn="l" defTabSz="914400" rtl="0" eaLnBrk="1" latinLnBrk="1" hangingPunct="1">
        <a:lnSpc>
          <a:spcPct val="90000"/>
        </a:lnSpc>
        <a:spcBef>
          <a:spcPts val="200"/>
        </a:spcBef>
        <a:spcAft>
          <a:spcPts val="400"/>
        </a:spcAft>
        <a:buClr>
          <a:schemeClr val="tx1"/>
        </a:buClr>
        <a:buSzPct val="80000"/>
        <a:buFont typeface="Corbel" pitchFamily="34" charset="0"/>
        <a:buChar char="•"/>
        <a:defRPr sz="1600" kern="1200">
          <a:solidFill>
            <a:srgbClr val="B0B0B0"/>
          </a:solidFill>
          <a:latin typeface="+mn-lt"/>
          <a:ea typeface="+mn-ea"/>
          <a:cs typeface="+mn-cs"/>
        </a:defRPr>
      </a:lvl6pPr>
      <a:lvl7pPr marL="1900000" indent="-228600" algn="l" defTabSz="914400" rtl="0" eaLnBrk="1" latinLnBrk="1" hangingPunct="1">
        <a:lnSpc>
          <a:spcPct val="90000"/>
        </a:lnSpc>
        <a:spcBef>
          <a:spcPts val="200"/>
        </a:spcBef>
        <a:spcAft>
          <a:spcPts val="400"/>
        </a:spcAft>
        <a:buClr>
          <a:schemeClr val="tx1"/>
        </a:buClr>
        <a:buSzPct val="80000"/>
        <a:buFont typeface="Corbel" pitchFamily="34" charset="0"/>
        <a:buChar char="•"/>
        <a:defRPr sz="1600" kern="1200">
          <a:solidFill>
            <a:srgbClr val="B0B0B0"/>
          </a:solidFill>
          <a:latin typeface="+mn-lt"/>
          <a:ea typeface="+mn-ea"/>
          <a:cs typeface="+mn-cs"/>
        </a:defRPr>
      </a:lvl7pPr>
      <a:lvl8pPr marL="2200000" indent="-228600" algn="l" defTabSz="914400" rtl="0" eaLnBrk="1" latinLnBrk="1" hangingPunct="1">
        <a:lnSpc>
          <a:spcPct val="90000"/>
        </a:lnSpc>
        <a:spcBef>
          <a:spcPts val="200"/>
        </a:spcBef>
        <a:spcAft>
          <a:spcPts val="400"/>
        </a:spcAft>
        <a:buClr>
          <a:schemeClr val="tx1"/>
        </a:buClr>
        <a:buSzPct val="80000"/>
        <a:buFont typeface="Corbel" pitchFamily="34" charset="0"/>
        <a:buChar char="•"/>
        <a:defRPr sz="1600" kern="1200">
          <a:solidFill>
            <a:srgbClr val="B0B0B0"/>
          </a:solidFill>
          <a:latin typeface="+mn-lt"/>
          <a:ea typeface="+mn-ea"/>
          <a:cs typeface="+mn-cs"/>
        </a:defRPr>
      </a:lvl8pPr>
      <a:lvl9pPr marL="2500000" indent="-228600" algn="l" defTabSz="914400" rtl="0" eaLnBrk="1" latinLnBrk="1" hangingPunct="1">
        <a:lnSpc>
          <a:spcPct val="90000"/>
        </a:lnSpc>
        <a:spcBef>
          <a:spcPts val="200"/>
        </a:spcBef>
        <a:spcAft>
          <a:spcPts val="400"/>
        </a:spcAft>
        <a:buClr>
          <a:schemeClr val="tx1"/>
        </a:buClr>
        <a:buSzPct val="80000"/>
        <a:buFont typeface="Corbel" pitchFamily="34" charset="0"/>
        <a:buChar char="•"/>
        <a:defRPr sz="1600" kern="1200">
          <a:solidFill>
            <a:srgbClr val="B0B0B0"/>
          </a:solidFill>
          <a:latin typeface="+mn-lt"/>
          <a:ea typeface="+mn-ea"/>
          <a:cs typeface="+mn-cs"/>
        </a:defRPr>
      </a:lvl9pPr>
    </p:bodyStyle>
    <p:otherStyle>
      <a:defPPr>
        <a:defRPr lang="en-US"/>
      </a:defPPr>
      <a:lvl1pPr marL="0" algn="l" defTabSz="914400" rtl="0" eaLnBrk="1" latinLnBrk="1" hangingPunct="1">
        <a:defRPr sz="1800" kern="1200">
          <a:solidFill>
            <a:srgbClr val="D0D0D0"/>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hyperlink" Target="https://whatever99.tistory.com/entry/2025%EB%85%84-%EB%B0%98%EB%8F%84%EC%B2%B4-%EC%82%B0%EC%97%85-%EC%A0%84%EB%A7%9D-%EC%82%BC%EC%84%B1%EC%A0%84%EC%9E%90-vs-SK-hynix-%EC%96%B4%EB%8A%90-%ED%9A%8C%EC%82%AC%EA%B0%80-%EB%8D%94-%EC%9C%A0%EB%A7%9D%ED%95%A0%EA%B9%8C"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hyperlink" Target="https://get-a-position.tistory.com/entry/ISTP-%EC%84%B1%EA%B2%A9-%EC%9C%A0%ED%98%95%EC%9D%98-%EB%8A%A5%EB%A0%A5%EC%9D%84-%EB%B0%9C%ED%9C%98%ED%95%98%EB%8A%94-%EA%B5%AC%EC%A1%B0-%EC%97%94%EC%A7%80%EB%8B%88%EC%96%B4-%EC%A7%81%EC%97%85"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hyperlink" Target="https://boundaryml.com/blog/structured-outputs-create-false-confidence"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hyperlink" Target="https://arxiv.org/abs/2501.10868" TargetMode="External"/><Relationship Id="rId5" Type="http://schemas.openxmlformats.org/officeDocument/2006/relationships/hyperlink" Target="https://arxiv.org/abs/2409.03797" TargetMode="External"/><Relationship Id="rId4" Type="http://schemas.openxmlformats.org/officeDocument/2006/relationships/hyperlink" Target="https://www.editage.co.kr/insights/writing-for-science-journals-tips-tricks-and-a-learning-plan"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hyperlink" Target="https://flyingjs.tistory.com/entry/%EA%B1%B4%EC%84%A4%EA%B8%B0%EA%B3%84%EC%84%A4%EB%B9%84%EA%B8%B0%EC%82%AC-2024-%EC%8B%9C%ED%97%98%EC%9D%BC%EC%A0%95-%EC%9D%91%EC%8B%9C%EC%9E%90%EA%B2%A9-%ED%95%84%EA%B8%B0-%EC%8B%A4%EA%B8%B0-%EB%82%9C%EC%9D%B4%EB%8F%84-%ED%95%A9%EA%B2%A9%EB%A5%A0-%EC%B7%A8%EC%97%85-%EC%A0%84%EB%A7%9D-%EC%B4%9D%EC%A0%95%EB%A6%AC"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hyperlink" Target="https://pixnio.com/ko/%EA%B3%BC%ED%95%99/%ED%99%94%ED%95%99/%EC%8B%A4%ED%97%98-%EC%8B%A4%ED%97%98%EC%8B%A4-%EC%9C%A0%EB%A6%AC-%ED%99%94%ED%95%99-%EC%95%A1%EC%B2%B4-%EC%97%B0%EA%B5%AC-%EC%9D%98%ED%95%99-%EA%B3%BC%ED%95%99"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hyperlink" Target="https://pixnio.com/ko/%EA%B3%BC%ED%95%99/%ED%99%94%ED%95%99/%EC%8B%A4%ED%97%98-%EC%8B%A4%ED%97%98%EC%8B%A4-%EC%9C%A0%EB%A6%AC-%ED%99%94%ED%95%99-%EC%95%A1%EC%B2%B4-%EC%97%B0%EA%B5%AC-%EC%9D%98%ED%95%99-%EA%B3%BC%ED%95%99"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wrtnlabs/autobe/blob/main/packages/interface/src/analyze/AutoBeAnalyze.ts"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github.com/wrtnlabs/autobe/blob/main/packages/interface/src/test/AutoBeTest.ts" TargetMode="External"/><Relationship Id="rId5" Type="http://schemas.openxmlformats.org/officeDocument/2006/relationships/hyperlink" Target="https://github.com/wrtnlabs/autobe/blob/main/packages/interface/src/interface/AutoBeInterface.ts" TargetMode="External"/><Relationship Id="rId4" Type="http://schemas.openxmlformats.org/officeDocument/2006/relationships/hyperlink" Target="https://github.com/wrtnlabs/autobe/blob/main/packages/interface/src/database/AutoBeDatabase.ts"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hyperlink" Target="https://pixabay.com/ko/vectors/%EC%BD%94%EB%81%BC%EB%A6%AC-%EC%95%84%EA%B8%B0-%ED%95%91%ED%81%AC-%EB%8F%99%EB%AC%BC-303409/" TargetMode="Externa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1A4D4CC-6480-8350-D0FB-01F3803CB8C3}"/>
              </a:ext>
            </a:extLst>
          </p:cNvPr>
          <p:cNvSpPr>
            <a:spLocks noGrp="1"/>
          </p:cNvSpPr>
          <p:nvPr>
            <p:ph type="ctrTitle"/>
          </p:nvPr>
        </p:nvSpPr>
        <p:spPr/>
        <p:txBody>
          <a:bodyPr/>
          <a:lstStyle/>
          <a:p>
            <a:r>
              <a:rPr lang="en-US" dirty="0"/>
              <a:t>Function Calling Harness</a:t>
            </a:r>
          </a:p>
        </p:txBody>
      </p:sp>
      <p:sp>
        <p:nvSpPr>
          <p:cNvPr id="3" name="부제목 2">
            <a:extLst>
              <a:ext uri="{FF2B5EF4-FFF2-40B4-BE49-F238E27FC236}">
                <a16:creationId xmlns:a16="http://schemas.microsoft.com/office/drawing/2014/main" id="{58016CA8-3627-A3DE-00A7-FFDDD7F52487}"/>
              </a:ext>
            </a:extLst>
          </p:cNvPr>
          <p:cNvSpPr>
            <a:spLocks noGrp="1"/>
          </p:cNvSpPr>
          <p:nvPr>
            <p:ph type="subTitle" idx="1"/>
          </p:nvPr>
        </p:nvSpPr>
        <p:spPr/>
        <p:txBody>
          <a:bodyPr/>
          <a:lstStyle/>
          <a:p>
            <a:r>
              <a:rPr lang="en-US" dirty="0"/>
              <a:t>Function Calling From 6.75% to 100%</a:t>
            </a:r>
          </a:p>
          <a:p>
            <a:r>
              <a:rPr lang="en-US" dirty="0"/>
              <a:t>Qwen Meetup Korea</a:t>
            </a:r>
          </a:p>
          <a:p>
            <a:r>
              <a:rPr lang="en-US" dirty="0"/>
              <a:t>Samchon, Wrtn Technologies</a:t>
            </a:r>
          </a:p>
        </p:txBody>
      </p:sp>
    </p:spTree>
    <p:extLst>
      <p:ext uri="{BB962C8B-B14F-4D97-AF65-F5344CB8AC3E}">
        <p14:creationId xmlns:p14="http://schemas.microsoft.com/office/powerpoint/2010/main" val="1219688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22">
            <a:extLst>
              <a:ext uri="{FF2B5EF4-FFF2-40B4-BE49-F238E27FC236}">
                <a16:creationId xmlns:a16="http://schemas.microsoft.com/office/drawing/2014/main" id="{29E7461E-D3EF-467C-90B0-A07159CA65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ko-KR" altLang="en-US"/>
          </a:p>
        </p:txBody>
      </p:sp>
      <p:sp>
        <p:nvSpPr>
          <p:cNvPr id="28" name="Rectangle 24">
            <a:extLst>
              <a:ext uri="{FF2B5EF4-FFF2-40B4-BE49-F238E27FC236}">
                <a16:creationId xmlns:a16="http://schemas.microsoft.com/office/drawing/2014/main" id="{6187544F-2A96-4442-9598-104754EE6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ko-KR" altLang="en-US"/>
          </a:p>
        </p:txBody>
      </p:sp>
      <p:cxnSp>
        <p:nvCxnSpPr>
          <p:cNvPr id="36" name="Straight Connector 26">
            <a:extLst>
              <a:ext uri="{FF2B5EF4-FFF2-40B4-BE49-F238E27FC236}">
                <a16:creationId xmlns:a16="http://schemas.microsoft.com/office/drawing/2014/main" id="{9288961F-689B-486C-86C4-49DA3F389C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44" name="Rectangle 28">
            <a:extLst>
              <a:ext uri="{FF2B5EF4-FFF2-40B4-BE49-F238E27FC236}">
                <a16:creationId xmlns:a16="http://schemas.microsoft.com/office/drawing/2014/main" id="{308371E6-9986-4C28-BCFA-32466833DD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856"/>
            <a:ext cx="12192000" cy="6858000"/>
          </a:xfrm>
          <a:prstGeom prst="rect">
            <a:avLst/>
          </a:prstGeom>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ko-KR" altLang="en-US"/>
          </a:p>
        </p:txBody>
      </p:sp>
      <p:sp>
        <p:nvSpPr>
          <p:cNvPr id="52" name="Rectangle 30">
            <a:extLst>
              <a:ext uri="{FF2B5EF4-FFF2-40B4-BE49-F238E27FC236}">
                <a16:creationId xmlns:a16="http://schemas.microsoft.com/office/drawing/2014/main" id="{97551C13-2ACD-4DFA-B9BD-0E3D39F46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ko-KR" altLang="en-US"/>
          </a:p>
        </p:txBody>
      </p:sp>
      <p:pic>
        <p:nvPicPr>
          <p:cNvPr id="14" name="Picture 6">
            <a:extLst>
              <a:ext uri="{FF2B5EF4-FFF2-40B4-BE49-F238E27FC236}">
                <a16:creationId xmlns:a16="http://schemas.microsoft.com/office/drawing/2014/main" id="{DE52893F-5CC7-76F1-1F41-9C3D2A28DFE3}"/>
              </a:ext>
            </a:extLst>
          </p:cNvPr>
          <p:cNvPicPr>
            <a:picLocks noChangeAspect="1"/>
          </p:cNvPicPr>
          <p:nvPr/>
        </p:nvPicPr>
        <p:blipFill>
          <a:blip r:embed="rId3"/>
          <a:srcRect l="14381" r="18937"/>
          <a:stretch>
            <a:fillRect/>
          </a:stretch>
        </p:blipFill>
        <p:spPr>
          <a:xfrm>
            <a:off x="872064" y="878118"/>
            <a:ext cx="6045576" cy="5099782"/>
          </a:xfrm>
          <a:prstGeom prst="rect">
            <a:avLst/>
          </a:prstGeom>
        </p:spPr>
      </p:pic>
      <p:sp>
        <p:nvSpPr>
          <p:cNvPr id="61" name="Rectangle 32">
            <a:extLst>
              <a:ext uri="{FF2B5EF4-FFF2-40B4-BE49-F238E27FC236}">
                <a16:creationId xmlns:a16="http://schemas.microsoft.com/office/drawing/2014/main" id="{DBF29E0A-B341-42AC-9B86-B650643A7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246887"/>
            <a:ext cx="4397755" cy="637793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ko-KR" altLang="en-US"/>
          </a:p>
        </p:txBody>
      </p:sp>
      <p:cxnSp>
        <p:nvCxnSpPr>
          <p:cNvPr id="62" name="Straight Connector 34">
            <a:extLst>
              <a:ext uri="{FF2B5EF4-FFF2-40B4-BE49-F238E27FC236}">
                <a16:creationId xmlns:a16="http://schemas.microsoft.com/office/drawing/2014/main" id="{407A2A6E-3F51-42E6-9F72-2F86245CC1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70284" y="4405863"/>
            <a:ext cx="27630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제목 3">
            <a:extLst>
              <a:ext uri="{FF2B5EF4-FFF2-40B4-BE49-F238E27FC236}">
                <a16:creationId xmlns:a16="http://schemas.microsoft.com/office/drawing/2014/main" id="{42402928-118F-1B5E-23BC-469E991D838B}"/>
              </a:ext>
            </a:extLst>
          </p:cNvPr>
          <p:cNvSpPr>
            <a:spLocks noGrp="1"/>
          </p:cNvSpPr>
          <p:nvPr>
            <p:ph type="title"/>
          </p:nvPr>
        </p:nvSpPr>
        <p:spPr>
          <a:xfrm>
            <a:off x="8195138" y="857675"/>
            <a:ext cx="3113366" cy="3622844"/>
          </a:xfrm>
        </p:spPr>
        <p:txBody>
          <a:bodyPr vert="horz" lIns="91440" tIns="45720" rIns="91440" bIns="45720" rtlCol="0" anchor="b">
            <a:normAutofit/>
          </a:bodyPr>
          <a:lstStyle/>
          <a:p>
            <a:r>
              <a:rPr lang="en-US" altLang="ko-KR" sz="5400" b="1"/>
              <a:t>Tr;dr</a:t>
            </a:r>
            <a:endParaRPr lang="en-US" altLang="ko-KR" sz="5400" b="1" dirty="0"/>
          </a:p>
        </p:txBody>
      </p:sp>
      <p:sp>
        <p:nvSpPr>
          <p:cNvPr id="5" name="텍스트 개체 틀 4">
            <a:extLst>
              <a:ext uri="{FF2B5EF4-FFF2-40B4-BE49-F238E27FC236}">
                <a16:creationId xmlns:a16="http://schemas.microsoft.com/office/drawing/2014/main" id="{B201B5AB-8350-99C6-A3B3-4E10B9833CF9}"/>
              </a:ext>
            </a:extLst>
          </p:cNvPr>
          <p:cNvSpPr>
            <a:spLocks noGrp="1"/>
          </p:cNvSpPr>
          <p:nvPr>
            <p:ph type="body" idx="1"/>
          </p:nvPr>
        </p:nvSpPr>
        <p:spPr>
          <a:xfrm>
            <a:off x="8210328" y="4541696"/>
            <a:ext cx="3082986" cy="1874601"/>
          </a:xfrm>
        </p:spPr>
        <p:txBody>
          <a:bodyPr vert="horz" lIns="91440" tIns="45720" rIns="91440" bIns="45720" rtlCol="0">
            <a:normAutofit/>
          </a:bodyPr>
          <a:lstStyle/>
          <a:p>
            <a:r>
              <a:rPr lang="en-US" altLang="ko-KR" sz="2000" dirty="0"/>
              <a:t>AutoBE</a:t>
            </a:r>
          </a:p>
          <a:p>
            <a:r>
              <a:rPr lang="en-US" altLang="ko-KR" sz="2000" dirty="0"/>
              <a:t>Typia</a:t>
            </a:r>
          </a:p>
          <a:p>
            <a:r>
              <a:rPr lang="en-US" altLang="ko-KR" sz="2000" dirty="0"/>
              <a:t>Function Calling</a:t>
            </a:r>
          </a:p>
          <a:p>
            <a:r>
              <a:rPr lang="en-US" altLang="ko-KR" sz="2000" dirty="0"/>
              <a:t>Qwen Series</a:t>
            </a:r>
          </a:p>
        </p:txBody>
      </p:sp>
    </p:spTree>
    <p:extLst>
      <p:ext uri="{BB962C8B-B14F-4D97-AF65-F5344CB8AC3E}">
        <p14:creationId xmlns:p14="http://schemas.microsoft.com/office/powerpoint/2010/main" val="2118926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044573B-7CF6-ED2E-E36D-99092E11AA96}"/>
              </a:ext>
            </a:extLst>
          </p:cNvPr>
          <p:cNvSpPr>
            <a:spLocks noGrp="1"/>
          </p:cNvSpPr>
          <p:nvPr>
            <p:ph type="title"/>
          </p:nvPr>
        </p:nvSpPr>
        <p:spPr/>
        <p:txBody>
          <a:bodyPr/>
          <a:lstStyle/>
          <a:p>
            <a:r>
              <a:rPr lang="en-US" dirty="0" err="1"/>
              <a:t>AutoBe</a:t>
            </a:r>
            <a:endParaRPr lang="en-US" dirty="0"/>
          </a:p>
        </p:txBody>
      </p:sp>
      <p:sp>
        <p:nvSpPr>
          <p:cNvPr id="3" name="내용 개체 틀 2">
            <a:extLst>
              <a:ext uri="{FF2B5EF4-FFF2-40B4-BE49-F238E27FC236}">
                <a16:creationId xmlns:a16="http://schemas.microsoft.com/office/drawing/2014/main" id="{3525E5B0-5203-DA1F-04D7-67E07F82EE3A}"/>
              </a:ext>
            </a:extLst>
          </p:cNvPr>
          <p:cNvSpPr>
            <a:spLocks noGrp="1"/>
          </p:cNvSpPr>
          <p:nvPr>
            <p:ph sz="half" idx="1"/>
          </p:nvPr>
        </p:nvSpPr>
        <p:spPr/>
        <p:txBody>
          <a:bodyPr/>
          <a:lstStyle/>
          <a:p>
            <a:r>
              <a:rPr lang="en-US" dirty="0"/>
              <a:t>AI backend generator</a:t>
            </a:r>
          </a:p>
          <a:p>
            <a:endParaRPr lang="en-US" dirty="0"/>
          </a:p>
          <a:p>
            <a:r>
              <a:rPr lang="en-US" dirty="0"/>
              <a:t>Do not write text codes</a:t>
            </a:r>
          </a:p>
          <a:p>
            <a:r>
              <a:rPr lang="en-US" dirty="0"/>
              <a:t>Instead, make AST structured data</a:t>
            </a:r>
          </a:p>
          <a:p>
            <a:r>
              <a:rPr lang="en-US" b="1" dirty="0"/>
              <a:t>Function Calling All-in</a:t>
            </a:r>
          </a:p>
          <a:p>
            <a:endParaRPr lang="en-US" dirty="0"/>
          </a:p>
          <a:p>
            <a:r>
              <a:rPr lang="en-US" dirty="0"/>
              <a:t>Types are extremely complicated</a:t>
            </a:r>
          </a:p>
          <a:p>
            <a:r>
              <a:rPr lang="en-US" dirty="0"/>
              <a:t>Recursive union types</a:t>
            </a:r>
          </a:p>
        </p:txBody>
      </p:sp>
      <p:pic>
        <p:nvPicPr>
          <p:cNvPr id="6" name="내용 개체 틀 5">
            <a:extLst>
              <a:ext uri="{FF2B5EF4-FFF2-40B4-BE49-F238E27FC236}">
                <a16:creationId xmlns:a16="http://schemas.microsoft.com/office/drawing/2014/main" id="{23DA82D9-A41B-6FDC-50C1-0EFD3BD86B8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675085" y="318618"/>
            <a:ext cx="6214291" cy="6220764"/>
          </a:xfrm>
          <a:prstGeom prst="rect">
            <a:avLst/>
          </a:prstGeom>
        </p:spPr>
      </p:pic>
    </p:spTree>
    <p:extLst>
      <p:ext uri="{BB962C8B-B14F-4D97-AF65-F5344CB8AC3E}">
        <p14:creationId xmlns:p14="http://schemas.microsoft.com/office/powerpoint/2010/main" val="712595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867C6C5-61AC-DD51-F144-97BB7C5B56B0}"/>
              </a:ext>
            </a:extLst>
          </p:cNvPr>
          <p:cNvSpPr>
            <a:spLocks noGrp="1"/>
          </p:cNvSpPr>
          <p:nvPr>
            <p:ph type="title"/>
          </p:nvPr>
        </p:nvSpPr>
        <p:spPr>
          <a:xfrm>
            <a:off x="1143000" y="609600"/>
            <a:ext cx="4953000" cy="1356360"/>
          </a:xfrm>
        </p:spPr>
        <p:txBody>
          <a:bodyPr/>
          <a:lstStyle/>
          <a:p>
            <a:r>
              <a:rPr lang="en-US" dirty="0"/>
              <a:t>Typia</a:t>
            </a:r>
          </a:p>
        </p:txBody>
      </p:sp>
      <p:sp>
        <p:nvSpPr>
          <p:cNvPr id="3" name="내용 개체 틀 2">
            <a:extLst>
              <a:ext uri="{FF2B5EF4-FFF2-40B4-BE49-F238E27FC236}">
                <a16:creationId xmlns:a16="http://schemas.microsoft.com/office/drawing/2014/main" id="{8ABF0164-86B9-517E-5417-BEF1B78E9C05}"/>
              </a:ext>
            </a:extLst>
          </p:cNvPr>
          <p:cNvSpPr>
            <a:spLocks noGrp="1"/>
          </p:cNvSpPr>
          <p:nvPr>
            <p:ph sz="half" idx="1"/>
          </p:nvPr>
        </p:nvSpPr>
        <p:spPr/>
        <p:txBody>
          <a:bodyPr/>
          <a:lstStyle/>
          <a:p>
            <a:r>
              <a:rPr lang="en-US" dirty="0"/>
              <a:t>TypeScript Compiler Plugin</a:t>
            </a:r>
          </a:p>
          <a:p>
            <a:endParaRPr lang="en-US" dirty="0"/>
          </a:p>
          <a:p>
            <a:r>
              <a:rPr lang="en-US" dirty="0"/>
              <a:t>Analyze TypeScript Source Code</a:t>
            </a:r>
          </a:p>
          <a:p>
            <a:pPr lvl="1"/>
            <a:r>
              <a:rPr lang="en-US" dirty="0"/>
              <a:t>Lenient JSON Parsing</a:t>
            </a:r>
          </a:p>
          <a:p>
            <a:pPr lvl="1"/>
            <a:r>
              <a:rPr lang="en-US" dirty="0"/>
              <a:t>Type Coercion</a:t>
            </a:r>
          </a:p>
          <a:p>
            <a:pPr lvl="1"/>
            <a:r>
              <a:rPr lang="en-US" dirty="0"/>
              <a:t>Validation Feedback</a:t>
            </a:r>
          </a:p>
          <a:p>
            <a:pPr lvl="1"/>
            <a:endParaRPr lang="en-US" dirty="0"/>
          </a:p>
          <a:p>
            <a:r>
              <a:rPr lang="en-US" dirty="0"/>
              <a:t>Function Calling Success Rate</a:t>
            </a:r>
          </a:p>
          <a:p>
            <a:pPr lvl="1"/>
            <a:r>
              <a:rPr lang="en-US" dirty="0"/>
              <a:t>6.75% -&gt; 100%</a:t>
            </a:r>
          </a:p>
        </p:txBody>
      </p:sp>
      <p:sp>
        <p:nvSpPr>
          <p:cNvPr id="29" name="사각형: 둥근 모서리 28">
            <a:extLst>
              <a:ext uri="{FF2B5EF4-FFF2-40B4-BE49-F238E27FC236}">
                <a16:creationId xmlns:a16="http://schemas.microsoft.com/office/drawing/2014/main" id="{F7805EAE-4696-49E6-8CA3-FD570313EA3C}"/>
              </a:ext>
            </a:extLst>
          </p:cNvPr>
          <p:cNvSpPr/>
          <p:nvPr/>
        </p:nvSpPr>
        <p:spPr>
          <a:xfrm>
            <a:off x="6223000" y="133551"/>
            <a:ext cx="5005438" cy="2816125"/>
          </a:xfrm>
          <a:prstGeom prst="roundRect">
            <a:avLst/>
          </a:prstGeom>
          <a:solidFill>
            <a:srgbClr val="1E1E1E"/>
          </a:solidFill>
          <a:ln w="1905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t" anchorCtr="0">
            <a:noAutofit/>
          </a:bodyPr>
          <a:lstStyle/>
          <a:p>
            <a:pPr algn="l"/>
            <a:r>
              <a:rPr lang="en-US" sz="1050" b="1" dirty="0">
                <a:solidFill>
                  <a:srgbClr val="888888"/>
                </a:solidFill>
                <a:latin typeface="Consolas"/>
              </a:rPr>
              <a:t>TypeScript</a:t>
            </a:r>
            <a:r>
              <a:rPr lang="en-US" sz="1200" dirty="0">
                <a:solidFill>
                  <a:srgbClr val="D4D4D4"/>
                </a:solidFill>
                <a:latin typeface="Consolas"/>
              </a:rPr>
              <a:t>
</a:t>
            </a:r>
            <a:r>
              <a:rPr lang="en-US" sz="1200" dirty="0">
                <a:solidFill>
                  <a:srgbClr val="C586C0"/>
                </a:solidFill>
                <a:latin typeface="Consolas"/>
              </a:rPr>
              <a:t>import</a:t>
            </a:r>
            <a:r>
              <a:rPr lang="en-US" sz="1200" dirty="0">
                <a:solidFill>
                  <a:srgbClr val="D4D4D4"/>
                </a:solidFill>
                <a:latin typeface="Consolas"/>
              </a:rPr>
              <a:t> </a:t>
            </a:r>
            <a:r>
              <a:rPr lang="en-US" sz="1200" dirty="0">
                <a:solidFill>
                  <a:srgbClr val="9CDCFE"/>
                </a:solidFill>
                <a:latin typeface="Consolas"/>
              </a:rPr>
              <a:t>typia</a:t>
            </a:r>
            <a:r>
              <a:rPr lang="en-US" sz="1200" dirty="0">
                <a:solidFill>
                  <a:srgbClr val="D4D4D4"/>
                </a:solidFill>
                <a:latin typeface="Consolas"/>
              </a:rPr>
              <a:t>, { </a:t>
            </a:r>
            <a:r>
              <a:rPr lang="en-US" sz="1200" dirty="0">
                <a:solidFill>
                  <a:srgbClr val="9CDCFE"/>
                </a:solidFill>
                <a:latin typeface="Consolas"/>
              </a:rPr>
              <a:t>tags</a:t>
            </a:r>
            <a:r>
              <a:rPr lang="en-US" sz="1200" dirty="0">
                <a:solidFill>
                  <a:srgbClr val="D4D4D4"/>
                </a:solidFill>
                <a:latin typeface="Consolas"/>
              </a:rPr>
              <a:t> } </a:t>
            </a:r>
            <a:r>
              <a:rPr lang="en-US" sz="1200" dirty="0">
                <a:solidFill>
                  <a:srgbClr val="C586C0"/>
                </a:solidFill>
                <a:latin typeface="Consolas"/>
              </a:rPr>
              <a:t>from</a:t>
            </a:r>
            <a:r>
              <a:rPr lang="en-US" sz="1200" dirty="0">
                <a:solidFill>
                  <a:srgbClr val="D4D4D4"/>
                </a:solidFill>
                <a:latin typeface="Consolas"/>
              </a:rPr>
              <a:t> </a:t>
            </a:r>
            <a:r>
              <a:rPr lang="en-US" sz="1200" dirty="0">
                <a:solidFill>
                  <a:srgbClr val="CE9178"/>
                </a:solidFill>
                <a:latin typeface="Consolas"/>
              </a:rPr>
              <a:t>"typia"</a:t>
            </a:r>
            <a:r>
              <a:rPr lang="en-US" sz="1200" dirty="0">
                <a:solidFill>
                  <a:srgbClr val="D4D4D4"/>
                </a:solidFill>
                <a:latin typeface="Consolas"/>
              </a:rPr>
              <a:t>;
</a:t>
            </a:r>
            <a:r>
              <a:rPr lang="en-US" sz="1200" dirty="0">
                <a:solidFill>
                  <a:srgbClr val="569CD6"/>
                </a:solidFill>
                <a:latin typeface="Consolas"/>
              </a:rPr>
              <a:t>interface</a:t>
            </a:r>
            <a:r>
              <a:rPr lang="en-US" sz="1200" dirty="0">
                <a:solidFill>
                  <a:srgbClr val="D4D4D4"/>
                </a:solidFill>
                <a:latin typeface="Consolas"/>
              </a:rPr>
              <a:t> </a:t>
            </a:r>
            <a:r>
              <a:rPr lang="en-US" sz="1200" dirty="0" err="1">
                <a:solidFill>
                  <a:srgbClr val="4EC9B0"/>
                </a:solidFill>
                <a:latin typeface="Consolas"/>
              </a:rPr>
              <a:t>IMember</a:t>
            </a:r>
            <a:r>
              <a:rPr lang="en-US" sz="1200" dirty="0">
                <a:solidFill>
                  <a:srgbClr val="D4D4D4"/>
                </a:solidFill>
                <a:latin typeface="Consolas"/>
              </a:rPr>
              <a:t> {
  </a:t>
            </a:r>
            <a:r>
              <a:rPr lang="en-US" sz="1200" dirty="0">
                <a:solidFill>
                  <a:srgbClr val="9CDCFE"/>
                </a:solidFill>
                <a:latin typeface="Consolas"/>
              </a:rPr>
              <a:t>id</a:t>
            </a:r>
            <a:r>
              <a:rPr lang="en-US" sz="1200" dirty="0">
                <a:solidFill>
                  <a:srgbClr val="D4D4D4"/>
                </a:solidFill>
                <a:latin typeface="Consolas"/>
              </a:rPr>
              <a:t>: </a:t>
            </a:r>
            <a:r>
              <a:rPr lang="en-US" sz="1200" dirty="0">
                <a:solidFill>
                  <a:srgbClr val="4EC9B0"/>
                </a:solidFill>
                <a:latin typeface="Consolas"/>
              </a:rPr>
              <a:t>string</a:t>
            </a:r>
            <a:r>
              <a:rPr lang="en-US" sz="1200" dirty="0">
                <a:solidFill>
                  <a:srgbClr val="D4D4D4"/>
                </a:solidFill>
                <a:latin typeface="Consolas"/>
              </a:rPr>
              <a:t> &amp; </a:t>
            </a:r>
            <a:r>
              <a:rPr lang="en-US" sz="1200" dirty="0" err="1">
                <a:solidFill>
                  <a:srgbClr val="D4D4D4"/>
                </a:solidFill>
                <a:latin typeface="Consolas"/>
              </a:rPr>
              <a:t>tags.Format</a:t>
            </a:r>
            <a:r>
              <a:rPr lang="en-US" sz="1200" dirty="0">
                <a:solidFill>
                  <a:srgbClr val="D4D4D4"/>
                </a:solidFill>
                <a:latin typeface="Consolas"/>
              </a:rPr>
              <a:t>&lt;</a:t>
            </a:r>
            <a:r>
              <a:rPr lang="en-US" sz="1200" dirty="0">
                <a:solidFill>
                  <a:srgbClr val="CE9178"/>
                </a:solidFill>
                <a:latin typeface="Consolas"/>
              </a:rPr>
              <a:t>"</a:t>
            </a:r>
            <a:r>
              <a:rPr lang="en-US" sz="1200" dirty="0" err="1">
                <a:solidFill>
                  <a:srgbClr val="CE9178"/>
                </a:solidFill>
                <a:latin typeface="Consolas"/>
              </a:rPr>
              <a:t>uuid</a:t>
            </a:r>
            <a:r>
              <a:rPr lang="en-US" sz="1200" dirty="0">
                <a:solidFill>
                  <a:srgbClr val="CE9178"/>
                </a:solidFill>
                <a:latin typeface="Consolas"/>
              </a:rPr>
              <a:t>"</a:t>
            </a:r>
            <a:r>
              <a:rPr lang="en-US" sz="1200" dirty="0">
                <a:solidFill>
                  <a:srgbClr val="D4D4D4"/>
                </a:solidFill>
                <a:latin typeface="Consolas"/>
              </a:rPr>
              <a:t>&gt;;
  </a:t>
            </a:r>
            <a:r>
              <a:rPr lang="en-US" sz="1200" dirty="0">
                <a:solidFill>
                  <a:srgbClr val="9CDCFE"/>
                </a:solidFill>
                <a:latin typeface="Consolas"/>
              </a:rPr>
              <a:t>email</a:t>
            </a:r>
            <a:r>
              <a:rPr lang="en-US" sz="1200" dirty="0">
                <a:solidFill>
                  <a:srgbClr val="D4D4D4"/>
                </a:solidFill>
                <a:latin typeface="Consolas"/>
              </a:rPr>
              <a:t>: </a:t>
            </a:r>
            <a:r>
              <a:rPr lang="en-US" sz="1200" dirty="0">
                <a:solidFill>
                  <a:srgbClr val="4EC9B0"/>
                </a:solidFill>
                <a:latin typeface="Consolas"/>
              </a:rPr>
              <a:t>string</a:t>
            </a:r>
            <a:r>
              <a:rPr lang="en-US" sz="1200" dirty="0">
                <a:solidFill>
                  <a:srgbClr val="D4D4D4"/>
                </a:solidFill>
                <a:latin typeface="Consolas"/>
              </a:rPr>
              <a:t> &amp; </a:t>
            </a:r>
            <a:r>
              <a:rPr lang="en-US" sz="1200" dirty="0" err="1">
                <a:solidFill>
                  <a:srgbClr val="D4D4D4"/>
                </a:solidFill>
                <a:latin typeface="Consolas"/>
              </a:rPr>
              <a:t>tags.Format</a:t>
            </a:r>
            <a:r>
              <a:rPr lang="en-US" sz="1200" dirty="0">
                <a:solidFill>
                  <a:srgbClr val="D4D4D4"/>
                </a:solidFill>
                <a:latin typeface="Consolas"/>
              </a:rPr>
              <a:t>&lt;</a:t>
            </a:r>
            <a:r>
              <a:rPr lang="en-US" sz="1200" dirty="0">
                <a:solidFill>
                  <a:srgbClr val="CE9178"/>
                </a:solidFill>
                <a:latin typeface="Consolas"/>
              </a:rPr>
              <a:t>"email"</a:t>
            </a:r>
            <a:r>
              <a:rPr lang="en-US" sz="1200" dirty="0">
                <a:solidFill>
                  <a:srgbClr val="D4D4D4"/>
                </a:solidFill>
                <a:latin typeface="Consolas"/>
              </a:rPr>
              <a:t>&gt;;
  </a:t>
            </a:r>
            <a:r>
              <a:rPr lang="en-US" sz="1200" dirty="0">
                <a:solidFill>
                  <a:srgbClr val="9CDCFE"/>
                </a:solidFill>
                <a:latin typeface="Consolas"/>
              </a:rPr>
              <a:t>age</a:t>
            </a:r>
            <a:r>
              <a:rPr lang="en-US" sz="1200" dirty="0">
                <a:solidFill>
                  <a:srgbClr val="D4D4D4"/>
                </a:solidFill>
                <a:latin typeface="Consolas"/>
              </a:rPr>
              <a:t>: </a:t>
            </a:r>
            <a:r>
              <a:rPr lang="en-US" sz="1200" dirty="0">
                <a:solidFill>
                  <a:srgbClr val="4EC9B0"/>
                </a:solidFill>
                <a:latin typeface="Consolas"/>
              </a:rPr>
              <a:t>number</a:t>
            </a:r>
            <a:r>
              <a:rPr lang="en-US" sz="1200" dirty="0">
                <a:solidFill>
                  <a:srgbClr val="D4D4D4"/>
                </a:solidFill>
                <a:latin typeface="Consolas"/>
              </a:rPr>
              <a:t> &amp;
    </a:t>
            </a:r>
            <a:r>
              <a:rPr lang="en-US" sz="1200" dirty="0" err="1">
                <a:solidFill>
                  <a:srgbClr val="D4D4D4"/>
                </a:solidFill>
                <a:latin typeface="Consolas"/>
              </a:rPr>
              <a:t>tags.Type</a:t>
            </a:r>
            <a:r>
              <a:rPr lang="en-US" sz="1200" dirty="0">
                <a:solidFill>
                  <a:srgbClr val="D4D4D4"/>
                </a:solidFill>
                <a:latin typeface="Consolas"/>
              </a:rPr>
              <a:t>&lt;</a:t>
            </a:r>
            <a:r>
              <a:rPr lang="en-US" sz="1200" dirty="0">
                <a:solidFill>
                  <a:srgbClr val="CE9178"/>
                </a:solidFill>
                <a:latin typeface="Consolas"/>
              </a:rPr>
              <a:t>"uint32"</a:t>
            </a:r>
            <a:r>
              <a:rPr lang="en-US" sz="1200" dirty="0">
                <a:solidFill>
                  <a:srgbClr val="D4D4D4"/>
                </a:solidFill>
                <a:latin typeface="Consolas"/>
              </a:rPr>
              <a:t>&gt; &amp;
    </a:t>
            </a:r>
            <a:r>
              <a:rPr lang="en-US" sz="1200" dirty="0" err="1">
                <a:solidFill>
                  <a:srgbClr val="D4D4D4"/>
                </a:solidFill>
                <a:latin typeface="Consolas"/>
              </a:rPr>
              <a:t>tags.ExclusiveMinimum</a:t>
            </a:r>
            <a:r>
              <a:rPr lang="en-US" sz="1200" dirty="0">
                <a:solidFill>
                  <a:srgbClr val="D4D4D4"/>
                </a:solidFill>
                <a:latin typeface="Consolas"/>
              </a:rPr>
              <a:t>&lt;</a:t>
            </a:r>
            <a:r>
              <a:rPr lang="en-US" sz="1200" dirty="0">
                <a:solidFill>
                  <a:srgbClr val="B5CEA8"/>
                </a:solidFill>
                <a:latin typeface="Consolas"/>
              </a:rPr>
              <a:t>19</a:t>
            </a:r>
            <a:r>
              <a:rPr lang="en-US" sz="1200" dirty="0">
                <a:solidFill>
                  <a:srgbClr val="D4D4D4"/>
                </a:solidFill>
                <a:latin typeface="Consolas"/>
              </a:rPr>
              <a:t>&gt; &amp;
    </a:t>
            </a:r>
            <a:r>
              <a:rPr lang="en-US" sz="1200" dirty="0" err="1">
                <a:solidFill>
                  <a:srgbClr val="D4D4D4"/>
                </a:solidFill>
                <a:latin typeface="Consolas"/>
              </a:rPr>
              <a:t>tags.Maximum</a:t>
            </a:r>
            <a:r>
              <a:rPr lang="en-US" sz="1200" dirty="0">
                <a:solidFill>
                  <a:srgbClr val="D4D4D4"/>
                </a:solidFill>
                <a:latin typeface="Consolas"/>
              </a:rPr>
              <a:t>&lt;</a:t>
            </a:r>
            <a:r>
              <a:rPr lang="en-US" sz="1200" dirty="0">
                <a:solidFill>
                  <a:srgbClr val="B5CEA8"/>
                </a:solidFill>
                <a:latin typeface="Consolas"/>
              </a:rPr>
              <a:t>100</a:t>
            </a:r>
            <a:r>
              <a:rPr lang="en-US" sz="1200" dirty="0">
                <a:solidFill>
                  <a:srgbClr val="D4D4D4"/>
                </a:solidFill>
                <a:latin typeface="Consolas"/>
              </a:rPr>
              <a:t>&gt;;
}
</a:t>
            </a:r>
            <a:r>
              <a:rPr lang="en-US" sz="1200" dirty="0">
                <a:solidFill>
                  <a:srgbClr val="569CD6"/>
                </a:solidFill>
                <a:latin typeface="Consolas"/>
              </a:rPr>
              <a:t>const</a:t>
            </a:r>
            <a:r>
              <a:rPr lang="en-US" sz="1200" dirty="0">
                <a:solidFill>
                  <a:srgbClr val="D4D4D4"/>
                </a:solidFill>
                <a:latin typeface="Consolas"/>
              </a:rPr>
              <a:t> </a:t>
            </a:r>
            <a:r>
              <a:rPr lang="en-US" sz="1200" dirty="0">
                <a:solidFill>
                  <a:srgbClr val="9CDCFE"/>
                </a:solidFill>
                <a:latin typeface="Consolas"/>
              </a:rPr>
              <a:t>check</a:t>
            </a:r>
            <a:r>
              <a:rPr lang="en-US" sz="1200" dirty="0">
                <a:solidFill>
                  <a:srgbClr val="D4D4D4"/>
                </a:solidFill>
                <a:latin typeface="Consolas"/>
              </a:rPr>
              <a:t>: </a:t>
            </a:r>
            <a:r>
              <a:rPr lang="en-US" sz="1200" dirty="0" err="1">
                <a:solidFill>
                  <a:srgbClr val="4EC9B0"/>
                </a:solidFill>
                <a:latin typeface="Consolas"/>
              </a:rPr>
              <a:t>boolean</a:t>
            </a:r>
            <a:r>
              <a:rPr lang="en-US" sz="1200" dirty="0">
                <a:solidFill>
                  <a:srgbClr val="D4D4D4"/>
                </a:solidFill>
                <a:latin typeface="Consolas"/>
              </a:rPr>
              <a:t> = </a:t>
            </a:r>
            <a:r>
              <a:rPr lang="en-US" sz="1200" dirty="0">
                <a:solidFill>
                  <a:srgbClr val="9CDCFE"/>
                </a:solidFill>
                <a:latin typeface="Consolas"/>
              </a:rPr>
              <a:t>typia</a:t>
            </a:r>
            <a:r>
              <a:rPr lang="en-US" sz="1200" dirty="0">
                <a:solidFill>
                  <a:srgbClr val="DCDCAA"/>
                </a:solidFill>
                <a:latin typeface="Consolas"/>
              </a:rPr>
              <a:t>.is</a:t>
            </a:r>
            <a:r>
              <a:rPr lang="en-US" sz="1200" dirty="0">
                <a:solidFill>
                  <a:srgbClr val="D4D4D4"/>
                </a:solidFill>
                <a:latin typeface="Consolas"/>
              </a:rPr>
              <a:t>&lt;</a:t>
            </a:r>
            <a:r>
              <a:rPr lang="en-US" sz="1200" dirty="0" err="1">
                <a:solidFill>
                  <a:srgbClr val="4EC9B0"/>
                </a:solidFill>
                <a:latin typeface="Consolas"/>
              </a:rPr>
              <a:t>IMember</a:t>
            </a:r>
            <a:r>
              <a:rPr lang="en-US" sz="1200" dirty="0">
                <a:solidFill>
                  <a:srgbClr val="D4D4D4"/>
                </a:solidFill>
                <a:latin typeface="Consolas"/>
              </a:rPr>
              <a:t>&gt;(input);</a:t>
            </a:r>
          </a:p>
        </p:txBody>
      </p:sp>
      <p:sp>
        <p:nvSpPr>
          <p:cNvPr id="30" name="사각형: 둥근 모서리 29">
            <a:extLst>
              <a:ext uri="{FF2B5EF4-FFF2-40B4-BE49-F238E27FC236}">
                <a16:creationId xmlns:a16="http://schemas.microsoft.com/office/drawing/2014/main" id="{8EF8A5A4-C8B1-4276-8042-7EC81861297B}"/>
              </a:ext>
            </a:extLst>
          </p:cNvPr>
          <p:cNvSpPr/>
          <p:nvPr/>
        </p:nvSpPr>
        <p:spPr>
          <a:xfrm>
            <a:off x="6222999" y="3677676"/>
            <a:ext cx="5005439" cy="3081179"/>
          </a:xfrm>
          <a:prstGeom prst="roundRect">
            <a:avLst/>
          </a:prstGeom>
          <a:solidFill>
            <a:srgbClr val="1E1E1E"/>
          </a:solidFill>
          <a:ln w="1905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t" anchorCtr="0">
            <a:noAutofit/>
          </a:bodyPr>
          <a:lstStyle/>
          <a:p>
            <a:pPr algn="l"/>
            <a:r>
              <a:rPr lang="en-US" sz="1000" b="1">
                <a:solidFill>
                  <a:srgbClr val="888888"/>
                </a:solidFill>
                <a:latin typeface="Consolas"/>
              </a:rPr>
              <a:t>JavaScript (compiled)</a:t>
            </a:r>
            <a:r>
              <a:rPr lang="en-US" sz="1100">
                <a:solidFill>
                  <a:srgbClr val="D4D4D4"/>
                </a:solidFill>
                <a:latin typeface="Consolas"/>
              </a:rPr>
              <a:t>
((</a:t>
            </a:r>
            <a:r>
              <a:rPr lang="en-US" sz="1100">
                <a:solidFill>
                  <a:srgbClr val="9CDCFE"/>
                </a:solidFill>
                <a:latin typeface="Consolas"/>
              </a:rPr>
              <a:t>input</a:t>
            </a:r>
            <a:r>
              <a:rPr lang="en-US" sz="1100">
                <a:solidFill>
                  <a:srgbClr val="D4D4D4"/>
                </a:solidFill>
                <a:latin typeface="Consolas"/>
              </a:rPr>
              <a:t>) </a:t>
            </a:r>
            <a:r>
              <a:rPr lang="en-US" sz="1100">
                <a:solidFill>
                  <a:srgbClr val="569CD6"/>
                </a:solidFill>
                <a:latin typeface="Consolas"/>
              </a:rPr>
              <a:t>=&gt;</a:t>
            </a:r>
            <a:r>
              <a:rPr lang="en-US" sz="1100">
                <a:solidFill>
                  <a:srgbClr val="D4D4D4"/>
                </a:solidFill>
                <a:latin typeface="Consolas"/>
              </a:rPr>
              <a:t> {
  </a:t>
            </a:r>
            <a:r>
              <a:rPr lang="en-US" sz="1100">
                <a:solidFill>
                  <a:srgbClr val="C586C0"/>
                </a:solidFill>
                <a:latin typeface="Consolas"/>
              </a:rPr>
              <a:t>return</a:t>
            </a:r>
            <a:r>
              <a:rPr lang="en-US" sz="1100">
                <a:solidFill>
                  <a:srgbClr val="D4D4D4"/>
                </a:solidFill>
                <a:latin typeface="Consolas"/>
              </a:rPr>
              <a:t> (
    </a:t>
            </a:r>
            <a:r>
              <a:rPr lang="en-US" sz="1100">
                <a:solidFill>
                  <a:srgbClr val="569CD6"/>
                </a:solidFill>
                <a:latin typeface="Consolas"/>
              </a:rPr>
              <a:t>typeof</a:t>
            </a:r>
            <a:r>
              <a:rPr lang="en-US" sz="1100">
                <a:solidFill>
                  <a:srgbClr val="D4D4D4"/>
                </a:solidFill>
                <a:latin typeface="Consolas"/>
              </a:rPr>
              <a:t> input === </a:t>
            </a:r>
            <a:r>
              <a:rPr lang="en-US" sz="1100">
                <a:solidFill>
                  <a:srgbClr val="CE9178"/>
                </a:solidFill>
                <a:latin typeface="Consolas"/>
              </a:rPr>
              <a:t>"object"</a:t>
            </a:r>
            <a:r>
              <a:rPr lang="en-US" sz="1100">
                <a:solidFill>
                  <a:srgbClr val="D4D4D4"/>
                </a:solidFill>
                <a:latin typeface="Consolas"/>
              </a:rPr>
              <a:t> &amp;&amp;
    </a:t>
            </a:r>
            <a:r>
              <a:rPr lang="en-US" sz="1100">
                <a:solidFill>
                  <a:srgbClr val="569CD6"/>
                </a:solidFill>
                <a:latin typeface="Consolas"/>
              </a:rPr>
              <a:t>null</a:t>
            </a:r>
            <a:r>
              <a:rPr lang="en-US" sz="1100">
                <a:solidFill>
                  <a:srgbClr val="D4D4D4"/>
                </a:solidFill>
                <a:latin typeface="Consolas"/>
              </a:rPr>
              <a:t> !== input &amp;&amp;
    </a:t>
            </a:r>
            <a:r>
              <a:rPr lang="en-US" sz="1100">
                <a:solidFill>
                  <a:srgbClr val="569CD6"/>
                </a:solidFill>
                <a:latin typeface="Consolas"/>
              </a:rPr>
              <a:t>typeof</a:t>
            </a:r>
            <a:r>
              <a:rPr lang="en-US" sz="1100">
                <a:solidFill>
                  <a:srgbClr val="D4D4D4"/>
                </a:solidFill>
                <a:latin typeface="Consolas"/>
              </a:rPr>
              <a:t> input.id === </a:t>
            </a:r>
            <a:r>
              <a:rPr lang="en-US" sz="1100">
                <a:solidFill>
                  <a:srgbClr val="CE9178"/>
                </a:solidFill>
                <a:latin typeface="Consolas"/>
              </a:rPr>
              <a:t>"string"</a:t>
            </a:r>
            <a:r>
              <a:rPr lang="en-US" sz="1100">
                <a:solidFill>
                  <a:srgbClr val="D4D4D4"/>
                </a:solidFill>
                <a:latin typeface="Consolas"/>
              </a:rPr>
              <a:t> &amp;&amp;
    </a:t>
            </a:r>
            <a:r>
              <a:rPr lang="en-US" sz="1100">
                <a:solidFill>
                  <a:srgbClr val="D16969"/>
                </a:solidFill>
                <a:latin typeface="Consolas"/>
              </a:rPr>
              <a:t>/^[0-9a-f]{8}-.../</a:t>
            </a:r>
            <a:r>
              <a:rPr lang="en-US" sz="1100">
                <a:solidFill>
                  <a:srgbClr val="D4D4D4"/>
                </a:solidFill>
                <a:latin typeface="Consolas"/>
              </a:rPr>
              <a:t>.test(input.id) &amp;&amp;
    </a:t>
            </a:r>
            <a:r>
              <a:rPr lang="en-US" sz="1100">
                <a:solidFill>
                  <a:srgbClr val="569CD6"/>
                </a:solidFill>
                <a:latin typeface="Consolas"/>
              </a:rPr>
              <a:t>typeof</a:t>
            </a:r>
            <a:r>
              <a:rPr lang="en-US" sz="1100">
                <a:solidFill>
                  <a:srgbClr val="D4D4D4"/>
                </a:solidFill>
                <a:latin typeface="Consolas"/>
              </a:rPr>
              <a:t> input.email === </a:t>
            </a:r>
            <a:r>
              <a:rPr lang="en-US" sz="1100">
                <a:solidFill>
                  <a:srgbClr val="CE9178"/>
                </a:solidFill>
                <a:latin typeface="Consolas"/>
              </a:rPr>
              <a:t>"string"</a:t>
            </a:r>
            <a:r>
              <a:rPr lang="en-US" sz="1100">
                <a:solidFill>
                  <a:srgbClr val="D4D4D4"/>
                </a:solidFill>
                <a:latin typeface="Consolas"/>
              </a:rPr>
              <a:t> &amp;&amp;
    </a:t>
            </a:r>
            <a:r>
              <a:rPr lang="en-US" sz="1100">
                <a:solidFill>
                  <a:srgbClr val="D16969"/>
                </a:solidFill>
                <a:latin typeface="Consolas"/>
              </a:rPr>
              <a:t>/^[a-z0-9._%+]+@.../</a:t>
            </a:r>
            <a:r>
              <a:rPr lang="en-US" sz="1100">
                <a:solidFill>
                  <a:srgbClr val="D4D4D4"/>
                </a:solidFill>
                <a:latin typeface="Consolas"/>
              </a:rPr>
              <a:t>.test(input.email) &amp;&amp;
    Number.isInteger(input.age) &amp;&amp;
    input.age &gt;= </a:t>
            </a:r>
            <a:r>
              <a:rPr lang="en-US" sz="1100">
                <a:solidFill>
                  <a:srgbClr val="B5CEA8"/>
                </a:solidFill>
                <a:latin typeface="Consolas"/>
              </a:rPr>
              <a:t>0</a:t>
            </a:r>
            <a:r>
              <a:rPr lang="en-US" sz="1100">
                <a:solidFill>
                  <a:srgbClr val="D4D4D4"/>
                </a:solidFill>
                <a:latin typeface="Consolas"/>
              </a:rPr>
              <a:t> &amp;&amp;
    </a:t>
            </a:r>
            <a:r>
              <a:rPr lang="en-US" sz="1100">
                <a:solidFill>
                  <a:srgbClr val="B5CEA8"/>
                </a:solidFill>
                <a:latin typeface="Consolas"/>
              </a:rPr>
              <a:t>19</a:t>
            </a:r>
            <a:r>
              <a:rPr lang="en-US" sz="1100">
                <a:solidFill>
                  <a:srgbClr val="D4D4D4"/>
                </a:solidFill>
                <a:latin typeface="Consolas"/>
              </a:rPr>
              <a:t> &lt; input.age &amp;&amp;
    </a:t>
            </a:r>
            <a:r>
              <a:rPr lang="en-US" sz="1100">
                <a:solidFill>
                  <a:srgbClr val="B5CEA8"/>
                </a:solidFill>
                <a:latin typeface="Consolas"/>
              </a:rPr>
              <a:t>100</a:t>
            </a:r>
            <a:r>
              <a:rPr lang="en-US" sz="1100">
                <a:solidFill>
                  <a:srgbClr val="D4D4D4"/>
                </a:solidFill>
                <a:latin typeface="Consolas"/>
              </a:rPr>
              <a:t> &gt;= input.age
  )
})</a:t>
            </a:r>
          </a:p>
        </p:txBody>
      </p:sp>
      <p:sp>
        <p:nvSpPr>
          <p:cNvPr id="34" name="화살표: 아래쪽 33">
            <a:extLst>
              <a:ext uri="{FF2B5EF4-FFF2-40B4-BE49-F238E27FC236}">
                <a16:creationId xmlns:a16="http://schemas.microsoft.com/office/drawing/2014/main" id="{A5892466-05D4-4295-8D70-333E08009259}"/>
              </a:ext>
            </a:extLst>
          </p:cNvPr>
          <p:cNvSpPr/>
          <p:nvPr/>
        </p:nvSpPr>
        <p:spPr>
          <a:xfrm>
            <a:off x="8331200" y="3131576"/>
            <a:ext cx="635000" cy="381000"/>
          </a:xfrm>
          <a:prstGeom prst="downArrow">
            <a:avLst/>
          </a:prstGeom>
          <a:solidFill>
            <a:srgbClr val="E8A317"/>
          </a:solidFill>
          <a:ln w="1905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TextBox 34">
            <a:extLst>
              <a:ext uri="{FF2B5EF4-FFF2-40B4-BE49-F238E27FC236}">
                <a16:creationId xmlns:a16="http://schemas.microsoft.com/office/drawing/2014/main" id="{712F32BB-8390-4586-AE6E-087056DA5419}"/>
              </a:ext>
            </a:extLst>
          </p:cNvPr>
          <p:cNvSpPr txBox="1"/>
          <p:nvPr/>
        </p:nvSpPr>
        <p:spPr>
          <a:xfrm>
            <a:off x="9042400" y="3131576"/>
            <a:ext cx="1524000" cy="381000"/>
          </a:xfrm>
          <a:prstGeom prst="rect">
            <a:avLst/>
          </a:prstGeom>
          <a:noFill/>
        </p:spPr>
        <p:txBody>
          <a:bodyPr vertOverflow="overflow" vert="horz" wrap="square" rtlCol="0" anchor="ctr" anchorCtr="0">
            <a:noAutofit/>
          </a:bodyPr>
          <a:lstStyle/>
          <a:p>
            <a:pPr algn="l"/>
            <a:r>
              <a:rPr lang="en-US" sz="1600" b="1">
                <a:solidFill>
                  <a:srgbClr val="E8A317"/>
                </a:solidFill>
              </a:rPr>
              <a:t>transform</a:t>
            </a:r>
          </a:p>
        </p:txBody>
      </p:sp>
    </p:spTree>
    <p:extLst>
      <p:ext uri="{BB962C8B-B14F-4D97-AF65-F5344CB8AC3E}">
        <p14:creationId xmlns:p14="http://schemas.microsoft.com/office/powerpoint/2010/main" val="1808921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015786B-EDF9-4D06-86F8-138A81A37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8AC3B7FA-53FD-4D89-BFA4-2DE5AB860B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제목 1">
            <a:extLst>
              <a:ext uri="{FF2B5EF4-FFF2-40B4-BE49-F238E27FC236}">
                <a16:creationId xmlns:a16="http://schemas.microsoft.com/office/drawing/2014/main" id="{6F7E1FAF-75C5-FC3D-963F-5F77D744713B}"/>
              </a:ext>
            </a:extLst>
          </p:cNvPr>
          <p:cNvSpPr>
            <a:spLocks noGrp="1"/>
          </p:cNvSpPr>
          <p:nvPr>
            <p:ph type="title"/>
          </p:nvPr>
        </p:nvSpPr>
        <p:spPr>
          <a:xfrm>
            <a:off x="1143000" y="609600"/>
            <a:ext cx="6858000" cy="1356360"/>
          </a:xfrm>
        </p:spPr>
        <p:txBody>
          <a:bodyPr vert="horz" lIns="91440" tIns="45720" rIns="91440" bIns="45720" rtlCol="0" anchor="ctr">
            <a:normAutofit/>
          </a:bodyPr>
          <a:lstStyle/>
          <a:p>
            <a:r>
              <a:rPr lang="en-US" dirty="0"/>
              <a:t>Function Calling</a:t>
            </a:r>
          </a:p>
        </p:txBody>
      </p:sp>
      <p:sp>
        <p:nvSpPr>
          <p:cNvPr id="3" name="내용 개체 틀 2">
            <a:extLst>
              <a:ext uri="{FF2B5EF4-FFF2-40B4-BE49-F238E27FC236}">
                <a16:creationId xmlns:a16="http://schemas.microsoft.com/office/drawing/2014/main" id="{1C4DE4F3-BCCF-FE54-AE5D-CF4606D911A2}"/>
              </a:ext>
            </a:extLst>
          </p:cNvPr>
          <p:cNvSpPr>
            <a:spLocks noGrp="1"/>
          </p:cNvSpPr>
          <p:nvPr>
            <p:ph sz="half" idx="1"/>
          </p:nvPr>
        </p:nvSpPr>
        <p:spPr>
          <a:xfrm>
            <a:off x="1143001" y="2057400"/>
            <a:ext cx="6858000" cy="4038600"/>
          </a:xfrm>
        </p:spPr>
        <p:txBody>
          <a:bodyPr vert="horz" lIns="91440" tIns="45720" rIns="91440" bIns="45720" rtlCol="0">
            <a:normAutofit/>
          </a:bodyPr>
          <a:lstStyle/>
          <a:p>
            <a:r>
              <a:rPr lang="en-US" dirty="0"/>
              <a:t>No ambiguity</a:t>
            </a:r>
          </a:p>
          <a:p>
            <a:r>
              <a:rPr lang="en-US" dirty="0"/>
              <a:t>Model neutral</a:t>
            </a:r>
          </a:p>
          <a:p>
            <a:r>
              <a:rPr lang="en-US" dirty="0"/>
              <a:t>Mechanically Verifiable</a:t>
            </a:r>
          </a:p>
          <a:p>
            <a:r>
              <a:rPr lang="en-US" dirty="0"/>
              <a:t>Deterministically Convergent</a:t>
            </a:r>
          </a:p>
          <a:p>
            <a:pPr marL="45720" indent="0">
              <a:buNone/>
            </a:pPr>
            <a:endParaRPr lang="en-US" dirty="0"/>
          </a:p>
          <a:p>
            <a:r>
              <a:rPr lang="ko-KR" dirty="0"/>
              <a:t>Essential for AI in Engineering Design</a:t>
            </a:r>
          </a:p>
          <a:p>
            <a:endParaRPr lang="en-US" dirty="0"/>
          </a:p>
        </p:txBody>
      </p:sp>
      <p:pic>
        <p:nvPicPr>
          <p:cNvPr id="9" name="내용 개체 틀 8">
            <a:extLst>
              <a:ext uri="{FF2B5EF4-FFF2-40B4-BE49-F238E27FC236}">
                <a16:creationId xmlns:a16="http://schemas.microsoft.com/office/drawing/2014/main" id="{A550F7D4-6F8E-527E-61E1-F261BAE5FE2B}"/>
              </a:ext>
            </a:extLst>
          </p:cNvPr>
          <p:cNvPicPr>
            <a:picLocks noGrp="1" noChangeAspect="1"/>
          </p:cNvPicPr>
          <p:nvPr>
            <p:ph sz="half" idx="2"/>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35226" r="26607" b="-2"/>
          <a:stretch>
            <a:fillRect/>
          </a:stretch>
        </p:blipFill>
        <p:spPr>
          <a:xfrm>
            <a:off x="8301386" y="243840"/>
            <a:ext cx="3646837" cy="6377939"/>
          </a:xfrm>
          <a:prstGeom prst="rect">
            <a:avLst/>
          </a:prstGeom>
        </p:spPr>
      </p:pic>
      <p:sp>
        <p:nvSpPr>
          <p:cNvPr id="19" name="Rectangle 18">
            <a:extLst>
              <a:ext uri="{FF2B5EF4-FFF2-40B4-BE49-F238E27FC236}">
                <a16:creationId xmlns:a16="http://schemas.microsoft.com/office/drawing/2014/main" id="{E3C6F6B7-7899-41D8-AB85-2854E032D0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8708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015786B-EDF9-4D06-86F8-138A81A37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8AC3B7FA-53FD-4D89-BFA4-2DE5AB860B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제목 1">
            <a:extLst>
              <a:ext uri="{FF2B5EF4-FFF2-40B4-BE49-F238E27FC236}">
                <a16:creationId xmlns:a16="http://schemas.microsoft.com/office/drawing/2014/main" id="{CE44119D-98CF-2E7F-ABA4-781698F3DAA0}"/>
              </a:ext>
            </a:extLst>
          </p:cNvPr>
          <p:cNvSpPr>
            <a:spLocks noGrp="1"/>
          </p:cNvSpPr>
          <p:nvPr>
            <p:ph type="title"/>
          </p:nvPr>
        </p:nvSpPr>
        <p:spPr>
          <a:xfrm>
            <a:off x="1143000" y="609600"/>
            <a:ext cx="6858000" cy="1356360"/>
          </a:xfrm>
        </p:spPr>
        <p:txBody>
          <a:bodyPr vert="horz" lIns="91440" tIns="45720" rIns="91440" bIns="45720" rtlCol="0" anchor="ctr">
            <a:normAutofit/>
          </a:bodyPr>
          <a:lstStyle/>
          <a:p>
            <a:r>
              <a:rPr lang="en-US" dirty="0"/>
              <a:t>Qwen Series</a:t>
            </a:r>
          </a:p>
        </p:txBody>
      </p:sp>
      <p:sp>
        <p:nvSpPr>
          <p:cNvPr id="3" name="내용 개체 틀 2">
            <a:extLst>
              <a:ext uri="{FF2B5EF4-FFF2-40B4-BE49-F238E27FC236}">
                <a16:creationId xmlns:a16="http://schemas.microsoft.com/office/drawing/2014/main" id="{1E33D8BE-A99B-5643-CE6D-077D2B2ED721}"/>
              </a:ext>
            </a:extLst>
          </p:cNvPr>
          <p:cNvSpPr>
            <a:spLocks noGrp="1"/>
          </p:cNvSpPr>
          <p:nvPr>
            <p:ph sz="half" idx="1"/>
          </p:nvPr>
        </p:nvSpPr>
        <p:spPr>
          <a:xfrm>
            <a:off x="1143001" y="2057400"/>
            <a:ext cx="6858000" cy="4038600"/>
          </a:xfrm>
        </p:spPr>
        <p:txBody>
          <a:bodyPr vert="horz" lIns="91440" tIns="45720" rIns="91440" bIns="45720" rtlCol="0">
            <a:normAutofit/>
          </a:bodyPr>
          <a:lstStyle/>
          <a:p>
            <a:r>
              <a:rPr lang="en-US" dirty="0"/>
              <a:t>The best performance for tool calling</a:t>
            </a:r>
          </a:p>
          <a:p>
            <a:pPr lvl="1"/>
            <a:r>
              <a:rPr lang="en-US" dirty="0"/>
              <a:t>In small/middle sized models</a:t>
            </a:r>
          </a:p>
          <a:p>
            <a:endParaRPr lang="en-US" dirty="0"/>
          </a:p>
          <a:p>
            <a:r>
              <a:rPr lang="en-US" dirty="0"/>
              <a:t>Smaller models are the Best for QA</a:t>
            </a:r>
          </a:p>
          <a:p>
            <a:pPr lvl="1"/>
            <a:r>
              <a:rPr lang="en-US" dirty="0"/>
              <a:t>Take more mistakes</a:t>
            </a:r>
          </a:p>
          <a:p>
            <a:pPr lvl="1"/>
            <a:r>
              <a:rPr lang="en-US" dirty="0"/>
              <a:t>Expose system vulnerabilities</a:t>
            </a:r>
          </a:p>
          <a:p>
            <a:pPr lvl="1"/>
            <a:r>
              <a:rPr lang="en-US" dirty="0"/>
              <a:t>Suitable for debugging</a:t>
            </a:r>
          </a:p>
        </p:txBody>
      </p:sp>
      <p:pic>
        <p:nvPicPr>
          <p:cNvPr id="7" name="내용 개체 틀 6">
            <a:extLst>
              <a:ext uri="{FF2B5EF4-FFF2-40B4-BE49-F238E27FC236}">
                <a16:creationId xmlns:a16="http://schemas.microsoft.com/office/drawing/2014/main" id="{C991E99E-2170-AA7E-758F-E7D5C75FD6AB}"/>
              </a:ext>
            </a:extLst>
          </p:cNvPr>
          <p:cNvPicPr>
            <a:picLocks noGrp="1" noChangeAspect="1"/>
          </p:cNvPicPr>
          <p:nvPr>
            <p:ph sz="half" idx="2"/>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9093" r="42739" b="-2"/>
          <a:stretch>
            <a:fillRect/>
          </a:stretch>
        </p:blipFill>
        <p:spPr>
          <a:xfrm>
            <a:off x="8301386" y="243840"/>
            <a:ext cx="3646837" cy="6377939"/>
          </a:xfrm>
          <a:prstGeom prst="rect">
            <a:avLst/>
          </a:prstGeom>
        </p:spPr>
      </p:pic>
      <p:sp>
        <p:nvSpPr>
          <p:cNvPr id="25" name="Rectangle 24">
            <a:extLst>
              <a:ext uri="{FF2B5EF4-FFF2-40B4-BE49-F238E27FC236}">
                <a16:creationId xmlns:a16="http://schemas.microsoft.com/office/drawing/2014/main" id="{E3C6F6B7-7899-41D8-AB85-2854E032D0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225542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104E71D-46AD-4098-B3F1-71C5B5AD2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ko-KR" altLang="en-US"/>
          </a:p>
        </p:txBody>
      </p:sp>
      <p:sp>
        <p:nvSpPr>
          <p:cNvPr id="14" name="Rectangle 13">
            <a:extLst>
              <a:ext uri="{FF2B5EF4-FFF2-40B4-BE49-F238E27FC236}">
                <a16:creationId xmlns:a16="http://schemas.microsoft.com/office/drawing/2014/main" id="{37E75FFA-2B8C-4584-9D0D-8297565777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ko-KR" altLang="en-US"/>
          </a:p>
        </p:txBody>
      </p:sp>
      <p:cxnSp>
        <p:nvCxnSpPr>
          <p:cNvPr id="16" name="Straight Connector 15">
            <a:extLst>
              <a:ext uri="{FF2B5EF4-FFF2-40B4-BE49-F238E27FC236}">
                <a16:creationId xmlns:a16="http://schemas.microsoft.com/office/drawing/2014/main" id="{97345835-04CD-49BE-B105-1B4770F29A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536C624B-ED18-4865-996C-E1304AA1D3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bg1"/>
          </a:soli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orbel" panose="020B0503020204020204"/>
              <a:ea typeface="+mn-ea"/>
              <a:cs typeface="+mn-cs"/>
            </a:endParaRPr>
          </a:p>
        </p:txBody>
      </p:sp>
      <p:sp>
        <p:nvSpPr>
          <p:cNvPr id="5" name="제목 4">
            <a:extLst>
              <a:ext uri="{FF2B5EF4-FFF2-40B4-BE49-F238E27FC236}">
                <a16:creationId xmlns:a16="http://schemas.microsoft.com/office/drawing/2014/main" id="{9601C168-5FD2-89D5-F54F-C268949B13D8}"/>
              </a:ext>
            </a:extLst>
          </p:cNvPr>
          <p:cNvSpPr>
            <a:spLocks noGrp="1"/>
          </p:cNvSpPr>
          <p:nvPr>
            <p:ph type="title"/>
          </p:nvPr>
        </p:nvSpPr>
        <p:spPr>
          <a:xfrm>
            <a:off x="8369995" y="688255"/>
            <a:ext cx="3133839" cy="4118255"/>
          </a:xfrm>
          <a:noFill/>
          <a:ln w="12700" cmpd="sng">
            <a:noFill/>
          </a:ln>
        </p:spPr>
        <p:txBody>
          <a:bodyPr vert="horz" lIns="91440" tIns="45720" rIns="91440" bIns="45720" rtlCol="0" anchor="ctr">
            <a:normAutofit/>
          </a:bodyPr>
          <a:lstStyle/>
          <a:p>
            <a:pPr algn="r"/>
            <a:r>
              <a:rPr lang="en-US" altLang="ko-KR" sz="3600" b="1"/>
              <a:t>Preface</a:t>
            </a:r>
          </a:p>
        </p:txBody>
      </p:sp>
      <p:sp>
        <p:nvSpPr>
          <p:cNvPr id="6" name="텍스트 개체 틀 5">
            <a:extLst>
              <a:ext uri="{FF2B5EF4-FFF2-40B4-BE49-F238E27FC236}">
                <a16:creationId xmlns:a16="http://schemas.microsoft.com/office/drawing/2014/main" id="{66F6175C-D960-8A4D-F7F5-E484D96607BF}"/>
              </a:ext>
            </a:extLst>
          </p:cNvPr>
          <p:cNvSpPr>
            <a:spLocks noGrp="1"/>
          </p:cNvSpPr>
          <p:nvPr>
            <p:ph type="body" idx="1"/>
          </p:nvPr>
        </p:nvSpPr>
        <p:spPr>
          <a:xfrm>
            <a:off x="8369995" y="5190814"/>
            <a:ext cx="3133839" cy="1496706"/>
          </a:xfrm>
        </p:spPr>
        <p:txBody>
          <a:bodyPr vert="horz" lIns="91440" tIns="45720" rIns="91440" bIns="45720" rtlCol="0" anchor="t">
            <a:normAutofit/>
          </a:bodyPr>
          <a:lstStyle/>
          <a:p>
            <a:pPr algn="r"/>
            <a:r>
              <a:rPr lang="en-US" altLang="ko-KR" sz="2000" dirty="0"/>
              <a:t>Industrial Consensus</a:t>
            </a:r>
          </a:p>
          <a:p>
            <a:pPr algn="r"/>
            <a:r>
              <a:rPr lang="en-US" altLang="ko-KR" sz="2000" dirty="0"/>
              <a:t>No Alternative Solution</a:t>
            </a:r>
          </a:p>
          <a:p>
            <a:pPr algn="r"/>
            <a:r>
              <a:rPr lang="en-US" altLang="ko-KR" sz="2000" dirty="0"/>
              <a:t>Harness Engineering</a:t>
            </a:r>
          </a:p>
        </p:txBody>
      </p:sp>
      <p:pic>
        <p:nvPicPr>
          <p:cNvPr id="8" name="Picture 7" descr="천연가스 직화식 발전소">
            <a:extLst>
              <a:ext uri="{FF2B5EF4-FFF2-40B4-BE49-F238E27FC236}">
                <a16:creationId xmlns:a16="http://schemas.microsoft.com/office/drawing/2014/main" id="{7026ED6F-777F-01AC-E877-7D86A934E73B}"/>
              </a:ext>
            </a:extLst>
          </p:cNvPr>
          <p:cNvPicPr>
            <a:picLocks noChangeAspect="1"/>
          </p:cNvPicPr>
          <p:nvPr/>
        </p:nvPicPr>
        <p:blipFill>
          <a:blip r:embed="rId3"/>
          <a:srcRect r="20870" b="-1"/>
          <a:stretch>
            <a:fillRect/>
          </a:stretch>
        </p:blipFill>
        <p:spPr>
          <a:xfrm>
            <a:off x="20" y="10"/>
            <a:ext cx="8129852" cy="6857990"/>
          </a:xfrm>
          <a:prstGeom prst="rect">
            <a:avLst/>
          </a:prstGeom>
        </p:spPr>
      </p:pic>
      <p:sp>
        <p:nvSpPr>
          <p:cNvPr id="20" name="Rectangle 19">
            <a:extLst>
              <a:ext uri="{FF2B5EF4-FFF2-40B4-BE49-F238E27FC236}">
                <a16:creationId xmlns:a16="http://schemas.microsoft.com/office/drawing/2014/main" id="{D4A0D997-BC4A-4DB2-B8DB-093486DC57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7670768"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ko-KR" altLang="en-US"/>
          </a:p>
        </p:txBody>
      </p:sp>
      <p:cxnSp>
        <p:nvCxnSpPr>
          <p:cNvPr id="22" name="Straight Connector 21">
            <a:extLst>
              <a:ext uri="{FF2B5EF4-FFF2-40B4-BE49-F238E27FC236}">
                <a16:creationId xmlns:a16="http://schemas.microsoft.com/office/drawing/2014/main" id="{6DB4DA53-D7AC-481E-B130-9C190E76CA1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3991" y="5044695"/>
            <a:ext cx="53689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7809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015786B-EDF9-4D06-86F8-138A81A37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 name="내용 개체 틀 4">
            <a:extLst>
              <a:ext uri="{FF2B5EF4-FFF2-40B4-BE49-F238E27FC236}">
                <a16:creationId xmlns:a16="http://schemas.microsoft.com/office/drawing/2014/main" id="{D2011417-BF60-8960-E3B9-4B0212957168}"/>
              </a:ext>
            </a:extLst>
          </p:cNvPr>
          <p:cNvPicPr>
            <a:picLocks noGrp="1" noChangeAspect="1"/>
          </p:cNvPicPr>
          <p:nvPr>
            <p:ph sz="half" idx="2"/>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5413"/>
          <a:stretch>
            <a:fillRect/>
          </a:stretch>
        </p:blipFill>
        <p:spPr>
          <a:xfrm>
            <a:off x="20" y="10"/>
            <a:ext cx="12191980" cy="6857990"/>
          </a:xfrm>
          <a:prstGeom prst="rect">
            <a:avLst/>
          </a:prstGeom>
        </p:spPr>
      </p:pic>
      <p:sp>
        <p:nvSpPr>
          <p:cNvPr id="29" name="Rectangle 28">
            <a:extLst>
              <a:ext uri="{FF2B5EF4-FFF2-40B4-BE49-F238E27FC236}">
                <a16:creationId xmlns:a16="http://schemas.microsoft.com/office/drawing/2014/main" id="{F60C7704-7D68-4C16-8EA9-2E13DDE0C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alpha val="92000"/>
            </a:schemeClr>
          </a:solidFill>
          <a:ln w="12700">
            <a:solidFill>
              <a:schemeClr val="tx1">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제목 1">
            <a:extLst>
              <a:ext uri="{FF2B5EF4-FFF2-40B4-BE49-F238E27FC236}">
                <a16:creationId xmlns:a16="http://schemas.microsoft.com/office/drawing/2014/main" id="{3034AA81-6371-8F31-0BD7-FCBE65BE1E84}"/>
              </a:ext>
            </a:extLst>
          </p:cNvPr>
          <p:cNvSpPr>
            <a:spLocks noGrp="1"/>
          </p:cNvSpPr>
          <p:nvPr>
            <p:ph type="title"/>
          </p:nvPr>
        </p:nvSpPr>
        <p:spPr>
          <a:xfrm>
            <a:off x="1143000" y="609600"/>
            <a:ext cx="9875520" cy="1356360"/>
          </a:xfrm>
        </p:spPr>
        <p:txBody>
          <a:bodyPr vert="horz" lIns="91440" tIns="45720" rIns="91440" bIns="45720" rtlCol="0" anchor="ctr">
            <a:normAutofit/>
          </a:bodyPr>
          <a:lstStyle/>
          <a:p>
            <a:r>
              <a:rPr lang="en-US" dirty="0"/>
              <a:t>1. Industrial Consensus</a:t>
            </a:r>
          </a:p>
        </p:txBody>
      </p:sp>
      <p:sp>
        <p:nvSpPr>
          <p:cNvPr id="6" name="내용 개체 틀 5">
            <a:extLst>
              <a:ext uri="{FF2B5EF4-FFF2-40B4-BE49-F238E27FC236}">
                <a16:creationId xmlns:a16="http://schemas.microsoft.com/office/drawing/2014/main" id="{8B2ACF5B-317C-63CE-466D-2768FA0EF1EF}"/>
              </a:ext>
            </a:extLst>
          </p:cNvPr>
          <p:cNvSpPr>
            <a:spLocks noGrp="1"/>
          </p:cNvSpPr>
          <p:nvPr>
            <p:ph sz="half" idx="1"/>
          </p:nvPr>
        </p:nvSpPr>
        <p:spPr>
          <a:xfrm>
            <a:off x="1143000" y="2057400"/>
            <a:ext cx="9872871" cy="4038600"/>
          </a:xfrm>
        </p:spPr>
        <p:txBody>
          <a:bodyPr vert="horz" lIns="91440" tIns="45720" rIns="91440" bIns="45720" rtlCol="0">
            <a:normAutofit/>
          </a:bodyPr>
          <a:lstStyle/>
          <a:p>
            <a:r>
              <a:rPr lang="en-US" dirty="0"/>
              <a:t>NESTFUL (EMNLP 2025)</a:t>
            </a:r>
          </a:p>
          <a:p>
            <a:pPr lvl="1"/>
            <a:r>
              <a:rPr lang="en-US" dirty="0"/>
              <a:t>GPT-4o: 28% accuracy on nested tool call sequences</a:t>
            </a:r>
          </a:p>
          <a:p>
            <a:pPr lvl="1"/>
            <a:r>
              <a:rPr lang="en-US" dirty="0">
                <a:hlinkClick r:id="rId5"/>
              </a:rPr>
              <a:t>https://arxiv.org/abs/2409.03797</a:t>
            </a:r>
            <a:endParaRPr lang="en-US" dirty="0"/>
          </a:p>
          <a:p>
            <a:r>
              <a:rPr lang="en-US"/>
              <a:t>JSONSchemaBench</a:t>
            </a:r>
            <a:r>
              <a:rPr lang="en-US" dirty="0"/>
              <a:t> (ICLR 2025)</a:t>
            </a:r>
          </a:p>
          <a:p>
            <a:pPr lvl="1"/>
            <a:r>
              <a:rPr lang="en-US" dirty="0"/>
              <a:t>3~41% </a:t>
            </a:r>
            <a:r>
              <a:rPr lang="en-US"/>
              <a:t>converage</a:t>
            </a:r>
            <a:r>
              <a:rPr lang="en-US" dirty="0"/>
              <a:t> on 10,000 real-world schemas (hardest tier)</a:t>
            </a:r>
          </a:p>
          <a:p>
            <a:pPr lvl="1"/>
            <a:r>
              <a:rPr lang="en-US" dirty="0">
                <a:hlinkClick r:id="rId6"/>
              </a:rPr>
              <a:t>https://arxiv.org/abs/2501.10868</a:t>
            </a:r>
            <a:endParaRPr lang="en-US" dirty="0"/>
          </a:p>
          <a:p>
            <a:r>
              <a:rPr lang="en-US"/>
              <a:t>BoundaryML</a:t>
            </a:r>
            <a:r>
              <a:rPr lang="en-US" dirty="0"/>
              <a:t> (Blog)</a:t>
            </a:r>
          </a:p>
          <a:p>
            <a:pPr lvl="1"/>
            <a:r>
              <a:rPr lang="en-US" dirty="0"/>
              <a:t>Structured outputs actively degrade model reasoning</a:t>
            </a:r>
          </a:p>
          <a:p>
            <a:pPr lvl="1"/>
            <a:r>
              <a:rPr lang="en-US" dirty="0">
                <a:hlinkClick r:id="rId7"/>
              </a:rPr>
              <a:t>https://boundaryml.com/blog/structured-outputs-create-false-confidence</a:t>
            </a:r>
            <a:endParaRPr lang="en-US" dirty="0"/>
          </a:p>
        </p:txBody>
      </p:sp>
    </p:spTree>
    <p:extLst>
      <p:ext uri="{BB962C8B-B14F-4D97-AF65-F5344CB8AC3E}">
        <p14:creationId xmlns:p14="http://schemas.microsoft.com/office/powerpoint/2010/main" val="731108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3015786B-EDF9-4D06-86F8-138A81A37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6F94B7DC-18F5-4439-9488-E5B730BBB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제목 1">
            <a:extLst>
              <a:ext uri="{FF2B5EF4-FFF2-40B4-BE49-F238E27FC236}">
                <a16:creationId xmlns:a16="http://schemas.microsoft.com/office/drawing/2014/main" id="{10BB0A13-3BEC-0A01-5B45-4B8D50ED58DB}"/>
              </a:ext>
            </a:extLst>
          </p:cNvPr>
          <p:cNvSpPr>
            <a:spLocks noGrp="1"/>
          </p:cNvSpPr>
          <p:nvPr>
            <p:ph type="title"/>
          </p:nvPr>
        </p:nvSpPr>
        <p:spPr>
          <a:xfrm>
            <a:off x="4439242" y="609600"/>
            <a:ext cx="6579277" cy="1356360"/>
          </a:xfrm>
        </p:spPr>
        <p:txBody>
          <a:bodyPr vert="horz" lIns="91440" tIns="45720" rIns="91440" bIns="45720" rtlCol="0" anchor="ctr">
            <a:normAutofit/>
          </a:bodyPr>
          <a:lstStyle/>
          <a:p>
            <a:r>
              <a:rPr lang="en-US" dirty="0"/>
              <a:t>2. No Alternative Solution</a:t>
            </a:r>
          </a:p>
        </p:txBody>
      </p:sp>
      <p:pic>
        <p:nvPicPr>
          <p:cNvPr id="9" name="내용 개체 틀 8">
            <a:extLst>
              <a:ext uri="{FF2B5EF4-FFF2-40B4-BE49-F238E27FC236}">
                <a16:creationId xmlns:a16="http://schemas.microsoft.com/office/drawing/2014/main" id="{9CE5FFA4-4316-6ABB-80C9-3BE97DA914AA}"/>
              </a:ext>
            </a:extLst>
          </p:cNvPr>
          <p:cNvPicPr>
            <a:picLocks noGrp="1" noChangeAspect="1"/>
          </p:cNvPicPr>
          <p:nvPr>
            <p:ph sz="half" idx="2"/>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0014" r="22808" b="1"/>
          <a:stretch>
            <a:fillRect/>
          </a:stretch>
        </p:blipFill>
        <p:spPr>
          <a:xfrm>
            <a:off x="232861" y="243840"/>
            <a:ext cx="3646837" cy="6377939"/>
          </a:xfrm>
          <a:prstGeom prst="rect">
            <a:avLst/>
          </a:prstGeom>
        </p:spPr>
      </p:pic>
      <p:sp>
        <p:nvSpPr>
          <p:cNvPr id="3" name="내용 개체 틀 2">
            <a:extLst>
              <a:ext uri="{FF2B5EF4-FFF2-40B4-BE49-F238E27FC236}">
                <a16:creationId xmlns:a16="http://schemas.microsoft.com/office/drawing/2014/main" id="{0B2450DD-D731-869C-D857-BF2966BAE39B}"/>
              </a:ext>
            </a:extLst>
          </p:cNvPr>
          <p:cNvSpPr>
            <a:spLocks noGrp="1"/>
          </p:cNvSpPr>
          <p:nvPr>
            <p:ph sz="half" idx="1"/>
          </p:nvPr>
        </p:nvSpPr>
        <p:spPr>
          <a:xfrm>
            <a:off x="4439242" y="2057400"/>
            <a:ext cx="6576629" cy="4038600"/>
          </a:xfrm>
        </p:spPr>
        <p:txBody>
          <a:bodyPr vert="horz" lIns="91440" tIns="45720" rIns="91440" bIns="45720" rtlCol="0">
            <a:normAutofit/>
          </a:bodyPr>
          <a:lstStyle/>
          <a:p>
            <a:r>
              <a:rPr lang="en-US" sz="2000"/>
              <a:t>In Engineering Field,</a:t>
            </a:r>
          </a:p>
          <a:p>
            <a:endParaRPr lang="en-US" sz="2000"/>
          </a:p>
          <a:p>
            <a:r>
              <a:rPr lang="en-US" sz="2000"/>
              <a:t>Free-form text cannot be mechanically verified</a:t>
            </a:r>
          </a:p>
          <a:p>
            <a:r>
              <a:rPr lang="en-US" sz="2000"/>
              <a:t>Without structure, there can't be mechanical feedback</a:t>
            </a:r>
          </a:p>
          <a:p>
            <a:r>
              <a:rPr lang="en-US" sz="2000"/>
              <a:t>Without mechanical feedback, no guarantee</a:t>
            </a:r>
          </a:p>
          <a:p>
            <a:endParaRPr lang="en-US" sz="2000"/>
          </a:p>
          <a:p>
            <a:r>
              <a:rPr lang="en-US" sz="2000"/>
              <a:t>So we have to make function calling work</a:t>
            </a:r>
          </a:p>
          <a:p>
            <a:r>
              <a:rPr lang="en-US" sz="2000"/>
              <a:t>There's no other path for engineering purpose</a:t>
            </a:r>
          </a:p>
        </p:txBody>
      </p:sp>
      <p:sp>
        <p:nvSpPr>
          <p:cNvPr id="27" name="Rectangle 26">
            <a:extLst>
              <a:ext uri="{FF2B5EF4-FFF2-40B4-BE49-F238E27FC236}">
                <a16:creationId xmlns:a16="http://schemas.microsoft.com/office/drawing/2014/main" id="{F4861B3C-221F-4FEE-BC20-58155E285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3840"/>
            <a:ext cx="11724640" cy="637793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869265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015786B-EDF9-4D06-86F8-138A81A37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6F94B7DC-18F5-4439-9488-E5B730BBB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제목 1">
            <a:extLst>
              <a:ext uri="{FF2B5EF4-FFF2-40B4-BE49-F238E27FC236}">
                <a16:creationId xmlns:a16="http://schemas.microsoft.com/office/drawing/2014/main" id="{C745F241-382C-CA91-9CC9-2EE3E34BF765}"/>
              </a:ext>
            </a:extLst>
          </p:cNvPr>
          <p:cNvSpPr>
            <a:spLocks noGrp="1"/>
          </p:cNvSpPr>
          <p:nvPr>
            <p:ph type="title"/>
          </p:nvPr>
        </p:nvSpPr>
        <p:spPr>
          <a:xfrm>
            <a:off x="4439242" y="609600"/>
            <a:ext cx="6579277" cy="1356360"/>
          </a:xfrm>
        </p:spPr>
        <p:txBody>
          <a:bodyPr vert="horz" lIns="91440" tIns="45720" rIns="91440" bIns="45720" rtlCol="0" anchor="ctr">
            <a:normAutofit/>
          </a:bodyPr>
          <a:lstStyle/>
          <a:p>
            <a:r>
              <a:rPr lang="en-US" dirty="0"/>
              <a:t>3. Harness Engineering</a:t>
            </a:r>
          </a:p>
        </p:txBody>
      </p:sp>
      <p:pic>
        <p:nvPicPr>
          <p:cNvPr id="15" name="내용 개체 틀 14">
            <a:extLst>
              <a:ext uri="{FF2B5EF4-FFF2-40B4-BE49-F238E27FC236}">
                <a16:creationId xmlns:a16="http://schemas.microsoft.com/office/drawing/2014/main" id="{3A6919A3-5E4D-1621-5F26-71C4468901F3}"/>
              </a:ext>
            </a:extLst>
          </p:cNvPr>
          <p:cNvPicPr>
            <a:picLocks noGrp="1" noChangeAspect="1"/>
          </p:cNvPicPr>
          <p:nvPr>
            <p:ph sz="half" idx="2"/>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9538" r="32294" b="-2"/>
          <a:stretch>
            <a:fillRect/>
          </a:stretch>
        </p:blipFill>
        <p:spPr>
          <a:xfrm>
            <a:off x="232861" y="243840"/>
            <a:ext cx="3646837" cy="6377939"/>
          </a:xfrm>
          <a:prstGeom prst="rect">
            <a:avLst/>
          </a:prstGeom>
        </p:spPr>
      </p:pic>
      <p:sp>
        <p:nvSpPr>
          <p:cNvPr id="3" name="내용 개체 틀 2">
            <a:extLst>
              <a:ext uri="{FF2B5EF4-FFF2-40B4-BE49-F238E27FC236}">
                <a16:creationId xmlns:a16="http://schemas.microsoft.com/office/drawing/2014/main" id="{D623A6D3-0983-F134-05B3-80242D24CCD7}"/>
              </a:ext>
            </a:extLst>
          </p:cNvPr>
          <p:cNvSpPr>
            <a:spLocks noGrp="1"/>
          </p:cNvSpPr>
          <p:nvPr>
            <p:ph sz="half" idx="1"/>
          </p:nvPr>
        </p:nvSpPr>
        <p:spPr>
          <a:xfrm>
            <a:off x="4439242" y="2057400"/>
            <a:ext cx="7388485" cy="4038600"/>
          </a:xfrm>
        </p:spPr>
        <p:txBody>
          <a:bodyPr vert="horz" lIns="91440" tIns="45720" rIns="91440" bIns="45720" rtlCol="0">
            <a:normAutofit/>
          </a:bodyPr>
          <a:lstStyle/>
          <a:p>
            <a:r>
              <a:rPr lang="en-US" dirty="0"/>
              <a:t>Success Rate for extremely complicate type</a:t>
            </a:r>
          </a:p>
          <a:p>
            <a:pPr lvl="1"/>
            <a:r>
              <a:rPr lang="en-US" dirty="0"/>
              <a:t>Qwen3-coder-next for DTO schema design: 6.75%</a:t>
            </a:r>
          </a:p>
          <a:p>
            <a:pPr lvl="1"/>
            <a:r>
              <a:rPr lang="en-US" dirty="0"/>
              <a:t>GPT 5.4 for API specification reviewing: 9.91%</a:t>
            </a:r>
          </a:p>
          <a:p>
            <a:r>
              <a:rPr lang="en-US" dirty="0"/>
              <a:t>The answer was not a better model or a smarter prompt</a:t>
            </a:r>
          </a:p>
          <a:p>
            <a:pPr lvl="1"/>
            <a:r>
              <a:rPr lang="en-US" dirty="0"/>
              <a:t>It was on the harness engineering</a:t>
            </a:r>
          </a:p>
          <a:p>
            <a:pPr lvl="1"/>
            <a:r>
              <a:rPr lang="en-US" dirty="0"/>
              <a:t>Combined with Compiler Skills</a:t>
            </a:r>
          </a:p>
          <a:p>
            <a:endParaRPr lang="en-US" dirty="0"/>
          </a:p>
        </p:txBody>
      </p:sp>
      <p:sp>
        <p:nvSpPr>
          <p:cNvPr id="24" name="Rectangle 23">
            <a:extLst>
              <a:ext uri="{FF2B5EF4-FFF2-40B4-BE49-F238E27FC236}">
                <a16:creationId xmlns:a16="http://schemas.microsoft.com/office/drawing/2014/main" id="{F4861B3C-221F-4FEE-BC20-58155E285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3840"/>
            <a:ext cx="11724640" cy="637793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646245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015786B-EDF9-4D06-86F8-138A81A37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6F94B7DC-18F5-4439-9488-E5B730BBB3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제목 1">
            <a:extLst>
              <a:ext uri="{FF2B5EF4-FFF2-40B4-BE49-F238E27FC236}">
                <a16:creationId xmlns:a16="http://schemas.microsoft.com/office/drawing/2014/main" id="{C745F241-382C-CA91-9CC9-2EE3E34BF765}"/>
              </a:ext>
            </a:extLst>
          </p:cNvPr>
          <p:cNvSpPr>
            <a:spLocks noGrp="1"/>
          </p:cNvSpPr>
          <p:nvPr>
            <p:ph type="title"/>
          </p:nvPr>
        </p:nvSpPr>
        <p:spPr>
          <a:xfrm>
            <a:off x="4439242" y="609600"/>
            <a:ext cx="6579277" cy="1356360"/>
          </a:xfrm>
        </p:spPr>
        <p:txBody>
          <a:bodyPr vert="horz" lIns="91440" tIns="45720" rIns="91440" bIns="45720" rtlCol="0" anchor="ctr">
            <a:normAutofit/>
          </a:bodyPr>
          <a:lstStyle/>
          <a:p>
            <a:r>
              <a:rPr lang="en-US" dirty="0"/>
              <a:t>3. Harness Engineering</a:t>
            </a:r>
          </a:p>
        </p:txBody>
      </p:sp>
      <p:pic>
        <p:nvPicPr>
          <p:cNvPr id="15" name="내용 개체 틀 14">
            <a:extLst>
              <a:ext uri="{FF2B5EF4-FFF2-40B4-BE49-F238E27FC236}">
                <a16:creationId xmlns:a16="http://schemas.microsoft.com/office/drawing/2014/main" id="{3A6919A3-5E4D-1621-5F26-71C4468901F3}"/>
              </a:ext>
            </a:extLst>
          </p:cNvPr>
          <p:cNvPicPr>
            <a:picLocks noGrp="1" noChangeAspect="1"/>
          </p:cNvPicPr>
          <p:nvPr>
            <p:ph sz="half" idx="2"/>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9538" r="32294" b="-2"/>
          <a:stretch>
            <a:fillRect/>
          </a:stretch>
        </p:blipFill>
        <p:spPr>
          <a:xfrm>
            <a:off x="232861" y="243840"/>
            <a:ext cx="3646837" cy="6377939"/>
          </a:xfrm>
          <a:prstGeom prst="rect">
            <a:avLst/>
          </a:prstGeom>
        </p:spPr>
      </p:pic>
      <p:sp>
        <p:nvSpPr>
          <p:cNvPr id="3" name="내용 개체 틀 2">
            <a:extLst>
              <a:ext uri="{FF2B5EF4-FFF2-40B4-BE49-F238E27FC236}">
                <a16:creationId xmlns:a16="http://schemas.microsoft.com/office/drawing/2014/main" id="{D623A6D3-0983-F134-05B3-80242D24CCD7}"/>
              </a:ext>
            </a:extLst>
          </p:cNvPr>
          <p:cNvSpPr>
            <a:spLocks noGrp="1"/>
          </p:cNvSpPr>
          <p:nvPr>
            <p:ph sz="half" idx="1"/>
          </p:nvPr>
        </p:nvSpPr>
        <p:spPr>
          <a:xfrm>
            <a:off x="4439242" y="2057400"/>
            <a:ext cx="7388485" cy="4038600"/>
          </a:xfrm>
        </p:spPr>
        <p:txBody>
          <a:bodyPr vert="horz" lIns="91440" tIns="45720" rIns="91440" bIns="45720" rtlCol="0">
            <a:normAutofit/>
          </a:bodyPr>
          <a:lstStyle/>
          <a:p>
            <a:r>
              <a:rPr lang="en-US" dirty="0"/>
              <a:t>100% success — all four Qwen models</a:t>
            </a:r>
          </a:p>
          <a:p>
            <a:endParaRPr lang="en-US" dirty="0"/>
          </a:p>
          <a:p>
            <a:r>
              <a:rPr lang="en-US" dirty="0"/>
              <a:t>The answer was not a better model or a smarter prompt.</a:t>
            </a:r>
          </a:p>
          <a:p>
            <a:r>
              <a:rPr lang="en-US" b="1" dirty="0"/>
              <a:t>It was a harness.</a:t>
            </a:r>
          </a:p>
          <a:p>
            <a:endParaRPr lang="en-US" dirty="0"/>
          </a:p>
          <a:p>
            <a:r>
              <a:rPr lang="en-US" dirty="0"/>
              <a:t>Type schemas that constrain</a:t>
            </a:r>
          </a:p>
          <a:p>
            <a:r>
              <a:rPr lang="en-US" dirty="0"/>
              <a:t>+ compilers that verify</a:t>
            </a:r>
          </a:p>
          <a:p>
            <a:r>
              <a:rPr lang="en-US" dirty="0"/>
              <a:t>+ feedback that corrects</a:t>
            </a:r>
          </a:p>
        </p:txBody>
      </p:sp>
      <p:sp>
        <p:nvSpPr>
          <p:cNvPr id="24" name="Rectangle 23">
            <a:extLst>
              <a:ext uri="{FF2B5EF4-FFF2-40B4-BE49-F238E27FC236}">
                <a16:creationId xmlns:a16="http://schemas.microsoft.com/office/drawing/2014/main" id="{F4861B3C-221F-4FEE-BC20-58155E285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3840"/>
            <a:ext cx="11724640" cy="637793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44012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94F6BCA3-D77A-2C83-4220-DA6D396D56F3}"/>
              </a:ext>
            </a:extLst>
          </p:cNvPr>
          <p:cNvSpPr>
            <a:spLocks noGrp="1"/>
          </p:cNvSpPr>
          <p:nvPr>
            <p:ph type="title"/>
          </p:nvPr>
        </p:nvSpPr>
        <p:spPr/>
        <p:txBody>
          <a:bodyPr/>
          <a:lstStyle/>
          <a:p>
            <a:r>
              <a:rPr lang="en-US" dirty="0" err="1"/>
              <a:t>AutoBe</a:t>
            </a:r>
            <a:endParaRPr lang="en-US" dirty="0"/>
          </a:p>
        </p:txBody>
      </p:sp>
      <p:sp>
        <p:nvSpPr>
          <p:cNvPr id="5" name="텍스트 개체 틀 4">
            <a:extLst>
              <a:ext uri="{FF2B5EF4-FFF2-40B4-BE49-F238E27FC236}">
                <a16:creationId xmlns:a16="http://schemas.microsoft.com/office/drawing/2014/main" id="{F21A9C84-B10D-A982-2F57-31A2A4DFE2F8}"/>
              </a:ext>
            </a:extLst>
          </p:cNvPr>
          <p:cNvSpPr>
            <a:spLocks noGrp="1"/>
          </p:cNvSpPr>
          <p:nvPr>
            <p:ph type="body" idx="1"/>
          </p:nvPr>
        </p:nvSpPr>
        <p:spPr/>
        <p:txBody>
          <a:bodyPr/>
          <a:lstStyle/>
          <a:p>
            <a:r>
              <a:rPr lang="en-US" dirty="0"/>
              <a:t>AI Backend Auto-Generation Agent</a:t>
            </a:r>
          </a:p>
          <a:p>
            <a:r>
              <a:rPr lang="en-US" dirty="0"/>
              <a:t>Don’t write text code, but make AST structured data</a:t>
            </a:r>
          </a:p>
        </p:txBody>
      </p:sp>
    </p:spTree>
    <p:extLst>
      <p:ext uri="{BB962C8B-B14F-4D97-AF65-F5344CB8AC3E}">
        <p14:creationId xmlns:p14="http://schemas.microsoft.com/office/powerpoint/2010/main" val="1734635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F79E2A4-24E2-51F7-AF8E-3DD5EF17CC83}"/>
              </a:ext>
            </a:extLst>
          </p:cNvPr>
          <p:cNvSpPr>
            <a:spLocks noGrp="1"/>
          </p:cNvSpPr>
          <p:nvPr>
            <p:ph type="title"/>
          </p:nvPr>
        </p:nvSpPr>
        <p:spPr/>
        <p:txBody>
          <a:bodyPr/>
          <a:lstStyle/>
          <a:p>
            <a:r>
              <a:rPr lang="en-US" dirty="0"/>
              <a:t>2.1. What </a:t>
            </a:r>
            <a:r>
              <a:rPr lang="en-US" dirty="0" err="1"/>
              <a:t>AutoBe</a:t>
            </a:r>
            <a:r>
              <a:rPr lang="en-US" dirty="0"/>
              <a:t> Does</a:t>
            </a:r>
          </a:p>
        </p:txBody>
      </p:sp>
      <p:sp>
        <p:nvSpPr>
          <p:cNvPr id="3" name="내용 개체 틀 2">
            <a:extLst>
              <a:ext uri="{FF2B5EF4-FFF2-40B4-BE49-F238E27FC236}">
                <a16:creationId xmlns:a16="http://schemas.microsoft.com/office/drawing/2014/main" id="{FC1ECA45-DEAE-12CC-50B8-CB8E3111D8EF}"/>
              </a:ext>
            </a:extLst>
          </p:cNvPr>
          <p:cNvSpPr>
            <a:spLocks noGrp="1"/>
          </p:cNvSpPr>
          <p:nvPr>
            <p:ph idx="1"/>
          </p:nvPr>
        </p:nvSpPr>
        <p:spPr/>
        <p:txBody>
          <a:bodyPr/>
          <a:lstStyle/>
          <a:p>
            <a:r>
              <a:rPr lang="en-US" dirty="0"/>
              <a:t>Build an e-commerce backend with products, carts, orders, and payments</a:t>
            </a:r>
          </a:p>
          <a:p>
            <a:endParaRPr lang="en-US" dirty="0"/>
          </a:p>
          <a:p>
            <a:r>
              <a:rPr lang="en-US" dirty="0"/>
              <a:t>Requirements Analysis (SRS)</a:t>
            </a:r>
          </a:p>
          <a:p>
            <a:r>
              <a:rPr lang="en-US" dirty="0"/>
              <a:t>Database Schema (ERD)</a:t>
            </a:r>
          </a:p>
          <a:p>
            <a:r>
              <a:rPr lang="en-US" dirty="0"/>
              <a:t>API Specification (OpenAPI v3.2)</a:t>
            </a:r>
          </a:p>
          <a:p>
            <a:r>
              <a:rPr lang="en-US" dirty="0"/>
              <a:t>E2E test code</a:t>
            </a:r>
          </a:p>
          <a:p>
            <a:r>
              <a:rPr lang="en-US" dirty="0"/>
              <a:t>Implementation code</a:t>
            </a:r>
          </a:p>
          <a:p>
            <a:r>
              <a:rPr lang="en-US" dirty="0"/>
              <a:t>Type-safe SDK for clients</a:t>
            </a:r>
          </a:p>
        </p:txBody>
      </p:sp>
    </p:spTree>
    <p:extLst>
      <p:ext uri="{BB962C8B-B14F-4D97-AF65-F5344CB8AC3E}">
        <p14:creationId xmlns:p14="http://schemas.microsoft.com/office/powerpoint/2010/main" val="1053620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 name="Rectangle 10">
            <a:extLst>
              <a:ext uri="{FF2B5EF4-FFF2-40B4-BE49-F238E27FC236}">
                <a16:creationId xmlns:a16="http://schemas.microsoft.com/office/drawing/2014/main" id="{29E7461E-D3EF-467C-90B0-A07159CA65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2" name="Rectangle 12">
            <a:extLst>
              <a:ext uri="{FF2B5EF4-FFF2-40B4-BE49-F238E27FC236}">
                <a16:creationId xmlns:a16="http://schemas.microsoft.com/office/drawing/2014/main" id="{6187544F-2A96-4442-9598-104754EE6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53" name="Straight Connector 14">
            <a:extLst>
              <a:ext uri="{FF2B5EF4-FFF2-40B4-BE49-F238E27FC236}">
                <a16:creationId xmlns:a16="http://schemas.microsoft.com/office/drawing/2014/main" id="{9288961F-689B-486C-86C4-49DA3F389C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54" name="Rectangle 16">
            <a:extLst>
              <a:ext uri="{FF2B5EF4-FFF2-40B4-BE49-F238E27FC236}">
                <a16:creationId xmlns:a16="http://schemas.microsoft.com/office/drawing/2014/main" id="{4C4A1CEC-4439-473B-9939-B12503C5E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5" name="Rectangle 18">
            <a:extLst>
              <a:ext uri="{FF2B5EF4-FFF2-40B4-BE49-F238E27FC236}">
                <a16:creationId xmlns:a16="http://schemas.microsoft.com/office/drawing/2014/main" id="{BF85B2CC-AADA-4F42-9F7B-0A4FA3F6C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4206240"/>
            <a:ext cx="11724640" cy="24155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56" name="Straight Connector 20">
            <a:extLst>
              <a:ext uri="{FF2B5EF4-FFF2-40B4-BE49-F238E27FC236}">
                <a16:creationId xmlns:a16="http://schemas.microsoft.com/office/drawing/2014/main" id="{DD2BE13A-A3B2-4E96-99FC-10C36EDABA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5600486"/>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제목 1">
            <a:extLst>
              <a:ext uri="{FF2B5EF4-FFF2-40B4-BE49-F238E27FC236}">
                <a16:creationId xmlns:a16="http://schemas.microsoft.com/office/drawing/2014/main" id="{C12656B8-760A-1BBD-D402-58043E935642}"/>
              </a:ext>
            </a:extLst>
          </p:cNvPr>
          <p:cNvSpPr>
            <a:spLocks noGrp="1"/>
          </p:cNvSpPr>
          <p:nvPr>
            <p:ph type="title"/>
          </p:nvPr>
        </p:nvSpPr>
        <p:spPr>
          <a:xfrm>
            <a:off x="1109980" y="4347758"/>
            <a:ext cx="9966960" cy="1325880"/>
          </a:xfrm>
        </p:spPr>
        <p:txBody>
          <a:bodyPr vert="horz" lIns="91440" tIns="45720" rIns="91440" bIns="45720" rtlCol="0" anchor="b">
            <a:noAutofit/>
          </a:bodyPr>
          <a:lstStyle/>
          <a:p>
            <a:pPr algn="ctr">
              <a:lnSpc>
                <a:spcPct val="85000"/>
              </a:lnSpc>
            </a:pPr>
            <a:r>
              <a:rPr lang="en-US" sz="4000" b="1" cap="all" dirty="0"/>
              <a:t>2.2. LLMs Don’t Write Code</a:t>
            </a:r>
          </a:p>
        </p:txBody>
      </p:sp>
      <p:sp>
        <p:nvSpPr>
          <p:cNvPr id="5" name="TextBox 4">
            <a:extLst>
              <a:ext uri="{FF2B5EF4-FFF2-40B4-BE49-F238E27FC236}">
                <a16:creationId xmlns:a16="http://schemas.microsoft.com/office/drawing/2014/main" id="{1AAF1E83-0BB9-65EB-B3F4-C9025B81592E}"/>
              </a:ext>
            </a:extLst>
          </p:cNvPr>
          <p:cNvSpPr txBox="1"/>
          <p:nvPr/>
        </p:nvSpPr>
        <p:spPr>
          <a:xfrm>
            <a:off x="1709530" y="5644392"/>
            <a:ext cx="8767860" cy="509519"/>
          </a:xfrm>
          <a:prstGeom prst="rect">
            <a:avLst/>
          </a:prstGeom>
        </p:spPr>
        <p:txBody>
          <a:bodyPr vert="horz" lIns="91440" tIns="45720" rIns="91440" bIns="45720" rtlCol="0">
            <a:normAutofit/>
          </a:bodyPr>
          <a:lstStyle/>
          <a:p>
            <a:pPr algn="ctr" defTabSz="914400">
              <a:lnSpc>
                <a:spcPct val="90000"/>
              </a:lnSpc>
              <a:spcBef>
                <a:spcPts val="1400"/>
              </a:spcBef>
              <a:buClr>
                <a:schemeClr val="tx1"/>
              </a:buClr>
              <a:buSzPct val="80000"/>
            </a:pPr>
            <a:r>
              <a:rPr lang="en-US" sz="2000" dirty="0"/>
              <a:t>The LLM fills structures. Compilers write code.</a:t>
            </a:r>
          </a:p>
        </p:txBody>
      </p:sp>
      <p:graphicFrame>
        <p:nvGraphicFramePr>
          <p:cNvPr id="6" name="내용 개체 틀 5">
            <a:extLst>
              <a:ext uri="{FF2B5EF4-FFF2-40B4-BE49-F238E27FC236}">
                <a16:creationId xmlns:a16="http://schemas.microsoft.com/office/drawing/2014/main" id="{A1FC1DE9-C94C-BE10-0747-6F18563EE280}"/>
              </a:ext>
            </a:extLst>
          </p:cNvPr>
          <p:cNvGraphicFramePr>
            <a:graphicFrameLocks noGrp="1"/>
          </p:cNvGraphicFramePr>
          <p:nvPr>
            <p:ph idx="1"/>
          </p:nvPr>
        </p:nvGraphicFramePr>
        <p:xfrm>
          <a:off x="933385" y="741172"/>
          <a:ext cx="10325231" cy="3279648"/>
        </p:xfrm>
        <a:graphic>
          <a:graphicData uri="http://schemas.openxmlformats.org/drawingml/2006/table">
            <a:tbl>
              <a:tblPr firstRow="1" bandRow="1">
                <a:noFill/>
                <a:tableStyleId>{5C22544A-7EE6-4342-B048-85BDC9FD1C3A}</a:tableStyleId>
              </a:tblPr>
              <a:tblGrid>
                <a:gridCol w="1888722">
                  <a:extLst>
                    <a:ext uri="{9D8B030D-6E8A-4147-A177-3AD203B41FA5}">
                      <a16:colId xmlns:a16="http://schemas.microsoft.com/office/drawing/2014/main" val="2197739396"/>
                    </a:ext>
                  </a:extLst>
                </a:gridCol>
                <a:gridCol w="2638776">
                  <a:extLst>
                    <a:ext uri="{9D8B030D-6E8A-4147-A177-3AD203B41FA5}">
                      <a16:colId xmlns:a16="http://schemas.microsoft.com/office/drawing/2014/main" val="3096524490"/>
                    </a:ext>
                  </a:extLst>
                </a:gridCol>
                <a:gridCol w="5797733">
                  <a:extLst>
                    <a:ext uri="{9D8B030D-6E8A-4147-A177-3AD203B41FA5}">
                      <a16:colId xmlns:a16="http://schemas.microsoft.com/office/drawing/2014/main" val="571538464"/>
                    </a:ext>
                  </a:extLst>
                </a:gridCol>
              </a:tblGrid>
              <a:tr h="586918">
                <a:tc>
                  <a:txBody>
                    <a:bodyPr/>
                    <a:lstStyle/>
                    <a:p>
                      <a:r>
                        <a:rPr lang="en-US" sz="1700" b="0" cap="all" spc="150">
                          <a:solidFill>
                            <a:schemeClr val="lt1"/>
                          </a:solidFill>
                        </a:rPr>
                        <a:t>Phase</a:t>
                      </a:r>
                    </a:p>
                  </a:txBody>
                  <a:tcPr marL="145117" marR="145117" marT="145117" marB="145117">
                    <a:lnL w="12700" cmpd="sng">
                      <a:noFill/>
                    </a:lnL>
                    <a:lnR w="12700" cmpd="sng">
                      <a:noFill/>
                    </a:lnR>
                    <a:lnT w="12700" cmpd="sng">
                      <a:noFill/>
                    </a:lnT>
                    <a:lnB w="38100" cmpd="sng">
                      <a:noFill/>
                    </a:lnB>
                    <a:solidFill>
                      <a:srgbClr val="505356"/>
                    </a:solidFill>
                  </a:tcPr>
                </a:tc>
                <a:tc>
                  <a:txBody>
                    <a:bodyPr/>
                    <a:lstStyle/>
                    <a:p>
                      <a:r>
                        <a:rPr lang="en-US" sz="1700" b="0" cap="all" spc="150">
                          <a:solidFill>
                            <a:schemeClr val="lt1"/>
                          </a:solidFill>
                        </a:rPr>
                        <a:t>AST Type</a:t>
                      </a:r>
                    </a:p>
                  </a:txBody>
                  <a:tcPr marL="145117" marR="145117" marT="145117" marB="145117">
                    <a:lnL w="12700" cmpd="sng">
                      <a:noFill/>
                    </a:lnL>
                    <a:lnR w="12700" cmpd="sng">
                      <a:noFill/>
                    </a:lnR>
                    <a:lnT w="12700" cmpd="sng">
                      <a:noFill/>
                    </a:lnT>
                    <a:lnB w="38100" cmpd="sng">
                      <a:noFill/>
                    </a:lnB>
                    <a:solidFill>
                      <a:srgbClr val="505356"/>
                    </a:solidFill>
                  </a:tcPr>
                </a:tc>
                <a:tc>
                  <a:txBody>
                    <a:bodyPr/>
                    <a:lstStyle/>
                    <a:p>
                      <a:r>
                        <a:rPr lang="en-US" sz="1700" b="0" cap="all" spc="150">
                          <a:solidFill>
                            <a:schemeClr val="lt1"/>
                          </a:solidFill>
                        </a:rPr>
                        <a:t>Description</a:t>
                      </a:r>
                    </a:p>
                  </a:txBody>
                  <a:tcPr marL="145117" marR="145117" marT="145117" marB="145117">
                    <a:lnL w="12700" cmpd="sng">
                      <a:noFill/>
                    </a:lnL>
                    <a:lnR w="12700" cmpd="sng">
                      <a:noFill/>
                    </a:lnR>
                    <a:lnT w="12700" cmpd="sng">
                      <a:noFill/>
                    </a:lnT>
                    <a:lnB w="38100" cmpd="sng">
                      <a:noFill/>
                    </a:lnB>
                    <a:solidFill>
                      <a:srgbClr val="505356"/>
                    </a:solidFill>
                  </a:tcPr>
                </a:tc>
                <a:extLst>
                  <a:ext uri="{0D108BD9-81ED-4DB2-BD59-A6C34878D82A}">
                    <a16:rowId xmlns:a16="http://schemas.microsoft.com/office/drawing/2014/main" val="3887477869"/>
                  </a:ext>
                </a:extLst>
              </a:tr>
              <a:tr h="538546">
                <a:tc>
                  <a:txBody>
                    <a:bodyPr/>
                    <a:lstStyle/>
                    <a:p>
                      <a:r>
                        <a:rPr lang="en-US" sz="1400" cap="none" spc="0">
                          <a:solidFill>
                            <a:schemeClr val="tx1"/>
                          </a:solidFill>
                        </a:rPr>
                        <a:t>Analyze</a:t>
                      </a:r>
                    </a:p>
                  </a:txBody>
                  <a:tcPr marL="145117" marR="145117" marT="145117" marB="145117">
                    <a:lnL w="12700" cmpd="sng">
                      <a:noFill/>
                      <a:prstDash val="solid"/>
                    </a:lnL>
                    <a:lnR w="12700" cmpd="sng">
                      <a:noFill/>
                      <a:prstDash val="solid"/>
                    </a:lnR>
                    <a:lnT w="38100" cmpd="sng">
                      <a:noFill/>
                    </a:lnT>
                    <a:lnB w="12700" cmpd="sng">
                      <a:noFill/>
                      <a:prstDash val="solid"/>
                    </a:lnB>
                    <a:noFill/>
                  </a:tcPr>
                </a:tc>
                <a:tc>
                  <a:txBody>
                    <a:bodyPr/>
                    <a:lstStyle/>
                    <a:p>
                      <a:r>
                        <a:rPr lang="en-US" sz="1400" u="none" cap="none" spc="0" dirty="0">
                          <a:solidFill>
                            <a:schemeClr val="tx1"/>
                          </a:solidFill>
                          <a:hlinkClick r:id="rId3"/>
                        </a:rPr>
                        <a:t>AutoBeAnalyze</a:t>
                      </a:r>
                      <a:endParaRPr lang="en-US" sz="1400" u="none" cap="none" spc="0" dirty="0">
                        <a:solidFill>
                          <a:schemeClr val="tx1"/>
                        </a:solidFill>
                      </a:endParaRPr>
                    </a:p>
                  </a:txBody>
                  <a:tcPr marL="145117" marR="145117" marT="145117" marB="145117">
                    <a:lnL w="12700" cmpd="sng">
                      <a:noFill/>
                      <a:prstDash val="solid"/>
                    </a:lnL>
                    <a:lnR w="12700" cmpd="sng">
                      <a:noFill/>
                      <a:prstDash val="solid"/>
                    </a:lnR>
                    <a:lnT w="38100" cmpd="sng">
                      <a:noFill/>
                    </a:lnT>
                    <a:lnB w="12700" cmpd="sng">
                      <a:noFill/>
                      <a:prstDash val="solid"/>
                    </a:lnB>
                    <a:noFill/>
                  </a:tcPr>
                </a:tc>
                <a:tc>
                  <a:txBody>
                    <a:bodyPr/>
                    <a:lstStyle/>
                    <a:p>
                      <a:r>
                        <a:rPr lang="en-US" sz="1400" cap="none" spc="0">
                          <a:solidFill>
                            <a:schemeClr val="tx1"/>
                          </a:solidFill>
                        </a:rPr>
                        <a:t>Structured SRS (</a:t>
                      </a:r>
                      <a:r>
                        <a:rPr lang="en-US" sz="1400" cap="none" spc="0" err="1">
                          <a:solidFill>
                            <a:schemeClr val="tx1"/>
                          </a:solidFill>
                        </a:rPr>
                        <a:t>Software</a:t>
                      </a:r>
                      <a:r>
                        <a:rPr lang="en-US" sz="1400" cap="none" spc="0">
                          <a:solidFill>
                            <a:schemeClr val="tx1"/>
                          </a:solidFill>
                        </a:rPr>
                        <a:t> Requirements Specification)</a:t>
                      </a:r>
                    </a:p>
                  </a:txBody>
                  <a:tcPr marL="145117" marR="145117" marT="145117" marB="145117">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4069786596"/>
                  </a:ext>
                </a:extLst>
              </a:tr>
              <a:tr h="538546">
                <a:tc>
                  <a:txBody>
                    <a:bodyPr/>
                    <a:lstStyle/>
                    <a:p>
                      <a:r>
                        <a:rPr lang="en-US" sz="1400" cap="none" spc="0">
                          <a:solidFill>
                            <a:schemeClr val="tx1"/>
                          </a:solidFill>
                        </a:rPr>
                        <a:t>Database</a:t>
                      </a:r>
                    </a:p>
                  </a:txBody>
                  <a:tcPr marL="145117" marR="145117" marT="145117" marB="145117">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1400" u="none" cap="none" spc="0" dirty="0">
                          <a:solidFill>
                            <a:schemeClr val="tx1"/>
                          </a:solidFill>
                          <a:hlinkClick r:id="rId4"/>
                        </a:rPr>
                        <a:t>AutoBeDatabase</a:t>
                      </a:r>
                      <a:endParaRPr lang="en-US" sz="1400" u="none" cap="none" spc="0" dirty="0">
                        <a:solidFill>
                          <a:schemeClr val="tx1"/>
                        </a:solidFill>
                      </a:endParaRPr>
                    </a:p>
                  </a:txBody>
                  <a:tcPr marL="145117" marR="145117" marT="145117" marB="145117">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1400" cap="none" spc="0" dirty="0">
                          <a:solidFill>
                            <a:schemeClr val="tx1"/>
                          </a:solidFill>
                        </a:rPr>
                        <a:t>Database Compiler ensuring Integrity</a:t>
                      </a:r>
                    </a:p>
                  </a:txBody>
                  <a:tcPr marL="145117" marR="145117" marT="145117" marB="145117">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4213482767"/>
                  </a:ext>
                </a:extLst>
              </a:tr>
              <a:tr h="538546">
                <a:tc>
                  <a:txBody>
                    <a:bodyPr/>
                    <a:lstStyle/>
                    <a:p>
                      <a:r>
                        <a:rPr lang="en-US" sz="1400" cap="none" spc="0">
                          <a:solidFill>
                            <a:schemeClr val="tx1"/>
                          </a:solidFill>
                        </a:rPr>
                        <a:t>Interface</a:t>
                      </a:r>
                    </a:p>
                  </a:txBody>
                  <a:tcPr marL="145117" marR="145117" marT="145117" marB="145117">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400" u="none" cap="none" spc="0" dirty="0">
                          <a:solidFill>
                            <a:schemeClr val="tx1"/>
                          </a:solidFill>
                          <a:hlinkClick r:id="rId5"/>
                        </a:rPr>
                        <a:t>AutoBeOpenApi</a:t>
                      </a:r>
                      <a:endParaRPr lang="en-US" sz="1400" u="none" cap="none" spc="0" dirty="0">
                        <a:solidFill>
                          <a:schemeClr val="tx1"/>
                        </a:solidFill>
                      </a:endParaRPr>
                    </a:p>
                  </a:txBody>
                  <a:tcPr marL="145117" marR="145117" marT="145117" marB="145117">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400" cap="none" spc="0" dirty="0">
                          <a:solidFill>
                            <a:schemeClr val="tx1"/>
                          </a:solidFill>
                        </a:rPr>
                        <a:t>OpenAPI Compiler for API &amp; DTO Generation</a:t>
                      </a:r>
                    </a:p>
                  </a:txBody>
                  <a:tcPr marL="145117" marR="145117" marT="145117" marB="145117">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68858939"/>
                  </a:ext>
                </a:extLst>
              </a:tr>
              <a:tr h="538546">
                <a:tc>
                  <a:txBody>
                    <a:bodyPr/>
                    <a:lstStyle/>
                    <a:p>
                      <a:r>
                        <a:rPr lang="en-US" sz="1400" cap="none" spc="0">
                          <a:solidFill>
                            <a:schemeClr val="tx1"/>
                          </a:solidFill>
                        </a:rPr>
                        <a:t>Test</a:t>
                      </a:r>
                    </a:p>
                  </a:txBody>
                  <a:tcPr marL="145117" marR="145117" marT="145117" marB="145117">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1400" u="none" cap="none" spc="0" dirty="0">
                          <a:solidFill>
                            <a:schemeClr val="tx1"/>
                          </a:solidFill>
                          <a:hlinkClick r:id="rId6"/>
                        </a:rPr>
                        <a:t>AutoBeTest</a:t>
                      </a:r>
                      <a:endParaRPr lang="en-US" sz="1400" u="none" cap="none" spc="0" dirty="0">
                        <a:solidFill>
                          <a:schemeClr val="tx1"/>
                        </a:solidFill>
                      </a:endParaRPr>
                    </a:p>
                  </a:txBody>
                  <a:tcPr marL="145117" marR="145117" marT="145117" marB="145117">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r>
                        <a:rPr lang="en-US" sz="1400" cap="none" spc="0">
                          <a:solidFill>
                            <a:schemeClr val="tx1"/>
                          </a:solidFill>
                        </a:rPr>
                        <a:t>Test Compiler for API E2E Testing</a:t>
                      </a:r>
                    </a:p>
                  </a:txBody>
                  <a:tcPr marL="145117" marR="145117" marT="145117" marB="145117">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2232306712"/>
                  </a:ext>
                </a:extLst>
              </a:tr>
              <a:tr h="538546">
                <a:tc>
                  <a:txBody>
                    <a:bodyPr/>
                    <a:lstStyle/>
                    <a:p>
                      <a:r>
                        <a:rPr lang="en-US" sz="1400" cap="none" spc="0">
                          <a:solidFill>
                            <a:schemeClr val="tx1"/>
                          </a:solidFill>
                        </a:rPr>
                        <a:t>Realize</a:t>
                      </a:r>
                    </a:p>
                  </a:txBody>
                  <a:tcPr marL="145117" marR="145117" marT="145117" marB="145117">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400" cap="none" spc="0" dirty="0">
                          <a:solidFill>
                            <a:schemeClr val="tx1"/>
                          </a:solidFill>
                        </a:rPr>
                        <a:t>Modular Code</a:t>
                      </a:r>
                    </a:p>
                  </a:txBody>
                  <a:tcPr marL="145117" marR="145117" marT="145117" marB="145117">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400" cap="none" spc="0" dirty="0">
                          <a:solidFill>
                            <a:schemeClr val="tx1"/>
                          </a:solidFill>
                        </a:rPr>
                        <a:t>TypeScript Compiler</a:t>
                      </a:r>
                    </a:p>
                  </a:txBody>
                  <a:tcPr marL="145117" marR="145117" marT="145117" marB="145117">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832388765"/>
                  </a:ext>
                </a:extLst>
              </a:tr>
            </a:tbl>
          </a:graphicData>
        </a:graphic>
      </p:graphicFrame>
    </p:spTree>
    <p:extLst>
      <p:ext uri="{BB962C8B-B14F-4D97-AF65-F5344CB8AC3E}">
        <p14:creationId xmlns:p14="http://schemas.microsoft.com/office/powerpoint/2010/main" val="1701133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117">
            <a:alpha val="100000"/>
          </a:srgbClr>
        </a:solidFill>
        <a:effectLst/>
      </p:bgPr>
    </p:bg>
    <p:spTree>
      <p:nvGrpSpPr>
        <p:cNvPr id="1" name=""/>
        <p:cNvGrpSpPr/>
        <p:nvPr/>
      </p:nvGrpSpPr>
      <p:grpSpPr>
        <a:xfrm>
          <a:off x="0" y="0"/>
          <a:ext cx="0" cy="0"/>
          <a:chOff x="0" y="0"/>
          <a:chExt cx="0" cy="0"/>
        </a:xfrm>
      </p:grpSpPr>
      <p:sp>
        <p:nvSpPr>
          <p:cNvPr id="10" name="T"/>
          <p:cNvSpPr/>
          <p:nvPr/>
        </p:nvSpPr>
        <p:spPr>
          <a:xfrm>
            <a:off x="762000" y="317500"/>
            <a:ext cx="10668000" cy="508000"/>
          </a:xfrm>
          <a:prstGeom prst="rect">
            <a:avLst/>
          </a:prstGeom>
          <a:noFill/>
          <a:ln>
            <a:noFill/>
          </a:ln>
        </p:spPr>
        <p:txBody>
          <a:bodyPr wrap="square" lIns="0" tIns="0" rIns="0" bIns="0" anchor="b"/>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0F0F0"/>
                </a:solidFill>
                <a:effectLst/>
                <a:uLnTx/>
                <a:uFillTx/>
                <a:latin typeface="Segoe UI Semibold"/>
                <a:ea typeface="+mn-ea"/>
                <a:cs typeface="+mn-cs"/>
              </a:rPr>
              <a:t>The Forms Are Not Simple</a:t>
            </a:r>
            <a:endParaRPr kumimoji="0" lang="en-US" sz="2400" b="1" i="0" u="none" strike="noStrike" kern="1200" cap="none" spc="0" normalizeH="0" baseline="0" noProof="0" dirty="0">
              <a:ln>
                <a:noFill/>
              </a:ln>
              <a:solidFill>
                <a:srgbClr val="F0F0F0"/>
              </a:solidFill>
              <a:effectLst/>
              <a:uLnTx/>
              <a:uFillTx/>
              <a:latin typeface="Segoe UI Semibold"/>
              <a:ea typeface="+mn-ea"/>
              <a:cs typeface="+mn-cs"/>
            </a:endParaRPr>
          </a:p>
        </p:txBody>
      </p:sp>
      <p:sp>
        <p:nvSpPr>
          <p:cNvPr id="11" name="Sub"/>
          <p:cNvSpPr/>
          <p:nvPr/>
        </p:nvSpPr>
        <p:spPr>
          <a:xfrm>
            <a:off x="762000" y="863600"/>
            <a:ext cx="10668000" cy="317500"/>
          </a:xfrm>
          <a:prstGeom prst="rect">
            <a:avLst/>
          </a:prstGeom>
          <a:noFill/>
          <a:ln>
            <a:noFill/>
          </a:ln>
        </p:spPr>
        <p:txBody>
          <a:bodyPr wrap="square" lIns="0" tIns="0" rIns="0" bIns="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08080"/>
                </a:solidFill>
                <a:effectLst/>
                <a:uLnTx/>
                <a:uFillTx/>
                <a:latin typeface="Segoe UI"/>
                <a:ea typeface="+mn-ea"/>
                <a:cs typeface="+mn-cs"/>
              </a:rPr>
              <a:t>IJsonSchema: 10 variants, infinitely recursive nesting</a:t>
            </a:r>
          </a:p>
        </p:txBody>
      </p:sp>
      <p:sp>
        <p:nvSpPr>
          <p:cNvPr id="12" name="CodeBg"/>
          <p:cNvSpPr/>
          <p:nvPr/>
        </p:nvSpPr>
        <p:spPr>
          <a:xfrm>
            <a:off x="508000" y="1270000"/>
            <a:ext cx="11176000" cy="4445000"/>
          </a:xfrm>
          <a:prstGeom prst="roundRect">
            <a:avLst>
              <a:gd name="adj" fmla="val 4000"/>
            </a:avLst>
          </a:prstGeom>
          <a:solidFill>
            <a:srgbClr val="1E1E1E"/>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Segoe UI" panose="020B0503020204020204"/>
              <a:ea typeface="+mn-ea"/>
              <a:cs typeface="+mn-cs"/>
            </a:endParaRPr>
          </a:p>
        </p:txBody>
      </p:sp>
      <p:sp>
        <p:nvSpPr>
          <p:cNvPr id="13" name="Code"/>
          <p:cNvSpPr/>
          <p:nvPr/>
        </p:nvSpPr>
        <p:spPr>
          <a:xfrm>
            <a:off x="762000" y="1422400"/>
            <a:ext cx="10795000" cy="4191000"/>
          </a:xfrm>
          <a:prstGeom prst="rect">
            <a:avLst/>
          </a:prstGeom>
          <a:noFill/>
          <a:ln>
            <a:noFill/>
          </a:ln>
        </p:spPr>
        <p:txBody>
          <a:bodyPr wrap="square" lIns="127000" tIns="101600" rIns="127000" bIns="101600" anchor="t"/>
          <a:lstStyle/>
          <a:p>
            <a:pPr marL="0" marR="0" lvl="0" indent="0" algn="l" defTabSz="457200" rtl="0" eaLnBrk="1" fontAlgn="auto" latinLnBrk="0" hangingPunct="1">
              <a:lnSpc>
                <a:spcPts val="28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586C0"/>
                </a:solidFill>
                <a:effectLst/>
                <a:uLnTx/>
                <a:uFillTx/>
                <a:latin typeface="Consolas"/>
                <a:ea typeface="+mn-ea"/>
                <a:cs typeface="+mn-cs"/>
              </a:rPr>
              <a:t>export type </a:t>
            </a:r>
            <a:r>
              <a:rPr kumimoji="0" lang="en-US" sz="1800" b="0" i="0" u="none" strike="noStrike" kern="1200" cap="none" spc="0" normalizeH="0" baseline="0" noProof="0" dirty="0">
                <a:ln>
                  <a:noFill/>
                </a:ln>
                <a:solidFill>
                  <a:srgbClr val="4EC9B0"/>
                </a:solidFill>
                <a:effectLst/>
                <a:uLnTx/>
                <a:uFillTx/>
                <a:latin typeface="Consolas"/>
                <a:ea typeface="+mn-ea"/>
                <a:cs typeface="+mn-cs"/>
              </a:rPr>
              <a:t>IJsonSchema</a:t>
            </a:r>
            <a:r>
              <a:rPr kumimoji="0" lang="en-US" sz="1800" b="0" i="0" u="none" strike="noStrike" kern="1200" cap="none" spc="0" normalizeH="0" baseline="0" noProof="0" dirty="0">
                <a:ln>
                  <a:noFill/>
                </a:ln>
                <a:solidFill>
                  <a:srgbClr val="D4D4D4"/>
                </a:solidFill>
                <a:effectLst/>
                <a:uLnTx/>
                <a:uFillTx/>
                <a:latin typeface="Consolas"/>
                <a:ea typeface="+mn-ea"/>
                <a:cs typeface="+mn-cs"/>
              </a:rPr>
              <a:t> =</a:t>
            </a:r>
          </a:p>
          <a:p>
            <a:pPr marL="0" marR="0" lvl="0" indent="0" algn="l" defTabSz="457200" rtl="0" eaLnBrk="1" fontAlgn="auto" latinLnBrk="0" hangingPunct="1">
              <a:lnSpc>
                <a:spcPts val="28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4D4D4"/>
                </a:solidFill>
                <a:effectLst/>
                <a:uLnTx/>
                <a:uFillTx/>
                <a:latin typeface="Consolas"/>
                <a:ea typeface="+mn-ea"/>
                <a:cs typeface="+mn-cs"/>
              </a:rPr>
              <a:t>  </a:t>
            </a:r>
            <a:r>
              <a:rPr kumimoji="0" lang="en-US" sz="1800" b="0" i="0" u="none" strike="noStrike" kern="1200" cap="none" spc="0" normalizeH="0" baseline="0" noProof="0" dirty="0">
                <a:ln>
                  <a:noFill/>
                </a:ln>
                <a:solidFill>
                  <a:srgbClr val="C586C0"/>
                </a:solidFill>
                <a:effectLst/>
                <a:uLnTx/>
                <a:uFillTx/>
                <a:latin typeface="Consolas"/>
                <a:ea typeface="+mn-ea"/>
                <a:cs typeface="+mn-cs"/>
              </a:rPr>
              <a:t>| </a:t>
            </a:r>
            <a:r>
              <a:rPr kumimoji="0" lang="en-US" sz="1800" b="0" i="0" u="none" strike="noStrike" kern="1200" cap="none" spc="0" normalizeH="0" baseline="0" noProof="0" dirty="0">
                <a:ln>
                  <a:noFill/>
                </a:ln>
                <a:solidFill>
                  <a:srgbClr val="4EC9B0"/>
                </a:solidFill>
                <a:effectLst/>
                <a:uLnTx/>
                <a:uFillTx/>
                <a:latin typeface="Consolas"/>
                <a:ea typeface="+mn-ea"/>
                <a:cs typeface="+mn-cs"/>
              </a:rPr>
              <a:t>IJsonSchema.IConstant</a:t>
            </a:r>
          </a:p>
          <a:p>
            <a:pPr marL="0" marR="0" lvl="0" indent="0" algn="l" defTabSz="457200" rtl="0" eaLnBrk="1" fontAlgn="auto" latinLnBrk="0" hangingPunct="1">
              <a:lnSpc>
                <a:spcPts val="28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4D4D4"/>
                </a:solidFill>
                <a:effectLst/>
                <a:uLnTx/>
                <a:uFillTx/>
                <a:latin typeface="Consolas"/>
                <a:ea typeface="+mn-ea"/>
                <a:cs typeface="+mn-cs"/>
              </a:rPr>
              <a:t>  </a:t>
            </a:r>
            <a:r>
              <a:rPr kumimoji="0" lang="en-US" sz="1800" b="0" i="0" u="none" strike="noStrike" kern="1200" cap="none" spc="0" normalizeH="0" baseline="0" noProof="0" dirty="0">
                <a:ln>
                  <a:noFill/>
                </a:ln>
                <a:solidFill>
                  <a:srgbClr val="C586C0"/>
                </a:solidFill>
                <a:effectLst/>
                <a:uLnTx/>
                <a:uFillTx/>
                <a:latin typeface="Consolas"/>
                <a:ea typeface="+mn-ea"/>
                <a:cs typeface="+mn-cs"/>
              </a:rPr>
              <a:t>| </a:t>
            </a:r>
            <a:r>
              <a:rPr kumimoji="0" lang="en-US" sz="1800" b="0" i="0" u="none" strike="noStrike" kern="1200" cap="none" spc="0" normalizeH="0" baseline="0" noProof="0" dirty="0">
                <a:ln>
                  <a:noFill/>
                </a:ln>
                <a:solidFill>
                  <a:srgbClr val="4EC9B0"/>
                </a:solidFill>
                <a:effectLst/>
                <a:uLnTx/>
                <a:uFillTx/>
                <a:latin typeface="Consolas"/>
                <a:ea typeface="+mn-ea"/>
                <a:cs typeface="+mn-cs"/>
              </a:rPr>
              <a:t>IJsonSchema.IBoolean</a:t>
            </a:r>
          </a:p>
          <a:p>
            <a:pPr marL="0" marR="0" lvl="0" indent="0" algn="l" defTabSz="457200" rtl="0" eaLnBrk="1" fontAlgn="auto" latinLnBrk="0" hangingPunct="1">
              <a:lnSpc>
                <a:spcPts val="28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4D4D4"/>
                </a:solidFill>
                <a:effectLst/>
                <a:uLnTx/>
                <a:uFillTx/>
                <a:latin typeface="Consolas"/>
                <a:ea typeface="+mn-ea"/>
                <a:cs typeface="+mn-cs"/>
              </a:rPr>
              <a:t>  </a:t>
            </a:r>
            <a:r>
              <a:rPr kumimoji="0" lang="en-US" sz="1800" b="0" i="0" u="none" strike="noStrike" kern="1200" cap="none" spc="0" normalizeH="0" baseline="0" noProof="0" dirty="0">
                <a:ln>
                  <a:noFill/>
                </a:ln>
                <a:solidFill>
                  <a:srgbClr val="C586C0"/>
                </a:solidFill>
                <a:effectLst/>
                <a:uLnTx/>
                <a:uFillTx/>
                <a:latin typeface="Consolas"/>
                <a:ea typeface="+mn-ea"/>
                <a:cs typeface="+mn-cs"/>
              </a:rPr>
              <a:t>| </a:t>
            </a:r>
            <a:r>
              <a:rPr kumimoji="0" lang="en-US" sz="1800" b="0" i="0" u="none" strike="noStrike" kern="1200" cap="none" spc="0" normalizeH="0" baseline="0" noProof="0" dirty="0">
                <a:ln>
                  <a:noFill/>
                </a:ln>
                <a:solidFill>
                  <a:srgbClr val="4EC9B0"/>
                </a:solidFill>
                <a:effectLst/>
                <a:uLnTx/>
                <a:uFillTx/>
                <a:latin typeface="Consolas"/>
                <a:ea typeface="+mn-ea"/>
                <a:cs typeface="+mn-cs"/>
              </a:rPr>
              <a:t>IJsonSchema.IInteger</a:t>
            </a:r>
          </a:p>
          <a:p>
            <a:pPr marL="0" marR="0" lvl="0" indent="0" algn="l" defTabSz="457200" rtl="0" eaLnBrk="1" fontAlgn="auto" latinLnBrk="0" hangingPunct="1">
              <a:lnSpc>
                <a:spcPts val="28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4D4D4"/>
                </a:solidFill>
                <a:effectLst/>
                <a:uLnTx/>
                <a:uFillTx/>
                <a:latin typeface="Consolas"/>
                <a:ea typeface="+mn-ea"/>
                <a:cs typeface="+mn-cs"/>
              </a:rPr>
              <a:t>  </a:t>
            </a:r>
            <a:r>
              <a:rPr kumimoji="0" lang="en-US" sz="1800" b="0" i="0" u="none" strike="noStrike" kern="1200" cap="none" spc="0" normalizeH="0" baseline="0" noProof="0" dirty="0">
                <a:ln>
                  <a:noFill/>
                </a:ln>
                <a:solidFill>
                  <a:srgbClr val="C586C0"/>
                </a:solidFill>
                <a:effectLst/>
                <a:uLnTx/>
                <a:uFillTx/>
                <a:latin typeface="Consolas"/>
                <a:ea typeface="+mn-ea"/>
                <a:cs typeface="+mn-cs"/>
              </a:rPr>
              <a:t>| </a:t>
            </a:r>
            <a:r>
              <a:rPr kumimoji="0" lang="en-US" sz="1800" b="0" i="0" u="none" strike="noStrike" kern="1200" cap="none" spc="0" normalizeH="0" baseline="0" noProof="0" dirty="0">
                <a:ln>
                  <a:noFill/>
                </a:ln>
                <a:solidFill>
                  <a:srgbClr val="4EC9B0"/>
                </a:solidFill>
                <a:effectLst/>
                <a:uLnTx/>
                <a:uFillTx/>
                <a:latin typeface="Consolas"/>
                <a:ea typeface="+mn-ea"/>
                <a:cs typeface="+mn-cs"/>
              </a:rPr>
              <a:t>IJsonSchema.INumber</a:t>
            </a:r>
          </a:p>
          <a:p>
            <a:pPr marL="0" marR="0" lvl="0" indent="0" algn="l" defTabSz="457200" rtl="0" eaLnBrk="1" fontAlgn="auto" latinLnBrk="0" hangingPunct="1">
              <a:lnSpc>
                <a:spcPts val="28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4D4D4"/>
                </a:solidFill>
                <a:effectLst/>
                <a:uLnTx/>
                <a:uFillTx/>
                <a:latin typeface="Consolas"/>
                <a:ea typeface="+mn-ea"/>
                <a:cs typeface="+mn-cs"/>
              </a:rPr>
              <a:t>  </a:t>
            </a:r>
            <a:r>
              <a:rPr kumimoji="0" lang="en-US" sz="1800" b="0" i="0" u="none" strike="noStrike" kern="1200" cap="none" spc="0" normalizeH="0" baseline="0" noProof="0" dirty="0">
                <a:ln>
                  <a:noFill/>
                </a:ln>
                <a:solidFill>
                  <a:srgbClr val="C586C0"/>
                </a:solidFill>
                <a:effectLst/>
                <a:uLnTx/>
                <a:uFillTx/>
                <a:latin typeface="Consolas"/>
                <a:ea typeface="+mn-ea"/>
                <a:cs typeface="+mn-cs"/>
              </a:rPr>
              <a:t>| </a:t>
            </a:r>
            <a:r>
              <a:rPr kumimoji="0" lang="en-US" sz="1800" b="0" i="0" u="none" strike="noStrike" kern="1200" cap="none" spc="0" normalizeH="0" baseline="0" noProof="0" dirty="0">
                <a:ln>
                  <a:noFill/>
                </a:ln>
                <a:solidFill>
                  <a:srgbClr val="4EC9B0"/>
                </a:solidFill>
                <a:effectLst/>
                <a:uLnTx/>
                <a:uFillTx/>
                <a:latin typeface="Consolas"/>
                <a:ea typeface="+mn-ea"/>
                <a:cs typeface="+mn-cs"/>
              </a:rPr>
              <a:t>IJsonSchema.IString</a:t>
            </a:r>
          </a:p>
          <a:p>
            <a:pPr marL="0" marR="0" lvl="0" indent="0" algn="l" defTabSz="457200" rtl="0" eaLnBrk="1" fontAlgn="auto" latinLnBrk="0" hangingPunct="1">
              <a:lnSpc>
                <a:spcPts val="28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4D4D4"/>
                </a:solidFill>
                <a:effectLst/>
                <a:uLnTx/>
                <a:uFillTx/>
                <a:latin typeface="Consolas"/>
                <a:ea typeface="+mn-ea"/>
                <a:cs typeface="+mn-cs"/>
              </a:rPr>
              <a:t>  </a:t>
            </a:r>
            <a:r>
              <a:rPr kumimoji="0" lang="en-US" sz="1800" b="0" i="0" u="none" strike="noStrike" kern="1200" cap="none" spc="0" normalizeH="0" baseline="0" noProof="0" dirty="0">
                <a:ln>
                  <a:noFill/>
                </a:ln>
                <a:solidFill>
                  <a:srgbClr val="C586C0"/>
                </a:solidFill>
                <a:effectLst/>
                <a:uLnTx/>
                <a:uFillTx/>
                <a:latin typeface="Consolas"/>
                <a:ea typeface="+mn-ea"/>
                <a:cs typeface="+mn-cs"/>
              </a:rPr>
              <a:t>| </a:t>
            </a:r>
            <a:r>
              <a:rPr kumimoji="0" lang="en-US" sz="1800" b="0" i="0" u="none" strike="noStrike" kern="1200" cap="none" spc="0" normalizeH="0" baseline="0" noProof="0" dirty="0">
                <a:ln>
                  <a:noFill/>
                </a:ln>
                <a:solidFill>
                  <a:srgbClr val="4EC9B0"/>
                </a:solidFill>
                <a:effectLst/>
                <a:uLnTx/>
                <a:uFillTx/>
                <a:latin typeface="Consolas"/>
                <a:ea typeface="+mn-ea"/>
                <a:cs typeface="+mn-cs"/>
              </a:rPr>
              <a:t>IJsonSchema.IArray</a:t>
            </a:r>
            <a:r>
              <a:rPr kumimoji="0" lang="en-US" sz="1800" b="0" i="0" u="none" strike="noStrike" kern="1200" cap="none" spc="0" normalizeH="0" baseline="0" noProof="0" dirty="0">
                <a:ln>
                  <a:noFill/>
                </a:ln>
                <a:solidFill>
                  <a:srgbClr val="D4D4D4"/>
                </a:solidFill>
                <a:effectLst/>
                <a:uLnTx/>
                <a:uFillTx/>
                <a:latin typeface="Consolas"/>
                <a:ea typeface="+mn-ea"/>
                <a:cs typeface="+mn-cs"/>
              </a:rPr>
              <a:t>      </a:t>
            </a:r>
            <a:r>
              <a:rPr kumimoji="0" lang="en-US" sz="1800" b="0" i="0" u="none" strike="noStrike" kern="1200" cap="none" spc="0" normalizeH="0" baseline="0" noProof="0" dirty="0">
                <a:ln>
                  <a:noFill/>
                </a:ln>
                <a:solidFill>
                  <a:srgbClr val="6A9955"/>
                </a:solidFill>
                <a:effectLst/>
                <a:uLnTx/>
                <a:uFillTx/>
                <a:latin typeface="Consolas"/>
                <a:ea typeface="+mn-ea"/>
                <a:cs typeface="+mn-cs"/>
              </a:rPr>
              <a:t>// </a:t>
            </a:r>
            <a:r>
              <a:rPr kumimoji="0" lang="en-US" sz="1800" b="0" i="0" u="sng" strike="noStrike" kern="1200" cap="none" spc="0" normalizeH="0" baseline="0" noProof="0" dirty="0">
                <a:ln>
                  <a:noFill/>
                </a:ln>
                <a:solidFill>
                  <a:srgbClr val="6A9955"/>
                </a:solidFill>
                <a:effectLst/>
                <a:uLnTx/>
                <a:uFillTx/>
                <a:latin typeface="Consolas"/>
                <a:ea typeface="+mn-ea"/>
                <a:cs typeface="+mn-cs"/>
              </a:rPr>
              <a:t>items: IJsonSchema</a:t>
            </a:r>
            <a:r>
              <a:rPr kumimoji="0" lang="en-US" sz="1800" b="0" i="0" u="none" strike="noStrike" kern="1200" cap="none" spc="0" normalizeH="0" baseline="0" noProof="0" dirty="0">
                <a:ln>
                  <a:noFill/>
                </a:ln>
                <a:solidFill>
                  <a:srgbClr val="6A9955"/>
                </a:solidFill>
                <a:effectLst/>
                <a:uLnTx/>
                <a:uFillTx/>
                <a:latin typeface="Consolas"/>
                <a:ea typeface="+mn-ea"/>
                <a:cs typeface="+mn-cs"/>
              </a:rPr>
              <a:t> ← recursive</a:t>
            </a:r>
          </a:p>
          <a:p>
            <a:pPr marL="0" marR="0" lvl="0" indent="0" algn="l" defTabSz="457200" rtl="0" eaLnBrk="1" fontAlgn="auto" latinLnBrk="0" hangingPunct="1">
              <a:lnSpc>
                <a:spcPts val="28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4D4D4"/>
                </a:solidFill>
                <a:effectLst/>
                <a:uLnTx/>
                <a:uFillTx/>
                <a:latin typeface="Consolas"/>
                <a:ea typeface="+mn-ea"/>
                <a:cs typeface="+mn-cs"/>
              </a:rPr>
              <a:t>  </a:t>
            </a:r>
            <a:r>
              <a:rPr kumimoji="0" lang="en-US" sz="1800" b="0" i="0" u="none" strike="noStrike" kern="1200" cap="none" spc="0" normalizeH="0" baseline="0" noProof="0" dirty="0">
                <a:ln>
                  <a:noFill/>
                </a:ln>
                <a:solidFill>
                  <a:srgbClr val="C586C0"/>
                </a:solidFill>
                <a:effectLst/>
                <a:uLnTx/>
                <a:uFillTx/>
                <a:latin typeface="Consolas"/>
                <a:ea typeface="+mn-ea"/>
                <a:cs typeface="+mn-cs"/>
              </a:rPr>
              <a:t>| </a:t>
            </a:r>
            <a:r>
              <a:rPr kumimoji="0" lang="en-US" sz="1800" b="0" i="0" u="none" strike="noStrike" kern="1200" cap="none" spc="0" normalizeH="0" baseline="0" noProof="0" dirty="0">
                <a:ln>
                  <a:noFill/>
                </a:ln>
                <a:solidFill>
                  <a:srgbClr val="4EC9B0"/>
                </a:solidFill>
                <a:effectLst/>
                <a:uLnTx/>
                <a:uFillTx/>
                <a:latin typeface="Consolas"/>
                <a:ea typeface="+mn-ea"/>
                <a:cs typeface="+mn-cs"/>
              </a:rPr>
              <a:t>IJsonSchema.IObject</a:t>
            </a:r>
            <a:r>
              <a:rPr kumimoji="0" lang="en-US" sz="1800" b="0" i="0" u="none" strike="noStrike" kern="1200" cap="none" spc="0" normalizeH="0" baseline="0" noProof="0" dirty="0">
                <a:ln>
                  <a:noFill/>
                </a:ln>
                <a:solidFill>
                  <a:srgbClr val="D4D4D4"/>
                </a:solidFill>
                <a:effectLst/>
                <a:uLnTx/>
                <a:uFillTx/>
                <a:latin typeface="Consolas"/>
                <a:ea typeface="+mn-ea"/>
                <a:cs typeface="+mn-cs"/>
              </a:rPr>
              <a:t>     </a:t>
            </a:r>
            <a:r>
              <a:rPr kumimoji="0" lang="en-US" sz="1800" b="0" i="0" u="none" strike="noStrike" kern="1200" cap="none" spc="0" normalizeH="0" baseline="0" noProof="0" dirty="0">
                <a:ln>
                  <a:noFill/>
                </a:ln>
                <a:solidFill>
                  <a:srgbClr val="6A9955"/>
                </a:solidFill>
                <a:effectLst/>
                <a:uLnTx/>
                <a:uFillTx/>
                <a:latin typeface="Consolas"/>
                <a:ea typeface="+mn-ea"/>
                <a:cs typeface="+mn-cs"/>
              </a:rPr>
              <a:t>// </a:t>
            </a:r>
            <a:r>
              <a:rPr kumimoji="0" lang="en-US" sz="1800" b="0" i="0" u="sng" strike="noStrike" kern="1200" cap="none" spc="0" normalizeH="0" baseline="0" noProof="0" dirty="0">
                <a:ln>
                  <a:noFill/>
                </a:ln>
                <a:solidFill>
                  <a:srgbClr val="6A9955"/>
                </a:solidFill>
                <a:effectLst/>
                <a:uLnTx/>
                <a:uFillTx/>
                <a:latin typeface="Consolas"/>
                <a:ea typeface="+mn-ea"/>
                <a:cs typeface="+mn-cs"/>
              </a:rPr>
              <a:t>properties: Record&lt;string, </a:t>
            </a:r>
            <a:r>
              <a:rPr kumimoji="0" lang="en-US" sz="1800" b="0" i="0" u="sng" strike="noStrike" kern="1200" cap="none" spc="0" normalizeH="0" baseline="0" noProof="0" dirty="0" err="1">
                <a:ln>
                  <a:noFill/>
                </a:ln>
                <a:solidFill>
                  <a:srgbClr val="6A9955"/>
                </a:solidFill>
                <a:effectLst/>
                <a:uLnTx/>
                <a:uFillTx/>
                <a:latin typeface="Consolas"/>
                <a:ea typeface="+mn-ea"/>
                <a:cs typeface="+mn-cs"/>
              </a:rPr>
              <a:t>IJsonSchema</a:t>
            </a:r>
            <a:r>
              <a:rPr kumimoji="0" lang="en-US" sz="1800" b="0" i="0" u="sng" strike="noStrike" kern="1200" cap="none" spc="0" normalizeH="0" baseline="0" noProof="0" dirty="0">
                <a:ln>
                  <a:noFill/>
                </a:ln>
                <a:solidFill>
                  <a:srgbClr val="6A9955"/>
                </a:solidFill>
                <a:effectLst/>
                <a:uLnTx/>
                <a:uFillTx/>
                <a:latin typeface="Consolas"/>
                <a:ea typeface="+mn-ea"/>
                <a:cs typeface="+mn-cs"/>
              </a:rPr>
              <a:t>&gt;</a:t>
            </a:r>
            <a:r>
              <a:rPr kumimoji="0" lang="en-US" sz="1800" b="0" i="0" u="none" strike="noStrike" kern="1200" cap="none" spc="0" normalizeH="0" baseline="0" noProof="0" dirty="0">
                <a:ln>
                  <a:noFill/>
                </a:ln>
                <a:solidFill>
                  <a:srgbClr val="6A9955"/>
                </a:solidFill>
                <a:effectLst/>
                <a:uLnTx/>
                <a:uFillTx/>
                <a:latin typeface="Consolas"/>
                <a:ea typeface="+mn-ea"/>
                <a:cs typeface="+mn-cs"/>
              </a:rPr>
              <a:t> ← recursive</a:t>
            </a:r>
          </a:p>
          <a:p>
            <a:pPr marL="0" marR="0" lvl="0" indent="0" algn="l" defTabSz="457200" rtl="0" eaLnBrk="1" fontAlgn="auto" latinLnBrk="0" hangingPunct="1">
              <a:lnSpc>
                <a:spcPts val="28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4D4D4"/>
                </a:solidFill>
                <a:effectLst/>
                <a:uLnTx/>
                <a:uFillTx/>
                <a:latin typeface="Consolas"/>
                <a:ea typeface="+mn-ea"/>
                <a:cs typeface="+mn-cs"/>
              </a:rPr>
              <a:t>  </a:t>
            </a:r>
            <a:r>
              <a:rPr kumimoji="0" lang="en-US" sz="1800" b="0" i="0" u="none" strike="noStrike" kern="1200" cap="none" spc="0" normalizeH="0" baseline="0" noProof="0" dirty="0">
                <a:ln>
                  <a:noFill/>
                </a:ln>
                <a:solidFill>
                  <a:srgbClr val="C586C0"/>
                </a:solidFill>
                <a:effectLst/>
                <a:uLnTx/>
                <a:uFillTx/>
                <a:latin typeface="Consolas"/>
                <a:ea typeface="+mn-ea"/>
                <a:cs typeface="+mn-cs"/>
              </a:rPr>
              <a:t>| </a:t>
            </a:r>
            <a:r>
              <a:rPr kumimoji="0" lang="en-US" sz="1800" b="0" i="0" u="none" strike="noStrike" kern="1200" cap="none" spc="0" normalizeH="0" baseline="0" noProof="0" dirty="0">
                <a:ln>
                  <a:noFill/>
                </a:ln>
                <a:solidFill>
                  <a:srgbClr val="4EC9B0"/>
                </a:solidFill>
                <a:effectLst/>
                <a:uLnTx/>
                <a:uFillTx/>
                <a:latin typeface="Consolas"/>
                <a:ea typeface="+mn-ea"/>
                <a:cs typeface="+mn-cs"/>
              </a:rPr>
              <a:t>IJsonSchema.IReference</a:t>
            </a:r>
          </a:p>
          <a:p>
            <a:pPr marL="0" marR="0" lvl="0" indent="0" algn="l" defTabSz="457200" rtl="0" eaLnBrk="1" fontAlgn="auto" latinLnBrk="0" hangingPunct="1">
              <a:lnSpc>
                <a:spcPts val="28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4D4D4"/>
                </a:solidFill>
                <a:effectLst/>
                <a:uLnTx/>
                <a:uFillTx/>
                <a:latin typeface="Consolas"/>
                <a:ea typeface="+mn-ea"/>
                <a:cs typeface="+mn-cs"/>
              </a:rPr>
              <a:t>  </a:t>
            </a:r>
            <a:r>
              <a:rPr kumimoji="0" lang="en-US" sz="1800" b="0" i="0" u="none" strike="noStrike" kern="1200" cap="none" spc="0" normalizeH="0" baseline="0" noProof="0" dirty="0">
                <a:ln>
                  <a:noFill/>
                </a:ln>
                <a:solidFill>
                  <a:srgbClr val="C586C0"/>
                </a:solidFill>
                <a:effectLst/>
                <a:uLnTx/>
                <a:uFillTx/>
                <a:latin typeface="Consolas"/>
                <a:ea typeface="+mn-ea"/>
                <a:cs typeface="+mn-cs"/>
              </a:rPr>
              <a:t>| </a:t>
            </a:r>
            <a:r>
              <a:rPr kumimoji="0" lang="en-US" sz="1800" b="0" i="0" u="none" strike="noStrike" kern="1200" cap="none" spc="0" normalizeH="0" baseline="0" noProof="0" dirty="0">
                <a:ln>
                  <a:noFill/>
                </a:ln>
                <a:solidFill>
                  <a:srgbClr val="4EC9B0"/>
                </a:solidFill>
                <a:effectLst/>
                <a:uLnTx/>
                <a:uFillTx/>
                <a:latin typeface="Consolas"/>
                <a:ea typeface="+mn-ea"/>
                <a:cs typeface="+mn-cs"/>
              </a:rPr>
              <a:t>IJsonSchema.IOneOf</a:t>
            </a:r>
            <a:r>
              <a:rPr kumimoji="0" lang="en-US" sz="1800" b="0" i="0" u="none" strike="noStrike" kern="1200" cap="none" spc="0" normalizeH="0" baseline="0" noProof="0" dirty="0">
                <a:ln>
                  <a:noFill/>
                </a:ln>
                <a:solidFill>
                  <a:srgbClr val="D4D4D4"/>
                </a:solidFill>
                <a:effectLst/>
                <a:uLnTx/>
                <a:uFillTx/>
                <a:latin typeface="Consolas"/>
                <a:ea typeface="+mn-ea"/>
                <a:cs typeface="+mn-cs"/>
              </a:rPr>
              <a:t>      </a:t>
            </a:r>
            <a:r>
              <a:rPr kumimoji="0" lang="en-US" sz="1800" b="0" i="0" u="none" strike="noStrike" kern="1200" cap="none" spc="0" normalizeH="0" baseline="0" noProof="0" dirty="0">
                <a:ln>
                  <a:noFill/>
                </a:ln>
                <a:solidFill>
                  <a:srgbClr val="6A9955"/>
                </a:solidFill>
                <a:effectLst/>
                <a:uLnTx/>
                <a:uFillTx/>
                <a:latin typeface="Consolas"/>
                <a:ea typeface="+mn-ea"/>
                <a:cs typeface="+mn-cs"/>
              </a:rPr>
              <a:t>// </a:t>
            </a:r>
            <a:r>
              <a:rPr kumimoji="0" lang="en-US" sz="1800" b="0" i="0" u="sng" strike="noStrike" kern="1200" cap="none" spc="0" normalizeH="0" baseline="0" noProof="0" dirty="0">
                <a:ln>
                  <a:noFill/>
                </a:ln>
                <a:solidFill>
                  <a:srgbClr val="6A9955"/>
                </a:solidFill>
                <a:effectLst/>
                <a:uLnTx/>
                <a:uFillTx/>
                <a:latin typeface="Consolas"/>
                <a:ea typeface="+mn-ea"/>
                <a:cs typeface="+mn-cs"/>
              </a:rPr>
              <a:t>oneOf: IJsonSchema[]</a:t>
            </a:r>
            <a:r>
              <a:rPr kumimoji="0" lang="en-US" sz="1800" b="0" i="0" u="none" strike="noStrike" kern="1200" cap="none" spc="0" normalizeH="0" baseline="0" noProof="0" dirty="0">
                <a:ln>
                  <a:noFill/>
                </a:ln>
                <a:solidFill>
                  <a:srgbClr val="6A9955"/>
                </a:solidFill>
                <a:effectLst/>
                <a:uLnTx/>
                <a:uFillTx/>
                <a:latin typeface="Consolas"/>
                <a:ea typeface="+mn-ea"/>
                <a:cs typeface="+mn-cs"/>
              </a:rPr>
              <a:t> ← recursive</a:t>
            </a:r>
          </a:p>
          <a:p>
            <a:pPr marL="0" marR="0" lvl="0" indent="0" algn="l" defTabSz="457200" rtl="0" eaLnBrk="1" fontAlgn="auto" latinLnBrk="0" hangingPunct="1">
              <a:lnSpc>
                <a:spcPts val="28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4D4D4"/>
                </a:solidFill>
                <a:effectLst/>
                <a:uLnTx/>
                <a:uFillTx/>
                <a:latin typeface="Consolas"/>
                <a:ea typeface="+mn-ea"/>
                <a:cs typeface="+mn-cs"/>
              </a:rPr>
              <a:t>  </a:t>
            </a:r>
            <a:r>
              <a:rPr kumimoji="0" lang="en-US" sz="1800" b="0" i="0" u="none" strike="noStrike" kern="1200" cap="none" spc="0" normalizeH="0" baseline="0" noProof="0" dirty="0">
                <a:ln>
                  <a:noFill/>
                </a:ln>
                <a:solidFill>
                  <a:srgbClr val="C586C0"/>
                </a:solidFill>
                <a:effectLst/>
                <a:uLnTx/>
                <a:uFillTx/>
                <a:latin typeface="Consolas"/>
                <a:ea typeface="+mn-ea"/>
                <a:cs typeface="+mn-cs"/>
              </a:rPr>
              <a:t>| </a:t>
            </a:r>
            <a:r>
              <a:rPr kumimoji="0" lang="en-US" sz="1800" b="0" i="0" u="none" strike="noStrike" kern="1200" cap="none" spc="0" normalizeH="0" baseline="0" noProof="0" dirty="0">
                <a:ln>
                  <a:noFill/>
                </a:ln>
                <a:solidFill>
                  <a:srgbClr val="4EC9B0"/>
                </a:solidFill>
                <a:effectLst/>
                <a:uLnTx/>
                <a:uFillTx/>
                <a:latin typeface="Consolas"/>
                <a:ea typeface="+mn-ea"/>
                <a:cs typeface="+mn-cs"/>
              </a:rPr>
              <a:t>IJsonSchema.INull</a:t>
            </a:r>
            <a:r>
              <a:rPr kumimoji="0" lang="en-US" sz="1800" b="0" i="0" u="none" strike="noStrike" kern="1200" cap="none" spc="0" normalizeH="0" baseline="0" noProof="0" dirty="0">
                <a:ln>
                  <a:noFill/>
                </a:ln>
                <a:solidFill>
                  <a:srgbClr val="D4D4D4"/>
                </a:solidFill>
                <a:effectLst/>
                <a:uLnTx/>
                <a:uFillTx/>
                <a:latin typeface="Consolas"/>
                <a:ea typeface="+mn-ea"/>
                <a:cs typeface="+mn-cs"/>
              </a:rPr>
              <a:t>;</a:t>
            </a:r>
          </a:p>
        </p:txBody>
      </p:sp>
      <p:sp>
        <p:nvSpPr>
          <p:cNvPr id="14" name="Badge"/>
          <p:cNvSpPr/>
          <p:nvPr/>
        </p:nvSpPr>
        <p:spPr>
          <a:xfrm>
            <a:off x="1270000" y="5867400"/>
            <a:ext cx="9652000" cy="508000"/>
          </a:xfrm>
          <a:prstGeom prst="roundRect">
            <a:avLst>
              <a:gd name="adj" fmla="val 20000"/>
            </a:avLst>
          </a:prstGeom>
          <a:solidFill>
            <a:srgbClr val="FF6B6B">
              <a:alpha val="15000"/>
            </a:srgbClr>
          </a:solidFill>
          <a:ln w="9525">
            <a:solidFill>
              <a:srgbClr val="FF6B6B">
                <a:alpha val="50000"/>
              </a:srgbClr>
            </a:solidFill>
          </a:ln>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6B6B"/>
                </a:solidFill>
                <a:effectLst/>
                <a:uLnTx/>
                <a:uFillTx/>
                <a:latin typeface="Segoe UI Semibold"/>
                <a:ea typeface="+mn-ea"/>
                <a:cs typeface="+mn-cs"/>
              </a:rPr>
              <a:t>First-try success rate: 6.75%</a:t>
            </a:r>
            <a:r>
              <a:rPr kumimoji="0" lang="en-US" sz="1800" b="0" i="0" u="none" strike="noStrike" kern="1200" cap="none" spc="0" normalizeH="0" baseline="0" noProof="0" dirty="0">
                <a:ln>
                  <a:noFill/>
                </a:ln>
                <a:solidFill>
                  <a:srgbClr val="A0A0A0"/>
                </a:solidFill>
                <a:effectLst/>
                <a:uLnTx/>
                <a:uFillTx/>
                <a:latin typeface="Segoe UI"/>
                <a:ea typeface="+mn-ea"/>
                <a:cs typeface="+mn-cs"/>
              </a:rPr>
              <a:t>  —  10 variants × recursive nesting = combinatorial explosion</a:t>
            </a:r>
          </a:p>
        </p:txBody>
      </p:sp>
    </p:spTree>
    <p:extLst>
      <p:ext uri="{BB962C8B-B14F-4D97-AF65-F5344CB8AC3E}">
        <p14:creationId xmlns:p14="http://schemas.microsoft.com/office/powerpoint/2010/main" val="125289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A2E">
            <a:alpha val="100000"/>
          </a:srgbClr>
        </a:solidFill>
        <a:effectLst/>
      </p:bgPr>
    </p:bg>
    <p:spTree>
      <p:nvGrpSpPr>
        <p:cNvPr id="1" name=""/>
        <p:cNvGrpSpPr/>
        <p:nvPr/>
      </p:nvGrpSpPr>
      <p:grpSpPr>
        <a:xfrm>
          <a:off x="0" y="0"/>
          <a:ext cx="0" cy="0"/>
          <a:chOff x="0" y="0"/>
          <a:chExt cx="0" cy="0"/>
        </a:xfrm>
      </p:grpSpPr>
      <p:sp>
        <p:nvSpPr>
          <p:cNvPr id="10" name="T"/>
          <p:cNvSpPr/>
          <p:nvPr/>
        </p:nvSpPr>
        <p:spPr>
          <a:xfrm>
            <a:off x="762000" y="317500"/>
            <a:ext cx="10668000" cy="508000"/>
          </a:xfrm>
          <a:prstGeom prst="rect">
            <a:avLst/>
          </a:prstGeom>
          <a:noFill/>
          <a:ln>
            <a:noFill/>
          </a:ln>
        </p:spPr>
        <p:txBody>
          <a:bodyPr wrap="square" lIns="36000" tIns="36000" rIns="36000" bIns="3600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2400" b="1" i="0" u="none" strike="noStrike" kern="1200" cap="none" spc="0" normalizeH="0" baseline="0" noProof="0">
                <a:ln>
                  <a:noFill/>
                </a:ln>
                <a:solidFill>
                  <a:srgbClr val="F0F0F0"/>
                </a:solidFill>
                <a:effectLst/>
                <a:uLnTx/>
                <a:uFillTx/>
                <a:latin typeface="Segoe UI Semibold"/>
                <a:ea typeface="+mn-ea"/>
                <a:cs typeface="+mn-cs"/>
              </a:rPr>
              <a:t>IExpression — 30+ Variants, Recursive</a:t>
            </a:r>
            <a:endParaRPr kumimoji="0" lang="en-US" sz="2400" b="1" i="0" u="none" strike="noStrike" kern="1200" cap="none" spc="0" normalizeH="0" baseline="0" noProof="0" dirty="0">
              <a:ln>
                <a:noFill/>
              </a:ln>
              <a:solidFill>
                <a:srgbClr val="F0F0F0"/>
              </a:solidFill>
              <a:effectLst/>
              <a:uLnTx/>
              <a:uFillTx/>
              <a:latin typeface="Segoe UI Semibold"/>
              <a:ea typeface="+mn-ea"/>
              <a:cs typeface="+mn-cs"/>
            </a:endParaRPr>
          </a:p>
        </p:txBody>
      </p:sp>
      <p:sp>
        <p:nvSpPr>
          <p:cNvPr id="11" name="Sub"/>
          <p:cNvSpPr/>
          <p:nvPr/>
        </p:nvSpPr>
        <p:spPr>
          <a:xfrm>
            <a:off x="762000" y="863600"/>
            <a:ext cx="10668000" cy="317500"/>
          </a:xfrm>
          <a:prstGeom prst="rect">
            <a:avLst/>
          </a:prstGeom>
          <a:noFill/>
          <a:ln>
            <a:noFill/>
          </a:ln>
        </p:spPr>
        <p:txBody>
          <a:bodyPr wrap="square" lIns="36000" tIns="36000" rIns="36000" bIns="3600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808080"/>
                </a:solidFill>
                <a:effectLst/>
                <a:uLnTx/>
                <a:uFillTx/>
                <a:latin typeface="Segoe UI"/>
                <a:ea typeface="+mn-ea"/>
                <a:cs typeface="+mn-cs"/>
              </a:rPr>
              <a:t>Test expression type — programming-language-level complexity in a single function call</a:t>
            </a:r>
          </a:p>
        </p:txBody>
      </p:sp>
      <p:sp>
        <p:nvSpPr>
          <p:cNvPr id="13" name="Code"/>
          <p:cNvSpPr/>
          <p:nvPr/>
        </p:nvSpPr>
        <p:spPr>
          <a:xfrm>
            <a:off x="762000" y="1422400"/>
            <a:ext cx="10795000" cy="4191000"/>
          </a:xfrm>
          <a:prstGeom prst="rect">
            <a:avLst/>
          </a:prstGeom>
          <a:noFill/>
          <a:ln>
            <a:noFill/>
          </a:ln>
        </p:spPr>
        <p:txBody>
          <a:bodyPr wrap="square" lIns="36000" tIns="36000" rIns="36000" bIns="36000"/>
          <a:lstStyle/>
          <a:p>
            <a:pPr marL="0" marR="0" lvl="0" indent="0" algn="l" defTabSz="457200" rtl="0" eaLnBrk="1" fontAlgn="auto" latinLnBrk="0" hangingPunct="1">
              <a:spcBef>
                <a:spcPts val="0"/>
              </a:spcBef>
              <a:spcAft>
                <a:spcPts val="0"/>
              </a:spcAft>
              <a:buClrTx/>
              <a:buSzTx/>
              <a:buFontTx/>
              <a:buNone/>
              <a:tabLst/>
              <a:defRPr/>
            </a:pPr>
            <a:r>
              <a:rPr kumimoji="0" lang="en-US" sz="1600" b="0" i="0" u="none" strike="noStrike" kern="1200" cap="none" spc="0" normalizeH="0" baseline="0" noProof="0" dirty="0">
                <a:ln>
                  <a:noFill/>
                </a:ln>
                <a:solidFill>
                  <a:srgbClr val="C586C0"/>
                </a:solidFill>
                <a:effectLst/>
                <a:uLnTx/>
                <a:uFillTx/>
                <a:latin typeface="Consolas"/>
                <a:ea typeface="+mn-ea"/>
                <a:cs typeface="+mn-cs"/>
              </a:rPr>
              <a:t>export type </a:t>
            </a:r>
            <a:r>
              <a:rPr kumimoji="0" lang="en-US" sz="1600" b="0" i="0" u="none" strike="noStrike" kern="1200" cap="none" spc="0" normalizeH="0" baseline="0" noProof="0" dirty="0">
                <a:ln>
                  <a:noFill/>
                </a:ln>
                <a:solidFill>
                  <a:srgbClr val="4EC9B0"/>
                </a:solidFill>
                <a:effectLst/>
                <a:uLnTx/>
                <a:uFillTx/>
                <a:latin typeface="Consolas"/>
                <a:ea typeface="+mn-ea"/>
                <a:cs typeface="+mn-cs"/>
              </a:rPr>
              <a:t>IExpression</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p>
          <a:p>
            <a:pPr marL="0" marR="0" lvl="0" indent="0" algn="l" defTabSz="457200" rtl="0" eaLnBrk="1" fontAlgn="auto" latinLnBrk="0" hangingPunct="1">
              <a:spcBef>
                <a:spcPts val="0"/>
              </a:spcBef>
              <a:spcAft>
                <a:spcPts val="0"/>
              </a:spcAft>
              <a:buClrTx/>
              <a:buSzTx/>
              <a:buFontTx/>
              <a:buNone/>
              <a:tabLst/>
              <a:defRPr/>
            </a:pP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IBooleanLiteral</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INumericLiteral</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IStringLiteral</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6A9955"/>
                </a:solidFill>
                <a:effectLst/>
                <a:uLnTx/>
                <a:uFillTx/>
                <a:latin typeface="Consolas"/>
                <a:ea typeface="+mn-ea"/>
                <a:cs typeface="+mn-cs"/>
              </a:rPr>
              <a:t>// literals</a:t>
            </a:r>
          </a:p>
          <a:p>
            <a:pPr marL="0" marR="0" lvl="0" indent="0" algn="l" defTabSz="457200" rtl="0" eaLnBrk="1" fontAlgn="auto" latinLnBrk="0" hangingPunct="1">
              <a:spcBef>
                <a:spcPts val="0"/>
              </a:spcBef>
              <a:spcAft>
                <a:spcPts val="0"/>
              </a:spcAft>
              <a:buClrTx/>
              <a:buSzTx/>
              <a:buFontTx/>
              <a:buNone/>
              <a:tabLst/>
              <a:defRPr/>
            </a:pP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IArrayLiteralExpression</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err="1">
                <a:ln>
                  <a:noFill/>
                </a:ln>
                <a:solidFill>
                  <a:srgbClr val="4EC9B0"/>
                </a:solidFill>
                <a:effectLst/>
                <a:uLnTx/>
                <a:uFillTx/>
                <a:latin typeface="Consolas"/>
                <a:ea typeface="+mn-ea"/>
                <a:cs typeface="+mn-cs"/>
              </a:rPr>
              <a:t>IObjectLiteralExpression</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6A9955"/>
                </a:solidFill>
                <a:effectLst/>
                <a:uLnTx/>
                <a:uFillTx/>
                <a:latin typeface="Consolas"/>
                <a:ea typeface="+mn-ea"/>
                <a:cs typeface="+mn-cs"/>
              </a:rPr>
              <a:t>// compound literals</a:t>
            </a:r>
          </a:p>
          <a:p>
            <a:pPr marL="0" marR="0" lvl="0" indent="0" algn="l" defTabSz="457200" rtl="0" eaLnBrk="1" fontAlgn="auto" latinLnBrk="0" hangingPunct="1">
              <a:spcBef>
                <a:spcPts val="0"/>
              </a:spcBef>
              <a:spcAft>
                <a:spcPts val="0"/>
              </a:spcAft>
              <a:buClrTx/>
              <a:buSzTx/>
              <a:buFontTx/>
              <a:buNone/>
              <a:tabLst/>
              <a:defRPr/>
            </a:pP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INullLiteral</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IUndefinedKeyword</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6A9955"/>
                </a:solidFill>
                <a:effectLst/>
                <a:uLnTx/>
                <a:uFillTx/>
                <a:latin typeface="Consolas"/>
                <a:ea typeface="+mn-ea"/>
                <a:cs typeface="+mn-cs"/>
              </a:rPr>
              <a:t>// null/undefined</a:t>
            </a:r>
          </a:p>
          <a:p>
            <a:pPr marL="0" marR="0" lvl="0" indent="0" algn="l" defTabSz="457200" rtl="0" eaLnBrk="1" fontAlgn="auto" latinLnBrk="0" hangingPunct="1">
              <a:spcBef>
                <a:spcPts val="0"/>
              </a:spcBef>
              <a:spcAft>
                <a:spcPts val="0"/>
              </a:spcAft>
              <a:buClrTx/>
              <a:buSzTx/>
              <a:buFontTx/>
              <a:buNone/>
              <a:tabLst/>
              <a:defRPr/>
            </a:pP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IIdentifier</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IPropertyAccessExpression</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6A9955"/>
                </a:solidFill>
                <a:effectLst/>
                <a:uLnTx/>
                <a:uFillTx/>
                <a:latin typeface="Consolas"/>
                <a:ea typeface="+mn-ea"/>
                <a:cs typeface="+mn-cs"/>
              </a:rPr>
              <a:t>// accessors</a:t>
            </a:r>
          </a:p>
          <a:p>
            <a:pPr marL="0" marR="0" lvl="0" indent="0" algn="l" defTabSz="457200" rtl="0" eaLnBrk="1" fontAlgn="auto" latinLnBrk="0" hangingPunct="1">
              <a:spcBef>
                <a:spcPts val="0"/>
              </a:spcBef>
              <a:spcAft>
                <a:spcPts val="0"/>
              </a:spcAft>
              <a:buClrTx/>
              <a:buSzTx/>
              <a:buFontTx/>
              <a:buNone/>
              <a:tabLst/>
              <a:defRPr/>
            </a:pP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IElementAccessExpression</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err="1">
                <a:ln>
                  <a:noFill/>
                </a:ln>
                <a:solidFill>
                  <a:srgbClr val="4EC9B0"/>
                </a:solidFill>
                <a:effectLst/>
                <a:uLnTx/>
                <a:uFillTx/>
                <a:latin typeface="Consolas"/>
                <a:ea typeface="+mn-ea"/>
                <a:cs typeface="+mn-cs"/>
              </a:rPr>
              <a:t>ITypeOfExpression</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6A9955"/>
                </a:solidFill>
                <a:effectLst/>
                <a:uLnTx/>
                <a:uFillTx/>
                <a:latin typeface="Consolas"/>
                <a:ea typeface="+mn-ea"/>
                <a:cs typeface="+mn-cs"/>
              </a:rPr>
              <a:t>// access/operations</a:t>
            </a:r>
          </a:p>
          <a:p>
            <a:pPr marL="0" marR="0" lvl="0" indent="0" algn="l" defTabSz="457200" rtl="0" eaLnBrk="1" fontAlgn="auto" latinLnBrk="0" hangingPunct="1">
              <a:spcBef>
                <a:spcPts val="0"/>
              </a:spcBef>
              <a:spcAft>
                <a:spcPts val="0"/>
              </a:spcAft>
              <a:buClrTx/>
              <a:buSzTx/>
              <a:buFontTx/>
              <a:buNone/>
              <a:tabLst/>
              <a:defRPr/>
            </a:pP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IPrefixUnaryExpression</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err="1">
                <a:ln>
                  <a:noFill/>
                </a:ln>
                <a:solidFill>
                  <a:srgbClr val="4EC9B0"/>
                </a:solidFill>
                <a:effectLst/>
                <a:uLnTx/>
                <a:uFillTx/>
                <a:latin typeface="Consolas"/>
                <a:ea typeface="+mn-ea"/>
                <a:cs typeface="+mn-cs"/>
              </a:rPr>
              <a:t>IPostfixUnaryExpression</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6A9955"/>
                </a:solidFill>
                <a:effectLst/>
                <a:uLnTx/>
                <a:uFillTx/>
                <a:latin typeface="Consolas"/>
                <a:ea typeface="+mn-ea"/>
                <a:cs typeface="+mn-cs"/>
              </a:rPr>
              <a:t>// unary operations</a:t>
            </a:r>
          </a:p>
          <a:p>
            <a:pPr marL="0" marR="0" lvl="0" indent="0" algn="l" defTabSz="457200" rtl="0" eaLnBrk="1" fontAlgn="auto" latinLnBrk="0" hangingPunct="1">
              <a:spcBef>
                <a:spcPts val="0"/>
              </a:spcBef>
              <a:spcAft>
                <a:spcPts val="0"/>
              </a:spcAft>
              <a:buClrTx/>
              <a:buSzTx/>
              <a:buFontTx/>
              <a:buNone/>
              <a:tabLst/>
              <a:defRPr/>
            </a:pP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err="1">
                <a:ln>
                  <a:noFill/>
                </a:ln>
                <a:solidFill>
                  <a:srgbClr val="4EC9B0"/>
                </a:solidFill>
                <a:effectLst/>
                <a:uLnTx/>
                <a:uFillTx/>
                <a:latin typeface="Consolas"/>
                <a:ea typeface="+mn-ea"/>
                <a:cs typeface="+mn-cs"/>
              </a:rPr>
              <a:t>IBinaryExpression</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6A9955"/>
                </a:solidFill>
                <a:effectLst/>
                <a:uLnTx/>
                <a:uFillTx/>
                <a:latin typeface="Consolas"/>
                <a:ea typeface="+mn-ea"/>
                <a:cs typeface="+mn-cs"/>
              </a:rPr>
              <a:t>// binary operations</a:t>
            </a:r>
          </a:p>
          <a:p>
            <a:pPr marL="0" marR="0" lvl="0" indent="0" algn="l" defTabSz="457200" rtl="0" eaLnBrk="1" fontAlgn="auto" latinLnBrk="0" hangingPunct="1">
              <a:spcBef>
                <a:spcPts val="0"/>
              </a:spcBef>
              <a:spcAft>
                <a:spcPts val="0"/>
              </a:spcAft>
              <a:buClrTx/>
              <a:buSzTx/>
              <a:buFontTx/>
              <a:buNone/>
              <a:tabLst/>
              <a:defRPr/>
            </a:pP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IArrowFunction</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ICallExpression</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err="1">
                <a:ln>
                  <a:noFill/>
                </a:ln>
                <a:solidFill>
                  <a:srgbClr val="4EC9B0"/>
                </a:solidFill>
                <a:effectLst/>
                <a:uLnTx/>
                <a:uFillTx/>
                <a:latin typeface="Consolas"/>
                <a:ea typeface="+mn-ea"/>
                <a:cs typeface="+mn-cs"/>
              </a:rPr>
              <a:t>INewExpression</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6A9955"/>
                </a:solidFill>
                <a:effectLst/>
                <a:uLnTx/>
                <a:uFillTx/>
                <a:latin typeface="Consolas"/>
                <a:ea typeface="+mn-ea"/>
                <a:cs typeface="+mn-cs"/>
              </a:rPr>
              <a:t>// functions</a:t>
            </a:r>
          </a:p>
          <a:p>
            <a:pPr marL="0" marR="0" lvl="0" indent="0" algn="l" defTabSz="457200" rtl="0" eaLnBrk="1" fontAlgn="auto" latinLnBrk="0" hangingPunct="1">
              <a:spcBef>
                <a:spcPts val="0"/>
              </a:spcBef>
              <a:spcAft>
                <a:spcPts val="0"/>
              </a:spcAft>
              <a:buClrTx/>
              <a:buSzTx/>
              <a:buFontTx/>
              <a:buNone/>
              <a:tabLst/>
              <a:defRPr/>
            </a:pP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IArrayFilterExpression</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err="1">
                <a:ln>
                  <a:noFill/>
                </a:ln>
                <a:solidFill>
                  <a:srgbClr val="4EC9B0"/>
                </a:solidFill>
                <a:effectLst/>
                <a:uLnTx/>
                <a:uFillTx/>
                <a:latin typeface="Consolas"/>
                <a:ea typeface="+mn-ea"/>
                <a:cs typeface="+mn-cs"/>
              </a:rPr>
              <a:t>IArrayForEachExpression</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6A9955"/>
                </a:solidFill>
                <a:effectLst/>
                <a:uLnTx/>
                <a:uFillTx/>
                <a:latin typeface="Consolas"/>
                <a:ea typeface="+mn-ea"/>
                <a:cs typeface="+mn-cs"/>
              </a:rPr>
              <a:t>// array operations</a:t>
            </a:r>
          </a:p>
          <a:p>
            <a:pPr marL="0" marR="0" lvl="0" indent="0" algn="l" defTabSz="457200" rtl="0" eaLnBrk="1" fontAlgn="auto" latinLnBrk="0" hangingPunct="1">
              <a:spcBef>
                <a:spcPts val="0"/>
              </a:spcBef>
              <a:spcAft>
                <a:spcPts val="0"/>
              </a:spcAft>
              <a:buClrTx/>
              <a:buSzTx/>
              <a:buFontTx/>
              <a:buNone/>
              <a:tabLst/>
              <a:defRPr/>
            </a:pP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IArrayMapExpression</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err="1">
                <a:ln>
                  <a:noFill/>
                </a:ln>
                <a:solidFill>
                  <a:srgbClr val="4EC9B0"/>
                </a:solidFill>
                <a:effectLst/>
                <a:uLnTx/>
                <a:uFillTx/>
                <a:latin typeface="Consolas"/>
                <a:ea typeface="+mn-ea"/>
                <a:cs typeface="+mn-cs"/>
              </a:rPr>
              <a:t>IArrayRepeatExpression</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6A9955"/>
                </a:solidFill>
                <a:effectLst/>
                <a:uLnTx/>
                <a:uFillTx/>
                <a:latin typeface="Consolas"/>
                <a:ea typeface="+mn-ea"/>
                <a:cs typeface="+mn-cs"/>
              </a:rPr>
              <a:t>// array operations</a:t>
            </a:r>
          </a:p>
          <a:p>
            <a:pPr marL="0" marR="0" lvl="0" indent="0" algn="l" defTabSz="457200" rtl="0" eaLnBrk="1" fontAlgn="auto" latinLnBrk="0" hangingPunct="1">
              <a:spcBef>
                <a:spcPts val="0"/>
              </a:spcBef>
              <a:spcAft>
                <a:spcPts val="0"/>
              </a:spcAft>
              <a:buClrTx/>
              <a:buSzTx/>
              <a:buFontTx/>
              <a:buNone/>
              <a:tabLst/>
              <a:defRPr/>
            </a:pP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IPickRandom</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ISampleRandom</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IBooleanRandom</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6A9955"/>
                </a:solidFill>
                <a:effectLst/>
                <a:uLnTx/>
                <a:uFillTx/>
                <a:latin typeface="Consolas"/>
                <a:ea typeface="+mn-ea"/>
                <a:cs typeface="+mn-cs"/>
              </a:rPr>
              <a:t>// random generation</a:t>
            </a:r>
          </a:p>
          <a:p>
            <a:pPr marL="0" marR="0" lvl="0" indent="0" algn="l" defTabSz="457200" rtl="0" eaLnBrk="1" fontAlgn="auto" latinLnBrk="0" hangingPunct="1">
              <a:spcBef>
                <a:spcPts val="0"/>
              </a:spcBef>
              <a:spcAft>
                <a:spcPts val="0"/>
              </a:spcAft>
              <a:buClrTx/>
              <a:buSzTx/>
              <a:buFontTx/>
              <a:buNone/>
              <a:tabLst/>
              <a:defRPr/>
            </a:pP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IIntegerRandom</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INumberRandom</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IStringRandom</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6A9955"/>
                </a:solidFill>
                <a:effectLst/>
                <a:uLnTx/>
                <a:uFillTx/>
                <a:latin typeface="Consolas"/>
                <a:ea typeface="+mn-ea"/>
                <a:cs typeface="+mn-cs"/>
              </a:rPr>
              <a:t>// random generation</a:t>
            </a:r>
          </a:p>
          <a:p>
            <a:pPr marL="0" marR="0" lvl="0" indent="0" algn="l" defTabSz="457200" rtl="0" eaLnBrk="1" fontAlgn="auto" latinLnBrk="0" hangingPunct="1">
              <a:spcBef>
                <a:spcPts val="0"/>
              </a:spcBef>
              <a:spcAft>
                <a:spcPts val="0"/>
              </a:spcAft>
              <a:buClrTx/>
              <a:buSzTx/>
              <a:buFontTx/>
              <a:buNone/>
              <a:tabLst/>
              <a:defRPr/>
            </a:pP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IPatternRandom</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IFormatRandom</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IKeywordRandom</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6A9955"/>
                </a:solidFill>
                <a:effectLst/>
                <a:uLnTx/>
                <a:uFillTx/>
                <a:latin typeface="Consolas"/>
                <a:ea typeface="+mn-ea"/>
                <a:cs typeface="+mn-cs"/>
              </a:rPr>
              <a:t>// random generation</a:t>
            </a:r>
          </a:p>
          <a:p>
            <a:pPr marL="0" marR="0" lvl="0" indent="0" algn="l" defTabSz="457200" rtl="0" eaLnBrk="1" fontAlgn="auto" latinLnBrk="0" hangingPunct="1">
              <a:spcBef>
                <a:spcPts val="0"/>
              </a:spcBef>
              <a:spcAft>
                <a:spcPts val="0"/>
              </a:spcAft>
              <a:buClrTx/>
              <a:buSzTx/>
              <a:buFontTx/>
              <a:buNone/>
              <a:tabLst/>
              <a:defRPr/>
            </a:pP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IEqualPredicate</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INotEqualPredicate</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6A9955"/>
                </a:solidFill>
                <a:effectLst/>
                <a:uLnTx/>
                <a:uFillTx/>
                <a:latin typeface="Consolas"/>
                <a:ea typeface="+mn-ea"/>
                <a:cs typeface="+mn-cs"/>
              </a:rPr>
              <a:t>// assertions</a:t>
            </a:r>
          </a:p>
          <a:p>
            <a:pPr marL="0" marR="0" lvl="0" indent="0" algn="l" defTabSz="457200" rtl="0" eaLnBrk="1" fontAlgn="auto" latinLnBrk="0" hangingPunct="1">
              <a:spcBef>
                <a:spcPts val="0"/>
              </a:spcBef>
              <a:spcAft>
                <a:spcPts val="0"/>
              </a:spcAft>
              <a:buClrTx/>
              <a:buSzTx/>
              <a:buFontTx/>
              <a:buNone/>
              <a:tabLst/>
              <a:defRPr/>
            </a:pP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IConditionalPredicate</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C586C0"/>
                </a:solidFill>
                <a:effectLst/>
                <a:uLnTx/>
                <a:uFillTx/>
                <a:latin typeface="Consolas"/>
                <a:ea typeface="+mn-ea"/>
                <a:cs typeface="+mn-cs"/>
              </a:rPr>
              <a:t>| </a:t>
            </a:r>
            <a:r>
              <a:rPr kumimoji="0" lang="en-US" sz="1600" b="0" i="0" u="none" strike="noStrike" kern="1200" cap="none" spc="0" normalizeH="0" baseline="0" noProof="0" dirty="0">
                <a:ln>
                  <a:noFill/>
                </a:ln>
                <a:solidFill>
                  <a:srgbClr val="4EC9B0"/>
                </a:solidFill>
                <a:effectLst/>
                <a:uLnTx/>
                <a:uFillTx/>
                <a:latin typeface="Consolas"/>
                <a:ea typeface="+mn-ea"/>
                <a:cs typeface="+mn-cs"/>
              </a:rPr>
              <a:t>IErrorPredicate</a:t>
            </a:r>
            <a:r>
              <a:rPr kumimoji="0" lang="en-US" sz="1600" b="0" i="0" u="none" strike="noStrike" kern="1200" cap="none" spc="0" normalizeH="0" baseline="0" noProof="0" dirty="0">
                <a:ln>
                  <a:noFill/>
                </a:ln>
                <a:solidFill>
                  <a:srgbClr val="D4D4D4"/>
                </a:solidFill>
                <a:effectLst/>
                <a:uLnTx/>
                <a:uFillTx/>
                <a:latin typeface="Consolas"/>
                <a:ea typeface="+mn-ea"/>
                <a:cs typeface="+mn-cs"/>
              </a:rPr>
              <a:t>;                 </a:t>
            </a:r>
            <a:r>
              <a:rPr kumimoji="0" lang="en-US" sz="1600" b="0" i="0" u="none" strike="noStrike" kern="1200" cap="none" spc="0" normalizeH="0" baseline="0" noProof="0" dirty="0">
                <a:ln>
                  <a:noFill/>
                </a:ln>
                <a:solidFill>
                  <a:srgbClr val="6A9955"/>
                </a:solidFill>
                <a:effectLst/>
                <a:uLnTx/>
                <a:uFillTx/>
                <a:latin typeface="Consolas"/>
                <a:ea typeface="+mn-ea"/>
                <a:cs typeface="+mn-cs"/>
              </a:rPr>
              <a:t>// assertions</a:t>
            </a:r>
          </a:p>
        </p:txBody>
      </p:sp>
      <p:sp>
        <p:nvSpPr>
          <p:cNvPr id="14" name="Badge"/>
          <p:cNvSpPr/>
          <p:nvPr/>
        </p:nvSpPr>
        <p:spPr>
          <a:xfrm>
            <a:off x="1270000" y="5867400"/>
            <a:ext cx="9652000" cy="508000"/>
          </a:xfrm>
          <a:prstGeom prst="rect">
            <a:avLst/>
          </a:prstGeom>
          <a:noFill/>
          <a:ln>
            <a:noFill/>
          </a:ln>
        </p:spPr>
        <p:txBody>
          <a:bodyPr wrap="square" lIns="36000" tIns="36000" rIns="36000" bIns="3600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D93D"/>
                </a:solidFill>
                <a:effectLst/>
                <a:uLnTx/>
                <a:uFillTx/>
                <a:latin typeface="Segoe UI Semibold"/>
                <a:ea typeface="+mn-ea"/>
                <a:cs typeface="+mn-cs"/>
              </a:rPr>
              <a:t>30+ variants with recursive nesting</a:t>
            </a:r>
            <a:br>
              <a:rPr kumimoji="0" lang="en-US" sz="1800" b="1" i="0" u="none" strike="noStrike" kern="1200" cap="none" spc="0" normalizeH="0" baseline="0" noProof="0" dirty="0">
                <a:ln>
                  <a:noFill/>
                </a:ln>
                <a:solidFill>
                  <a:srgbClr val="FFD93D"/>
                </a:solidFill>
                <a:effectLst/>
                <a:uLnTx/>
                <a:uFillTx/>
                <a:latin typeface="Segoe UI Semibold"/>
                <a:ea typeface="+mn-ea"/>
                <a:cs typeface="+mn-cs"/>
              </a:rPr>
            </a:br>
            <a:r>
              <a:rPr kumimoji="0" lang="en-US" sz="1800" b="1" i="0" u="none" strike="noStrike" kern="1200" cap="none" spc="0" normalizeH="0" baseline="0" noProof="0" dirty="0">
                <a:ln>
                  <a:noFill/>
                </a:ln>
                <a:solidFill>
                  <a:srgbClr val="FFD93D"/>
                </a:solidFill>
                <a:effectLst/>
                <a:uLnTx/>
                <a:uFillTx/>
                <a:latin typeface="Segoe UI Semibold"/>
                <a:ea typeface="+mn-ea"/>
                <a:cs typeface="+mn-cs"/>
              </a:rPr>
              <a:t>programming-language complexity in one function call</a:t>
            </a:r>
          </a:p>
        </p:txBody>
      </p:sp>
    </p:spTree>
    <p:extLst>
      <p:ext uri="{BB962C8B-B14F-4D97-AF65-F5344CB8AC3E}">
        <p14:creationId xmlns:p14="http://schemas.microsoft.com/office/powerpoint/2010/main" val="34852824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BEB7520-46D6-F1A1-FB4B-0CA1EAD7EEB0}"/>
              </a:ext>
            </a:extLst>
          </p:cNvPr>
          <p:cNvSpPr>
            <a:spLocks noGrp="1"/>
          </p:cNvSpPr>
          <p:nvPr>
            <p:ph type="title"/>
          </p:nvPr>
        </p:nvSpPr>
        <p:spPr/>
        <p:txBody>
          <a:bodyPr/>
          <a:lstStyle/>
          <a:p>
            <a:r>
              <a:rPr lang="en-US" dirty="0"/>
              <a:t>2.3. Self-Healing Loops</a:t>
            </a:r>
          </a:p>
        </p:txBody>
      </p:sp>
      <p:sp>
        <p:nvSpPr>
          <p:cNvPr id="3" name="내용 개체 틀 2">
            <a:extLst>
              <a:ext uri="{FF2B5EF4-FFF2-40B4-BE49-F238E27FC236}">
                <a16:creationId xmlns:a16="http://schemas.microsoft.com/office/drawing/2014/main" id="{0E41761D-E93C-E0BD-6C2B-B48C4AE1E0D6}"/>
              </a:ext>
            </a:extLst>
          </p:cNvPr>
          <p:cNvSpPr>
            <a:spLocks noGrp="1"/>
          </p:cNvSpPr>
          <p:nvPr>
            <p:ph idx="1"/>
          </p:nvPr>
        </p:nvSpPr>
        <p:spPr>
          <a:xfrm>
            <a:off x="1143000" y="3683000"/>
            <a:ext cx="9872338" cy="2540000"/>
          </a:xfrm>
        </p:spPr>
        <p:txBody>
          <a:bodyPr>
            <a:normAutofit/>
          </a:bodyPr>
          <a:lstStyle/>
          <a:p>
            <a:pPr>
              <a:buFont typeface="Arial"/>
              <a:buChar char="•"/>
            </a:pPr>
            <a:r>
              <a:rPr lang="en-US" sz="2000" b="1" dirty="0"/>
              <a:t>Write</a:t>
            </a:r>
            <a:r>
              <a:rPr lang="en-US" sz="2000" dirty="0"/>
              <a:t> — LLM fills AST-typed data via function calling</a:t>
            </a:r>
          </a:p>
          <a:p>
            <a:pPr>
              <a:buFont typeface="Arial"/>
              <a:buChar char="•"/>
            </a:pPr>
            <a:r>
              <a:rPr lang="en-US" sz="2000" b="1" dirty="0"/>
              <a:t>Validate</a:t>
            </a:r>
            <a:r>
              <a:rPr lang="en-US" sz="2000" dirty="0"/>
              <a:t> — Typia checks if value conforms to the AST type</a:t>
            </a:r>
          </a:p>
          <a:p>
            <a:pPr>
              <a:buFont typeface="Arial"/>
              <a:buChar char="•"/>
            </a:pPr>
            <a:r>
              <a:rPr lang="en-US" sz="2000" b="1" dirty="0"/>
              <a:t>Diagnose</a:t>
            </a:r>
            <a:r>
              <a:rPr lang="en-US" sz="2000" dirty="0"/>
              <a:t> — Compiler verifies the AST data (DB, OpenAPI, TS)</a:t>
            </a:r>
          </a:p>
          <a:p>
            <a:pPr>
              <a:buFont typeface="Arial"/>
              <a:buChar char="•"/>
            </a:pPr>
            <a:r>
              <a:rPr lang="en-US" sz="2000" b="1" dirty="0"/>
              <a:t>Correct</a:t>
            </a:r>
            <a:r>
              <a:rPr lang="en-US" sz="2000" dirty="0"/>
              <a:t> — On failure, feed precise diagnostics back to the LLM</a:t>
            </a:r>
          </a:p>
          <a:p>
            <a:pPr>
              <a:buFont typeface="Arial"/>
              <a:buChar char="•"/>
            </a:pPr>
            <a:r>
              <a:rPr lang="en-US" sz="2000" b="1" dirty="0"/>
              <a:t>Generate</a:t>
            </a:r>
            <a:r>
              <a:rPr lang="en-US" sz="2000" dirty="0"/>
              <a:t> — Once all checks pass, compiler emits final code</a:t>
            </a:r>
          </a:p>
        </p:txBody>
      </p:sp>
      <p:sp>
        <p:nvSpPr>
          <p:cNvPr id="100" name="Step100"/>
          <p:cNvSpPr/>
          <p:nvPr/>
        </p:nvSpPr>
        <p:spPr>
          <a:xfrm>
            <a:off x="1473200" y="2222500"/>
            <a:ext cx="1524000" cy="533400"/>
          </a:xfrm>
          <a:prstGeom prst="roundRect">
            <a:avLst>
              <a:gd name="adj" fmla="val 16667"/>
            </a:avLst>
          </a:prstGeom>
          <a:solidFill>
            <a:srgbClr val="418AB3"/>
          </a:solidFill>
          <a:ln>
            <a:noFill/>
          </a:ln>
        </p:spPr>
        <p:txBody>
          <a:bodyPr wrap="none" lIns="0" tIns="0" rIns="0" bIns="0" anchor="ctr" anchorCtr="1"/>
          <a:lstStyle/>
          <a:p>
            <a:pPr algn="ctr"/>
            <a:r>
              <a:rPr lang="en-US" sz="1800" b="1" dirty="0">
                <a:solidFill>
                  <a:srgbClr val="FFFFFF"/>
                </a:solidFill>
              </a:rPr>
              <a:t>Write</a:t>
            </a:r>
          </a:p>
        </p:txBody>
      </p:sp>
      <p:sp>
        <p:nvSpPr>
          <p:cNvPr id="101" name="Arr101"/>
          <p:cNvSpPr/>
          <p:nvPr/>
        </p:nvSpPr>
        <p:spPr>
          <a:xfrm>
            <a:off x="3048000" y="2387600"/>
            <a:ext cx="304800" cy="203200"/>
          </a:xfrm>
          <a:prstGeom prst="rightArrow">
            <a:avLst/>
          </a:prstGeom>
          <a:solidFill>
            <a:srgbClr val="565349"/>
          </a:solidFill>
          <a:ln>
            <a:noFill/>
          </a:ln>
        </p:spPr>
        <p:txBody>
          <a:bodyPr/>
          <a:lstStyle/>
          <a:p>
            <a:endParaRPr lang="en-US"/>
          </a:p>
        </p:txBody>
      </p:sp>
      <p:sp>
        <p:nvSpPr>
          <p:cNvPr id="102" name="Step102"/>
          <p:cNvSpPr/>
          <p:nvPr/>
        </p:nvSpPr>
        <p:spPr>
          <a:xfrm>
            <a:off x="3403600" y="2222500"/>
            <a:ext cx="1524000" cy="533400"/>
          </a:xfrm>
          <a:prstGeom prst="roundRect">
            <a:avLst>
              <a:gd name="adj" fmla="val 16667"/>
            </a:avLst>
          </a:prstGeom>
          <a:solidFill>
            <a:srgbClr val="A6B727"/>
          </a:solidFill>
          <a:ln>
            <a:noFill/>
          </a:ln>
        </p:spPr>
        <p:txBody>
          <a:bodyPr wrap="none" lIns="0" tIns="0" rIns="0" bIns="0" anchor="ctr" anchorCtr="1"/>
          <a:lstStyle/>
          <a:p>
            <a:pPr algn="ctr"/>
            <a:r>
              <a:rPr lang="en-US" sz="1800" b="1" dirty="0">
                <a:solidFill>
                  <a:srgbClr val="FFFFFF"/>
                </a:solidFill>
              </a:rPr>
              <a:t>Validate</a:t>
            </a:r>
          </a:p>
        </p:txBody>
      </p:sp>
      <p:sp>
        <p:nvSpPr>
          <p:cNvPr id="103" name="Arr103"/>
          <p:cNvSpPr/>
          <p:nvPr/>
        </p:nvSpPr>
        <p:spPr>
          <a:xfrm>
            <a:off x="4978400" y="2387600"/>
            <a:ext cx="304800" cy="203200"/>
          </a:xfrm>
          <a:prstGeom prst="rightArrow">
            <a:avLst/>
          </a:prstGeom>
          <a:solidFill>
            <a:srgbClr val="565349"/>
          </a:solidFill>
          <a:ln>
            <a:noFill/>
          </a:ln>
        </p:spPr>
        <p:txBody>
          <a:bodyPr/>
          <a:lstStyle/>
          <a:p>
            <a:endParaRPr lang="en-US"/>
          </a:p>
        </p:txBody>
      </p:sp>
      <p:sp>
        <p:nvSpPr>
          <p:cNvPr id="104" name="Step104"/>
          <p:cNvSpPr/>
          <p:nvPr/>
        </p:nvSpPr>
        <p:spPr>
          <a:xfrm>
            <a:off x="5334000" y="2222500"/>
            <a:ext cx="1524000" cy="533400"/>
          </a:xfrm>
          <a:prstGeom prst="roundRect">
            <a:avLst>
              <a:gd name="adj" fmla="val 16667"/>
            </a:avLst>
          </a:prstGeom>
          <a:solidFill>
            <a:srgbClr val="FE9E00"/>
          </a:solidFill>
          <a:ln>
            <a:noFill/>
          </a:ln>
        </p:spPr>
        <p:txBody>
          <a:bodyPr wrap="none" lIns="0" tIns="0" rIns="0" bIns="0" anchor="ctr" anchorCtr="1"/>
          <a:lstStyle/>
          <a:p>
            <a:pPr algn="ctr"/>
            <a:r>
              <a:rPr lang="en-US" sz="1800" b="1" dirty="0">
                <a:solidFill>
                  <a:srgbClr val="FFFFFF"/>
                </a:solidFill>
              </a:rPr>
              <a:t>Diagnose</a:t>
            </a:r>
          </a:p>
        </p:txBody>
      </p:sp>
      <p:sp>
        <p:nvSpPr>
          <p:cNvPr id="105" name="Arr105"/>
          <p:cNvSpPr/>
          <p:nvPr/>
        </p:nvSpPr>
        <p:spPr>
          <a:xfrm>
            <a:off x="6908800" y="2387600"/>
            <a:ext cx="304800" cy="203200"/>
          </a:xfrm>
          <a:prstGeom prst="rightArrow">
            <a:avLst/>
          </a:prstGeom>
          <a:solidFill>
            <a:srgbClr val="565349"/>
          </a:solidFill>
          <a:ln>
            <a:noFill/>
          </a:ln>
        </p:spPr>
        <p:txBody>
          <a:bodyPr/>
          <a:lstStyle/>
          <a:p>
            <a:endParaRPr lang="en-US"/>
          </a:p>
        </p:txBody>
      </p:sp>
      <p:sp>
        <p:nvSpPr>
          <p:cNvPr id="106" name="Step106"/>
          <p:cNvSpPr/>
          <p:nvPr/>
        </p:nvSpPr>
        <p:spPr>
          <a:xfrm>
            <a:off x="7264400" y="2222500"/>
            <a:ext cx="1524000" cy="533400"/>
          </a:xfrm>
          <a:prstGeom prst="roundRect">
            <a:avLst>
              <a:gd name="adj" fmla="val 16667"/>
            </a:avLst>
          </a:prstGeom>
          <a:solidFill>
            <a:srgbClr val="DF5327"/>
          </a:solidFill>
          <a:ln>
            <a:noFill/>
          </a:ln>
        </p:spPr>
        <p:txBody>
          <a:bodyPr wrap="none" lIns="0" tIns="0" rIns="0" bIns="0" anchor="ctr" anchorCtr="1"/>
          <a:lstStyle/>
          <a:p>
            <a:pPr algn="ctr"/>
            <a:r>
              <a:rPr lang="en-US" sz="1800" b="1" dirty="0">
                <a:solidFill>
                  <a:srgbClr val="FFFFFF"/>
                </a:solidFill>
              </a:rPr>
              <a:t>Correct</a:t>
            </a:r>
          </a:p>
        </p:txBody>
      </p:sp>
      <p:sp>
        <p:nvSpPr>
          <p:cNvPr id="107" name="Arr107"/>
          <p:cNvSpPr/>
          <p:nvPr/>
        </p:nvSpPr>
        <p:spPr>
          <a:xfrm>
            <a:off x="8839200" y="2387600"/>
            <a:ext cx="304800" cy="203200"/>
          </a:xfrm>
          <a:prstGeom prst="rightArrow">
            <a:avLst/>
          </a:prstGeom>
          <a:solidFill>
            <a:srgbClr val="565349"/>
          </a:solidFill>
          <a:ln>
            <a:noFill/>
          </a:ln>
        </p:spPr>
        <p:txBody>
          <a:bodyPr/>
          <a:lstStyle/>
          <a:p>
            <a:endParaRPr lang="en-US"/>
          </a:p>
        </p:txBody>
      </p:sp>
      <p:sp>
        <p:nvSpPr>
          <p:cNvPr id="108" name="Step108"/>
          <p:cNvSpPr/>
          <p:nvPr/>
        </p:nvSpPr>
        <p:spPr>
          <a:xfrm>
            <a:off x="9194800" y="2222500"/>
            <a:ext cx="1524000" cy="533400"/>
          </a:xfrm>
          <a:prstGeom prst="roundRect">
            <a:avLst>
              <a:gd name="adj" fmla="val 16667"/>
            </a:avLst>
          </a:prstGeom>
          <a:solidFill>
            <a:srgbClr val="818183"/>
          </a:solidFill>
          <a:ln>
            <a:noFill/>
          </a:ln>
        </p:spPr>
        <p:txBody>
          <a:bodyPr wrap="none" lIns="0" tIns="0" rIns="0" bIns="0" anchor="ctr" anchorCtr="1"/>
          <a:lstStyle/>
          <a:p>
            <a:pPr algn="ctr"/>
            <a:r>
              <a:rPr lang="en-US" sz="1800" b="1" dirty="0">
                <a:solidFill>
                  <a:srgbClr val="FFFFFF"/>
                </a:solidFill>
              </a:rPr>
              <a:t>Generate</a:t>
            </a:r>
          </a:p>
        </p:txBody>
      </p:sp>
      <p:sp>
        <p:nvSpPr>
          <p:cNvPr id="109" name="Bracket109"/>
          <p:cNvSpPr/>
          <p:nvPr/>
        </p:nvSpPr>
        <p:spPr>
          <a:xfrm>
            <a:off x="3352800" y="2044700"/>
            <a:ext cx="5486400" cy="889000"/>
          </a:xfrm>
          <a:prstGeom prst="roundRect">
            <a:avLst>
              <a:gd name="adj" fmla="val 16667"/>
            </a:avLst>
          </a:prstGeom>
          <a:noFill/>
          <a:ln w="19050">
            <a:solidFill>
              <a:srgbClr val="A6B727"/>
            </a:solidFill>
            <a:prstDash val="dash"/>
          </a:ln>
        </p:spPr>
        <p:txBody>
          <a:bodyPr/>
          <a:lstStyle/>
          <a:p>
            <a:endParaRPr lang="en-US"/>
          </a:p>
        </p:txBody>
      </p:sp>
      <p:sp>
        <p:nvSpPr>
          <p:cNvPr id="110" name="Label110"/>
          <p:cNvSpPr/>
          <p:nvPr/>
        </p:nvSpPr>
        <p:spPr>
          <a:xfrm>
            <a:off x="3352800" y="2959100"/>
            <a:ext cx="5486400" cy="279400"/>
          </a:xfrm>
          <a:prstGeom prst="rect">
            <a:avLst/>
          </a:prstGeom>
          <a:noFill/>
          <a:ln>
            <a:noFill/>
          </a:ln>
        </p:spPr>
        <p:txBody>
          <a:bodyPr wrap="square" lIns="0" tIns="0" rIns="0" bIns="0" anchor="t" anchorCtr="1"/>
          <a:lstStyle/>
          <a:p>
            <a:pPr algn="ctr"/>
            <a:r>
              <a:rPr lang="en-US" sz="1400" b="1" dirty="0">
                <a:solidFill>
                  <a:srgbClr val="A6B727"/>
                </a:solidFill>
              </a:rPr>
              <a:t>↻ repeat until success</a:t>
            </a:r>
          </a:p>
        </p:txBody>
      </p:sp>
    </p:spTree>
    <p:extLst>
      <p:ext uri="{BB962C8B-B14F-4D97-AF65-F5344CB8AC3E}">
        <p14:creationId xmlns:p14="http://schemas.microsoft.com/office/powerpoint/2010/main" val="12429283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15DB102-2EDE-05EC-171A-D30A549E36CD}"/>
              </a:ext>
            </a:extLst>
          </p:cNvPr>
          <p:cNvSpPr>
            <a:spLocks noGrp="1"/>
          </p:cNvSpPr>
          <p:nvPr>
            <p:ph type="title"/>
          </p:nvPr>
        </p:nvSpPr>
        <p:spPr/>
        <p:txBody>
          <a:bodyPr/>
          <a:lstStyle/>
          <a:p>
            <a:r>
              <a:rPr lang="en-US" dirty="0"/>
              <a:t>2.4. AST Specs Are Better</a:t>
            </a:r>
          </a:p>
        </p:txBody>
      </p:sp>
      <p:sp>
        <p:nvSpPr>
          <p:cNvPr id="3" name="내용 개체 틀 2">
            <a:extLst>
              <a:ext uri="{FF2B5EF4-FFF2-40B4-BE49-F238E27FC236}">
                <a16:creationId xmlns:a16="http://schemas.microsoft.com/office/drawing/2014/main" id="{EC85E0D1-0C3A-3478-92D4-E495D4983874}"/>
              </a:ext>
            </a:extLst>
          </p:cNvPr>
          <p:cNvSpPr>
            <a:spLocks noGrp="1"/>
          </p:cNvSpPr>
          <p:nvPr>
            <p:ph idx="1"/>
          </p:nvPr>
        </p:nvSpPr>
        <p:spPr/>
        <p:txBody>
          <a:bodyPr>
            <a:noAutofit/>
          </a:bodyPr>
          <a:lstStyle/>
          <a:p>
            <a:pPr>
              <a:buNone/>
            </a:pPr>
            <a:r>
              <a:rPr lang="en-US" sz="2000" b="1" dirty="0"/>
              <a:t>Constraint by Absence, Not Prohibition</a:t>
            </a:r>
          </a:p>
          <a:p>
            <a:pPr>
              <a:buFont typeface="Arial"/>
              <a:buChar char="•"/>
            </a:pPr>
            <a:r>
              <a:rPr lang="en-US" sz="2000" dirty="0"/>
              <a:t>Prompts say “don’t do X” — model must recall X to avoid it</a:t>
            </a:r>
          </a:p>
          <a:p>
            <a:pPr>
              <a:buFont typeface="Arial"/>
              <a:buChar char="•"/>
            </a:pPr>
            <a:r>
              <a:rPr lang="en-US" sz="2000" dirty="0"/>
              <a:t>AST specs define only what’s allowed — everything else doesn’t exist</a:t>
            </a:r>
          </a:p>
          <a:p>
            <a:pPr>
              <a:buFont typeface="Arial"/>
              <a:buChar char="•"/>
            </a:pPr>
            <a:r>
              <a:rPr lang="en-US" sz="2000" dirty="0"/>
              <a:t>Output space shrinks to valid-only → higher accuracy per attempt</a:t>
            </a:r>
          </a:p>
          <a:p>
            <a:pPr>
              <a:buNone/>
            </a:pPr>
            <a:endParaRPr lang="en-US" sz="2000" dirty="0"/>
          </a:p>
          <a:p>
            <a:pPr>
              <a:buNone/>
            </a:pPr>
            <a:r>
              <a:rPr lang="en-US" sz="2000" b="1" dirty="0"/>
              <a:t>Custom Compilers = Custom Diagnosers</a:t>
            </a:r>
          </a:p>
          <a:p>
            <a:pPr>
              <a:buFont typeface="Arial"/>
              <a:buChar char="•"/>
            </a:pPr>
            <a:r>
              <a:rPr lang="en-US" sz="2000" dirty="0"/>
              <a:t>Generic validators: “invalid JSON” — no actionable information</a:t>
            </a:r>
          </a:p>
          <a:p>
            <a:pPr>
              <a:buFont typeface="Arial"/>
              <a:buChar char="•"/>
            </a:pPr>
            <a:r>
              <a:rPr lang="en-US" sz="2000" dirty="0"/>
              <a:t>AST-aware compilers: exact path, expected type, actual value</a:t>
            </a:r>
          </a:p>
          <a:p>
            <a:pPr>
              <a:buFont typeface="Arial"/>
              <a:buChar char="•"/>
            </a:pPr>
            <a:r>
              <a:rPr lang="en-US" sz="2000" dirty="0"/>
              <a:t>Precise diagnostics → targeted correction → faster convergence</a:t>
            </a:r>
          </a:p>
        </p:txBody>
      </p:sp>
    </p:spTree>
    <p:extLst>
      <p:ext uri="{BB962C8B-B14F-4D97-AF65-F5344CB8AC3E}">
        <p14:creationId xmlns:p14="http://schemas.microsoft.com/office/powerpoint/2010/main" val="1757691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15DB102-2EDE-05EC-171A-D30A549E36CD}"/>
              </a:ext>
            </a:extLst>
          </p:cNvPr>
          <p:cNvSpPr>
            <a:spLocks noGrp="1"/>
          </p:cNvSpPr>
          <p:nvPr>
            <p:ph type="title"/>
          </p:nvPr>
        </p:nvSpPr>
        <p:spPr/>
        <p:txBody>
          <a:bodyPr/>
          <a:lstStyle/>
          <a:p>
            <a:r>
              <a:rPr lang="en-US" dirty="0"/>
              <a:t>2.5. Four Qwen Models, All 99.8%</a:t>
            </a:r>
          </a:p>
        </p:txBody>
      </p:sp>
      <p:sp>
        <p:nvSpPr>
          <p:cNvPr id="3" name="내용 개체 틀 2">
            <a:extLst>
              <a:ext uri="{FF2B5EF4-FFF2-40B4-BE49-F238E27FC236}">
                <a16:creationId xmlns:a16="http://schemas.microsoft.com/office/drawing/2014/main" id="{EC85E0D1-0C3A-3478-92D4-E495D4983874}"/>
              </a:ext>
            </a:extLst>
          </p:cNvPr>
          <p:cNvSpPr>
            <a:spLocks noGrp="1"/>
          </p:cNvSpPr>
          <p:nvPr>
            <p:ph idx="1"/>
          </p:nvPr>
        </p:nvSpPr>
        <p:spPr/>
        <p:txBody>
          <a:bodyPr/>
          <a:lstStyle/>
          <a:p>
            <a:pPr>
              <a:buNone/>
            </a:pPr>
            <a:r>
              <a:rPr lang="en-US" sz="1800" b="1" dirty="0"/>
              <a:t>Compilation success rate across all tested Qwen models</a:t>
            </a:r>
          </a:p>
          <a:p>
            <a:pPr>
              <a:buNone/>
            </a:pPr>
            <a:endParaRPr lang="en-US" sz="800" dirty="0"/>
          </a:p>
          <a:p>
            <a:pPr>
              <a:buFont typeface="Arial"/>
              <a:buChar char="•"/>
            </a:pPr>
            <a:r>
              <a:rPr lang="en-US" sz="1800" b="1" dirty="0"/>
              <a:t>qwen3.5-397b-a17b</a:t>
            </a:r>
            <a:r>
              <a:rPr lang="en-US" sz="1800" dirty="0"/>
              <a:t>  (17B / 397B) — Largest MoE → 100%</a:t>
            </a:r>
          </a:p>
          <a:p>
            <a:pPr>
              <a:buFont typeface="Arial"/>
              <a:buChar char="•"/>
            </a:pPr>
            <a:r>
              <a:rPr lang="en-US" sz="1800" b="1" dirty="0"/>
              <a:t>qwen3.5-122b-a10b</a:t>
            </a:r>
            <a:r>
              <a:rPr lang="en-US" sz="1800" dirty="0"/>
              <a:t>  (10B / 122B) — Medium MoE → 100%</a:t>
            </a:r>
          </a:p>
          <a:p>
            <a:pPr>
              <a:buFont typeface="Arial"/>
              <a:buChar char="•"/>
            </a:pPr>
            <a:r>
              <a:rPr lang="en-US" sz="1800" b="1" dirty="0"/>
              <a:t>qwen3.5-27b</a:t>
            </a:r>
            <a:r>
              <a:rPr lang="en-US" sz="1800" dirty="0"/>
              <a:t>  (27B Dense) — Medium Dense → 100%</a:t>
            </a:r>
          </a:p>
          <a:p>
            <a:pPr>
              <a:buFont typeface="Arial"/>
              <a:buChar char="•"/>
            </a:pPr>
            <a:r>
              <a:rPr lang="en-US" sz="1800" b="1" dirty="0"/>
              <a:t>qwen3.5-35b-a3b</a:t>
            </a:r>
            <a:r>
              <a:rPr lang="en-US" sz="1800" dirty="0"/>
              <a:t>  (3B / 35B) — Small MoE → 99.8%</a:t>
            </a:r>
          </a:p>
          <a:p>
            <a:pPr>
              <a:buFont typeface="Arial"/>
              <a:buChar char="•"/>
            </a:pPr>
            <a:r>
              <a:rPr lang="en-US" altLang="ko-KR" sz="1800" b="1" dirty="0"/>
              <a:t>qwen3-coder-next</a:t>
            </a:r>
            <a:r>
              <a:rPr lang="en-US" altLang="ko-KR" sz="1800" dirty="0"/>
              <a:t>  (3B / 80B) — Coding-specialized → 99.8%</a:t>
            </a:r>
            <a:endParaRPr lang="en-US" sz="1800" dirty="0"/>
          </a:p>
          <a:p>
            <a:pPr>
              <a:buNone/>
            </a:pPr>
            <a:endParaRPr lang="en-US" sz="800" dirty="0"/>
          </a:p>
          <a:p>
            <a:pPr>
              <a:buNone/>
            </a:pPr>
            <a:r>
              <a:rPr lang="en-US" sz="1800" b="1" dirty="0"/>
              <a:t>From 397B to 35B. Same schema, same pipeline, same result.</a:t>
            </a:r>
          </a:p>
        </p:txBody>
      </p:sp>
    </p:spTree>
    <p:extLst>
      <p:ext uri="{BB962C8B-B14F-4D97-AF65-F5344CB8AC3E}">
        <p14:creationId xmlns:p14="http://schemas.microsoft.com/office/powerpoint/2010/main" val="2373256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2F8B4D0-7BAB-1B37-4945-71881B2C5A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546" b="14036"/>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a16="http://schemas.microsoft.com/office/drawing/2014/main" id="{F557AC3B-63D5-4181-AD35-0D051F7C82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307439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93B686DA-38FC-7B33-58FC-491F29CE66D4}"/>
              </a:ext>
            </a:extLst>
          </p:cNvPr>
          <p:cNvPicPr>
            <a:picLocks noChangeAspect="1"/>
          </p:cNvPicPr>
          <p:nvPr/>
        </p:nvPicPr>
        <p:blipFill>
          <a:blip r:embed="rId3"/>
          <a:srcRect t="6639"/>
          <a:stretch>
            <a:fillRect/>
          </a:stretch>
        </p:blipFill>
        <p:spPr>
          <a:xfrm>
            <a:off x="20" y="10"/>
            <a:ext cx="12191980" cy="6857990"/>
          </a:xfrm>
          <a:prstGeom prst="rect">
            <a:avLst/>
          </a:prstGeom>
        </p:spPr>
      </p:pic>
      <p:sp>
        <p:nvSpPr>
          <p:cNvPr id="8" name="Rectangle 7">
            <a:extLst>
              <a:ext uri="{FF2B5EF4-FFF2-40B4-BE49-F238E27FC236}">
                <a16:creationId xmlns:a16="http://schemas.microsoft.com/office/drawing/2014/main" id="{F557AC3B-63D5-4181-AD35-0D051F7C82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2795322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1AAF891C-34D8-D001-7475-0AAC30B1525D}"/>
              </a:ext>
            </a:extLst>
          </p:cNvPr>
          <p:cNvPicPr>
            <a:picLocks noChangeAspect="1"/>
          </p:cNvPicPr>
          <p:nvPr/>
        </p:nvPicPr>
        <p:blipFill>
          <a:blip r:embed="rId3"/>
          <a:srcRect t="1807" b="4832"/>
          <a:stretch>
            <a:fillRect/>
          </a:stretch>
        </p:blipFill>
        <p:spPr>
          <a:xfrm>
            <a:off x="20" y="10"/>
            <a:ext cx="12191980" cy="6857990"/>
          </a:xfrm>
          <a:prstGeom prst="rect">
            <a:avLst/>
          </a:prstGeom>
        </p:spPr>
      </p:pic>
      <p:sp>
        <p:nvSpPr>
          <p:cNvPr id="14" name="Rectangle 13">
            <a:extLst>
              <a:ext uri="{FF2B5EF4-FFF2-40B4-BE49-F238E27FC236}">
                <a16:creationId xmlns:a16="http://schemas.microsoft.com/office/drawing/2014/main" id="{F557AC3B-63D5-4181-AD35-0D051F7C82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2729431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203E66-A23E-4143-B157-7393A3E91C54}"/>
              </a:ext>
            </a:extLst>
          </p:cNvPr>
          <p:cNvSpPr txBox="1"/>
          <p:nvPr/>
        </p:nvSpPr>
        <p:spPr>
          <a:xfrm>
            <a:off x="1524000" y="1524000"/>
            <a:ext cx="9144000" cy="1107996"/>
          </a:xfrm>
          <a:prstGeom prst="rect">
            <a:avLst/>
          </a:prstGeom>
          <a:noFill/>
          <a:ln>
            <a:noFill/>
          </a:ln>
        </p:spPr>
        <p:txBody>
          <a:bodyPr vertOverflow="overflow" vert="horz" wrap="square" rtlCol="0" anchor="ctr" anchorCtr="0">
            <a:spAutoFit/>
          </a:bodyPr>
          <a:lstStyle/>
          <a:p>
            <a:pPr algn="l"/>
            <a:r>
              <a:rPr lang="en-US" sz="6600" b="1" dirty="0">
                <a:solidFill>
                  <a:srgbClr val="FFFFFF"/>
                </a:solidFill>
              </a:rPr>
              <a:t>AutoBe</a:t>
            </a:r>
          </a:p>
        </p:txBody>
      </p:sp>
      <p:sp>
        <p:nvSpPr>
          <p:cNvPr id="3" name="TextBox 2">
            <a:extLst>
              <a:ext uri="{FF2B5EF4-FFF2-40B4-BE49-F238E27FC236}">
                <a16:creationId xmlns:a16="http://schemas.microsoft.com/office/drawing/2014/main" id="{22886461-4AA6-4C7C-96FF-A1C61F3FDB88}"/>
              </a:ext>
            </a:extLst>
          </p:cNvPr>
          <p:cNvSpPr txBox="1"/>
          <p:nvPr/>
        </p:nvSpPr>
        <p:spPr>
          <a:xfrm>
            <a:off x="1524000" y="2603500"/>
            <a:ext cx="9144000" cy="635000"/>
          </a:xfrm>
          <a:prstGeom prst="rect">
            <a:avLst/>
          </a:prstGeom>
          <a:noFill/>
          <a:ln>
            <a:noFill/>
          </a:ln>
        </p:spPr>
        <p:txBody>
          <a:bodyPr vertOverflow="overflow" vert="horz" wrap="square" rtlCol="0" anchor="ctr" anchorCtr="0">
            <a:spAutoFit/>
          </a:bodyPr>
          <a:lstStyle/>
          <a:p>
            <a:pPr algn="l"/>
            <a:r>
              <a:rPr lang="en-US" sz="2400" dirty="0">
                <a:solidFill>
                  <a:srgbClr val="DDDDDD"/>
                </a:solidFill>
              </a:rPr>
              <a:t>AI Backend Auto-Generation Agent</a:t>
            </a:r>
          </a:p>
        </p:txBody>
      </p:sp>
      <p:sp>
        <p:nvSpPr>
          <p:cNvPr id="4" name="TextBox 3">
            <a:extLst>
              <a:ext uri="{FF2B5EF4-FFF2-40B4-BE49-F238E27FC236}">
                <a16:creationId xmlns:a16="http://schemas.microsoft.com/office/drawing/2014/main" id="{66AAC959-3B37-4EDA-B308-4300ACAA6C54}"/>
              </a:ext>
            </a:extLst>
          </p:cNvPr>
          <p:cNvSpPr txBox="1"/>
          <p:nvPr/>
        </p:nvSpPr>
        <p:spPr>
          <a:xfrm>
            <a:off x="1524000" y="3746500"/>
            <a:ext cx="9144000" cy="635000"/>
          </a:xfrm>
          <a:prstGeom prst="rect">
            <a:avLst/>
          </a:prstGeom>
          <a:noFill/>
          <a:ln>
            <a:noFill/>
          </a:ln>
        </p:spPr>
        <p:txBody>
          <a:bodyPr vertOverflow="overflow" vert="horz" wrap="square" rtlCol="0" anchor="ctr" anchorCtr="0">
            <a:spAutoFit/>
          </a:bodyPr>
          <a:lstStyle/>
          <a:p>
            <a:pPr algn="l"/>
            <a:r>
              <a:rPr lang="en-US" sz="2400" dirty="0">
                <a:solidFill>
                  <a:srgbClr val="FFFFFF"/>
                </a:solidFill>
              </a:rPr>
              <a:t>🌐  </a:t>
            </a:r>
            <a:r>
              <a:rPr lang="en-US" sz="2400" dirty="0">
                <a:solidFill>
                  <a:srgbClr val="A6B727"/>
                </a:solidFill>
              </a:rPr>
              <a:t>https://autobe.dev</a:t>
            </a:r>
          </a:p>
        </p:txBody>
      </p:sp>
      <p:sp>
        <p:nvSpPr>
          <p:cNvPr id="5" name="TextBox 4">
            <a:extLst>
              <a:ext uri="{FF2B5EF4-FFF2-40B4-BE49-F238E27FC236}">
                <a16:creationId xmlns:a16="http://schemas.microsoft.com/office/drawing/2014/main" id="{A76D7441-5BB3-463B-AD3A-E8241175C15E}"/>
              </a:ext>
            </a:extLst>
          </p:cNvPr>
          <p:cNvSpPr txBox="1"/>
          <p:nvPr/>
        </p:nvSpPr>
        <p:spPr>
          <a:xfrm>
            <a:off x="1524000" y="4572000"/>
            <a:ext cx="9144000" cy="635000"/>
          </a:xfrm>
          <a:prstGeom prst="rect">
            <a:avLst/>
          </a:prstGeom>
          <a:noFill/>
          <a:ln>
            <a:noFill/>
          </a:ln>
        </p:spPr>
        <p:txBody>
          <a:bodyPr vertOverflow="overflow" vert="horz" wrap="square" rtlCol="0" anchor="ctr" anchorCtr="0">
            <a:spAutoFit/>
          </a:bodyPr>
          <a:lstStyle/>
          <a:p>
            <a:pPr algn="l"/>
            <a:r>
              <a:rPr lang="en-US" sz="2400" dirty="0">
                <a:solidFill>
                  <a:srgbClr val="FFFFFF"/>
                </a:solidFill>
              </a:rPr>
              <a:t>📦  </a:t>
            </a:r>
            <a:r>
              <a:rPr lang="en-US" sz="2400" dirty="0">
                <a:solidFill>
                  <a:srgbClr val="A6B727"/>
                </a:solidFill>
              </a:rPr>
              <a:t>https://github.com/wrtnlabs/autobe</a:t>
            </a:r>
          </a:p>
        </p:txBody>
      </p:sp>
      <p:sp>
        <p:nvSpPr>
          <p:cNvPr id="6" name="TextBox 5">
            <a:extLst>
              <a:ext uri="{FF2B5EF4-FFF2-40B4-BE49-F238E27FC236}">
                <a16:creationId xmlns:a16="http://schemas.microsoft.com/office/drawing/2014/main" id="{185F3E37-26D5-4045-9134-595BF1F51A42}"/>
              </a:ext>
            </a:extLst>
          </p:cNvPr>
          <p:cNvSpPr txBox="1"/>
          <p:nvPr/>
        </p:nvSpPr>
        <p:spPr>
          <a:xfrm>
            <a:off x="1524000" y="5397500"/>
            <a:ext cx="9144000" cy="635000"/>
          </a:xfrm>
          <a:prstGeom prst="rect">
            <a:avLst/>
          </a:prstGeom>
          <a:noFill/>
          <a:ln>
            <a:noFill/>
          </a:ln>
        </p:spPr>
        <p:txBody>
          <a:bodyPr vertOverflow="overflow" vert="horz" wrap="square" rtlCol="0" anchor="ctr" anchorCtr="0">
            <a:spAutoFit/>
          </a:bodyPr>
          <a:lstStyle/>
          <a:p>
            <a:pPr algn="l"/>
            <a:r>
              <a:rPr lang="en-US" sz="2400" dirty="0">
                <a:solidFill>
                  <a:srgbClr val="FFFFFF"/>
                </a:solidFill>
              </a:rPr>
              <a:t>📋  </a:t>
            </a:r>
            <a:r>
              <a:rPr lang="en-US" sz="2400" dirty="0">
                <a:solidFill>
                  <a:srgbClr val="A6B727"/>
                </a:solidFill>
              </a:rPr>
              <a:t>https://github.com/wrtnlabs/autobe-examples</a:t>
            </a:r>
          </a:p>
        </p:txBody>
      </p:sp>
    </p:spTree>
    <p:extLst>
      <p:ext uri="{BB962C8B-B14F-4D97-AF65-F5344CB8AC3E}">
        <p14:creationId xmlns:p14="http://schemas.microsoft.com/office/powerpoint/2010/main" val="3953227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7A39217E-66D0-0BC8-CBF8-F13215E6FAFF}"/>
              </a:ext>
            </a:extLst>
          </p:cNvPr>
          <p:cNvSpPr>
            <a:spLocks noGrp="1"/>
          </p:cNvSpPr>
          <p:nvPr>
            <p:ph type="title"/>
          </p:nvPr>
        </p:nvSpPr>
        <p:spPr/>
        <p:txBody>
          <a:bodyPr/>
          <a:lstStyle/>
          <a:p>
            <a:r>
              <a:rPr lang="en-US" dirty="0"/>
              <a:t>Typia</a:t>
            </a:r>
          </a:p>
        </p:txBody>
      </p:sp>
      <p:sp>
        <p:nvSpPr>
          <p:cNvPr id="5" name="텍스트 개체 틀 4">
            <a:extLst>
              <a:ext uri="{FF2B5EF4-FFF2-40B4-BE49-F238E27FC236}">
                <a16:creationId xmlns:a16="http://schemas.microsoft.com/office/drawing/2014/main" id="{394D4894-558C-5CAA-E572-E3EC3FD9BC20}"/>
              </a:ext>
            </a:extLst>
          </p:cNvPr>
          <p:cNvSpPr>
            <a:spLocks noGrp="1"/>
          </p:cNvSpPr>
          <p:nvPr>
            <p:ph type="body" idx="1"/>
          </p:nvPr>
        </p:nvSpPr>
        <p:spPr/>
        <p:txBody>
          <a:bodyPr/>
          <a:lstStyle/>
          <a:p>
            <a:r>
              <a:rPr lang="en-US" dirty="0"/>
              <a:t>The Infrastructure for LLM Function Calling</a:t>
            </a:r>
          </a:p>
          <a:p>
            <a:r>
              <a:rPr lang="en-US" dirty="0"/>
              <a:t>Turns 6.75% into 100% by Compiler Skills</a:t>
            </a:r>
          </a:p>
        </p:txBody>
      </p:sp>
    </p:spTree>
    <p:extLst>
      <p:ext uri="{BB962C8B-B14F-4D97-AF65-F5344CB8AC3E}">
        <p14:creationId xmlns:p14="http://schemas.microsoft.com/office/powerpoint/2010/main" val="22383554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5E53FEA-569B-4423-64DE-8221C07D5464}"/>
              </a:ext>
            </a:extLst>
          </p:cNvPr>
          <p:cNvSpPr>
            <a:spLocks noGrp="1"/>
          </p:cNvSpPr>
          <p:nvPr>
            <p:ph type="title"/>
          </p:nvPr>
        </p:nvSpPr>
        <p:spPr/>
        <p:txBody>
          <a:bodyPr>
            <a:normAutofit/>
          </a:bodyPr>
          <a:lstStyle/>
          <a:p>
            <a:r>
              <a:rPr lang="en-US" dirty="0"/>
              <a:t>3.1. What Is Typia</a:t>
            </a:r>
          </a:p>
        </p:txBody>
      </p:sp>
      <p:sp>
        <p:nvSpPr>
          <p:cNvPr id="3" name="내용 개체 틀 2">
            <a:extLst>
              <a:ext uri="{FF2B5EF4-FFF2-40B4-BE49-F238E27FC236}">
                <a16:creationId xmlns:a16="http://schemas.microsoft.com/office/drawing/2014/main" id="{E0E8E6B4-4C10-FBBD-69EB-EC2C19883F9F}"/>
              </a:ext>
            </a:extLst>
          </p:cNvPr>
          <p:cNvSpPr>
            <a:spLocks noGrp="1"/>
          </p:cNvSpPr>
          <p:nvPr>
            <p:ph sz="half" idx="1"/>
          </p:nvPr>
        </p:nvSpPr>
        <p:spPr/>
        <p:txBody>
          <a:bodyPr>
            <a:normAutofit/>
          </a:bodyPr>
          <a:lstStyle/>
          <a:p>
            <a:pPr>
              <a:buNone/>
            </a:pPr>
            <a:r>
              <a:rPr lang="en-US" sz="1800" dirty="0"/>
              <a:t>A TypeScript compiler plugin</a:t>
            </a:r>
          </a:p>
          <a:p>
            <a:pPr>
              <a:buNone/>
            </a:pPr>
            <a:r>
              <a:rPr lang="en-US" sz="1800" dirty="0"/>
              <a:t>analyzes source code at compile time</a:t>
            </a:r>
          </a:p>
          <a:p>
            <a:pPr>
              <a:buNone/>
            </a:pPr>
            <a:endParaRPr lang="en-US" sz="800" dirty="0"/>
          </a:p>
          <a:p>
            <a:pPr>
              <a:buFont typeface="Arial"/>
              <a:buChar char="•"/>
            </a:pPr>
            <a:r>
              <a:rPr lang="en-US" sz="1800" dirty="0"/>
              <a:t>Overcomes TypeScript's runtime type erasure</a:t>
            </a:r>
          </a:p>
          <a:p>
            <a:pPr>
              <a:buFont typeface="Arial"/>
              <a:buChar char="•"/>
            </a:pPr>
            <a:r>
              <a:rPr lang="en-US" sz="1800" dirty="0"/>
              <a:t>Generates optimal validation code (AOT — Ahead of Time)</a:t>
            </a:r>
          </a:p>
          <a:p>
            <a:pPr>
              <a:buFont typeface="Arial"/>
              <a:buChar char="•"/>
            </a:pPr>
            <a:r>
              <a:rPr lang="en-US" sz="1800" dirty="0"/>
              <a:t>20,000× faster than class-validator</a:t>
            </a:r>
          </a:p>
          <a:p>
            <a:pPr>
              <a:buFont typeface="Arial"/>
              <a:buChar char="•"/>
            </a:pPr>
            <a:r>
              <a:rPr lang="en-US" sz="1800" dirty="0"/>
              <a:t>One line of code — no extra schema definitions needed</a:t>
            </a:r>
          </a:p>
          <a:p>
            <a:pPr>
              <a:buNone/>
            </a:pPr>
            <a:endParaRPr lang="en-US" sz="800" dirty="0"/>
          </a:p>
          <a:p>
            <a:pPr>
              <a:buNone/>
            </a:pPr>
            <a:r>
              <a:rPr lang="en-US" sz="1800" b="1" dirty="0"/>
              <a:t>typia.validate&lt;T&gt;(input) — that's it</a:t>
            </a:r>
          </a:p>
        </p:txBody>
      </p:sp>
      <p:pic>
        <p:nvPicPr>
          <p:cNvPr id="6" name="내용 개체 틀 5">
            <a:extLst>
              <a:ext uri="{FF2B5EF4-FFF2-40B4-BE49-F238E27FC236}">
                <a16:creationId xmlns:a16="http://schemas.microsoft.com/office/drawing/2014/main" id="{90504929-B81A-E009-9149-D3C2DB160B0D}"/>
              </a:ext>
            </a:extLst>
          </p:cNvPr>
          <p:cNvPicPr>
            <a:picLocks noGrp="1" noChangeAspect="1"/>
          </p:cNvPicPr>
          <p:nvPr>
            <p:ph sz="half" idx="2"/>
          </p:nvPr>
        </p:nvPicPr>
        <p:blipFill>
          <a:blip r:embed="rId3"/>
          <a:stretch>
            <a:fillRect/>
          </a:stretch>
        </p:blipFill>
        <p:spPr>
          <a:xfrm>
            <a:off x="6031908" y="407019"/>
            <a:ext cx="5763376" cy="6045820"/>
          </a:xfrm>
          <a:prstGeom prst="rect">
            <a:avLst/>
          </a:prstGeom>
        </p:spPr>
      </p:pic>
    </p:spTree>
    <p:extLst>
      <p:ext uri="{BB962C8B-B14F-4D97-AF65-F5344CB8AC3E}">
        <p14:creationId xmlns:p14="http://schemas.microsoft.com/office/powerpoint/2010/main" val="29166214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A1A2E">
            <a:alpha val="100000"/>
          </a:srgbClr>
        </a:solidFill>
        <a:effectLst/>
      </p:bgPr>
    </p:bg>
    <p:spTree>
      <p:nvGrpSpPr>
        <p:cNvPr id="1" name=""/>
        <p:cNvGrpSpPr/>
        <p:nvPr/>
      </p:nvGrpSpPr>
      <p:grpSpPr>
        <a:xfrm>
          <a:off x="0" y="0"/>
          <a:ext cx="0" cy="0"/>
          <a:chOff x="0" y="0"/>
          <a:chExt cx="0" cy="0"/>
        </a:xfrm>
      </p:grpSpPr>
      <p:sp>
        <p:nvSpPr>
          <p:cNvPr id="10" name="T"/>
          <p:cNvSpPr/>
          <p:nvPr/>
        </p:nvSpPr>
        <p:spPr>
          <a:xfrm>
            <a:off x="762000" y="381000"/>
            <a:ext cx="10668000" cy="635000"/>
          </a:xfrm>
          <a:prstGeom prst="rect">
            <a:avLst/>
          </a:prstGeom>
          <a:noFill/>
          <a:ln>
            <a:noFill/>
          </a:ln>
        </p:spPr>
        <p:txBody>
          <a:bodyPr wrap="square" lIns="36000" tIns="36000" rIns="36000" bIns="3600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0F0F0"/>
                </a:solidFill>
                <a:effectLst/>
                <a:uLnTx/>
                <a:uFillTx/>
                <a:latin typeface="Segoe UI Semibold"/>
                <a:ea typeface="+mn-ea"/>
                <a:cs typeface="+mn-cs"/>
              </a:rPr>
              <a:t>Typia's Core: TS → JS Transform</a:t>
            </a:r>
            <a:endParaRPr kumimoji="0" lang="en-US" sz="2400" b="1" i="0" u="none" strike="noStrike" kern="1200" cap="none" spc="0" normalizeH="0" baseline="0" noProof="0" dirty="0">
              <a:ln>
                <a:noFill/>
              </a:ln>
              <a:solidFill>
                <a:srgbClr val="F0F0F0"/>
              </a:solidFill>
              <a:effectLst/>
              <a:uLnTx/>
              <a:uFillTx/>
              <a:latin typeface="Segoe UI Semibold"/>
              <a:ea typeface="+mn-ea"/>
              <a:cs typeface="+mn-cs"/>
            </a:endParaRPr>
          </a:p>
        </p:txBody>
      </p:sp>
      <p:sp>
        <p:nvSpPr>
          <p:cNvPr id="12" name="LH"/>
          <p:cNvSpPr/>
          <p:nvPr/>
        </p:nvSpPr>
        <p:spPr>
          <a:xfrm>
            <a:off x="762000" y="1270000"/>
            <a:ext cx="5080000" cy="355600"/>
          </a:xfrm>
          <a:prstGeom prst="rect">
            <a:avLst/>
          </a:prstGeom>
          <a:noFill/>
          <a:ln>
            <a:noFill/>
          </a:ln>
        </p:spPr>
        <p:txBody>
          <a:bodyPr wrap="square" lIns="36000" tIns="36000" rIns="36000" bIns="3600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D4AA"/>
                </a:solidFill>
                <a:effectLst/>
                <a:uLnTx/>
                <a:uFillTx/>
                <a:latin typeface="Segoe UI Semibold"/>
                <a:ea typeface="+mn-ea"/>
                <a:cs typeface="+mn-cs"/>
              </a:rPr>
              <a:t>Before Compilation: TypeScript</a:t>
            </a:r>
          </a:p>
        </p:txBody>
      </p:sp>
      <p:sp>
        <p:nvSpPr>
          <p:cNvPr id="13" name="LBg"/>
          <p:cNvSpPr/>
          <p:nvPr/>
        </p:nvSpPr>
        <p:spPr>
          <a:xfrm>
            <a:off x="762000" y="1651000"/>
            <a:ext cx="5080000" cy="4191000"/>
          </a:xfrm>
          <a:prstGeom prst="rect">
            <a:avLst/>
          </a:prstGeom>
          <a:solidFill>
            <a:srgbClr val="0D111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Segoe UI" panose="020B0503020204020204"/>
              <a:ea typeface="+mn-ea"/>
              <a:cs typeface="+mn-cs"/>
            </a:endParaRPr>
          </a:p>
        </p:txBody>
      </p:sp>
      <p:sp>
        <p:nvSpPr>
          <p:cNvPr id="14" name="TSCode"/>
          <p:cNvSpPr/>
          <p:nvPr/>
        </p:nvSpPr>
        <p:spPr>
          <a:xfrm>
            <a:off x="889000" y="1676400"/>
            <a:ext cx="4826000" cy="4064000"/>
          </a:xfrm>
          <a:prstGeom prst="rect">
            <a:avLst/>
          </a:prstGeom>
          <a:noFill/>
          <a:ln>
            <a:noFill/>
          </a:ln>
        </p:spPr>
        <p:txBody>
          <a:bodyPr wrap="square" lIns="36000" tIns="36000" rIns="36000" bIns="3600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586C0"/>
                </a:solidFill>
                <a:effectLst/>
                <a:uLnTx/>
                <a:uFillTx/>
                <a:latin typeface="Consolas"/>
                <a:ea typeface="+mn-ea"/>
                <a:cs typeface="+mn-cs"/>
              </a:rPr>
              <a:t>import </a:t>
            </a:r>
            <a:r>
              <a:rPr kumimoji="0" lang="en-US" sz="1400" b="0" i="0" u="none" strike="noStrike" kern="1200" cap="none" spc="0" normalizeH="0" baseline="0" noProof="0" dirty="0">
                <a:ln>
                  <a:noFill/>
                </a:ln>
                <a:solidFill>
                  <a:srgbClr val="D4D4D4"/>
                </a:solidFill>
                <a:effectLst/>
                <a:uLnTx/>
                <a:uFillTx/>
                <a:latin typeface="Consolas"/>
                <a:ea typeface="+mn-ea"/>
                <a:cs typeface="+mn-cs"/>
              </a:rPr>
              <a:t>typia, { tags } </a:t>
            </a:r>
            <a:r>
              <a:rPr kumimoji="0" lang="en-US" sz="1400" b="0" i="0" u="none" strike="noStrike" kern="1200" cap="none" spc="0" normalizeH="0" baseline="0" noProof="0" dirty="0">
                <a:ln>
                  <a:noFill/>
                </a:ln>
                <a:solidFill>
                  <a:srgbClr val="C586C0"/>
                </a:solidFill>
                <a:effectLst/>
                <a:uLnTx/>
                <a:uFillTx/>
                <a:latin typeface="Consolas"/>
                <a:ea typeface="+mn-ea"/>
                <a:cs typeface="+mn-cs"/>
              </a:rPr>
              <a:t>from </a:t>
            </a:r>
            <a:r>
              <a:rPr kumimoji="0" lang="en-US" sz="1400" b="0" i="0" u="none" strike="noStrike" kern="1200" cap="none" spc="0" normalizeH="0" baseline="0" noProof="0" dirty="0">
                <a:ln>
                  <a:noFill/>
                </a:ln>
                <a:solidFill>
                  <a:srgbClr val="CE9178"/>
                </a:solidFill>
                <a:effectLst/>
                <a:uLnTx/>
                <a:uFillTx/>
                <a:latin typeface="Consolas"/>
                <a:ea typeface="+mn-ea"/>
                <a:cs typeface="+mn-cs"/>
              </a:rPr>
              <a:t>"typia"</a:t>
            </a:r>
            <a:r>
              <a:rPr kumimoji="0" lang="en-US" sz="1400" b="0" i="0" u="none" strike="noStrike" kern="1200" cap="none" spc="0" normalizeH="0" baseline="0" noProof="0" dirty="0">
                <a:ln>
                  <a:noFill/>
                </a:ln>
                <a:solidFill>
                  <a:srgbClr val="D4D4D4"/>
                </a:solidFill>
                <a:effectLst/>
                <a:uLnTx/>
                <a:uFillTx/>
                <a:latin typeface="Consolas"/>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D4D4D4"/>
              </a:solidFill>
              <a:effectLst/>
              <a:uLnTx/>
              <a:uFillTx/>
              <a:latin typeface="Consolas"/>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586C0"/>
                </a:solidFill>
                <a:effectLst/>
                <a:uLnTx/>
                <a:uFillTx/>
                <a:latin typeface="Consolas"/>
                <a:ea typeface="+mn-ea"/>
                <a:cs typeface="+mn-cs"/>
              </a:rPr>
              <a:t>interface </a:t>
            </a:r>
            <a:r>
              <a:rPr kumimoji="0" lang="en-US" sz="1400" b="0" i="0" u="none" strike="noStrike" kern="1200" cap="none" spc="0" normalizeH="0" baseline="0" noProof="0" dirty="0">
                <a:ln>
                  <a:noFill/>
                </a:ln>
                <a:solidFill>
                  <a:srgbClr val="4EC9B0"/>
                </a:solidFill>
                <a:effectLst/>
                <a:uLnTx/>
                <a:uFillTx/>
                <a:latin typeface="Consolas"/>
                <a:ea typeface="+mn-ea"/>
                <a:cs typeface="+mn-cs"/>
              </a:rPr>
              <a:t>IMember</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id: </a:t>
            </a:r>
            <a:r>
              <a:rPr kumimoji="0" lang="en-US" sz="1400" b="0" i="0" u="none" strike="noStrike" kern="1200" cap="none" spc="0" normalizeH="0" baseline="0" noProof="0" dirty="0">
                <a:ln>
                  <a:noFill/>
                </a:ln>
                <a:solidFill>
                  <a:srgbClr val="569CD6"/>
                </a:solidFill>
                <a:effectLst/>
                <a:uLnTx/>
                <a:uFillTx/>
                <a:latin typeface="Consolas"/>
                <a:ea typeface="+mn-ea"/>
                <a:cs typeface="+mn-cs"/>
              </a:rPr>
              <a:t>string</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t>
            </a:r>
            <a:r>
              <a:rPr kumimoji="0" lang="en-US" sz="1400" b="0" i="0" u="none" strike="noStrike" kern="1200" cap="none" spc="0" normalizeH="0" baseline="0" noProof="0" dirty="0">
                <a:ln>
                  <a:noFill/>
                </a:ln>
                <a:solidFill>
                  <a:srgbClr val="D4D4D4"/>
                </a:solidFill>
                <a:effectLst/>
                <a:uLnTx/>
                <a:uFillTx/>
                <a:latin typeface="Consolas"/>
                <a:ea typeface="+mn-ea"/>
                <a:cs typeface="+mn-cs"/>
              </a:rPr>
              <a:t> tags.</a:t>
            </a:r>
            <a:r>
              <a:rPr kumimoji="0" lang="en-US" sz="1400" b="0" i="0" u="none" strike="noStrike" kern="1200" cap="none" spc="0" normalizeH="0" baseline="0" noProof="0" dirty="0">
                <a:ln>
                  <a:noFill/>
                </a:ln>
                <a:solidFill>
                  <a:srgbClr val="4EC9B0"/>
                </a:solidFill>
                <a:effectLst/>
                <a:uLnTx/>
                <a:uFillTx/>
                <a:latin typeface="Consolas"/>
                <a:ea typeface="+mn-ea"/>
                <a:cs typeface="+mn-cs"/>
              </a:rPr>
              <a:t>Format</a:t>
            </a:r>
            <a:r>
              <a:rPr kumimoji="0" lang="en-US" sz="1400" b="0" i="0" u="none" strike="noStrike" kern="1200" cap="none" spc="0" normalizeH="0" baseline="0" noProof="0" dirty="0">
                <a:ln>
                  <a:noFill/>
                </a:ln>
                <a:solidFill>
                  <a:srgbClr val="D4D4D4"/>
                </a:solidFill>
                <a:effectLst/>
                <a:uLnTx/>
                <a:uFillTx/>
                <a:latin typeface="Consolas"/>
                <a:ea typeface="+mn-ea"/>
                <a:cs typeface="+mn-cs"/>
              </a:rPr>
              <a:t>&lt;</a:t>
            </a:r>
            <a:r>
              <a:rPr kumimoji="0" lang="en-US" sz="1400" b="0" i="0" u="none" strike="noStrike" kern="1200" cap="none" spc="0" normalizeH="0" baseline="0" noProof="0" dirty="0">
                <a:ln>
                  <a:noFill/>
                </a:ln>
                <a:solidFill>
                  <a:srgbClr val="CE9178"/>
                </a:solidFill>
                <a:effectLst/>
                <a:uLnTx/>
                <a:uFillTx/>
                <a:latin typeface="Consolas"/>
                <a:ea typeface="+mn-ea"/>
                <a:cs typeface="+mn-cs"/>
              </a:rPr>
              <a:t>"uuid"</a:t>
            </a:r>
            <a:r>
              <a:rPr kumimoji="0" lang="en-US" sz="1400" b="0" i="0" u="none" strike="noStrike" kern="1200" cap="none" spc="0" normalizeH="0" baseline="0" noProof="0" dirty="0">
                <a:ln>
                  <a:noFill/>
                </a:ln>
                <a:solidFill>
                  <a:srgbClr val="D4D4D4"/>
                </a:solidFill>
                <a:effectLst/>
                <a:uLnTx/>
                <a:uFillTx/>
                <a:latin typeface="Consolas"/>
                <a:ea typeface="+mn-ea"/>
                <a:cs typeface="+mn-cs"/>
              </a:rPr>
              <a:t>&gt;;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email: </a:t>
            </a:r>
            <a:r>
              <a:rPr kumimoji="0" lang="en-US" sz="1400" b="0" i="0" u="none" strike="noStrike" kern="1200" cap="none" spc="0" normalizeH="0" baseline="0" noProof="0" dirty="0">
                <a:ln>
                  <a:noFill/>
                </a:ln>
                <a:solidFill>
                  <a:srgbClr val="569CD6"/>
                </a:solidFill>
                <a:effectLst/>
                <a:uLnTx/>
                <a:uFillTx/>
                <a:latin typeface="Consolas"/>
                <a:ea typeface="+mn-ea"/>
                <a:cs typeface="+mn-cs"/>
              </a:rPr>
              <a:t>string</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t>
            </a:r>
            <a:r>
              <a:rPr kumimoji="0" lang="en-US" sz="1400" b="0" i="0" u="none" strike="noStrike" kern="1200" cap="none" spc="0" normalizeH="0" baseline="0" noProof="0" dirty="0">
                <a:ln>
                  <a:noFill/>
                </a:ln>
                <a:solidFill>
                  <a:srgbClr val="D4D4D4"/>
                </a:solidFill>
                <a:effectLst/>
                <a:uLnTx/>
                <a:uFillTx/>
                <a:latin typeface="Consolas"/>
                <a:ea typeface="+mn-ea"/>
                <a:cs typeface="+mn-cs"/>
              </a:rPr>
              <a:t> tags.</a:t>
            </a:r>
            <a:r>
              <a:rPr kumimoji="0" lang="en-US" sz="1400" b="0" i="0" u="none" strike="noStrike" kern="1200" cap="none" spc="0" normalizeH="0" baseline="0" noProof="0" dirty="0">
                <a:ln>
                  <a:noFill/>
                </a:ln>
                <a:solidFill>
                  <a:srgbClr val="4EC9B0"/>
                </a:solidFill>
                <a:effectLst/>
                <a:uLnTx/>
                <a:uFillTx/>
                <a:latin typeface="Consolas"/>
                <a:ea typeface="+mn-ea"/>
                <a:cs typeface="+mn-cs"/>
              </a:rPr>
              <a:t>Format</a:t>
            </a:r>
            <a:r>
              <a:rPr kumimoji="0" lang="en-US" sz="1400" b="0" i="0" u="none" strike="noStrike" kern="1200" cap="none" spc="0" normalizeH="0" baseline="0" noProof="0" dirty="0">
                <a:ln>
                  <a:noFill/>
                </a:ln>
                <a:solidFill>
                  <a:srgbClr val="D4D4D4"/>
                </a:solidFill>
                <a:effectLst/>
                <a:uLnTx/>
                <a:uFillTx/>
                <a:latin typeface="Consolas"/>
                <a:ea typeface="+mn-ea"/>
                <a:cs typeface="+mn-cs"/>
              </a:rPr>
              <a:t>&lt;</a:t>
            </a:r>
            <a:r>
              <a:rPr kumimoji="0" lang="en-US" sz="1400" b="0" i="0" u="none" strike="noStrike" kern="1200" cap="none" spc="0" normalizeH="0" baseline="0" noProof="0" dirty="0">
                <a:ln>
                  <a:noFill/>
                </a:ln>
                <a:solidFill>
                  <a:srgbClr val="CE9178"/>
                </a:solidFill>
                <a:effectLst/>
                <a:uLnTx/>
                <a:uFillTx/>
                <a:latin typeface="Consolas"/>
                <a:ea typeface="+mn-ea"/>
                <a:cs typeface="+mn-cs"/>
              </a:rPr>
              <a:t>"email"</a:t>
            </a:r>
            <a:r>
              <a:rPr kumimoji="0" lang="en-US" sz="1400" b="0" i="0" u="none" strike="noStrike" kern="1200" cap="none" spc="0" normalizeH="0" baseline="0" noProof="0" dirty="0">
                <a:ln>
                  <a:noFill/>
                </a:ln>
                <a:solidFill>
                  <a:srgbClr val="D4D4D4"/>
                </a:solidFill>
                <a:effectLst/>
                <a:uLnTx/>
                <a:uFillTx/>
                <a:latin typeface="Consolas"/>
                <a:ea typeface="+mn-ea"/>
                <a:cs typeface="+mn-cs"/>
              </a:rPr>
              <a:t>&gt;;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age: </a:t>
            </a:r>
            <a:r>
              <a:rPr kumimoji="0" lang="en-US" sz="1400" b="0" i="0" u="none" strike="noStrike" kern="1200" cap="none" spc="0" normalizeH="0" baseline="0" noProof="0" dirty="0">
                <a:ln>
                  <a:noFill/>
                </a:ln>
                <a:solidFill>
                  <a:srgbClr val="569CD6"/>
                </a:solidFill>
                <a:effectLst/>
                <a:uLnTx/>
                <a:uFillTx/>
                <a:latin typeface="Consolas"/>
                <a:ea typeface="+mn-ea"/>
                <a:cs typeface="+mn-cs"/>
              </a:rPr>
              <a:t>number</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tags.</a:t>
            </a:r>
            <a:r>
              <a:rPr kumimoji="0" lang="en-US" sz="1400" b="0" i="0" u="none" strike="noStrike" kern="1200" cap="none" spc="0" normalizeH="0" baseline="0" noProof="0" dirty="0">
                <a:ln>
                  <a:noFill/>
                </a:ln>
                <a:solidFill>
                  <a:srgbClr val="4EC9B0"/>
                </a:solidFill>
                <a:effectLst/>
                <a:uLnTx/>
                <a:uFillTx/>
                <a:latin typeface="Consolas"/>
                <a:ea typeface="+mn-ea"/>
                <a:cs typeface="+mn-cs"/>
              </a:rPr>
              <a:t>Type</a:t>
            </a:r>
            <a:r>
              <a:rPr kumimoji="0" lang="en-US" sz="1400" b="0" i="0" u="none" strike="noStrike" kern="1200" cap="none" spc="0" normalizeH="0" baseline="0" noProof="0" dirty="0">
                <a:ln>
                  <a:noFill/>
                </a:ln>
                <a:solidFill>
                  <a:srgbClr val="D4D4D4"/>
                </a:solidFill>
                <a:effectLst/>
                <a:uLnTx/>
                <a:uFillTx/>
                <a:latin typeface="Consolas"/>
                <a:ea typeface="+mn-ea"/>
                <a:cs typeface="+mn-cs"/>
              </a:rPr>
              <a:t>&lt;</a:t>
            </a:r>
            <a:r>
              <a:rPr kumimoji="0" lang="en-US" sz="1400" b="0" i="0" u="none" strike="noStrike" kern="1200" cap="none" spc="0" normalizeH="0" baseline="0" noProof="0" dirty="0">
                <a:ln>
                  <a:noFill/>
                </a:ln>
                <a:solidFill>
                  <a:srgbClr val="CE9178"/>
                </a:solidFill>
                <a:effectLst/>
                <a:uLnTx/>
                <a:uFillTx/>
                <a:latin typeface="Consolas"/>
                <a:ea typeface="+mn-ea"/>
                <a:cs typeface="+mn-cs"/>
              </a:rPr>
              <a:t>"uint32"</a:t>
            </a:r>
            <a:r>
              <a:rPr kumimoji="0" lang="en-US" sz="1400" b="0" i="0" u="none" strike="noStrike" kern="1200" cap="none" spc="0" normalizeH="0" baseline="0" noProof="0" dirty="0">
                <a:ln>
                  <a:noFill/>
                </a:ln>
                <a:solidFill>
                  <a:srgbClr val="D4D4D4"/>
                </a:solidFill>
                <a:effectLst/>
                <a:uLnTx/>
                <a:uFillTx/>
                <a:latin typeface="Consolas"/>
                <a:ea typeface="+mn-ea"/>
                <a:cs typeface="+mn-cs"/>
              </a:rPr>
              <a:t>&gt;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tags.</a:t>
            </a:r>
            <a:r>
              <a:rPr kumimoji="0" lang="en-US" sz="1400" b="0" i="0" u="none" strike="noStrike" kern="1200" cap="none" spc="0" normalizeH="0" baseline="0" noProof="0" dirty="0">
                <a:ln>
                  <a:noFill/>
                </a:ln>
                <a:solidFill>
                  <a:srgbClr val="4EC9B0"/>
                </a:solidFill>
                <a:effectLst/>
                <a:uLnTx/>
                <a:uFillTx/>
                <a:latin typeface="Consolas"/>
                <a:ea typeface="+mn-ea"/>
                <a:cs typeface="+mn-cs"/>
              </a:rPr>
              <a:t>ExclusiveMinimum</a:t>
            </a:r>
            <a:r>
              <a:rPr kumimoji="0" lang="en-US" sz="1400" b="0" i="0" u="none" strike="noStrike" kern="1200" cap="none" spc="0" normalizeH="0" baseline="0" noProof="0" dirty="0">
                <a:ln>
                  <a:noFill/>
                </a:ln>
                <a:solidFill>
                  <a:srgbClr val="D4D4D4"/>
                </a:solidFill>
                <a:effectLst/>
                <a:uLnTx/>
                <a:uFillTx/>
                <a:latin typeface="Consolas"/>
                <a:ea typeface="+mn-ea"/>
                <a:cs typeface="+mn-cs"/>
              </a:rPr>
              <a:t>&lt;</a:t>
            </a:r>
            <a:r>
              <a:rPr kumimoji="0" lang="en-US" sz="1400" b="0" i="0" u="none" strike="noStrike" kern="1200" cap="none" spc="0" normalizeH="0" baseline="0" noProof="0" dirty="0">
                <a:ln>
                  <a:noFill/>
                </a:ln>
                <a:solidFill>
                  <a:srgbClr val="B5CEA8"/>
                </a:solidFill>
                <a:effectLst/>
                <a:uLnTx/>
                <a:uFillTx/>
                <a:latin typeface="Consolas"/>
                <a:ea typeface="+mn-ea"/>
                <a:cs typeface="+mn-cs"/>
              </a:rPr>
              <a:t>19</a:t>
            </a:r>
            <a:r>
              <a:rPr kumimoji="0" lang="en-US" sz="1400" b="0" i="0" u="none" strike="noStrike" kern="1200" cap="none" spc="0" normalizeH="0" baseline="0" noProof="0" dirty="0">
                <a:ln>
                  <a:noFill/>
                </a:ln>
                <a:solidFill>
                  <a:srgbClr val="D4D4D4"/>
                </a:solidFill>
                <a:effectLst/>
                <a:uLnTx/>
                <a:uFillTx/>
                <a:latin typeface="Consolas"/>
                <a:ea typeface="+mn-ea"/>
                <a:cs typeface="+mn-cs"/>
              </a:rPr>
              <a:t>&gt;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tags.</a:t>
            </a:r>
            <a:r>
              <a:rPr kumimoji="0" lang="en-US" sz="1400" b="0" i="0" u="none" strike="noStrike" kern="1200" cap="none" spc="0" normalizeH="0" baseline="0" noProof="0" dirty="0">
                <a:ln>
                  <a:noFill/>
                </a:ln>
                <a:solidFill>
                  <a:srgbClr val="4EC9B0"/>
                </a:solidFill>
                <a:effectLst/>
                <a:uLnTx/>
                <a:uFillTx/>
                <a:latin typeface="Consolas"/>
                <a:ea typeface="+mn-ea"/>
                <a:cs typeface="+mn-cs"/>
              </a:rPr>
              <a:t>Maximum</a:t>
            </a:r>
            <a:r>
              <a:rPr kumimoji="0" lang="en-US" sz="1400" b="0" i="0" u="none" strike="noStrike" kern="1200" cap="none" spc="0" normalizeH="0" baseline="0" noProof="0" dirty="0">
                <a:ln>
                  <a:noFill/>
                </a:ln>
                <a:solidFill>
                  <a:srgbClr val="D4D4D4"/>
                </a:solidFill>
                <a:effectLst/>
                <a:uLnTx/>
                <a:uFillTx/>
                <a:latin typeface="Consolas"/>
                <a:ea typeface="+mn-ea"/>
                <a:cs typeface="+mn-cs"/>
              </a:rPr>
              <a:t>&lt;</a:t>
            </a:r>
            <a:r>
              <a:rPr kumimoji="0" lang="en-US" sz="1400" b="0" i="0" u="none" strike="noStrike" kern="1200" cap="none" spc="0" normalizeH="0" baseline="0" noProof="0" dirty="0">
                <a:ln>
                  <a:noFill/>
                </a:ln>
                <a:solidFill>
                  <a:srgbClr val="B5CEA8"/>
                </a:solidFill>
                <a:effectLst/>
                <a:uLnTx/>
                <a:uFillTx/>
                <a:latin typeface="Consolas"/>
                <a:ea typeface="+mn-ea"/>
                <a:cs typeface="+mn-cs"/>
              </a:rPr>
              <a:t>100</a:t>
            </a:r>
            <a:r>
              <a:rPr kumimoji="0" lang="en-US" sz="1400" b="0" i="0" u="none" strike="noStrike" kern="1200" cap="none" spc="0" normalizeH="0" baseline="0" noProof="0" dirty="0">
                <a:ln>
                  <a:noFill/>
                </a:ln>
                <a:solidFill>
                  <a:srgbClr val="D4D4D4"/>
                </a:solidFill>
                <a:effectLst/>
                <a:uLnTx/>
                <a:uFillTx/>
                <a:latin typeface="Consolas"/>
                <a:ea typeface="+mn-ea"/>
                <a:cs typeface="+mn-cs"/>
              </a:rPr>
              <a:t>&gt;;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D4D4D4"/>
              </a:solidFill>
              <a:effectLst/>
              <a:uLnTx/>
              <a:uFillTx/>
              <a:latin typeface="Consolas"/>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sng" strike="noStrike" kern="1200" cap="none" spc="0" normalizeH="0" baseline="0" noProof="0" dirty="0">
                <a:ln>
                  <a:noFill/>
                </a:ln>
                <a:solidFill>
                  <a:srgbClr val="C586C0"/>
                </a:solidFill>
                <a:effectLst/>
                <a:uLnTx/>
                <a:uFillTx/>
                <a:latin typeface="Consolas"/>
                <a:ea typeface="+mn-ea"/>
                <a:cs typeface="+mn-cs"/>
              </a:rPr>
              <a:t>const </a:t>
            </a:r>
            <a:r>
              <a:rPr kumimoji="0" lang="en-US" sz="1400" b="1" i="0" u="sng" strike="noStrike" kern="1200" cap="none" spc="0" normalizeH="0" baseline="0" noProof="0" dirty="0">
                <a:ln>
                  <a:noFill/>
                </a:ln>
                <a:solidFill>
                  <a:srgbClr val="D4D4D4"/>
                </a:solidFill>
                <a:effectLst/>
                <a:uLnTx/>
                <a:uFillTx/>
                <a:latin typeface="Consolas"/>
                <a:ea typeface="+mn-ea"/>
                <a:cs typeface="+mn-cs"/>
              </a:rPr>
              <a:t>check: </a:t>
            </a:r>
            <a:r>
              <a:rPr kumimoji="0" lang="en-US" sz="1400" b="1" i="0" u="sng" strike="noStrike" kern="1200" cap="none" spc="0" normalizeH="0" baseline="0" noProof="0" dirty="0">
                <a:ln>
                  <a:noFill/>
                </a:ln>
                <a:solidFill>
                  <a:srgbClr val="569CD6"/>
                </a:solidFill>
                <a:effectLst/>
                <a:uLnTx/>
                <a:uFillTx/>
                <a:latin typeface="Consolas"/>
                <a:ea typeface="+mn-ea"/>
                <a:cs typeface="+mn-cs"/>
              </a:rPr>
              <a:t>boolean</a:t>
            </a:r>
            <a:r>
              <a:rPr kumimoji="0" lang="en-US" sz="1400" b="1" i="0" u="sng" strike="noStrike" kern="1200" cap="none" spc="0" normalizeH="0" baseline="0" noProof="0" dirty="0">
                <a:ln>
                  <a:noFill/>
                </a:ln>
                <a:solidFill>
                  <a:srgbClr val="D4D4D4"/>
                </a:solidFill>
                <a:effectLst/>
                <a:uLnTx/>
                <a:uFillTx/>
                <a:latin typeface="Consolas"/>
                <a:ea typeface="+mn-ea"/>
                <a:cs typeface="+mn-cs"/>
              </a:rPr>
              <a:t> = typia.</a:t>
            </a:r>
            <a:r>
              <a:rPr kumimoji="0" lang="en-US" sz="1400" b="1" i="0" u="sng" strike="noStrike" kern="1200" cap="none" spc="0" normalizeH="0" baseline="0" noProof="0" dirty="0">
                <a:ln>
                  <a:noFill/>
                </a:ln>
                <a:solidFill>
                  <a:srgbClr val="4EC9B0"/>
                </a:solidFill>
                <a:effectLst/>
                <a:uLnTx/>
                <a:uFillTx/>
                <a:latin typeface="Consolas"/>
                <a:ea typeface="+mn-ea"/>
                <a:cs typeface="+mn-cs"/>
              </a:rPr>
              <a:t>is</a:t>
            </a:r>
            <a:r>
              <a:rPr kumimoji="0" lang="en-US" sz="1400" b="1" i="0" u="sng" strike="noStrike" kern="1200" cap="none" spc="0" normalizeH="0" baseline="0" noProof="0" dirty="0">
                <a:ln>
                  <a:noFill/>
                </a:ln>
                <a:solidFill>
                  <a:srgbClr val="D4D4D4"/>
                </a:solidFill>
                <a:effectLst/>
                <a:uLnTx/>
                <a:uFillTx/>
                <a:latin typeface="Consolas"/>
                <a:ea typeface="+mn-ea"/>
                <a:cs typeface="+mn-cs"/>
              </a:rPr>
              <a:t>&lt;</a:t>
            </a:r>
            <a:r>
              <a:rPr kumimoji="0" lang="en-US" sz="1400" b="1" i="0" u="sng" strike="noStrike" kern="1200" cap="none" spc="0" normalizeH="0" baseline="0" noProof="0" dirty="0">
                <a:ln>
                  <a:noFill/>
                </a:ln>
                <a:solidFill>
                  <a:srgbClr val="4EC9B0"/>
                </a:solidFill>
                <a:effectLst/>
                <a:uLnTx/>
                <a:uFillTx/>
                <a:latin typeface="Consolas"/>
                <a:ea typeface="+mn-ea"/>
                <a:cs typeface="+mn-cs"/>
              </a:rPr>
              <a:t>IMember</a:t>
            </a:r>
            <a:r>
              <a:rPr kumimoji="0" lang="en-US" sz="1400" b="1" i="0" u="sng" strike="noStrike" kern="1200" cap="none" spc="0" normalizeH="0" baseline="0" noProof="0" dirty="0">
                <a:ln>
                  <a:noFill/>
                </a:ln>
                <a:solidFill>
                  <a:srgbClr val="D4D4D4"/>
                </a:solidFill>
                <a:effectLst/>
                <a:uLnTx/>
                <a:uFillTx/>
                <a:latin typeface="Consolas"/>
                <a:ea typeface="+mn-ea"/>
                <a:cs typeface="+mn-cs"/>
              </a:rPr>
              <a:t>&gt;(input);</a:t>
            </a:r>
          </a:p>
        </p:txBody>
      </p:sp>
      <p:sp>
        <p:nvSpPr>
          <p:cNvPr id="15" name="RH"/>
          <p:cNvSpPr/>
          <p:nvPr/>
        </p:nvSpPr>
        <p:spPr>
          <a:xfrm>
            <a:off x="6350000" y="1270000"/>
            <a:ext cx="5080000" cy="355600"/>
          </a:xfrm>
          <a:prstGeom prst="rect">
            <a:avLst/>
          </a:prstGeom>
          <a:noFill/>
          <a:ln>
            <a:noFill/>
          </a:ln>
        </p:spPr>
        <p:txBody>
          <a:bodyPr wrap="square" lIns="36000" tIns="36000" rIns="36000" bIns="3600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D93D"/>
                </a:solidFill>
                <a:effectLst/>
                <a:uLnTx/>
                <a:uFillTx/>
                <a:latin typeface="Segoe UI Semibold"/>
                <a:ea typeface="+mn-ea"/>
                <a:cs typeface="+mn-cs"/>
              </a:rPr>
              <a:t>After Compilation: JavaScript</a:t>
            </a:r>
          </a:p>
        </p:txBody>
      </p:sp>
      <p:sp>
        <p:nvSpPr>
          <p:cNvPr id="16" name="RBg"/>
          <p:cNvSpPr/>
          <p:nvPr/>
        </p:nvSpPr>
        <p:spPr>
          <a:xfrm>
            <a:off x="6350000" y="1651000"/>
            <a:ext cx="5080000" cy="4191000"/>
          </a:xfrm>
          <a:prstGeom prst="rect">
            <a:avLst/>
          </a:prstGeom>
          <a:solidFill>
            <a:srgbClr val="0D111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Segoe UI" panose="020B0503020204020204"/>
              <a:ea typeface="+mn-ea"/>
              <a:cs typeface="+mn-cs"/>
            </a:endParaRPr>
          </a:p>
        </p:txBody>
      </p:sp>
      <p:sp>
        <p:nvSpPr>
          <p:cNvPr id="17" name="JSCode"/>
          <p:cNvSpPr/>
          <p:nvPr/>
        </p:nvSpPr>
        <p:spPr>
          <a:xfrm>
            <a:off x="6477000" y="1676400"/>
            <a:ext cx="4826000" cy="4064000"/>
          </a:xfrm>
          <a:prstGeom prst="rect">
            <a:avLst/>
          </a:prstGeom>
          <a:noFill/>
          <a:ln>
            <a:noFill/>
          </a:ln>
        </p:spPr>
        <p:txBody>
          <a:bodyPr wrap="square" lIns="36000" tIns="36000" rIns="36000" bIns="3600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((input) </a:t>
            </a:r>
            <a:r>
              <a:rPr kumimoji="0" lang="en-US" sz="1400" b="0" i="0" u="none" strike="noStrike" kern="1200" cap="none" spc="0" normalizeH="0" baseline="0" noProof="0" dirty="0">
                <a:ln>
                  <a:noFill/>
                </a:ln>
                <a:solidFill>
                  <a:srgbClr val="C586C0"/>
                </a:solidFill>
                <a:effectLst/>
                <a:uLnTx/>
                <a:uFillTx/>
                <a:latin typeface="Consolas"/>
                <a:ea typeface="+mn-ea"/>
                <a:cs typeface="+mn-cs"/>
              </a:rPr>
              <a:t>=&gt;</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C586C0"/>
                </a:solidFill>
                <a:effectLst/>
                <a:uLnTx/>
                <a:uFillTx/>
                <a:latin typeface="Consolas"/>
                <a:ea typeface="+mn-ea"/>
                <a:cs typeface="+mn-cs"/>
              </a:rPr>
              <a:t>return</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CE9178"/>
                </a:solidFill>
                <a:effectLst/>
                <a:uLnTx/>
                <a:uFillTx/>
                <a:latin typeface="Consolas"/>
                <a:ea typeface="+mn-ea"/>
                <a:cs typeface="+mn-cs"/>
              </a:rPr>
              <a:t>"object"</a:t>
            </a:r>
            <a:r>
              <a:rPr kumimoji="0" lang="en-US" sz="1400" b="0" i="0" u="none" strike="noStrike" kern="1200" cap="none" spc="0" normalizeH="0" baseline="0" noProof="0" dirty="0">
                <a:ln>
                  <a:noFill/>
                </a:ln>
                <a:solidFill>
                  <a:srgbClr val="D4D4D4"/>
                </a:solidFill>
                <a:effectLst/>
                <a:uLnTx/>
                <a:uFillTx/>
                <a:latin typeface="Consolas"/>
                <a:ea typeface="+mn-ea"/>
                <a:cs typeface="+mn-cs"/>
              </a:rPr>
              <a:t> === </a:t>
            </a:r>
            <a:r>
              <a:rPr kumimoji="0" lang="en-US" sz="1400" b="0" i="0" u="none" strike="noStrike" kern="1200" cap="none" spc="0" normalizeH="0" baseline="0" noProof="0" dirty="0">
                <a:ln>
                  <a:noFill/>
                </a:ln>
                <a:solidFill>
                  <a:srgbClr val="C586C0"/>
                </a:solidFill>
                <a:effectLst/>
                <a:uLnTx/>
                <a:uFillTx/>
                <a:latin typeface="Consolas"/>
                <a:ea typeface="+mn-ea"/>
                <a:cs typeface="+mn-cs"/>
              </a:rPr>
              <a:t>typeof</a:t>
            </a:r>
            <a:r>
              <a:rPr kumimoji="0" lang="en-US" sz="1400" b="0" i="0" u="none" strike="noStrike" kern="1200" cap="none" spc="0" normalizeH="0" baseline="0" noProof="0" dirty="0">
                <a:ln>
                  <a:noFill/>
                </a:ln>
                <a:solidFill>
                  <a:srgbClr val="D4D4D4"/>
                </a:solidFill>
                <a:effectLst/>
                <a:uLnTx/>
                <a:uFillTx/>
                <a:latin typeface="Consolas"/>
                <a:ea typeface="+mn-ea"/>
                <a:cs typeface="+mn-cs"/>
              </a:rPr>
              <a:t> input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&amp;&amp;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569CD6"/>
                </a:solidFill>
                <a:effectLst/>
                <a:uLnTx/>
                <a:uFillTx/>
                <a:latin typeface="Consolas"/>
                <a:ea typeface="+mn-ea"/>
                <a:cs typeface="+mn-cs"/>
              </a:rPr>
              <a:t>null</a:t>
            </a:r>
            <a:r>
              <a:rPr kumimoji="0" lang="en-US" sz="1400" b="0" i="0" u="none" strike="noStrike" kern="1200" cap="none" spc="0" normalizeH="0" baseline="0" noProof="0" dirty="0">
                <a:ln>
                  <a:noFill/>
                </a:ln>
                <a:solidFill>
                  <a:srgbClr val="D4D4D4"/>
                </a:solidFill>
                <a:effectLst/>
                <a:uLnTx/>
                <a:uFillTx/>
                <a:latin typeface="Consolas"/>
                <a:ea typeface="+mn-ea"/>
                <a:cs typeface="+mn-cs"/>
              </a:rPr>
              <a:t> !== input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&amp;&amp;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CE9178"/>
                </a:solidFill>
                <a:effectLst/>
                <a:uLnTx/>
                <a:uFillTx/>
                <a:latin typeface="Consolas"/>
                <a:ea typeface="+mn-ea"/>
                <a:cs typeface="+mn-cs"/>
              </a:rPr>
              <a:t>"string"</a:t>
            </a:r>
            <a:r>
              <a:rPr kumimoji="0" lang="en-US" sz="1400" b="0" i="0" u="none" strike="noStrike" kern="1200" cap="none" spc="0" normalizeH="0" baseline="0" noProof="0" dirty="0">
                <a:ln>
                  <a:noFill/>
                </a:ln>
                <a:solidFill>
                  <a:srgbClr val="D4D4D4"/>
                </a:solidFill>
                <a:effectLst/>
                <a:uLnTx/>
                <a:uFillTx/>
                <a:latin typeface="Consolas"/>
                <a:ea typeface="+mn-ea"/>
                <a:cs typeface="+mn-cs"/>
              </a:rPr>
              <a:t> === </a:t>
            </a:r>
            <a:r>
              <a:rPr kumimoji="0" lang="en-US" sz="1400" b="0" i="0" u="none" strike="noStrike" kern="1200" cap="none" spc="0" normalizeH="0" baseline="0" noProof="0" dirty="0">
                <a:ln>
                  <a:noFill/>
                </a:ln>
                <a:solidFill>
                  <a:srgbClr val="C586C0"/>
                </a:solidFill>
                <a:effectLst/>
                <a:uLnTx/>
                <a:uFillTx/>
                <a:latin typeface="Consolas"/>
                <a:ea typeface="+mn-ea"/>
                <a:cs typeface="+mn-cs"/>
              </a:rPr>
              <a:t>typeof</a:t>
            </a:r>
            <a:r>
              <a:rPr kumimoji="0" lang="en-US" sz="1400" b="0" i="0" u="none" strike="noStrike" kern="1200" cap="none" spc="0" normalizeH="0" baseline="0" noProof="0" dirty="0">
                <a:ln>
                  <a:noFill/>
                </a:ln>
                <a:solidFill>
                  <a:srgbClr val="D4D4D4"/>
                </a:solidFill>
                <a:effectLst/>
                <a:uLnTx/>
                <a:uFillTx/>
                <a:latin typeface="Consolas"/>
                <a:ea typeface="+mn-ea"/>
                <a:cs typeface="+mn-cs"/>
              </a:rPr>
              <a:t> input.id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&amp;&amp;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/^[0-9a-f]{8}-.../.</a:t>
            </a:r>
            <a:r>
              <a:rPr kumimoji="0" lang="en-US" sz="1400" b="0" i="0" u="none" strike="noStrike" kern="1200" cap="none" spc="0" normalizeH="0" baseline="0" noProof="0" dirty="0">
                <a:ln>
                  <a:noFill/>
                </a:ln>
                <a:solidFill>
                  <a:srgbClr val="4EC9B0"/>
                </a:solidFill>
                <a:effectLst/>
                <a:uLnTx/>
                <a:uFillTx/>
                <a:latin typeface="Consolas"/>
                <a:ea typeface="+mn-ea"/>
                <a:cs typeface="+mn-cs"/>
              </a:rPr>
              <a:t>test</a:t>
            </a:r>
            <a:r>
              <a:rPr kumimoji="0" lang="en-US" sz="1400" b="0" i="0" u="none" strike="noStrike" kern="1200" cap="none" spc="0" normalizeH="0" baseline="0" noProof="0" dirty="0">
                <a:ln>
                  <a:noFill/>
                </a:ln>
                <a:solidFill>
                  <a:srgbClr val="D4D4D4"/>
                </a:solidFill>
                <a:effectLst/>
                <a:uLnTx/>
                <a:uFillTx/>
                <a:latin typeface="Consolas"/>
                <a:ea typeface="+mn-ea"/>
                <a:cs typeface="+mn-cs"/>
              </a:rPr>
              <a:t>(input.id)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&amp;&amp;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CE9178"/>
                </a:solidFill>
                <a:effectLst/>
                <a:uLnTx/>
                <a:uFillTx/>
                <a:latin typeface="Consolas"/>
                <a:ea typeface="+mn-ea"/>
                <a:cs typeface="+mn-cs"/>
              </a:rPr>
              <a:t>"string"</a:t>
            </a:r>
            <a:r>
              <a:rPr kumimoji="0" lang="en-US" sz="1400" b="0" i="0" u="none" strike="noStrike" kern="1200" cap="none" spc="0" normalizeH="0" baseline="0" noProof="0" dirty="0">
                <a:ln>
                  <a:noFill/>
                </a:ln>
                <a:solidFill>
                  <a:srgbClr val="D4D4D4"/>
                </a:solidFill>
                <a:effectLst/>
                <a:uLnTx/>
                <a:uFillTx/>
                <a:latin typeface="Consolas"/>
                <a:ea typeface="+mn-ea"/>
                <a:cs typeface="+mn-cs"/>
              </a:rPr>
              <a:t> === </a:t>
            </a:r>
            <a:r>
              <a:rPr kumimoji="0" lang="en-US" sz="1400" b="0" i="0" u="none" strike="noStrike" kern="1200" cap="none" spc="0" normalizeH="0" baseline="0" noProof="0" dirty="0">
                <a:ln>
                  <a:noFill/>
                </a:ln>
                <a:solidFill>
                  <a:srgbClr val="C586C0"/>
                </a:solidFill>
                <a:effectLst/>
                <a:uLnTx/>
                <a:uFillTx/>
                <a:latin typeface="Consolas"/>
                <a:ea typeface="+mn-ea"/>
                <a:cs typeface="+mn-cs"/>
              </a:rPr>
              <a:t>typeof</a:t>
            </a:r>
            <a:r>
              <a:rPr kumimoji="0" lang="en-US" sz="1400" b="0" i="0" u="none" strike="noStrike" kern="1200" cap="none" spc="0" normalizeH="0" baseline="0" noProof="0" dirty="0">
                <a:ln>
                  <a:noFill/>
                </a:ln>
                <a:solidFill>
                  <a:srgbClr val="D4D4D4"/>
                </a:solidFill>
                <a:effectLst/>
                <a:uLnTx/>
                <a:uFillTx/>
                <a:latin typeface="Consolas"/>
                <a:ea typeface="+mn-ea"/>
                <a:cs typeface="+mn-cs"/>
              </a:rPr>
              <a:t> input.email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&amp;&amp;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/^[a-z0-9._%+-]+@.../.</a:t>
            </a:r>
            <a:r>
              <a:rPr kumimoji="0" lang="en-US" sz="1400" b="0" i="0" u="none" strike="noStrike" kern="1200" cap="none" spc="0" normalizeH="0" baseline="0" noProof="0" dirty="0">
                <a:ln>
                  <a:noFill/>
                </a:ln>
                <a:solidFill>
                  <a:srgbClr val="4EC9B0"/>
                </a:solidFill>
                <a:effectLst/>
                <a:uLnTx/>
                <a:uFillTx/>
                <a:latin typeface="Consolas"/>
                <a:ea typeface="+mn-ea"/>
                <a:cs typeface="+mn-cs"/>
              </a:rPr>
              <a:t>test</a:t>
            </a:r>
            <a:r>
              <a:rPr kumimoji="0" lang="en-US" sz="1400" b="0" i="0" u="none" strike="noStrike" kern="1200" cap="none" spc="0" normalizeH="0" baseline="0" noProof="0" dirty="0">
                <a:ln>
                  <a:noFill/>
                </a:ln>
                <a:solidFill>
                  <a:srgbClr val="D4D4D4"/>
                </a:solidFill>
                <a:effectLst/>
                <a:uLnTx/>
                <a:uFillTx/>
                <a:latin typeface="Consolas"/>
                <a:ea typeface="+mn-ea"/>
                <a:cs typeface="+mn-cs"/>
              </a:rPr>
              <a:t>(input.email)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&amp;&amp;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CE9178"/>
                </a:solidFill>
                <a:effectLst/>
                <a:uLnTx/>
                <a:uFillTx/>
                <a:latin typeface="Consolas"/>
                <a:ea typeface="+mn-ea"/>
                <a:cs typeface="+mn-cs"/>
              </a:rPr>
              <a:t>"number"</a:t>
            </a:r>
            <a:r>
              <a:rPr kumimoji="0" lang="en-US" sz="1400" b="0" i="0" u="none" strike="noStrike" kern="1200" cap="none" spc="0" normalizeH="0" baseline="0" noProof="0" dirty="0">
                <a:ln>
                  <a:noFill/>
                </a:ln>
                <a:solidFill>
                  <a:srgbClr val="D4D4D4"/>
                </a:solidFill>
                <a:effectLst/>
                <a:uLnTx/>
                <a:uFillTx/>
                <a:latin typeface="Consolas"/>
                <a:ea typeface="+mn-ea"/>
                <a:cs typeface="+mn-cs"/>
              </a:rPr>
              <a:t> === </a:t>
            </a:r>
            <a:r>
              <a:rPr kumimoji="0" lang="en-US" sz="1400" b="0" i="0" u="none" strike="noStrike" kern="1200" cap="none" spc="0" normalizeH="0" baseline="0" noProof="0" dirty="0">
                <a:ln>
                  <a:noFill/>
                </a:ln>
                <a:solidFill>
                  <a:srgbClr val="C586C0"/>
                </a:solidFill>
                <a:effectLst/>
                <a:uLnTx/>
                <a:uFillTx/>
                <a:latin typeface="Consolas"/>
                <a:ea typeface="+mn-ea"/>
                <a:cs typeface="+mn-cs"/>
              </a:rPr>
              <a:t>typeof</a:t>
            </a:r>
            <a:r>
              <a:rPr kumimoji="0" lang="en-US" sz="1400" b="0" i="0" u="none" strike="noStrike" kern="1200" cap="none" spc="0" normalizeH="0" baseline="0" noProof="0" dirty="0">
                <a:ln>
                  <a:noFill/>
                </a:ln>
                <a:solidFill>
                  <a:srgbClr val="D4D4D4"/>
                </a:solidFill>
                <a:effectLst/>
                <a:uLnTx/>
                <a:uFillTx/>
                <a:latin typeface="Consolas"/>
                <a:ea typeface="+mn-ea"/>
                <a:cs typeface="+mn-cs"/>
              </a:rPr>
              <a:t> input.age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&amp;&amp;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Number.</a:t>
            </a:r>
            <a:r>
              <a:rPr kumimoji="0" lang="en-US" sz="1400" b="0" i="0" u="none" strike="noStrike" kern="1200" cap="none" spc="0" normalizeH="0" baseline="0" noProof="0" dirty="0">
                <a:ln>
                  <a:noFill/>
                </a:ln>
                <a:solidFill>
                  <a:srgbClr val="4EC9B0"/>
                </a:solidFill>
                <a:effectLst/>
                <a:uLnTx/>
                <a:uFillTx/>
                <a:latin typeface="Consolas"/>
                <a:ea typeface="+mn-ea"/>
                <a:cs typeface="+mn-cs"/>
              </a:rPr>
              <a:t>isInteger</a:t>
            </a:r>
            <a:r>
              <a:rPr kumimoji="0" lang="en-US" sz="1400" b="0" i="0" u="none" strike="noStrike" kern="1200" cap="none" spc="0" normalizeH="0" baseline="0" noProof="0" dirty="0">
                <a:ln>
                  <a:noFill/>
                </a:ln>
                <a:solidFill>
                  <a:srgbClr val="D4D4D4"/>
                </a:solidFill>
                <a:effectLst/>
                <a:uLnTx/>
                <a:uFillTx/>
                <a:latin typeface="Consolas"/>
                <a:ea typeface="+mn-ea"/>
                <a:cs typeface="+mn-cs"/>
              </a:rPr>
              <a:t>(input.age)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&amp;&amp;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input.age &gt;= </a:t>
            </a:r>
            <a:r>
              <a:rPr kumimoji="0" lang="en-US" sz="1400" b="0" i="0" u="none" strike="noStrike" kern="1200" cap="none" spc="0" normalizeH="0" baseline="0" noProof="0" dirty="0">
                <a:ln>
                  <a:noFill/>
                </a:ln>
                <a:solidFill>
                  <a:srgbClr val="B5CEA8"/>
                </a:solidFill>
                <a:effectLst/>
                <a:uLnTx/>
                <a:uFillTx/>
                <a:latin typeface="Consolas"/>
                <a:ea typeface="+mn-ea"/>
                <a:cs typeface="+mn-cs"/>
              </a:rPr>
              <a:t>0</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&amp;&amp;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B5CEA8"/>
                </a:solidFill>
                <a:effectLst/>
                <a:uLnTx/>
                <a:uFillTx/>
                <a:latin typeface="Consolas"/>
                <a:ea typeface="+mn-ea"/>
                <a:cs typeface="+mn-cs"/>
              </a:rPr>
              <a:t>19</a:t>
            </a:r>
            <a:r>
              <a:rPr kumimoji="0" lang="en-US" sz="1400" b="0" i="0" u="none" strike="noStrike" kern="1200" cap="none" spc="0" normalizeH="0" baseline="0" noProof="0" dirty="0">
                <a:ln>
                  <a:noFill/>
                </a:ln>
                <a:solidFill>
                  <a:srgbClr val="D4D4D4"/>
                </a:solidFill>
                <a:effectLst/>
                <a:uLnTx/>
                <a:uFillTx/>
                <a:latin typeface="Consolas"/>
                <a:ea typeface="+mn-ea"/>
                <a:cs typeface="+mn-cs"/>
              </a:rPr>
              <a:t> &lt; input.age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&amp;&amp;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B5CEA8"/>
                </a:solidFill>
                <a:effectLst/>
                <a:uLnTx/>
                <a:uFillTx/>
                <a:latin typeface="Consolas"/>
                <a:ea typeface="+mn-ea"/>
                <a:cs typeface="+mn-cs"/>
              </a:rPr>
              <a:t>100</a:t>
            </a:r>
            <a:r>
              <a:rPr kumimoji="0" lang="en-US" sz="1400" b="0" i="0" u="none" strike="noStrike" kern="1200" cap="none" spc="0" normalizeH="0" baseline="0" noProof="0" dirty="0">
                <a:ln>
                  <a:noFill/>
                </a:ln>
                <a:solidFill>
                  <a:srgbClr val="D4D4D4"/>
                </a:solidFill>
                <a:effectLst/>
                <a:uLnTx/>
                <a:uFillTx/>
                <a:latin typeface="Consolas"/>
                <a:ea typeface="+mn-ea"/>
                <a:cs typeface="+mn-cs"/>
              </a:rPr>
              <a:t> &gt;= input.age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a:t>
            </a:r>
          </a:p>
        </p:txBody>
      </p:sp>
      <p:sp>
        <p:nvSpPr>
          <p:cNvPr id="18" name="Arr"/>
          <p:cNvSpPr/>
          <p:nvPr/>
        </p:nvSpPr>
        <p:spPr>
          <a:xfrm>
            <a:off x="5867400" y="3429000"/>
            <a:ext cx="457200" cy="457200"/>
          </a:xfrm>
          <a:prstGeom prst="rect">
            <a:avLst/>
          </a:prstGeom>
          <a:noFill/>
          <a:ln>
            <a:noFill/>
          </a:ln>
        </p:spPr>
        <p:txBody>
          <a:bodyPr wrap="square" lIns="36000" tIns="36000" rIns="36000" bIns="3600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D4AA"/>
                </a:solidFill>
                <a:effectLst/>
                <a:uLnTx/>
                <a:uFillTx/>
                <a:latin typeface="Segoe UI"/>
                <a:ea typeface="+mn-ea"/>
                <a:cs typeface="+mn-cs"/>
              </a:rPr>
              <a:t>→</a:t>
            </a:r>
          </a:p>
        </p:txBody>
      </p:sp>
      <p:sp>
        <p:nvSpPr>
          <p:cNvPr id="19" name="Insight"/>
          <p:cNvSpPr/>
          <p:nvPr/>
        </p:nvSpPr>
        <p:spPr>
          <a:xfrm>
            <a:off x="762000" y="6032500"/>
            <a:ext cx="10668000" cy="571500"/>
          </a:xfrm>
          <a:prstGeom prst="rect">
            <a:avLst/>
          </a:prstGeom>
          <a:noFill/>
          <a:ln>
            <a:noFill/>
          </a:ln>
        </p:spPr>
        <p:txBody>
          <a:bodyPr wrap="square" lIns="36000" tIns="36000" rIns="36000" bIns="3600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0D0D0"/>
                </a:solidFill>
                <a:effectLst/>
                <a:uLnTx/>
                <a:uFillTx/>
                <a:latin typeface="Segoe UI"/>
                <a:ea typeface="+mn-ea"/>
                <a:cs typeface="+mn-cs"/>
              </a:rPr>
              <a:t>A single line — </a:t>
            </a:r>
            <a:r>
              <a:rPr kumimoji="0" lang="en-US" sz="1800" b="1" i="0" u="none" strike="noStrike" kern="1200" cap="none" spc="0" normalizeH="0" baseline="0" noProof="0" dirty="0">
                <a:ln>
                  <a:noFill/>
                </a:ln>
                <a:solidFill>
                  <a:srgbClr val="00D4AA"/>
                </a:solidFill>
                <a:effectLst/>
                <a:uLnTx/>
                <a:uFillTx/>
                <a:latin typeface="Consolas"/>
                <a:ea typeface="+mn-ea"/>
                <a:cs typeface="+mn-cs"/>
              </a:rPr>
              <a:t>typia.is&lt;IMember&gt;(input)</a:t>
            </a:r>
            <a:br>
              <a:rPr kumimoji="0" lang="en-US" sz="1800" b="1" i="0" u="none" strike="noStrike" kern="1200" cap="none" spc="0" normalizeH="0" baseline="0" noProof="0" dirty="0">
                <a:ln>
                  <a:noFill/>
                </a:ln>
                <a:solidFill>
                  <a:srgbClr val="D0D0D0"/>
                </a:solidFill>
                <a:effectLst/>
                <a:uLnTx/>
                <a:uFillTx/>
                <a:latin typeface="Segoe UI"/>
                <a:ea typeface="+mn-ea"/>
                <a:cs typeface="+mn-cs"/>
              </a:rPr>
            </a:br>
            <a:r>
              <a:rPr kumimoji="0" lang="en-US" sz="1800" b="0" i="0" u="none" strike="noStrike" kern="1200" cap="none" spc="0" normalizeH="0" baseline="0" noProof="0" dirty="0">
                <a:ln>
                  <a:noFill/>
                </a:ln>
                <a:solidFill>
                  <a:srgbClr val="D0D0D0"/>
                </a:solidFill>
                <a:effectLst/>
                <a:uLnTx/>
                <a:uFillTx/>
                <a:latin typeface="Segoe UI"/>
                <a:ea typeface="+mn-ea"/>
                <a:cs typeface="+mn-cs"/>
              </a:rPr>
              <a:t>transforms into UUID regex, email regex, integer + range checks</a:t>
            </a:r>
          </a:p>
        </p:txBody>
      </p:sp>
      <p:sp>
        <p:nvSpPr>
          <p:cNvPr id="2" name="AL">
            <a:extLst>
              <a:ext uri="{FF2B5EF4-FFF2-40B4-BE49-F238E27FC236}">
                <a16:creationId xmlns:a16="http://schemas.microsoft.com/office/drawing/2014/main" id="{202CEDE0-EA16-47C5-A9E7-C4A3984FF2DA}"/>
              </a:ext>
            </a:extLst>
          </p:cNvPr>
          <p:cNvSpPr/>
          <p:nvPr/>
        </p:nvSpPr>
        <p:spPr>
          <a:xfrm>
            <a:off x="762000" y="1041400"/>
            <a:ext cx="1524000" cy="38100"/>
          </a:xfrm>
          <a:prstGeom prst="rect">
            <a:avLst/>
          </a:prstGeom>
          <a:solidFill>
            <a:srgbClr val="00D4AA"/>
          </a:solidFill>
          <a:ln w="1905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D1117"/>
              </a:solidFill>
              <a:effectLst/>
              <a:uLnTx/>
              <a:uFillTx/>
              <a:latin typeface="Segoe UI" panose="020B0503020204020204"/>
              <a:ea typeface="+mn-ea"/>
              <a:cs typeface="+mn-cs"/>
            </a:endParaRPr>
          </a:p>
        </p:txBody>
      </p:sp>
    </p:spTree>
    <p:extLst>
      <p:ext uri="{BB962C8B-B14F-4D97-AF65-F5344CB8AC3E}">
        <p14:creationId xmlns:p14="http://schemas.microsoft.com/office/powerpoint/2010/main" val="13833624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A1A2E">
            <a:alpha val="100000"/>
          </a:srgbClr>
        </a:solidFill>
        <a:effectLst/>
      </p:bgPr>
    </p:bg>
    <p:spTree>
      <p:nvGrpSpPr>
        <p:cNvPr id="1" name=""/>
        <p:cNvGrpSpPr/>
        <p:nvPr/>
      </p:nvGrpSpPr>
      <p:grpSpPr>
        <a:xfrm>
          <a:off x="0" y="0"/>
          <a:ext cx="0" cy="0"/>
          <a:chOff x="0" y="0"/>
          <a:chExt cx="0" cy="0"/>
        </a:xfrm>
      </p:grpSpPr>
      <p:sp>
        <p:nvSpPr>
          <p:cNvPr id="10" name="T"/>
          <p:cNvSpPr/>
          <p:nvPr/>
        </p:nvSpPr>
        <p:spPr>
          <a:xfrm>
            <a:off x="762000" y="381000"/>
            <a:ext cx="10668000" cy="635000"/>
          </a:xfrm>
          <a:prstGeom prst="rect">
            <a:avLst/>
          </a:prstGeom>
          <a:noFill/>
          <a:ln>
            <a:noFill/>
          </a:ln>
        </p:spPr>
        <p:txBody>
          <a:bodyPr wrap="square" lIns="36000" tIns="36000" rIns="36000" bIns="3600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a:ln>
                  <a:noFill/>
                </a:ln>
                <a:solidFill>
                  <a:srgbClr val="F0F0F0"/>
                </a:solidFill>
                <a:effectLst/>
                <a:uLnTx/>
                <a:uFillTx/>
                <a:latin typeface="Segoe UI Semibold"/>
                <a:ea typeface="+mn-ea"/>
                <a:cs typeface="+mn-cs"/>
              </a:rPr>
              <a:t>Type → Schema: Automatic Generation</a:t>
            </a:r>
            <a:endParaRPr kumimoji="0" lang="en-US" sz="2400" b="1" i="0" u="none" strike="noStrike" kern="1200" cap="none" spc="0" normalizeH="0" baseline="0" noProof="0" dirty="0">
              <a:ln>
                <a:noFill/>
              </a:ln>
              <a:solidFill>
                <a:srgbClr val="F0F0F0"/>
              </a:solidFill>
              <a:effectLst/>
              <a:uLnTx/>
              <a:uFillTx/>
              <a:latin typeface="Segoe UI Semibold"/>
              <a:ea typeface="+mn-ea"/>
              <a:cs typeface="+mn-cs"/>
            </a:endParaRPr>
          </a:p>
        </p:txBody>
      </p:sp>
      <p:sp>
        <p:nvSpPr>
          <p:cNvPr id="12" name="LH"/>
          <p:cNvSpPr/>
          <p:nvPr/>
        </p:nvSpPr>
        <p:spPr>
          <a:xfrm>
            <a:off x="762000" y="1270000"/>
            <a:ext cx="5080000" cy="355600"/>
          </a:xfrm>
          <a:prstGeom prst="rect">
            <a:avLst/>
          </a:prstGeom>
          <a:noFill/>
          <a:ln>
            <a:noFill/>
          </a:ln>
        </p:spPr>
        <p:txBody>
          <a:bodyPr wrap="square" lIns="36000" tIns="36000" rIns="36000" bIns="3600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D4AA"/>
                </a:solidFill>
                <a:effectLst/>
                <a:uLnTx/>
                <a:uFillTx/>
                <a:latin typeface="Segoe UI Semibold"/>
                <a:ea typeface="+mn-ea"/>
                <a:cs typeface="+mn-cs"/>
              </a:rPr>
              <a:t>TypeScript Type (input)</a:t>
            </a:r>
          </a:p>
        </p:txBody>
      </p:sp>
      <p:sp>
        <p:nvSpPr>
          <p:cNvPr id="13" name="LBg"/>
          <p:cNvSpPr/>
          <p:nvPr/>
        </p:nvSpPr>
        <p:spPr>
          <a:xfrm>
            <a:off x="762000" y="1625600"/>
            <a:ext cx="5080000" cy="4191000"/>
          </a:xfrm>
          <a:prstGeom prst="rect">
            <a:avLst/>
          </a:prstGeom>
          <a:solidFill>
            <a:srgbClr val="0D111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Segoe UI" panose="020B0503020204020204"/>
              <a:ea typeface="+mn-ea"/>
              <a:cs typeface="+mn-cs"/>
            </a:endParaRPr>
          </a:p>
        </p:txBody>
      </p:sp>
      <p:sp>
        <p:nvSpPr>
          <p:cNvPr id="14" name="TSCode"/>
          <p:cNvSpPr/>
          <p:nvPr/>
        </p:nvSpPr>
        <p:spPr>
          <a:xfrm>
            <a:off x="889000" y="1676400"/>
            <a:ext cx="4826000" cy="4064000"/>
          </a:xfrm>
          <a:prstGeom prst="rect">
            <a:avLst/>
          </a:prstGeom>
          <a:noFill/>
          <a:ln>
            <a:noFill/>
          </a:ln>
        </p:spPr>
        <p:txBody>
          <a:bodyPr wrap="square" lIns="36000" tIns="36000" rIns="36000" bIns="36000"/>
          <a:lstStyle/>
          <a:p>
            <a:pPr marL="0" marR="0" lvl="0" indent="0" algn="l" defTabSz="457200" rtl="0" eaLnBrk="1" fontAlgn="auto" latinLnBrk="0" hangingPunct="1">
              <a:spcBef>
                <a:spcPts val="0"/>
              </a:spcBef>
              <a:spcAft>
                <a:spcPts val="0"/>
              </a:spcAft>
              <a:buClrTx/>
              <a:buSzTx/>
              <a:buFontTx/>
              <a:buNone/>
              <a:tabLst/>
              <a:defRPr/>
            </a:pPr>
            <a:r>
              <a:rPr kumimoji="0" lang="en-US" sz="1400" b="0" i="0" u="none" strike="noStrike" kern="1200" cap="none" spc="0" normalizeH="0" baseline="0" noProof="0" dirty="0">
                <a:ln>
                  <a:noFill/>
                </a:ln>
                <a:solidFill>
                  <a:srgbClr val="C586C0"/>
                </a:solidFill>
                <a:effectLst/>
                <a:uLnTx/>
                <a:uFillTx/>
                <a:latin typeface="Consolas"/>
                <a:ea typeface="+mn-ea"/>
                <a:cs typeface="+mn-cs"/>
              </a:rPr>
              <a:t>import </a:t>
            </a:r>
            <a:r>
              <a:rPr kumimoji="0" lang="en-US" sz="1400" b="0" i="0" u="none" strike="noStrike" kern="1200" cap="none" spc="0" normalizeH="0" baseline="0" noProof="0" dirty="0">
                <a:ln>
                  <a:noFill/>
                </a:ln>
                <a:solidFill>
                  <a:srgbClr val="D4D4D4"/>
                </a:solidFill>
                <a:effectLst/>
                <a:uLnTx/>
                <a:uFillTx/>
                <a:latin typeface="Consolas"/>
                <a:ea typeface="+mn-ea"/>
                <a:cs typeface="+mn-cs"/>
              </a:rPr>
              <a:t>typia, { tags } </a:t>
            </a:r>
            <a:r>
              <a:rPr kumimoji="0" lang="en-US" sz="1400" b="0" i="0" u="none" strike="noStrike" kern="1200" cap="none" spc="0" normalizeH="0" baseline="0" noProof="0" dirty="0">
                <a:ln>
                  <a:noFill/>
                </a:ln>
                <a:solidFill>
                  <a:srgbClr val="C586C0"/>
                </a:solidFill>
                <a:effectLst/>
                <a:uLnTx/>
                <a:uFillTx/>
                <a:latin typeface="Consolas"/>
                <a:ea typeface="+mn-ea"/>
                <a:cs typeface="+mn-cs"/>
              </a:rPr>
              <a:t>from </a:t>
            </a:r>
            <a:r>
              <a:rPr kumimoji="0" lang="en-US" sz="1400" b="0" i="0" u="none" strike="noStrike" kern="1200" cap="none" spc="0" normalizeH="0" baseline="0" noProof="0" dirty="0">
                <a:ln>
                  <a:noFill/>
                </a:ln>
                <a:solidFill>
                  <a:srgbClr val="CE9178"/>
                </a:solidFill>
                <a:effectLst/>
                <a:uLnTx/>
                <a:uFillTx/>
                <a:latin typeface="Consolas"/>
                <a:ea typeface="+mn-ea"/>
                <a:cs typeface="+mn-cs"/>
              </a:rPr>
              <a:t>"typia"</a:t>
            </a:r>
            <a:r>
              <a:rPr kumimoji="0" lang="en-US" sz="1400" b="0" i="0" u="none" strike="noStrike" kern="1200" cap="none" spc="0" normalizeH="0" baseline="0" noProof="0" dirty="0">
                <a:ln>
                  <a:noFill/>
                </a:ln>
                <a:solidFill>
                  <a:srgbClr val="D4D4D4"/>
                </a:solidFill>
                <a:effectLst/>
                <a:uLnTx/>
                <a:uFillTx/>
                <a:latin typeface="Consolas"/>
                <a:ea typeface="+mn-ea"/>
                <a:cs typeface="+mn-cs"/>
              </a:rPr>
              <a:t>;</a:t>
            </a:r>
          </a:p>
          <a:p>
            <a:pPr marL="0" marR="0" lvl="0" indent="0" algn="l" defTabSz="457200" rtl="0" eaLnBrk="1" fontAlgn="auto" latinLnBrk="0" hangingPunct="1">
              <a:spcBef>
                <a:spcPts val="0"/>
              </a:spcBef>
              <a:spcAft>
                <a:spcPts val="0"/>
              </a:spcAft>
              <a:buClrTx/>
              <a:buSzTx/>
              <a:buFontTx/>
              <a:buNone/>
              <a:tabLst/>
              <a:defRPr/>
            </a:pPr>
            <a:endParaRPr kumimoji="0" lang="en-US" sz="1400" b="0" i="0" u="none" strike="noStrike" kern="1200" cap="none" spc="0" normalizeH="0" baseline="0" noProof="0" dirty="0">
              <a:ln>
                <a:noFill/>
              </a:ln>
              <a:solidFill>
                <a:srgbClr val="D4D4D4"/>
              </a:solidFill>
              <a:effectLst/>
              <a:uLnTx/>
              <a:uFillTx/>
              <a:latin typeface="Consolas"/>
              <a:ea typeface="+mn-ea"/>
              <a:cs typeface="+mn-cs"/>
            </a:endParaRPr>
          </a:p>
          <a:p>
            <a:pPr marL="0" marR="0" lvl="0" indent="0" algn="l" defTabSz="457200" rtl="0" eaLnBrk="1" fontAlgn="auto" latinLnBrk="0" hangingPunct="1">
              <a:spcBef>
                <a:spcPts val="0"/>
              </a:spcBef>
              <a:spcAft>
                <a:spcPts val="0"/>
              </a:spcAft>
              <a:buClrTx/>
              <a:buSzTx/>
              <a:buFontTx/>
              <a:buNone/>
              <a:tabLst/>
              <a:defRPr/>
            </a:pPr>
            <a:r>
              <a:rPr kumimoji="0" lang="en-US" sz="1400" b="0" i="0" u="none" strike="noStrike" kern="1200" cap="none" spc="0" normalizeH="0" baseline="0" noProof="0" dirty="0">
                <a:ln>
                  <a:noFill/>
                </a:ln>
                <a:solidFill>
                  <a:srgbClr val="C586C0"/>
                </a:solidFill>
                <a:effectLst/>
                <a:uLnTx/>
                <a:uFillTx/>
                <a:latin typeface="Consolas"/>
                <a:ea typeface="+mn-ea"/>
                <a:cs typeface="+mn-cs"/>
              </a:rPr>
              <a:t>interface </a:t>
            </a:r>
            <a:r>
              <a:rPr kumimoji="0" lang="en-US" sz="1400" b="0" i="0" u="none" strike="noStrike" kern="1200" cap="none" spc="0" normalizeH="0" baseline="0" noProof="0" dirty="0">
                <a:ln>
                  <a:noFill/>
                </a:ln>
                <a:solidFill>
                  <a:srgbClr val="4EC9B0"/>
                </a:solidFill>
                <a:effectLst/>
                <a:uLnTx/>
                <a:uFillTx/>
                <a:latin typeface="Consolas"/>
                <a:ea typeface="+mn-ea"/>
                <a:cs typeface="+mn-cs"/>
              </a:rPr>
              <a:t>IMember</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p>
          <a:p>
            <a:pPr marL="0" marR="0" lvl="0" indent="0" algn="l" defTabSz="457200" rtl="0" eaLnBrk="1" fontAlgn="auto" latinLnBrk="0" hangingPunct="1">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6A9955"/>
                </a:solidFill>
                <a:effectLst/>
                <a:uLnTx/>
                <a:uFillTx/>
                <a:latin typeface="Consolas"/>
                <a:ea typeface="+mn-ea"/>
                <a:cs typeface="+mn-cs"/>
              </a:rPr>
              <a:t>/**</a:t>
            </a:r>
          </a:p>
          <a:p>
            <a:pPr marL="0" marR="0" lvl="0" indent="0" algn="l" defTabSz="457200" rtl="0" eaLnBrk="1" fontAlgn="auto" latinLnBrk="0" hangingPunct="1">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6A9955"/>
                </a:solidFill>
                <a:effectLst/>
                <a:uLnTx/>
                <a:uFillTx/>
                <a:latin typeface="Consolas"/>
                <a:ea typeface="+mn-ea"/>
                <a:cs typeface="+mn-cs"/>
              </a:rPr>
              <a:t> * Member's age.</a:t>
            </a:r>
          </a:p>
          <a:p>
            <a:pPr marL="0" marR="0" lvl="0" indent="0" algn="l" defTabSz="457200" rtl="0" eaLnBrk="1" fontAlgn="auto" latinLnBrk="0" hangingPunct="1">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6A9955"/>
                </a:solidFill>
                <a:effectLst/>
                <a:uLnTx/>
                <a:uFillTx/>
                <a:latin typeface="Consolas"/>
                <a:ea typeface="+mn-ea"/>
                <a:cs typeface="+mn-cs"/>
              </a:rPr>
              <a:t> *</a:t>
            </a:r>
          </a:p>
          <a:p>
            <a:pPr marL="0" marR="0" lvl="0" indent="0" algn="l" defTabSz="457200" rtl="0" eaLnBrk="1" fontAlgn="auto" latinLnBrk="0" hangingPunct="1">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6A9955"/>
                </a:solidFill>
                <a:effectLst/>
                <a:uLnTx/>
                <a:uFillTx/>
                <a:latin typeface="Consolas"/>
                <a:ea typeface="+mn-ea"/>
                <a:cs typeface="+mn-cs"/>
              </a:rPr>
              <a:t> * Only adults aged 19 or older</a:t>
            </a:r>
          </a:p>
          <a:p>
            <a:pPr marL="0" marR="0" lvl="0" indent="0" algn="l" defTabSz="457200" rtl="0" eaLnBrk="1" fontAlgn="auto" latinLnBrk="0" hangingPunct="1">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6A9955"/>
                </a:solidFill>
                <a:effectLst/>
                <a:uLnTx/>
                <a:uFillTx/>
                <a:latin typeface="Consolas"/>
                <a:ea typeface="+mn-ea"/>
                <a:cs typeface="+mn-cs"/>
              </a:rPr>
              <a:t> * can register.</a:t>
            </a:r>
          </a:p>
          <a:p>
            <a:pPr marL="0" marR="0" lvl="0" indent="0" algn="l" defTabSz="457200" rtl="0" eaLnBrk="1" fontAlgn="auto" latinLnBrk="0" hangingPunct="1">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6A9955"/>
                </a:solidFill>
                <a:effectLst/>
                <a:uLnTx/>
                <a:uFillTx/>
                <a:latin typeface="Consolas"/>
                <a:ea typeface="+mn-ea"/>
                <a:cs typeface="+mn-cs"/>
              </a:rPr>
              <a:t> */</a:t>
            </a:r>
          </a:p>
          <a:p>
            <a:pPr marL="0" marR="0" lvl="0" indent="0" algn="l" defTabSz="457200" rtl="0" eaLnBrk="1" fontAlgn="auto" latinLnBrk="0" hangingPunct="1">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age: </a:t>
            </a:r>
            <a:r>
              <a:rPr kumimoji="0" lang="en-US" sz="1400" b="0" i="0" u="none" strike="noStrike" kern="1200" cap="none" spc="0" normalizeH="0" baseline="0" noProof="0" dirty="0">
                <a:ln>
                  <a:noFill/>
                </a:ln>
                <a:solidFill>
                  <a:srgbClr val="569CD6"/>
                </a:solidFill>
                <a:effectLst/>
                <a:uLnTx/>
                <a:uFillTx/>
                <a:latin typeface="Consolas"/>
                <a:ea typeface="+mn-ea"/>
                <a:cs typeface="+mn-cs"/>
              </a:rPr>
              <a:t>number</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p>
          <a:p>
            <a:pPr marL="0" marR="0" lvl="0" indent="0" algn="l" defTabSz="457200" rtl="0" eaLnBrk="1" fontAlgn="auto" latinLnBrk="0" hangingPunct="1">
              <a:spcBef>
                <a:spcPts val="0"/>
              </a:spcBef>
              <a:spcAft>
                <a:spcPts val="0"/>
              </a:spcAft>
              <a:buClrTx/>
              <a:buSzTx/>
              <a:buFontTx/>
              <a:buNone/>
              <a:tabLst/>
              <a:defRPr/>
            </a:pPr>
            <a:r>
              <a:rPr lang="en-US" sz="1400" dirty="0">
                <a:solidFill>
                  <a:srgbClr val="D4D4D4"/>
                </a:solidFill>
                <a:latin typeface="Consolas"/>
              </a:rPr>
              <a:t>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t>
            </a:r>
            <a:r>
              <a:rPr kumimoji="0" lang="en-US" sz="1400" b="0" i="0" u="none" strike="noStrike" kern="1200" cap="none" spc="0" normalizeH="0" baseline="0" noProof="0" dirty="0">
                <a:ln>
                  <a:noFill/>
                </a:ln>
                <a:solidFill>
                  <a:srgbClr val="D4D4D4"/>
                </a:solidFill>
                <a:effectLst/>
                <a:uLnTx/>
                <a:uFillTx/>
                <a:latin typeface="Consolas"/>
                <a:ea typeface="+mn-ea"/>
                <a:cs typeface="+mn-cs"/>
              </a:rPr>
              <a:t> tags.</a:t>
            </a:r>
            <a:r>
              <a:rPr kumimoji="0" lang="en-US" sz="1400" b="0" i="0" u="none" strike="noStrike" kern="1200" cap="none" spc="0" normalizeH="0" baseline="0" noProof="0" dirty="0">
                <a:ln>
                  <a:noFill/>
                </a:ln>
                <a:solidFill>
                  <a:srgbClr val="4EC9B0"/>
                </a:solidFill>
                <a:effectLst/>
                <a:uLnTx/>
                <a:uFillTx/>
                <a:latin typeface="Consolas"/>
                <a:ea typeface="+mn-ea"/>
                <a:cs typeface="+mn-cs"/>
              </a:rPr>
              <a:t>Type</a:t>
            </a:r>
            <a:r>
              <a:rPr kumimoji="0" lang="en-US" sz="1400" b="0" i="0" u="none" strike="noStrike" kern="1200" cap="none" spc="0" normalizeH="0" baseline="0" noProof="0" dirty="0">
                <a:ln>
                  <a:noFill/>
                </a:ln>
                <a:solidFill>
                  <a:srgbClr val="D4D4D4"/>
                </a:solidFill>
                <a:effectLst/>
                <a:uLnTx/>
                <a:uFillTx/>
                <a:latin typeface="Consolas"/>
                <a:ea typeface="+mn-ea"/>
                <a:cs typeface="+mn-cs"/>
              </a:rPr>
              <a:t>&lt;</a:t>
            </a:r>
            <a:r>
              <a:rPr kumimoji="0" lang="en-US" sz="1400" b="0" i="0" u="none" strike="noStrike" kern="1200" cap="none" spc="0" normalizeH="0" baseline="0" noProof="0" dirty="0">
                <a:ln>
                  <a:noFill/>
                </a:ln>
                <a:solidFill>
                  <a:srgbClr val="CE9178"/>
                </a:solidFill>
                <a:effectLst/>
                <a:uLnTx/>
                <a:uFillTx/>
                <a:latin typeface="Consolas"/>
                <a:ea typeface="+mn-ea"/>
                <a:cs typeface="+mn-cs"/>
              </a:rPr>
              <a:t>"uint32"</a:t>
            </a:r>
            <a:r>
              <a:rPr kumimoji="0" lang="en-US" sz="1400" b="0" i="0" u="none" strike="noStrike" kern="1200" cap="none" spc="0" normalizeH="0" baseline="0" noProof="0" dirty="0">
                <a:ln>
                  <a:noFill/>
                </a:ln>
                <a:solidFill>
                  <a:srgbClr val="D4D4D4"/>
                </a:solidFill>
                <a:effectLst/>
                <a:uLnTx/>
                <a:uFillTx/>
                <a:latin typeface="Consolas"/>
                <a:ea typeface="+mn-ea"/>
                <a:cs typeface="+mn-cs"/>
              </a:rPr>
              <a:t>&gt;</a:t>
            </a:r>
          </a:p>
          <a:p>
            <a:pPr marL="0" marR="0" lvl="0" indent="0" algn="l" defTabSz="457200" rtl="0" eaLnBrk="1" fontAlgn="auto" latinLnBrk="0" hangingPunct="1">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t>
            </a:r>
            <a:r>
              <a:rPr kumimoji="0" lang="en-US" sz="1400" b="0" i="0" u="none" strike="noStrike" kern="1200" cap="none" spc="0" normalizeH="0" baseline="0" noProof="0" dirty="0">
                <a:ln>
                  <a:noFill/>
                </a:ln>
                <a:solidFill>
                  <a:srgbClr val="D4D4D4"/>
                </a:solidFill>
                <a:effectLst/>
                <a:uLnTx/>
                <a:uFillTx/>
                <a:latin typeface="Consolas"/>
                <a:ea typeface="+mn-ea"/>
                <a:cs typeface="+mn-cs"/>
              </a:rPr>
              <a:t> tags.</a:t>
            </a:r>
            <a:r>
              <a:rPr kumimoji="0" lang="en-US" sz="1400" b="0" i="0" u="none" strike="noStrike" kern="1200" cap="none" spc="0" normalizeH="0" baseline="0" noProof="0" dirty="0">
                <a:ln>
                  <a:noFill/>
                </a:ln>
                <a:solidFill>
                  <a:srgbClr val="4EC9B0"/>
                </a:solidFill>
                <a:effectLst/>
                <a:uLnTx/>
                <a:uFillTx/>
                <a:latin typeface="Consolas"/>
                <a:ea typeface="+mn-ea"/>
                <a:cs typeface="+mn-cs"/>
              </a:rPr>
              <a:t>ExclusiveMinimum</a:t>
            </a:r>
            <a:r>
              <a:rPr kumimoji="0" lang="en-US" sz="1400" b="0" i="0" u="none" strike="noStrike" kern="1200" cap="none" spc="0" normalizeH="0" baseline="0" noProof="0" dirty="0">
                <a:ln>
                  <a:noFill/>
                </a:ln>
                <a:solidFill>
                  <a:srgbClr val="D4D4D4"/>
                </a:solidFill>
                <a:effectLst/>
                <a:uLnTx/>
                <a:uFillTx/>
                <a:latin typeface="Consolas"/>
                <a:ea typeface="+mn-ea"/>
                <a:cs typeface="+mn-cs"/>
              </a:rPr>
              <a:t>&lt;</a:t>
            </a:r>
            <a:r>
              <a:rPr kumimoji="0" lang="en-US" sz="1400" b="0" i="0" u="none" strike="noStrike" kern="1200" cap="none" spc="0" normalizeH="0" baseline="0" noProof="0" dirty="0">
                <a:ln>
                  <a:noFill/>
                </a:ln>
                <a:solidFill>
                  <a:srgbClr val="B5CEA8"/>
                </a:solidFill>
                <a:effectLst/>
                <a:uLnTx/>
                <a:uFillTx/>
                <a:latin typeface="Consolas"/>
                <a:ea typeface="+mn-ea"/>
                <a:cs typeface="+mn-cs"/>
              </a:rPr>
              <a:t>18</a:t>
            </a:r>
            <a:r>
              <a:rPr kumimoji="0" lang="en-US" sz="1400" b="0" i="0" u="none" strike="noStrike" kern="1200" cap="none" spc="0" normalizeH="0" baseline="0" noProof="0" dirty="0">
                <a:ln>
                  <a:noFill/>
                </a:ln>
                <a:solidFill>
                  <a:srgbClr val="D4D4D4"/>
                </a:solidFill>
                <a:effectLst/>
                <a:uLnTx/>
                <a:uFillTx/>
                <a:latin typeface="Consolas"/>
                <a:ea typeface="+mn-ea"/>
                <a:cs typeface="+mn-cs"/>
              </a:rPr>
              <a:t>&gt;;</a:t>
            </a:r>
          </a:p>
          <a:p>
            <a:pPr marL="0" marR="0" lvl="0" indent="0" algn="l" defTabSz="457200" rtl="0" eaLnBrk="1" fontAlgn="auto" latinLnBrk="0" hangingPunct="1">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email: </a:t>
            </a:r>
            <a:r>
              <a:rPr kumimoji="0" lang="en-US" sz="1400" b="0" i="0" u="none" strike="noStrike" kern="1200" cap="none" spc="0" normalizeH="0" baseline="0" noProof="0" dirty="0">
                <a:ln>
                  <a:noFill/>
                </a:ln>
                <a:solidFill>
                  <a:srgbClr val="569CD6"/>
                </a:solidFill>
                <a:effectLst/>
                <a:uLnTx/>
                <a:uFillTx/>
                <a:latin typeface="Consolas"/>
                <a:ea typeface="+mn-ea"/>
                <a:cs typeface="+mn-cs"/>
              </a:rPr>
              <a:t>string</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t>
            </a:r>
            <a:r>
              <a:rPr kumimoji="0" lang="en-US" sz="1400" b="0" i="0" u="none" strike="noStrike" kern="1200" cap="none" spc="0" normalizeH="0" baseline="0" noProof="0" dirty="0">
                <a:ln>
                  <a:noFill/>
                </a:ln>
                <a:solidFill>
                  <a:srgbClr val="D4D4D4"/>
                </a:solidFill>
                <a:effectLst/>
                <a:uLnTx/>
                <a:uFillTx/>
                <a:latin typeface="Consolas"/>
                <a:ea typeface="+mn-ea"/>
                <a:cs typeface="+mn-cs"/>
              </a:rPr>
              <a:t> tags.</a:t>
            </a:r>
            <a:r>
              <a:rPr kumimoji="0" lang="en-US" sz="1400" b="0" i="0" u="none" strike="noStrike" kern="1200" cap="none" spc="0" normalizeH="0" baseline="0" noProof="0" dirty="0">
                <a:ln>
                  <a:noFill/>
                </a:ln>
                <a:solidFill>
                  <a:srgbClr val="4EC9B0"/>
                </a:solidFill>
                <a:effectLst/>
                <a:uLnTx/>
                <a:uFillTx/>
                <a:latin typeface="Consolas"/>
                <a:ea typeface="+mn-ea"/>
                <a:cs typeface="+mn-cs"/>
              </a:rPr>
              <a:t>Format</a:t>
            </a:r>
            <a:r>
              <a:rPr kumimoji="0" lang="en-US" sz="1400" b="0" i="0" u="none" strike="noStrike" kern="1200" cap="none" spc="0" normalizeH="0" baseline="0" noProof="0" dirty="0">
                <a:ln>
                  <a:noFill/>
                </a:ln>
                <a:solidFill>
                  <a:srgbClr val="D4D4D4"/>
                </a:solidFill>
                <a:effectLst/>
                <a:uLnTx/>
                <a:uFillTx/>
                <a:latin typeface="Consolas"/>
                <a:ea typeface="+mn-ea"/>
                <a:cs typeface="+mn-cs"/>
              </a:rPr>
              <a:t>&lt;</a:t>
            </a:r>
            <a:r>
              <a:rPr kumimoji="0" lang="en-US" sz="1400" b="0" i="0" u="none" strike="noStrike" kern="1200" cap="none" spc="0" normalizeH="0" baseline="0" noProof="0" dirty="0">
                <a:ln>
                  <a:noFill/>
                </a:ln>
                <a:solidFill>
                  <a:srgbClr val="CE9178"/>
                </a:solidFill>
                <a:effectLst/>
                <a:uLnTx/>
                <a:uFillTx/>
                <a:latin typeface="Consolas"/>
                <a:ea typeface="+mn-ea"/>
                <a:cs typeface="+mn-cs"/>
              </a:rPr>
              <a:t>"email"</a:t>
            </a:r>
            <a:r>
              <a:rPr kumimoji="0" lang="en-US" sz="1400" b="0" i="0" u="none" strike="noStrike" kern="1200" cap="none" spc="0" normalizeH="0" baseline="0" noProof="0" dirty="0">
                <a:ln>
                  <a:noFill/>
                </a:ln>
                <a:solidFill>
                  <a:srgbClr val="D4D4D4"/>
                </a:solidFill>
                <a:effectLst/>
                <a:uLnTx/>
                <a:uFillTx/>
                <a:latin typeface="Consolas"/>
                <a:ea typeface="+mn-ea"/>
                <a:cs typeface="+mn-cs"/>
              </a:rPr>
              <a:t>&gt;;</a:t>
            </a:r>
          </a:p>
          <a:p>
            <a:pPr marL="0" marR="0" lvl="0" indent="0" algn="l" defTabSz="457200" rtl="0" eaLnBrk="1" fontAlgn="auto" latinLnBrk="0" hangingPunct="1">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name: </a:t>
            </a:r>
            <a:r>
              <a:rPr kumimoji="0" lang="en-US" sz="1400" b="0" i="0" u="none" strike="noStrike" kern="1200" cap="none" spc="0" normalizeH="0" baseline="0" noProof="0" dirty="0">
                <a:ln>
                  <a:noFill/>
                </a:ln>
                <a:solidFill>
                  <a:srgbClr val="569CD6"/>
                </a:solidFill>
                <a:effectLst/>
                <a:uLnTx/>
                <a:uFillTx/>
                <a:latin typeface="Consolas"/>
                <a:ea typeface="+mn-ea"/>
                <a:cs typeface="+mn-cs"/>
              </a:rPr>
              <a:t>string</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p>
          <a:p>
            <a:pPr marL="0" marR="0" lvl="0" indent="0" algn="l" defTabSz="457200" rtl="0" eaLnBrk="1" fontAlgn="auto" latinLnBrk="0" hangingPunct="1">
              <a:spcBef>
                <a:spcPts val="0"/>
              </a:spcBef>
              <a:spcAft>
                <a:spcPts val="0"/>
              </a:spcAft>
              <a:buClrTx/>
              <a:buSzTx/>
              <a:buFontTx/>
              <a:buNone/>
              <a:tabLst/>
              <a:defRPr/>
            </a:pPr>
            <a:r>
              <a:rPr lang="en-US" sz="1400" dirty="0">
                <a:solidFill>
                  <a:srgbClr val="D4D4D4"/>
                </a:solidFill>
                <a:latin typeface="Consolas"/>
              </a:rPr>
              <a:t>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t>
            </a:r>
            <a:r>
              <a:rPr kumimoji="0" lang="en-US" sz="1400" b="0" i="0" u="none" strike="noStrike" kern="1200" cap="none" spc="0" normalizeH="0" baseline="0" noProof="0" dirty="0">
                <a:ln>
                  <a:noFill/>
                </a:ln>
                <a:solidFill>
                  <a:srgbClr val="D4D4D4"/>
                </a:solidFill>
                <a:effectLst/>
                <a:uLnTx/>
                <a:uFillTx/>
                <a:latin typeface="Consolas"/>
                <a:ea typeface="+mn-ea"/>
                <a:cs typeface="+mn-cs"/>
              </a:rPr>
              <a:t> tags.</a:t>
            </a:r>
            <a:r>
              <a:rPr kumimoji="0" lang="en-US" sz="1400" b="0" i="0" u="none" strike="noStrike" kern="1200" cap="none" spc="0" normalizeH="0" baseline="0" noProof="0" dirty="0">
                <a:ln>
                  <a:noFill/>
                </a:ln>
                <a:solidFill>
                  <a:srgbClr val="4EC9B0"/>
                </a:solidFill>
                <a:effectLst/>
                <a:uLnTx/>
                <a:uFillTx/>
                <a:latin typeface="Consolas"/>
                <a:ea typeface="+mn-ea"/>
                <a:cs typeface="+mn-cs"/>
              </a:rPr>
              <a:t>MinLength</a:t>
            </a:r>
            <a:r>
              <a:rPr kumimoji="0" lang="en-US" sz="1400" b="0" i="0" u="none" strike="noStrike" kern="1200" cap="none" spc="0" normalizeH="0" baseline="0" noProof="0" dirty="0">
                <a:ln>
                  <a:noFill/>
                </a:ln>
                <a:solidFill>
                  <a:srgbClr val="D4D4D4"/>
                </a:solidFill>
                <a:effectLst/>
                <a:uLnTx/>
                <a:uFillTx/>
                <a:latin typeface="Consolas"/>
                <a:ea typeface="+mn-ea"/>
                <a:cs typeface="+mn-cs"/>
              </a:rPr>
              <a:t>&lt;</a:t>
            </a:r>
            <a:r>
              <a:rPr kumimoji="0" lang="en-US" sz="1400" b="0" i="0" u="none" strike="noStrike" kern="1200" cap="none" spc="0" normalizeH="0" baseline="0" noProof="0" dirty="0">
                <a:ln>
                  <a:noFill/>
                </a:ln>
                <a:solidFill>
                  <a:srgbClr val="B5CEA8"/>
                </a:solidFill>
                <a:effectLst/>
                <a:uLnTx/>
                <a:uFillTx/>
                <a:latin typeface="Consolas"/>
                <a:ea typeface="+mn-ea"/>
                <a:cs typeface="+mn-cs"/>
              </a:rPr>
              <a:t>1</a:t>
            </a:r>
            <a:r>
              <a:rPr kumimoji="0" lang="en-US" sz="1400" b="0" i="0" u="none" strike="noStrike" kern="1200" cap="none" spc="0" normalizeH="0" baseline="0" noProof="0" dirty="0">
                <a:ln>
                  <a:noFill/>
                </a:ln>
                <a:solidFill>
                  <a:srgbClr val="D4D4D4"/>
                </a:solidFill>
                <a:effectLst/>
                <a:uLnTx/>
                <a:uFillTx/>
                <a:latin typeface="Consolas"/>
                <a:ea typeface="+mn-ea"/>
                <a:cs typeface="+mn-cs"/>
              </a:rPr>
              <a:t>&gt;</a:t>
            </a:r>
          </a:p>
          <a:p>
            <a:pPr marL="0" marR="0" lvl="0" indent="0" algn="l" defTabSz="457200" rtl="0" eaLnBrk="1" fontAlgn="auto" latinLnBrk="0" hangingPunct="1">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C586C0"/>
                </a:solidFill>
                <a:effectLst/>
                <a:uLnTx/>
                <a:uFillTx/>
                <a:latin typeface="Consolas"/>
                <a:ea typeface="+mn-ea"/>
                <a:cs typeface="+mn-cs"/>
              </a:rPr>
              <a:t>&amp;</a:t>
            </a:r>
            <a:r>
              <a:rPr kumimoji="0" lang="en-US" sz="1400" b="0" i="0" u="none" strike="noStrike" kern="1200" cap="none" spc="0" normalizeH="0" baseline="0" noProof="0" dirty="0">
                <a:ln>
                  <a:noFill/>
                </a:ln>
                <a:solidFill>
                  <a:srgbClr val="D4D4D4"/>
                </a:solidFill>
                <a:effectLst/>
                <a:uLnTx/>
                <a:uFillTx/>
                <a:latin typeface="Consolas"/>
                <a:ea typeface="+mn-ea"/>
                <a:cs typeface="+mn-cs"/>
              </a:rPr>
              <a:t> tags.</a:t>
            </a:r>
            <a:r>
              <a:rPr kumimoji="0" lang="en-US" sz="1400" b="0" i="0" u="none" strike="noStrike" kern="1200" cap="none" spc="0" normalizeH="0" baseline="0" noProof="0" dirty="0">
                <a:ln>
                  <a:noFill/>
                </a:ln>
                <a:solidFill>
                  <a:srgbClr val="4EC9B0"/>
                </a:solidFill>
                <a:effectLst/>
                <a:uLnTx/>
                <a:uFillTx/>
                <a:latin typeface="Consolas"/>
                <a:ea typeface="+mn-ea"/>
                <a:cs typeface="+mn-cs"/>
              </a:rPr>
              <a:t>MaxLength</a:t>
            </a:r>
            <a:r>
              <a:rPr kumimoji="0" lang="en-US" sz="1400" b="0" i="0" u="none" strike="noStrike" kern="1200" cap="none" spc="0" normalizeH="0" baseline="0" noProof="0" dirty="0">
                <a:ln>
                  <a:noFill/>
                </a:ln>
                <a:solidFill>
                  <a:srgbClr val="D4D4D4"/>
                </a:solidFill>
                <a:effectLst/>
                <a:uLnTx/>
                <a:uFillTx/>
                <a:latin typeface="Consolas"/>
                <a:ea typeface="+mn-ea"/>
                <a:cs typeface="+mn-cs"/>
              </a:rPr>
              <a:t>&lt;</a:t>
            </a:r>
            <a:r>
              <a:rPr kumimoji="0" lang="en-US" sz="1400" b="0" i="0" u="none" strike="noStrike" kern="1200" cap="none" spc="0" normalizeH="0" baseline="0" noProof="0" dirty="0">
                <a:ln>
                  <a:noFill/>
                </a:ln>
                <a:solidFill>
                  <a:srgbClr val="B5CEA8"/>
                </a:solidFill>
                <a:effectLst/>
                <a:uLnTx/>
                <a:uFillTx/>
                <a:latin typeface="Consolas"/>
                <a:ea typeface="+mn-ea"/>
                <a:cs typeface="+mn-cs"/>
              </a:rPr>
              <a:t>100</a:t>
            </a:r>
            <a:r>
              <a:rPr kumimoji="0" lang="en-US" sz="1400" b="0" i="0" u="none" strike="noStrike" kern="1200" cap="none" spc="0" normalizeH="0" baseline="0" noProof="0" dirty="0">
                <a:ln>
                  <a:noFill/>
                </a:ln>
                <a:solidFill>
                  <a:srgbClr val="D4D4D4"/>
                </a:solidFill>
                <a:effectLst/>
                <a:uLnTx/>
                <a:uFillTx/>
                <a:latin typeface="Consolas"/>
                <a:ea typeface="+mn-ea"/>
                <a:cs typeface="+mn-cs"/>
              </a:rPr>
              <a:t>&gt;;</a:t>
            </a:r>
          </a:p>
          <a:p>
            <a:pPr marL="0" marR="0" lvl="0" indent="0" algn="l" defTabSz="457200" rtl="0" eaLnBrk="1" fontAlgn="auto" latinLnBrk="0" hangingPunct="1">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a:t>
            </a:r>
          </a:p>
          <a:p>
            <a:pPr marL="0" marR="0" lvl="0" indent="0" algn="l" defTabSz="457200" rtl="0" eaLnBrk="1" fontAlgn="auto" latinLnBrk="0" hangingPunct="1">
              <a:spcBef>
                <a:spcPts val="0"/>
              </a:spcBef>
              <a:spcAft>
                <a:spcPts val="0"/>
              </a:spcAft>
              <a:buClrTx/>
              <a:buSzTx/>
              <a:buFontTx/>
              <a:buNone/>
              <a:tabLst/>
              <a:defRPr/>
            </a:pPr>
            <a:endParaRPr kumimoji="0" lang="en-US" sz="1400" b="0" i="0" u="none" strike="noStrike" kern="1200" cap="none" spc="0" normalizeH="0" baseline="0" noProof="0" dirty="0">
              <a:ln>
                <a:noFill/>
              </a:ln>
              <a:solidFill>
                <a:srgbClr val="D4D4D4"/>
              </a:solidFill>
              <a:effectLst/>
              <a:uLnTx/>
              <a:uFillTx/>
              <a:latin typeface="Consolas"/>
              <a:ea typeface="+mn-ea"/>
              <a:cs typeface="+mn-cs"/>
            </a:endParaRPr>
          </a:p>
          <a:p>
            <a:pPr marL="0" marR="0" lvl="0" indent="0" algn="l" defTabSz="457200" rtl="0" eaLnBrk="1" fontAlgn="auto" latinLnBrk="0" hangingPunct="1">
              <a:spcBef>
                <a:spcPts val="0"/>
              </a:spcBef>
              <a:spcAft>
                <a:spcPts val="0"/>
              </a:spcAft>
              <a:buClrTx/>
              <a:buSzTx/>
              <a:buFontTx/>
              <a:buNone/>
              <a:tabLst/>
              <a:defRPr/>
            </a:pPr>
            <a:r>
              <a:rPr kumimoji="0" lang="en-US" sz="1400" b="1" i="0" u="sng" strike="noStrike" kern="1200" cap="none" spc="0" normalizeH="0" baseline="0" noProof="0" dirty="0">
                <a:ln>
                  <a:noFill/>
                </a:ln>
                <a:solidFill>
                  <a:srgbClr val="C586C0"/>
                </a:solidFill>
                <a:effectLst/>
                <a:uLnTx/>
                <a:uFillTx/>
                <a:latin typeface="Consolas"/>
                <a:ea typeface="+mn-ea"/>
                <a:cs typeface="+mn-cs"/>
              </a:rPr>
              <a:t>const </a:t>
            </a:r>
            <a:r>
              <a:rPr kumimoji="0" lang="en-US" sz="1400" b="1" i="0" u="sng" strike="noStrike" kern="1200" cap="none" spc="0" normalizeH="0" baseline="0" noProof="0" dirty="0">
                <a:ln>
                  <a:noFill/>
                </a:ln>
                <a:solidFill>
                  <a:srgbClr val="D4D4D4"/>
                </a:solidFill>
                <a:effectLst/>
                <a:uLnTx/>
                <a:uFillTx/>
                <a:latin typeface="Consolas"/>
                <a:ea typeface="+mn-ea"/>
                <a:cs typeface="+mn-cs"/>
              </a:rPr>
              <a:t>schema = typia.llm.</a:t>
            </a:r>
            <a:r>
              <a:rPr kumimoji="0" lang="en-US" sz="1400" b="1" i="0" u="sng" strike="noStrike" kern="1200" cap="none" spc="0" normalizeH="0" baseline="0" noProof="0" dirty="0">
                <a:ln>
                  <a:noFill/>
                </a:ln>
                <a:solidFill>
                  <a:srgbClr val="4EC9B0"/>
                </a:solidFill>
                <a:effectLst/>
                <a:uLnTx/>
                <a:uFillTx/>
                <a:latin typeface="Consolas"/>
                <a:ea typeface="+mn-ea"/>
                <a:cs typeface="+mn-cs"/>
              </a:rPr>
              <a:t>parameters</a:t>
            </a:r>
            <a:r>
              <a:rPr kumimoji="0" lang="en-US" sz="1400" b="1" i="0" u="sng" strike="noStrike" kern="1200" cap="none" spc="0" normalizeH="0" baseline="0" noProof="0" dirty="0">
                <a:ln>
                  <a:noFill/>
                </a:ln>
                <a:solidFill>
                  <a:srgbClr val="D4D4D4"/>
                </a:solidFill>
                <a:effectLst/>
                <a:uLnTx/>
                <a:uFillTx/>
                <a:latin typeface="Consolas"/>
                <a:ea typeface="+mn-ea"/>
                <a:cs typeface="+mn-cs"/>
              </a:rPr>
              <a:t>&lt;</a:t>
            </a:r>
            <a:r>
              <a:rPr kumimoji="0" lang="en-US" sz="1400" b="1" i="0" u="sng" strike="noStrike" kern="1200" cap="none" spc="0" normalizeH="0" baseline="0" noProof="0" dirty="0">
                <a:ln>
                  <a:noFill/>
                </a:ln>
                <a:solidFill>
                  <a:srgbClr val="4EC9B0"/>
                </a:solidFill>
                <a:effectLst/>
                <a:uLnTx/>
                <a:uFillTx/>
                <a:latin typeface="Consolas"/>
                <a:ea typeface="+mn-ea"/>
                <a:cs typeface="+mn-cs"/>
              </a:rPr>
              <a:t>IMember</a:t>
            </a:r>
            <a:r>
              <a:rPr kumimoji="0" lang="en-US" sz="1400" b="1" i="0" u="sng" strike="noStrike" kern="1200" cap="none" spc="0" normalizeH="0" baseline="0" noProof="0" dirty="0">
                <a:ln>
                  <a:noFill/>
                </a:ln>
                <a:solidFill>
                  <a:srgbClr val="D4D4D4"/>
                </a:solidFill>
                <a:effectLst/>
                <a:uLnTx/>
                <a:uFillTx/>
                <a:latin typeface="Consolas"/>
                <a:ea typeface="+mn-ea"/>
                <a:cs typeface="+mn-cs"/>
              </a:rPr>
              <a:t>&gt;();</a:t>
            </a:r>
          </a:p>
        </p:txBody>
      </p:sp>
      <p:sp>
        <p:nvSpPr>
          <p:cNvPr id="15" name="RH"/>
          <p:cNvSpPr/>
          <p:nvPr/>
        </p:nvSpPr>
        <p:spPr>
          <a:xfrm>
            <a:off x="6350000" y="1270000"/>
            <a:ext cx="5080000" cy="355600"/>
          </a:xfrm>
          <a:prstGeom prst="rect">
            <a:avLst/>
          </a:prstGeom>
          <a:noFill/>
          <a:ln>
            <a:noFill/>
          </a:ln>
        </p:spPr>
        <p:txBody>
          <a:bodyPr wrap="square" lIns="36000" tIns="36000" rIns="36000" bIns="3600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D93D"/>
                </a:solidFill>
                <a:effectLst/>
                <a:uLnTx/>
                <a:uFillTx/>
                <a:latin typeface="Segoe UI Semibold"/>
                <a:ea typeface="+mn-ea"/>
                <a:cs typeface="+mn-cs"/>
              </a:rPr>
              <a:t>Generated JSON Schema (output)</a:t>
            </a:r>
          </a:p>
        </p:txBody>
      </p:sp>
      <p:sp>
        <p:nvSpPr>
          <p:cNvPr id="16" name="RBg"/>
          <p:cNvSpPr/>
          <p:nvPr/>
        </p:nvSpPr>
        <p:spPr>
          <a:xfrm>
            <a:off x="6350000" y="1651000"/>
            <a:ext cx="5080000" cy="4191000"/>
          </a:xfrm>
          <a:prstGeom prst="rect">
            <a:avLst/>
          </a:prstGeom>
          <a:solidFill>
            <a:srgbClr val="0D111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Segoe UI" panose="020B0503020204020204"/>
              <a:ea typeface="+mn-ea"/>
              <a:cs typeface="+mn-cs"/>
            </a:endParaRPr>
          </a:p>
        </p:txBody>
      </p:sp>
      <p:sp>
        <p:nvSpPr>
          <p:cNvPr id="17" name="JSONCode"/>
          <p:cNvSpPr/>
          <p:nvPr/>
        </p:nvSpPr>
        <p:spPr>
          <a:xfrm>
            <a:off x="6477000" y="1676400"/>
            <a:ext cx="4826000" cy="4064000"/>
          </a:xfrm>
          <a:prstGeom prst="rect">
            <a:avLst/>
          </a:prstGeom>
          <a:noFill/>
          <a:ln>
            <a:noFill/>
          </a:ln>
        </p:spPr>
        <p:txBody>
          <a:bodyPr wrap="square" lIns="36000" tIns="36000" rIns="36000" bIns="36000"/>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569CD6"/>
                </a:solidFill>
                <a:effectLst/>
                <a:uLnTx/>
                <a:uFillTx/>
                <a:latin typeface="Consolas"/>
                <a:ea typeface="+mn-ea"/>
                <a:cs typeface="+mn-cs"/>
              </a:rPr>
              <a:t>"type"</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CE9178"/>
                </a:solidFill>
                <a:effectLst/>
                <a:uLnTx/>
                <a:uFillTx/>
                <a:latin typeface="Consolas"/>
                <a:ea typeface="+mn-ea"/>
                <a:cs typeface="+mn-cs"/>
              </a:rPr>
              <a:t>"object"</a:t>
            </a:r>
            <a:r>
              <a:rPr kumimoji="0" lang="en-US" sz="1400" b="0" i="0" u="none" strike="noStrike" kern="1200" cap="none" spc="0" normalizeH="0" baseline="0" noProof="0" dirty="0">
                <a:ln>
                  <a:noFill/>
                </a:ln>
                <a:solidFill>
                  <a:srgbClr val="D4D4D4"/>
                </a:solidFill>
                <a:effectLst/>
                <a:uLnTx/>
                <a:uFillTx/>
                <a:latin typeface="Consolas"/>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569CD6"/>
                </a:solidFill>
                <a:effectLst/>
                <a:uLnTx/>
                <a:uFillTx/>
                <a:latin typeface="Consolas"/>
                <a:ea typeface="+mn-ea"/>
                <a:cs typeface="+mn-cs"/>
              </a:rPr>
              <a:t>"properties"</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569CD6"/>
                </a:solidFill>
                <a:effectLst/>
                <a:uLnTx/>
                <a:uFillTx/>
                <a:latin typeface="Consolas"/>
                <a:ea typeface="+mn-ea"/>
                <a:cs typeface="+mn-cs"/>
              </a:rPr>
              <a:t>"age"</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569CD6"/>
                </a:solidFill>
                <a:effectLst/>
                <a:uLnTx/>
                <a:uFillTx/>
                <a:latin typeface="Consolas"/>
                <a:ea typeface="+mn-ea"/>
                <a:cs typeface="+mn-cs"/>
              </a:rPr>
              <a:t>"type"</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CE9178"/>
                </a:solidFill>
                <a:effectLst/>
                <a:uLnTx/>
                <a:uFillTx/>
                <a:latin typeface="Consolas"/>
                <a:ea typeface="+mn-ea"/>
                <a:cs typeface="+mn-cs"/>
              </a:rPr>
              <a:t>"integer"</a:t>
            </a:r>
            <a:r>
              <a:rPr kumimoji="0" lang="en-US" sz="1400" b="0" i="0" u="none" strike="noStrike" kern="1200" cap="none" spc="0" normalizeH="0" baseline="0" noProof="0" dirty="0">
                <a:ln>
                  <a:noFill/>
                </a:ln>
                <a:solidFill>
                  <a:srgbClr val="D4D4D4"/>
                </a:solidFill>
                <a:effectLst/>
                <a:uLnTx/>
                <a:uFillTx/>
                <a:latin typeface="Consolas"/>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569CD6"/>
                </a:solidFill>
                <a:effectLst/>
                <a:uLnTx/>
                <a:uFillTx/>
                <a:latin typeface="Consolas"/>
                <a:ea typeface="+mn-ea"/>
                <a:cs typeface="+mn-cs"/>
              </a:rPr>
              <a:t>"description"</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CE9178"/>
                </a:solidFill>
                <a:effectLst/>
                <a:uLnTx/>
                <a:uFillTx/>
                <a:latin typeface="Consolas"/>
                <a:ea typeface="+mn-ea"/>
                <a:cs typeface="+mn-cs"/>
              </a:rPr>
              <a:t>"Member's age.\n...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569CD6"/>
                </a:solidFill>
                <a:effectLst/>
                <a:uLnTx/>
                <a:uFillTx/>
                <a:latin typeface="Consolas"/>
                <a:ea typeface="+mn-ea"/>
                <a:cs typeface="+mn-cs"/>
              </a:rPr>
              <a:t>"exclusiveMinimum"</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B5CEA8"/>
                </a:solidFill>
                <a:effectLst/>
                <a:uLnTx/>
                <a:uFillTx/>
                <a:latin typeface="Consolas"/>
                <a:ea typeface="+mn-ea"/>
                <a:cs typeface="+mn-cs"/>
              </a:rPr>
              <a:t>18</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569CD6"/>
                </a:solidFill>
                <a:effectLst/>
                <a:uLnTx/>
                <a:uFillTx/>
                <a:latin typeface="Consolas"/>
                <a:ea typeface="+mn-ea"/>
                <a:cs typeface="+mn-cs"/>
              </a:rPr>
              <a:t>"email"</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569CD6"/>
                </a:solidFill>
                <a:effectLst/>
                <a:uLnTx/>
                <a:uFillTx/>
                <a:latin typeface="Consolas"/>
                <a:ea typeface="+mn-ea"/>
                <a:cs typeface="+mn-cs"/>
              </a:rPr>
              <a:t>"type"</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CE9178"/>
                </a:solidFill>
                <a:effectLst/>
                <a:uLnTx/>
                <a:uFillTx/>
                <a:latin typeface="Consolas"/>
                <a:ea typeface="+mn-ea"/>
                <a:cs typeface="+mn-cs"/>
              </a:rPr>
              <a:t>"string"</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569CD6"/>
                </a:solidFill>
                <a:effectLst/>
                <a:uLnTx/>
                <a:uFillTx/>
                <a:latin typeface="Consolas"/>
                <a:ea typeface="+mn-ea"/>
                <a:cs typeface="+mn-cs"/>
              </a:rPr>
              <a:t>"format"</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CE9178"/>
                </a:solidFill>
                <a:effectLst/>
                <a:uLnTx/>
                <a:uFillTx/>
                <a:latin typeface="Consolas"/>
                <a:ea typeface="+mn-ea"/>
                <a:cs typeface="+mn-cs"/>
              </a:rPr>
              <a:t>"email"</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569CD6"/>
                </a:solidFill>
                <a:effectLst/>
                <a:uLnTx/>
                <a:uFillTx/>
                <a:latin typeface="Consolas"/>
                <a:ea typeface="+mn-ea"/>
                <a:cs typeface="+mn-cs"/>
              </a:rPr>
              <a:t>"name"</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569CD6"/>
                </a:solidFill>
                <a:effectLst/>
                <a:uLnTx/>
                <a:uFillTx/>
                <a:latin typeface="Consolas"/>
                <a:ea typeface="+mn-ea"/>
                <a:cs typeface="+mn-cs"/>
              </a:rPr>
              <a:t>"type"</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CE9178"/>
                </a:solidFill>
                <a:effectLst/>
                <a:uLnTx/>
                <a:uFillTx/>
                <a:latin typeface="Consolas"/>
                <a:ea typeface="+mn-ea"/>
                <a:cs typeface="+mn-cs"/>
              </a:rPr>
              <a:t>"string"</a:t>
            </a:r>
            <a:r>
              <a:rPr kumimoji="0" lang="en-US" sz="1400" b="0" i="0" u="none" strike="noStrike" kern="1200" cap="none" spc="0" normalizeH="0" baseline="0" noProof="0" dirty="0">
                <a:ln>
                  <a:noFill/>
                </a:ln>
                <a:solidFill>
                  <a:srgbClr val="D4D4D4"/>
                </a:solidFill>
                <a:effectLst/>
                <a:uLnTx/>
                <a:uFillTx/>
                <a:latin typeface="Consolas"/>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569CD6"/>
                </a:solidFill>
                <a:effectLst/>
                <a:uLnTx/>
                <a:uFillTx/>
                <a:latin typeface="Consolas"/>
                <a:ea typeface="+mn-ea"/>
                <a:cs typeface="+mn-cs"/>
              </a:rPr>
              <a:t>"minLength"</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B5CEA8"/>
                </a:solidFill>
                <a:effectLst/>
                <a:uLnTx/>
                <a:uFillTx/>
                <a:latin typeface="Consolas"/>
                <a:ea typeface="+mn-ea"/>
                <a:cs typeface="+mn-cs"/>
              </a:rPr>
              <a:t>1</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569CD6"/>
                </a:solidFill>
                <a:effectLst/>
                <a:uLnTx/>
                <a:uFillTx/>
                <a:latin typeface="Consolas"/>
                <a:ea typeface="+mn-ea"/>
                <a:cs typeface="+mn-cs"/>
              </a:rPr>
              <a:t>"maxLength"</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B5CEA8"/>
                </a:solidFill>
                <a:effectLst/>
                <a:uLnTx/>
                <a:uFillTx/>
                <a:latin typeface="Consolas"/>
                <a:ea typeface="+mn-ea"/>
                <a:cs typeface="+mn-cs"/>
              </a:rPr>
              <a:t>100</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569CD6"/>
                </a:solidFill>
                <a:effectLst/>
                <a:uLnTx/>
                <a:uFillTx/>
                <a:latin typeface="Consolas"/>
                <a:ea typeface="+mn-ea"/>
                <a:cs typeface="+mn-cs"/>
              </a:rPr>
              <a:t>"required"</a:t>
            </a:r>
            <a:r>
              <a:rPr kumimoji="0" lang="en-US" sz="1400" b="0" i="0" u="none" strike="noStrike" kern="1200" cap="none" spc="0" normalizeH="0" baseline="0" noProof="0" dirty="0">
                <a:ln>
                  <a:noFill/>
                </a:ln>
                <a:solidFill>
                  <a:srgbClr val="D4D4D4"/>
                </a:solidFill>
                <a:effectLst/>
                <a:uLnTx/>
                <a:uFillTx/>
                <a:latin typeface="Consolas"/>
                <a:ea typeface="+mn-ea"/>
                <a:cs typeface="+mn-cs"/>
              </a:rPr>
              <a:t>: [</a:t>
            </a:r>
            <a:r>
              <a:rPr kumimoji="0" lang="en-US" sz="1400" b="0" i="0" u="none" strike="noStrike" kern="1200" cap="none" spc="0" normalizeH="0" baseline="0" noProof="0" dirty="0">
                <a:ln>
                  <a:noFill/>
                </a:ln>
                <a:solidFill>
                  <a:srgbClr val="CE9178"/>
                </a:solidFill>
                <a:effectLst/>
                <a:uLnTx/>
                <a:uFillTx/>
                <a:latin typeface="Consolas"/>
                <a:ea typeface="+mn-ea"/>
                <a:cs typeface="+mn-cs"/>
              </a:rPr>
              <a:t>"age"</a:t>
            </a:r>
            <a:r>
              <a:rPr kumimoji="0" lang="en-US" sz="1400" b="0" i="0" u="none" strike="noStrike" kern="1200" cap="none" spc="0" normalizeH="0" baseline="0" noProof="0" dirty="0">
                <a:ln>
                  <a:noFill/>
                </a:ln>
                <a:solidFill>
                  <a:srgbClr val="D4D4D4"/>
                </a:solidFill>
                <a:effectLst/>
                <a:uLnTx/>
                <a:uFillTx/>
                <a:latin typeface="Consolas"/>
                <a:ea typeface="+mn-ea"/>
                <a:cs typeface="+mn-cs"/>
              </a:rPr>
              <a:t>,</a:t>
            </a:r>
            <a:r>
              <a:rPr kumimoji="0" lang="en-US" sz="1400" b="0" i="0" u="none" strike="noStrike" kern="1200" cap="none" spc="0" normalizeH="0" baseline="0" noProof="0" dirty="0">
                <a:ln>
                  <a:noFill/>
                </a:ln>
                <a:solidFill>
                  <a:srgbClr val="CE9178"/>
                </a:solidFill>
                <a:effectLst/>
                <a:uLnTx/>
                <a:uFillTx/>
                <a:latin typeface="Consolas"/>
                <a:ea typeface="+mn-ea"/>
                <a:cs typeface="+mn-cs"/>
              </a:rPr>
              <a:t>"email"</a:t>
            </a:r>
            <a:r>
              <a:rPr kumimoji="0" lang="en-US" sz="1400" b="0" i="0" u="none" strike="noStrike" kern="1200" cap="none" spc="0" normalizeH="0" baseline="0" noProof="0" dirty="0">
                <a:ln>
                  <a:noFill/>
                </a:ln>
                <a:solidFill>
                  <a:srgbClr val="D4D4D4"/>
                </a:solidFill>
                <a:effectLst/>
                <a:uLnTx/>
                <a:uFillTx/>
                <a:latin typeface="Consolas"/>
                <a:ea typeface="+mn-ea"/>
                <a:cs typeface="+mn-cs"/>
              </a:rPr>
              <a:t>,</a:t>
            </a:r>
            <a:r>
              <a:rPr kumimoji="0" lang="en-US" sz="1400" b="0" i="0" u="none" strike="noStrike" kern="1200" cap="none" spc="0" normalizeH="0" baseline="0" noProof="0" dirty="0">
                <a:ln>
                  <a:noFill/>
                </a:ln>
                <a:solidFill>
                  <a:srgbClr val="CE9178"/>
                </a:solidFill>
                <a:effectLst/>
                <a:uLnTx/>
                <a:uFillTx/>
                <a:latin typeface="Consolas"/>
                <a:ea typeface="+mn-ea"/>
                <a:cs typeface="+mn-cs"/>
              </a:rPr>
              <a:t>"name"</a:t>
            </a:r>
            <a:r>
              <a:rPr kumimoji="0" lang="en-US" sz="1400" b="0" i="0" u="none" strike="noStrike" kern="1200" cap="none" spc="0" normalizeH="0" baseline="0" noProof="0" dirty="0">
                <a:ln>
                  <a:noFill/>
                </a:ln>
                <a:solidFill>
                  <a:srgbClr val="D4D4D4"/>
                </a:solidFill>
                <a:effectLst/>
                <a:uLnTx/>
                <a:uFillTx/>
                <a:latin typeface="Consolas"/>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D4D4D4"/>
                </a:solidFill>
                <a:effectLst/>
                <a:uLnTx/>
                <a:uFillTx/>
                <a:latin typeface="Consolas"/>
                <a:ea typeface="+mn-ea"/>
                <a:cs typeface="+mn-cs"/>
              </a:rPr>
              <a:t>}</a:t>
            </a:r>
          </a:p>
        </p:txBody>
      </p:sp>
      <p:sp>
        <p:nvSpPr>
          <p:cNvPr id="18" name="Arr"/>
          <p:cNvSpPr/>
          <p:nvPr/>
        </p:nvSpPr>
        <p:spPr>
          <a:xfrm>
            <a:off x="5867400" y="3429000"/>
            <a:ext cx="457200" cy="457200"/>
          </a:xfrm>
          <a:prstGeom prst="rect">
            <a:avLst/>
          </a:prstGeom>
          <a:noFill/>
          <a:ln>
            <a:noFill/>
          </a:ln>
        </p:spPr>
        <p:txBody>
          <a:bodyPr wrap="square" lIns="36000" tIns="36000" rIns="36000" bIns="3600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D4AA"/>
                </a:solidFill>
                <a:effectLst/>
                <a:uLnTx/>
                <a:uFillTx/>
                <a:latin typeface="Segoe UI"/>
                <a:ea typeface="+mn-ea"/>
                <a:cs typeface="+mn-cs"/>
              </a:rPr>
              <a:t>→</a:t>
            </a:r>
          </a:p>
        </p:txBody>
      </p:sp>
      <p:sp>
        <p:nvSpPr>
          <p:cNvPr id="19" name="Insight"/>
          <p:cNvSpPr/>
          <p:nvPr/>
        </p:nvSpPr>
        <p:spPr>
          <a:xfrm>
            <a:off x="762000" y="6032500"/>
            <a:ext cx="10668000" cy="571500"/>
          </a:xfrm>
          <a:prstGeom prst="rect">
            <a:avLst/>
          </a:prstGeom>
          <a:noFill/>
          <a:ln>
            <a:noFill/>
          </a:ln>
        </p:spPr>
        <p:txBody>
          <a:bodyPr wrap="square" lIns="36000" tIns="36000" rIns="36000" bIns="3600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D93D"/>
                </a:solidFill>
                <a:effectLst/>
                <a:uLnTx/>
                <a:uFillTx/>
                <a:latin typeface="Segoe UI Semibold"/>
                <a:ea typeface="+mn-ea"/>
                <a:cs typeface="+mn-cs"/>
              </a:rPr>
              <a:t>JSDoc comments → description fields  |  Type constraints → validation rules</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0D0D0"/>
                </a:solidFill>
                <a:effectLst/>
                <a:uLnTx/>
                <a:uFillTx/>
                <a:latin typeface="Segoe UI"/>
                <a:ea typeface="+mn-ea"/>
                <a:cs typeface="+mn-cs"/>
              </a:rPr>
              <a:t>One type = LLM guidance + validation rules</a:t>
            </a:r>
          </a:p>
        </p:txBody>
      </p:sp>
      <p:sp>
        <p:nvSpPr>
          <p:cNvPr id="2" name="AL">
            <a:extLst>
              <a:ext uri="{FF2B5EF4-FFF2-40B4-BE49-F238E27FC236}">
                <a16:creationId xmlns:a16="http://schemas.microsoft.com/office/drawing/2014/main" id="{10E637CF-DE1E-4A7C-871C-04334855BCAB}"/>
              </a:ext>
            </a:extLst>
          </p:cNvPr>
          <p:cNvSpPr/>
          <p:nvPr/>
        </p:nvSpPr>
        <p:spPr>
          <a:xfrm>
            <a:off x="762000" y="1041400"/>
            <a:ext cx="1524000" cy="38100"/>
          </a:xfrm>
          <a:prstGeom prst="rect">
            <a:avLst/>
          </a:prstGeom>
          <a:solidFill>
            <a:srgbClr val="00D4AA"/>
          </a:solidFill>
          <a:ln w="1905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D1117"/>
              </a:solidFill>
              <a:effectLst/>
              <a:uLnTx/>
              <a:uFillTx/>
              <a:latin typeface="Segoe UI" panose="020B0503020204020204"/>
              <a:ea typeface="+mn-ea"/>
              <a:cs typeface="+mn-cs"/>
            </a:endParaRPr>
          </a:p>
        </p:txBody>
      </p:sp>
    </p:spTree>
    <p:extLst>
      <p:ext uri="{BB962C8B-B14F-4D97-AF65-F5344CB8AC3E}">
        <p14:creationId xmlns:p14="http://schemas.microsoft.com/office/powerpoint/2010/main" val="10868157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13ACF9C-9335-A922-EC24-515B0C39B9CD}"/>
              </a:ext>
            </a:extLst>
          </p:cNvPr>
          <p:cNvSpPr>
            <a:spLocks noGrp="1"/>
          </p:cNvSpPr>
          <p:nvPr>
            <p:ph type="title"/>
          </p:nvPr>
        </p:nvSpPr>
        <p:spPr>
          <a:xfrm>
            <a:off x="1143000" y="381000"/>
            <a:ext cx="9880600" cy="762000"/>
          </a:xfrm>
        </p:spPr>
        <p:txBody>
          <a:bodyPr>
            <a:normAutofit/>
          </a:bodyPr>
          <a:lstStyle/>
          <a:p>
            <a:r>
              <a:rPr lang="en-US" dirty="0"/>
              <a:t>3.2. </a:t>
            </a:r>
            <a:r>
              <a:rPr lang="en-US" dirty="0" err="1"/>
              <a:t>typia.llm.application</a:t>
            </a:r>
            <a:r>
              <a:rPr lang="en-US" dirty="0"/>
              <a:t>&lt;Class&gt;()</a:t>
            </a:r>
          </a:p>
        </p:txBody>
      </p:sp>
      <p:sp>
        <p:nvSpPr>
          <p:cNvPr id="3" name="내용 개체 틀 2">
            <a:extLst>
              <a:ext uri="{FF2B5EF4-FFF2-40B4-BE49-F238E27FC236}">
                <a16:creationId xmlns:a16="http://schemas.microsoft.com/office/drawing/2014/main" id="{3E6D3964-0D57-8F46-B5DC-780FA61A0563}"/>
              </a:ext>
            </a:extLst>
          </p:cNvPr>
          <p:cNvSpPr>
            <a:spLocks noGrp="1"/>
          </p:cNvSpPr>
          <p:nvPr>
            <p:ph idx="1"/>
          </p:nvPr>
        </p:nvSpPr>
        <p:spPr>
          <a:xfrm>
            <a:off x="776748" y="1397000"/>
            <a:ext cx="5954252" cy="4826000"/>
          </a:xfrm>
        </p:spPr>
        <p:txBody>
          <a:bodyPr>
            <a:normAutofit/>
          </a:bodyPr>
          <a:lstStyle/>
          <a:p>
            <a:pPr>
              <a:buNone/>
            </a:pPr>
            <a:r>
              <a:rPr lang="en-US" sz="1800" dirty="0"/>
              <a:t>Scales schema generation to entire classes — every method becomes a function calling schema</a:t>
            </a:r>
          </a:p>
          <a:p>
            <a:pPr>
              <a:buNone/>
            </a:pPr>
            <a:endParaRPr lang="en-US" sz="800" dirty="0"/>
          </a:p>
          <a:p>
            <a:pPr>
              <a:buNone/>
            </a:pPr>
            <a:r>
              <a:rPr lang="en-US" sz="1800" b="1" dirty="0"/>
              <a:t>Each ILlmFunction automatically provides:</a:t>
            </a:r>
          </a:p>
          <a:p>
            <a:pPr>
              <a:buFont typeface="Arial"/>
              <a:buChar char="•"/>
            </a:pPr>
            <a:r>
              <a:rPr lang="en-US" sz="1800" b="1" dirty="0"/>
              <a:t>parameters</a:t>
            </a:r>
            <a:r>
              <a:rPr lang="en-US" sz="1800" dirty="0"/>
              <a:t> — JSON Schema for the LLM to fill</a:t>
            </a:r>
          </a:p>
          <a:p>
            <a:pPr>
              <a:buFont typeface="Arial"/>
              <a:buChar char="•"/>
            </a:pPr>
            <a:r>
              <a:rPr lang="en-US" sz="1800" b="1" dirty="0"/>
              <a:t>parse()</a:t>
            </a:r>
            <a:r>
              <a:rPr lang="en-US" sz="1800" dirty="0"/>
              <a:t> — lenient JSON parsing + type coercion</a:t>
            </a:r>
          </a:p>
          <a:p>
            <a:pPr>
              <a:buFont typeface="Arial"/>
              <a:buChar char="•"/>
            </a:pPr>
            <a:r>
              <a:rPr lang="en-US" sz="1800" b="1" dirty="0"/>
              <a:t>coerce()</a:t>
            </a:r>
            <a:r>
              <a:rPr lang="en-US" sz="1800" dirty="0"/>
              <a:t> — schema-based type conversion</a:t>
            </a:r>
          </a:p>
          <a:p>
            <a:pPr>
              <a:buFont typeface="Arial"/>
              <a:buChar char="•"/>
            </a:pPr>
            <a:r>
              <a:rPr lang="en-US" sz="1800" b="1" dirty="0"/>
              <a:t>validate()</a:t>
            </a:r>
            <a:r>
              <a:rPr lang="en-US" sz="1800" dirty="0"/>
              <a:t> — precise error detection with exact paths</a:t>
            </a:r>
          </a:p>
          <a:p>
            <a:pPr>
              <a:buNone/>
            </a:pPr>
            <a:endParaRPr lang="en-US" sz="800" dirty="0"/>
          </a:p>
          <a:p>
            <a:pPr>
              <a:buNone/>
            </a:pPr>
            <a:r>
              <a:rPr lang="en-US" sz="1800" b="1" dirty="0"/>
              <a:t>Define one class → get the full function calling pipeline</a:t>
            </a:r>
          </a:p>
        </p:txBody>
      </p:sp>
      <p:grpSp>
        <p:nvGrpSpPr>
          <p:cNvPr id="4" name="그룹 3">
            <a:extLst>
              <a:ext uri="{FF2B5EF4-FFF2-40B4-BE49-F238E27FC236}">
                <a16:creationId xmlns:a16="http://schemas.microsoft.com/office/drawing/2014/main" id="{635A3A35-FA13-F844-235E-C80912BA854A}"/>
              </a:ext>
            </a:extLst>
          </p:cNvPr>
          <p:cNvGrpSpPr/>
          <p:nvPr/>
        </p:nvGrpSpPr>
        <p:grpSpPr>
          <a:xfrm>
            <a:off x="7112000" y="1714091"/>
            <a:ext cx="3937000" cy="4356100"/>
            <a:chOff x="6667500" y="1016000"/>
            <a:chExt cx="3937000" cy="4356100"/>
          </a:xfrm>
        </p:grpSpPr>
        <p:sp>
          <p:nvSpPr>
            <p:cNvPr id="200" name="Compile"/>
            <p:cNvSpPr/>
            <p:nvPr/>
          </p:nvSpPr>
          <p:spPr>
            <a:xfrm>
              <a:off x="6731000" y="1016000"/>
              <a:ext cx="3810000" cy="698500"/>
            </a:xfrm>
            <a:prstGeom prst="roundRect">
              <a:avLst/>
            </a:prstGeom>
            <a:solidFill>
              <a:srgbClr val="4A90D9"/>
            </a:solidFill>
            <a:ln w="0">
              <a:noFill/>
            </a:ln>
          </p:spPr>
          <p:txBody>
            <a:bodyPr wrap="square" lIns="54000" tIns="36000" rIns="54000" bIns="36000" anchor="ctr"/>
            <a:lstStyle/>
            <a:p>
              <a:pPr algn="ctr">
                <a:buNone/>
              </a:pPr>
              <a:r>
                <a:rPr lang="en-US" sz="1800" b="1" dirty="0">
                  <a:solidFill>
                    <a:srgbClr val="FFFFFF"/>
                  </a:solidFill>
                  <a:latin typeface="Consolas"/>
                </a:rPr>
                <a:t>Compile</a:t>
              </a:r>
            </a:p>
            <a:p>
              <a:pPr algn="ctr">
                <a:buNone/>
              </a:pPr>
              <a:r>
                <a:rPr lang="en-US" sz="1400" dirty="0">
                  <a:solidFill>
                    <a:srgbClr val="FFFFFF">
                      <a:alpha val="80000"/>
                    </a:srgbClr>
                  </a:solidFill>
                  <a:latin typeface="Segoe UI"/>
                </a:rPr>
                <a:t>TS Class → Schema</a:t>
              </a:r>
            </a:p>
          </p:txBody>
        </p:sp>
        <p:sp>
          <p:nvSpPr>
            <p:cNvPr id="201" name="Arr1"/>
            <p:cNvSpPr/>
            <p:nvPr/>
          </p:nvSpPr>
          <p:spPr>
            <a:xfrm>
              <a:off x="8534400" y="1752600"/>
              <a:ext cx="203200" cy="254000"/>
            </a:xfrm>
            <a:prstGeom prst="downArrow">
              <a:avLst/>
            </a:prstGeom>
            <a:solidFill>
              <a:srgbClr val="666666"/>
            </a:solidFill>
            <a:ln w="0">
              <a:noFill/>
            </a:ln>
          </p:spPr>
          <p:txBody>
            <a:bodyPr/>
            <a:lstStyle/>
            <a:p>
              <a:endParaRPr lang="en-US"/>
            </a:p>
          </p:txBody>
        </p:sp>
        <p:sp>
          <p:nvSpPr>
            <p:cNvPr id="210" name="Parse"/>
            <p:cNvSpPr/>
            <p:nvPr/>
          </p:nvSpPr>
          <p:spPr>
            <a:xfrm>
              <a:off x="6731000" y="2095500"/>
              <a:ext cx="1714500" cy="698500"/>
            </a:xfrm>
            <a:prstGeom prst="roundRect">
              <a:avLst/>
            </a:prstGeom>
            <a:solidFill>
              <a:srgbClr val="FF9F43"/>
            </a:solidFill>
            <a:ln w="0">
              <a:noFill/>
            </a:ln>
          </p:spPr>
          <p:txBody>
            <a:bodyPr wrap="square" lIns="54000" tIns="36000" rIns="54000" bIns="36000" anchor="ctr"/>
            <a:lstStyle/>
            <a:p>
              <a:pPr algn="ctr">
                <a:buNone/>
              </a:pPr>
              <a:r>
                <a:rPr lang="en-US" sz="1800" b="1" dirty="0">
                  <a:solidFill>
                    <a:srgbClr val="FFFFFF"/>
                  </a:solidFill>
                  <a:latin typeface="Consolas"/>
                </a:rPr>
                <a:t>parse()</a:t>
              </a:r>
            </a:p>
            <a:p>
              <a:pPr algn="ctr">
                <a:buNone/>
              </a:pPr>
              <a:r>
                <a:rPr lang="en-US" sz="1400" dirty="0">
                  <a:solidFill>
                    <a:srgbClr val="FFFFFF">
                      <a:alpha val="80000"/>
                    </a:srgbClr>
                  </a:solidFill>
                  <a:latin typeface="Segoe UI"/>
                </a:rPr>
                <a:t>Lenient parsing</a:t>
              </a:r>
            </a:p>
          </p:txBody>
        </p:sp>
        <p:sp>
          <p:nvSpPr>
            <p:cNvPr id="211" name="Coerce"/>
            <p:cNvSpPr/>
            <p:nvPr/>
          </p:nvSpPr>
          <p:spPr>
            <a:xfrm>
              <a:off x="8826500" y="2095500"/>
              <a:ext cx="1714500" cy="698500"/>
            </a:xfrm>
            <a:prstGeom prst="roundRect">
              <a:avLst/>
            </a:prstGeom>
            <a:solidFill>
              <a:srgbClr val="A855F7"/>
            </a:solidFill>
            <a:ln w="0">
              <a:noFill/>
            </a:ln>
          </p:spPr>
          <p:txBody>
            <a:bodyPr wrap="square" lIns="54000" tIns="36000" rIns="54000" bIns="36000" anchor="ctr"/>
            <a:lstStyle/>
            <a:p>
              <a:pPr algn="ctr">
                <a:buNone/>
              </a:pPr>
              <a:r>
                <a:rPr lang="en-US" sz="1800" b="1" dirty="0">
                  <a:solidFill>
                    <a:srgbClr val="FFFFFF"/>
                  </a:solidFill>
                  <a:latin typeface="Consolas"/>
                </a:rPr>
                <a:t>coerce()</a:t>
              </a:r>
            </a:p>
            <a:p>
              <a:pPr algn="ctr">
                <a:buNone/>
              </a:pPr>
              <a:r>
                <a:rPr lang="en-US" sz="1400" dirty="0">
                  <a:solidFill>
                    <a:srgbClr val="FFFFFF">
                      <a:alpha val="80000"/>
                    </a:srgbClr>
                  </a:solidFill>
                  <a:latin typeface="Segoe UI"/>
                </a:rPr>
                <a:t>Type conversion</a:t>
              </a:r>
            </a:p>
          </p:txBody>
        </p:sp>
        <p:sp>
          <p:nvSpPr>
            <p:cNvPr id="212" name="PC_R"/>
            <p:cNvSpPr/>
            <p:nvPr/>
          </p:nvSpPr>
          <p:spPr>
            <a:xfrm>
              <a:off x="8470900" y="2273300"/>
              <a:ext cx="330200" cy="152400"/>
            </a:xfrm>
            <a:prstGeom prst="rightArrow">
              <a:avLst/>
            </a:prstGeom>
            <a:solidFill>
              <a:srgbClr val="808080"/>
            </a:solidFill>
            <a:ln w="0">
              <a:noFill/>
            </a:ln>
          </p:spPr>
          <p:txBody>
            <a:bodyPr/>
            <a:lstStyle/>
            <a:p>
              <a:endParaRPr lang="en-US"/>
            </a:p>
          </p:txBody>
        </p:sp>
        <p:sp>
          <p:nvSpPr>
            <p:cNvPr id="213" name="PC_L"/>
            <p:cNvSpPr/>
            <p:nvPr/>
          </p:nvSpPr>
          <p:spPr>
            <a:xfrm>
              <a:off x="8470900" y="2476500"/>
              <a:ext cx="330200" cy="152400"/>
            </a:xfrm>
            <a:prstGeom prst="leftArrow">
              <a:avLst/>
            </a:prstGeom>
            <a:solidFill>
              <a:srgbClr val="808080"/>
            </a:solidFill>
            <a:ln w="0">
              <a:noFill/>
            </a:ln>
          </p:spPr>
          <p:txBody>
            <a:bodyPr/>
            <a:lstStyle/>
            <a:p>
              <a:endParaRPr lang="en-US"/>
            </a:p>
          </p:txBody>
        </p:sp>
        <p:sp>
          <p:nvSpPr>
            <p:cNvPr id="214" name="Loop1Label"/>
            <p:cNvSpPr/>
            <p:nvPr/>
          </p:nvSpPr>
          <p:spPr>
            <a:xfrm>
              <a:off x="6667500" y="2832100"/>
              <a:ext cx="3937000" cy="279400"/>
            </a:xfrm>
            <a:prstGeom prst="rect">
              <a:avLst/>
            </a:prstGeom>
            <a:solidFill>
              <a:srgbClr val="333333"/>
            </a:solidFill>
            <a:ln w="0">
              <a:noFill/>
            </a:ln>
          </p:spPr>
          <p:txBody>
            <a:bodyPr wrap="square" lIns="54000" tIns="36000" rIns="54000" bIns="36000" anchor="ctr"/>
            <a:lstStyle/>
            <a:p>
              <a:pPr algn="ctr">
                <a:buNone/>
              </a:pPr>
              <a:r>
                <a:rPr lang="en-US" sz="1400" dirty="0">
                  <a:solidFill>
                    <a:srgbClr val="FFFFFF">
                      <a:alpha val="80000"/>
                    </a:srgbClr>
                  </a:solidFill>
                  <a:latin typeface="Segoe UI"/>
                </a:rPr>
                <a:t>Correction Loop</a:t>
              </a:r>
            </a:p>
          </p:txBody>
        </p:sp>
        <p:sp>
          <p:nvSpPr>
            <p:cNvPr id="220" name="Arr2"/>
            <p:cNvSpPr/>
            <p:nvPr/>
          </p:nvSpPr>
          <p:spPr>
            <a:xfrm>
              <a:off x="8534400" y="3149600"/>
              <a:ext cx="203200" cy="254000"/>
            </a:xfrm>
            <a:prstGeom prst="downArrow">
              <a:avLst/>
            </a:prstGeom>
            <a:solidFill>
              <a:srgbClr val="666666"/>
            </a:solidFill>
            <a:ln w="0">
              <a:noFill/>
            </a:ln>
          </p:spPr>
          <p:txBody>
            <a:bodyPr/>
            <a:lstStyle/>
            <a:p>
              <a:endParaRPr lang="en-US"/>
            </a:p>
          </p:txBody>
        </p:sp>
        <p:sp>
          <p:nvSpPr>
            <p:cNvPr id="230" name="Validate"/>
            <p:cNvSpPr/>
            <p:nvPr/>
          </p:nvSpPr>
          <p:spPr>
            <a:xfrm>
              <a:off x="6731000" y="3492500"/>
              <a:ext cx="1714500" cy="698500"/>
            </a:xfrm>
            <a:prstGeom prst="roundRect">
              <a:avLst/>
            </a:prstGeom>
            <a:solidFill>
              <a:srgbClr val="EF4444"/>
            </a:solidFill>
            <a:ln w="0">
              <a:noFill/>
            </a:ln>
          </p:spPr>
          <p:txBody>
            <a:bodyPr wrap="square" lIns="54000" tIns="36000" rIns="54000" bIns="36000" anchor="ctr"/>
            <a:lstStyle/>
            <a:p>
              <a:pPr algn="ctr">
                <a:buNone/>
              </a:pPr>
              <a:r>
                <a:rPr lang="en-US" sz="1800" b="1" dirty="0">
                  <a:solidFill>
                    <a:srgbClr val="FFFFFF"/>
                  </a:solidFill>
                  <a:latin typeface="Consolas"/>
                </a:rPr>
                <a:t>validate()</a:t>
              </a:r>
            </a:p>
            <a:p>
              <a:pPr algn="ctr">
                <a:buNone/>
              </a:pPr>
              <a:r>
                <a:rPr lang="en-US" sz="1400" dirty="0">
                  <a:solidFill>
                    <a:srgbClr val="FFFFFF">
                      <a:alpha val="80000"/>
                    </a:srgbClr>
                  </a:solidFill>
                  <a:latin typeface="Segoe UI"/>
                </a:rPr>
                <a:t>Error feedback</a:t>
              </a:r>
            </a:p>
          </p:txBody>
        </p:sp>
        <p:sp>
          <p:nvSpPr>
            <p:cNvPr id="231" name="Execute"/>
            <p:cNvSpPr/>
            <p:nvPr/>
          </p:nvSpPr>
          <p:spPr>
            <a:xfrm>
              <a:off x="8826500" y="3492500"/>
              <a:ext cx="1714500" cy="698500"/>
            </a:xfrm>
            <a:prstGeom prst="roundRect">
              <a:avLst/>
            </a:prstGeom>
            <a:solidFill>
              <a:srgbClr val="10B981"/>
            </a:solidFill>
            <a:ln w="0">
              <a:noFill/>
            </a:ln>
          </p:spPr>
          <p:txBody>
            <a:bodyPr wrap="square" lIns="54000" tIns="36000" rIns="54000" bIns="36000" anchor="ctr"/>
            <a:lstStyle/>
            <a:p>
              <a:pPr algn="ctr">
                <a:buNone/>
              </a:pPr>
              <a:r>
                <a:rPr lang="en-US" sz="1800" b="1" dirty="0">
                  <a:solidFill>
                    <a:srgbClr val="FFFFFF"/>
                  </a:solidFill>
                  <a:latin typeface="Consolas"/>
                </a:rPr>
                <a:t>execute()</a:t>
              </a:r>
            </a:p>
            <a:p>
              <a:pPr algn="ctr">
                <a:buNone/>
              </a:pPr>
              <a:r>
                <a:rPr lang="en-US" sz="1400" dirty="0">
                  <a:solidFill>
                    <a:srgbClr val="FFFFFF">
                      <a:alpha val="80000"/>
                    </a:srgbClr>
                  </a:solidFill>
                  <a:latin typeface="Segoe UI"/>
                </a:rPr>
                <a:t>Function call</a:t>
              </a:r>
            </a:p>
          </p:txBody>
        </p:sp>
        <p:sp>
          <p:nvSpPr>
            <p:cNvPr id="232" name="VE_R"/>
            <p:cNvSpPr/>
            <p:nvPr/>
          </p:nvSpPr>
          <p:spPr>
            <a:xfrm>
              <a:off x="8470900" y="3670300"/>
              <a:ext cx="330200" cy="152400"/>
            </a:xfrm>
            <a:prstGeom prst="rightArrow">
              <a:avLst/>
            </a:prstGeom>
            <a:solidFill>
              <a:srgbClr val="808080"/>
            </a:solidFill>
            <a:ln w="0">
              <a:noFill/>
            </a:ln>
          </p:spPr>
          <p:txBody>
            <a:bodyPr/>
            <a:lstStyle/>
            <a:p>
              <a:endParaRPr lang="en-US"/>
            </a:p>
          </p:txBody>
        </p:sp>
        <p:sp>
          <p:nvSpPr>
            <p:cNvPr id="233" name="VE_L"/>
            <p:cNvSpPr/>
            <p:nvPr/>
          </p:nvSpPr>
          <p:spPr>
            <a:xfrm>
              <a:off x="8470900" y="3873500"/>
              <a:ext cx="330200" cy="152400"/>
            </a:xfrm>
            <a:prstGeom prst="leftArrow">
              <a:avLst/>
            </a:prstGeom>
            <a:solidFill>
              <a:srgbClr val="808080"/>
            </a:solidFill>
            <a:ln w="0">
              <a:noFill/>
            </a:ln>
          </p:spPr>
          <p:txBody>
            <a:bodyPr/>
            <a:lstStyle/>
            <a:p>
              <a:endParaRPr lang="en-US"/>
            </a:p>
          </p:txBody>
        </p:sp>
        <p:sp>
          <p:nvSpPr>
            <p:cNvPr id="234" name="Loop2Label"/>
            <p:cNvSpPr/>
            <p:nvPr/>
          </p:nvSpPr>
          <p:spPr>
            <a:xfrm>
              <a:off x="6667500" y="4229100"/>
              <a:ext cx="3937000" cy="279400"/>
            </a:xfrm>
            <a:prstGeom prst="rect">
              <a:avLst/>
            </a:prstGeom>
            <a:solidFill>
              <a:srgbClr val="333333"/>
            </a:solidFill>
            <a:ln w="0">
              <a:noFill/>
            </a:ln>
          </p:spPr>
          <p:txBody>
            <a:bodyPr wrap="square" lIns="54000" tIns="36000" rIns="54000" bIns="36000" anchor="ctr"/>
            <a:lstStyle/>
            <a:p>
              <a:pPr algn="ctr">
                <a:buNone/>
              </a:pPr>
              <a:r>
                <a:rPr lang="en-US" sz="1400" dirty="0">
                  <a:solidFill>
                    <a:srgbClr val="FFFFFF">
                      <a:alpha val="80000"/>
                    </a:srgbClr>
                  </a:solidFill>
                  <a:latin typeface="Segoe UI"/>
                </a:rPr>
                <a:t>Feedback Loop</a:t>
              </a:r>
            </a:p>
          </p:txBody>
        </p:sp>
        <p:sp>
          <p:nvSpPr>
            <p:cNvPr id="240" name="Arr3"/>
            <p:cNvSpPr/>
            <p:nvPr/>
          </p:nvSpPr>
          <p:spPr>
            <a:xfrm>
              <a:off x="8534400" y="4546600"/>
              <a:ext cx="203200" cy="254000"/>
            </a:xfrm>
            <a:prstGeom prst="downArrow">
              <a:avLst/>
            </a:prstGeom>
            <a:solidFill>
              <a:srgbClr val="666666"/>
            </a:solidFill>
            <a:ln w="0">
              <a:noFill/>
            </a:ln>
          </p:spPr>
          <p:txBody>
            <a:bodyPr/>
            <a:lstStyle/>
            <a:p>
              <a:endParaRPr lang="en-US"/>
            </a:p>
          </p:txBody>
        </p:sp>
        <p:sp>
          <p:nvSpPr>
            <p:cNvPr id="250" name="Result"/>
            <p:cNvSpPr/>
            <p:nvPr/>
          </p:nvSpPr>
          <p:spPr>
            <a:xfrm>
              <a:off x="7366000" y="4864100"/>
              <a:ext cx="2540000" cy="508000"/>
            </a:xfrm>
            <a:prstGeom prst="roundRect">
              <a:avLst/>
            </a:prstGeom>
            <a:solidFill>
              <a:srgbClr val="00D4AA"/>
            </a:solidFill>
            <a:ln w="0">
              <a:noFill/>
            </a:ln>
          </p:spPr>
          <p:txBody>
            <a:bodyPr wrap="square" lIns="54000" tIns="36000" rIns="54000" bIns="36000" anchor="ctr"/>
            <a:lstStyle/>
            <a:p>
              <a:pPr algn="ctr">
                <a:buNone/>
              </a:pPr>
              <a:r>
                <a:rPr lang="en-US" sz="1800" b="1" dirty="0">
                  <a:solidFill>
                    <a:srgbClr val="FFFFFF"/>
                  </a:solidFill>
                  <a:latin typeface="Consolas"/>
                </a:rPr>
                <a:t>Result</a:t>
              </a:r>
            </a:p>
          </p:txBody>
        </p:sp>
      </p:grpSp>
    </p:spTree>
    <p:extLst>
      <p:ext uri="{BB962C8B-B14F-4D97-AF65-F5344CB8AC3E}">
        <p14:creationId xmlns:p14="http://schemas.microsoft.com/office/powerpoint/2010/main" val="23836745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A1A2E">
            <a:alpha val="100000"/>
          </a:srgbClr>
        </a:solidFill>
        <a:effectLst/>
      </p:bgPr>
    </p:bg>
    <p:spTree>
      <p:nvGrpSpPr>
        <p:cNvPr id="1" name=""/>
        <p:cNvGrpSpPr/>
        <p:nvPr/>
      </p:nvGrpSpPr>
      <p:grpSpPr>
        <a:xfrm>
          <a:off x="0" y="0"/>
          <a:ext cx="0" cy="0"/>
          <a:chOff x="0" y="0"/>
          <a:chExt cx="0" cy="0"/>
        </a:xfrm>
      </p:grpSpPr>
      <p:sp>
        <p:nvSpPr>
          <p:cNvPr id="10" name="T"/>
          <p:cNvSpPr/>
          <p:nvPr/>
        </p:nvSpPr>
        <p:spPr>
          <a:xfrm>
            <a:off x="762000" y="381000"/>
            <a:ext cx="10668000" cy="635000"/>
          </a:xfrm>
          <a:prstGeom prst="rect">
            <a:avLst/>
          </a:prstGeom>
          <a:noFill/>
          <a:ln>
            <a:noFill/>
          </a:ln>
        </p:spPr>
        <p:txBody>
          <a:bodyPr wrap="square" lIns="36000" tIns="36000" rIns="36000" bIns="36000"/>
          <a:lstStyle/>
          <a:p>
            <a:pPr algn="l">
              <a:buNone/>
            </a:pPr>
            <a:r>
              <a:rPr lang="en-US" sz="2400" b="1" dirty="0">
                <a:solidFill>
                  <a:srgbClr val="F0F0F0"/>
                </a:solidFill>
                <a:latin typeface="Segoe UI Semibold"/>
              </a:rPr>
              <a:t>Type Coercion</a:t>
            </a:r>
          </a:p>
        </p:txBody>
      </p:sp>
      <p:sp>
        <p:nvSpPr>
          <p:cNvPr id="12" name="LH"/>
          <p:cNvSpPr/>
          <p:nvPr/>
        </p:nvSpPr>
        <p:spPr>
          <a:xfrm>
            <a:off x="762000" y="1270000"/>
            <a:ext cx="5080000" cy="355600"/>
          </a:xfrm>
          <a:prstGeom prst="rect">
            <a:avLst/>
          </a:prstGeom>
          <a:noFill/>
          <a:ln>
            <a:noFill/>
          </a:ln>
        </p:spPr>
        <p:txBody>
          <a:bodyPr wrap="square" lIns="36000" tIns="36000" rIns="36000" bIns="36000"/>
          <a:lstStyle/>
          <a:p>
            <a:pPr algn="ctr">
              <a:buNone/>
            </a:pPr>
            <a:r>
              <a:rPr lang="en-US" sz="1800" b="1" dirty="0">
                <a:solidFill>
                  <a:srgbClr val="00D4AA"/>
                </a:solidFill>
                <a:latin typeface="Segoe UI Semibold"/>
              </a:rPr>
              <a:t>LLM Output</a:t>
            </a:r>
          </a:p>
        </p:txBody>
      </p:sp>
      <p:sp>
        <p:nvSpPr>
          <p:cNvPr id="14" name="TSCode"/>
          <p:cNvSpPr/>
          <p:nvPr/>
        </p:nvSpPr>
        <p:spPr>
          <a:xfrm>
            <a:off x="889000" y="1714500"/>
            <a:ext cx="4826000" cy="2621526"/>
          </a:xfrm>
          <a:prstGeom prst="rect">
            <a:avLst/>
          </a:prstGeom>
          <a:noFill/>
          <a:ln>
            <a:noFill/>
          </a:ln>
        </p:spPr>
        <p:txBody>
          <a:bodyPr wrap="square" lIns="36000" tIns="36000" rIns="36000" bIns="36000"/>
          <a:lstStyle/>
          <a:p>
            <a:pPr>
              <a:spcBef>
                <a:spcPts val="0"/>
              </a:spcBef>
              <a:spcAft>
                <a:spcPts val="0"/>
              </a:spcAft>
              <a:buNone/>
            </a:pPr>
            <a:r>
              <a:rPr lang="en-US" sz="1400" dirty="0">
                <a:solidFill>
                  <a:srgbClr val="6A9955"/>
                </a:solidFill>
                <a:latin typeface="Consolas"/>
              </a:rPr>
              <a:t>// Expected</a:t>
            </a:r>
          </a:p>
          <a:p>
            <a:pPr>
              <a:spcBef>
                <a:spcPts val="0"/>
              </a:spcBef>
              <a:spcAft>
                <a:spcPts val="0"/>
              </a:spcAft>
              <a:buNone/>
            </a:pPr>
            <a:r>
              <a:rPr lang="en-US" sz="1400" dirty="0">
                <a:solidFill>
                  <a:srgbClr val="D4D4D4"/>
                </a:solidFill>
                <a:latin typeface="Consolas"/>
              </a:rPr>
              <a:t>{</a:t>
            </a:r>
          </a:p>
          <a:p>
            <a:pPr>
              <a:spcBef>
                <a:spcPts val="0"/>
              </a:spcBef>
              <a:spcAft>
                <a:spcPts val="0"/>
              </a:spcAft>
              <a:buNone/>
            </a:pPr>
            <a:r>
              <a:rPr lang="en-US" sz="1400" dirty="0">
                <a:solidFill>
                  <a:srgbClr val="D4D4D4"/>
                </a:solidFill>
                <a:latin typeface="Consolas"/>
              </a:rPr>
              <a:t>  </a:t>
            </a:r>
            <a:r>
              <a:rPr lang="en-US" sz="1400" dirty="0">
                <a:solidFill>
                  <a:srgbClr val="9CDCFE"/>
                </a:solidFill>
                <a:latin typeface="Consolas"/>
              </a:rPr>
              <a:t>"type"</a:t>
            </a:r>
            <a:r>
              <a:rPr lang="en-US" sz="1400" dirty="0">
                <a:solidFill>
                  <a:srgbClr val="D4D4D4"/>
                </a:solidFill>
                <a:latin typeface="Consolas"/>
              </a:rPr>
              <a:t>: </a:t>
            </a:r>
            <a:r>
              <a:rPr lang="en-US" sz="1400" dirty="0">
                <a:solidFill>
                  <a:srgbClr val="CE9178"/>
                </a:solidFill>
                <a:latin typeface="Consolas"/>
              </a:rPr>
              <a:t>"card"</a:t>
            </a:r>
            <a:r>
              <a:rPr lang="en-US" sz="1400" dirty="0">
                <a:solidFill>
                  <a:srgbClr val="D4D4D4"/>
                </a:solidFill>
                <a:latin typeface="Consolas"/>
              </a:rPr>
              <a:t>,</a:t>
            </a:r>
          </a:p>
          <a:p>
            <a:pPr>
              <a:spcBef>
                <a:spcPts val="0"/>
              </a:spcBef>
              <a:spcAft>
                <a:spcPts val="0"/>
              </a:spcAft>
              <a:buNone/>
            </a:pPr>
            <a:r>
              <a:rPr lang="en-US" sz="1400" dirty="0">
                <a:solidFill>
                  <a:srgbClr val="D4D4D4"/>
                </a:solidFill>
                <a:latin typeface="Consolas"/>
              </a:rPr>
              <a:t>  </a:t>
            </a:r>
            <a:r>
              <a:rPr lang="en-US" sz="1400" dirty="0">
                <a:solidFill>
                  <a:srgbClr val="9CDCFE"/>
                </a:solidFill>
                <a:latin typeface="Consolas"/>
              </a:rPr>
              <a:t>"</a:t>
            </a:r>
            <a:r>
              <a:rPr lang="en-US" sz="1400" dirty="0" err="1">
                <a:solidFill>
                  <a:srgbClr val="9CDCFE"/>
                </a:solidFill>
                <a:latin typeface="Consolas"/>
              </a:rPr>
              <a:t>cardNumber</a:t>
            </a:r>
            <a:r>
              <a:rPr lang="en-US" sz="1400" dirty="0">
                <a:solidFill>
                  <a:srgbClr val="9CDCFE"/>
                </a:solidFill>
                <a:latin typeface="Consolas"/>
              </a:rPr>
              <a:t>"</a:t>
            </a:r>
            <a:r>
              <a:rPr lang="en-US" sz="1400" dirty="0">
                <a:solidFill>
                  <a:srgbClr val="D4D4D4"/>
                </a:solidFill>
                <a:latin typeface="Consolas"/>
              </a:rPr>
              <a:t>: </a:t>
            </a:r>
            <a:r>
              <a:rPr lang="en-US" sz="1400" dirty="0">
                <a:solidFill>
                  <a:srgbClr val="CE9178"/>
                </a:solidFill>
                <a:latin typeface="Consolas"/>
              </a:rPr>
              <a:t>"1234-5678“</a:t>
            </a:r>
          </a:p>
          <a:p>
            <a:pPr>
              <a:spcBef>
                <a:spcPts val="0"/>
              </a:spcBef>
              <a:spcAft>
                <a:spcPts val="0"/>
              </a:spcAft>
              <a:buNone/>
            </a:pPr>
            <a:r>
              <a:rPr lang="en-US" sz="1400" dirty="0">
                <a:solidFill>
                  <a:srgbClr val="D4D4D4"/>
                </a:solidFill>
                <a:latin typeface="Consolas"/>
              </a:rPr>
              <a:t>}</a:t>
            </a:r>
          </a:p>
          <a:p>
            <a:pPr>
              <a:spcBef>
                <a:spcPts val="0"/>
              </a:spcBef>
              <a:spcAft>
                <a:spcPts val="0"/>
              </a:spcAft>
              <a:buNone/>
            </a:pPr>
            <a:endParaRPr lang="en-US" sz="1400" dirty="0">
              <a:solidFill>
                <a:srgbClr val="D4D4D4"/>
              </a:solidFill>
              <a:latin typeface="Consolas"/>
            </a:endParaRPr>
          </a:p>
          <a:p>
            <a:pPr>
              <a:spcBef>
                <a:spcPts val="0"/>
              </a:spcBef>
              <a:spcAft>
                <a:spcPts val="0"/>
              </a:spcAft>
              <a:buNone/>
            </a:pPr>
            <a:r>
              <a:rPr lang="en-US" sz="1400" dirty="0">
                <a:solidFill>
                  <a:srgbClr val="6A9955"/>
                </a:solidFill>
                <a:latin typeface="Consolas"/>
              </a:rPr>
              <a:t>// Actual LLM output</a:t>
            </a:r>
          </a:p>
          <a:p>
            <a:pPr>
              <a:spcBef>
                <a:spcPts val="0"/>
              </a:spcBef>
              <a:spcAft>
                <a:spcPts val="0"/>
              </a:spcAft>
              <a:buNone/>
            </a:pPr>
            <a:r>
              <a:rPr lang="en-US" sz="1400" dirty="0">
                <a:solidFill>
                  <a:srgbClr val="FF6B6B"/>
                </a:solidFill>
                <a:latin typeface="Consolas"/>
              </a:rPr>
              <a:t>"{</a:t>
            </a:r>
          </a:p>
          <a:p>
            <a:pPr>
              <a:spcBef>
                <a:spcPts val="0"/>
              </a:spcBef>
              <a:spcAft>
                <a:spcPts val="0"/>
              </a:spcAft>
              <a:buNone/>
            </a:pPr>
            <a:r>
              <a:rPr lang="en-US" sz="1400" dirty="0">
                <a:solidFill>
                  <a:srgbClr val="FF6B6B"/>
                </a:solidFill>
                <a:latin typeface="Consolas"/>
              </a:rPr>
              <a:t>   \"type\":\"card\",</a:t>
            </a:r>
          </a:p>
          <a:p>
            <a:pPr>
              <a:spcBef>
                <a:spcPts val="0"/>
              </a:spcBef>
              <a:spcAft>
                <a:spcPts val="0"/>
              </a:spcAft>
              <a:buNone/>
            </a:pPr>
            <a:r>
              <a:rPr lang="en-US" sz="1400" dirty="0">
                <a:solidFill>
                  <a:srgbClr val="FF6B6B"/>
                </a:solidFill>
                <a:latin typeface="Consolas"/>
              </a:rPr>
              <a:t>   \"cardNumber\":\"1234-5678\“</a:t>
            </a:r>
          </a:p>
          <a:p>
            <a:pPr>
              <a:spcBef>
                <a:spcPts val="0"/>
              </a:spcBef>
              <a:spcAft>
                <a:spcPts val="0"/>
              </a:spcAft>
              <a:buNone/>
            </a:pPr>
            <a:r>
              <a:rPr lang="en-US" sz="1400" dirty="0">
                <a:solidFill>
                  <a:srgbClr val="FF6B6B"/>
                </a:solidFill>
                <a:latin typeface="Consolas"/>
              </a:rPr>
              <a:t>}"</a:t>
            </a:r>
          </a:p>
        </p:txBody>
      </p:sp>
      <p:sp>
        <p:nvSpPr>
          <p:cNvPr id="15" name="RH"/>
          <p:cNvSpPr/>
          <p:nvPr/>
        </p:nvSpPr>
        <p:spPr>
          <a:xfrm>
            <a:off x="6350000" y="1270000"/>
            <a:ext cx="5080000" cy="355600"/>
          </a:xfrm>
          <a:prstGeom prst="rect">
            <a:avLst/>
          </a:prstGeom>
          <a:noFill/>
          <a:ln>
            <a:noFill/>
          </a:ln>
        </p:spPr>
        <p:txBody>
          <a:bodyPr wrap="square" lIns="36000" tIns="36000" rIns="36000" bIns="36000"/>
          <a:lstStyle/>
          <a:p>
            <a:pPr algn="ctr">
              <a:buNone/>
            </a:pPr>
            <a:r>
              <a:rPr lang="en-US" sz="1800" b="1" dirty="0">
                <a:solidFill>
                  <a:srgbClr val="FFD93D"/>
                </a:solidFill>
                <a:latin typeface="Segoe UI Semibold"/>
              </a:rPr>
              <a:t>Type Definition</a:t>
            </a:r>
          </a:p>
        </p:txBody>
      </p:sp>
      <p:sp>
        <p:nvSpPr>
          <p:cNvPr id="16" name="RBg"/>
          <p:cNvSpPr/>
          <p:nvPr/>
        </p:nvSpPr>
        <p:spPr>
          <a:xfrm>
            <a:off x="6350000" y="1651000"/>
            <a:ext cx="5080000" cy="2286000"/>
          </a:xfrm>
          <a:prstGeom prst="rect">
            <a:avLst/>
          </a:prstGeom>
          <a:solidFill>
            <a:srgbClr val="0D1117"/>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Segoe UI" panose="020B0503020204020204"/>
              <a:ea typeface="+mn-ea"/>
              <a:cs typeface="+mn-cs"/>
            </a:endParaRPr>
          </a:p>
        </p:txBody>
      </p:sp>
      <p:sp>
        <p:nvSpPr>
          <p:cNvPr id="17" name="JSCode"/>
          <p:cNvSpPr/>
          <p:nvPr/>
        </p:nvSpPr>
        <p:spPr>
          <a:xfrm>
            <a:off x="6477000" y="1714500"/>
            <a:ext cx="4826000" cy="2159000"/>
          </a:xfrm>
          <a:prstGeom prst="rect">
            <a:avLst/>
          </a:prstGeom>
          <a:noFill/>
          <a:ln>
            <a:noFill/>
          </a:ln>
        </p:spPr>
        <p:txBody>
          <a:bodyPr wrap="square" lIns="36000" tIns="36000" rIns="36000" bIns="36000"/>
          <a:lstStyle/>
          <a:p>
            <a:pPr>
              <a:lnSpc>
                <a:spcPct val="100000"/>
              </a:lnSpc>
              <a:spcBef>
                <a:spcPts val="0"/>
              </a:spcBef>
              <a:spcAft>
                <a:spcPts val="0"/>
              </a:spcAft>
              <a:buNone/>
            </a:pPr>
            <a:r>
              <a:rPr lang="en-US" sz="1400" dirty="0">
                <a:solidFill>
                  <a:srgbClr val="6A9955"/>
                </a:solidFill>
                <a:latin typeface="Consolas"/>
              </a:rPr>
              <a:t>// Union type occurs double JSON stringified</a:t>
            </a:r>
            <a:endParaRPr lang="en-US" sz="1400" dirty="0">
              <a:solidFill>
                <a:srgbClr val="569CD6"/>
              </a:solidFill>
              <a:latin typeface="Consolas"/>
            </a:endParaRPr>
          </a:p>
          <a:p>
            <a:pPr>
              <a:lnSpc>
                <a:spcPct val="100000"/>
              </a:lnSpc>
              <a:spcBef>
                <a:spcPts val="0"/>
              </a:spcBef>
              <a:spcAft>
                <a:spcPts val="0"/>
              </a:spcAft>
              <a:buNone/>
            </a:pPr>
            <a:r>
              <a:rPr lang="en-US" sz="1400" dirty="0">
                <a:solidFill>
                  <a:srgbClr val="569CD6"/>
                </a:solidFill>
                <a:latin typeface="Consolas"/>
              </a:rPr>
              <a:t>type </a:t>
            </a:r>
            <a:r>
              <a:rPr lang="en-US" sz="1400" dirty="0">
                <a:solidFill>
                  <a:srgbClr val="4EC9B0"/>
                </a:solidFill>
                <a:latin typeface="Consolas"/>
              </a:rPr>
              <a:t>IPayment</a:t>
            </a:r>
            <a:r>
              <a:rPr lang="en-US" sz="1400" dirty="0">
                <a:solidFill>
                  <a:srgbClr val="D4D4D4"/>
                </a:solidFill>
                <a:latin typeface="Consolas"/>
              </a:rPr>
              <a:t> = </a:t>
            </a:r>
            <a:r>
              <a:rPr lang="en-US" sz="1400" dirty="0">
                <a:solidFill>
                  <a:srgbClr val="4EC9B0"/>
                </a:solidFill>
                <a:latin typeface="Consolas"/>
              </a:rPr>
              <a:t>ICardPayment</a:t>
            </a:r>
            <a:r>
              <a:rPr lang="en-US" sz="1400" dirty="0">
                <a:solidFill>
                  <a:srgbClr val="D4D4D4"/>
                </a:solidFill>
                <a:latin typeface="Consolas"/>
              </a:rPr>
              <a:t> | </a:t>
            </a:r>
            <a:r>
              <a:rPr lang="en-US" sz="1400" dirty="0">
                <a:solidFill>
                  <a:srgbClr val="4EC9B0"/>
                </a:solidFill>
                <a:latin typeface="Consolas"/>
              </a:rPr>
              <a:t>IBankPayment</a:t>
            </a:r>
            <a:r>
              <a:rPr lang="en-US" sz="1400" dirty="0">
                <a:solidFill>
                  <a:srgbClr val="D4D4D4"/>
                </a:solidFill>
                <a:latin typeface="Consolas"/>
              </a:rPr>
              <a:t>;</a:t>
            </a:r>
          </a:p>
          <a:p>
            <a:pPr>
              <a:lnSpc>
                <a:spcPct val="100000"/>
              </a:lnSpc>
              <a:spcBef>
                <a:spcPts val="0"/>
              </a:spcBef>
              <a:spcAft>
                <a:spcPts val="0"/>
              </a:spcAft>
              <a:buNone/>
            </a:pPr>
            <a:endParaRPr lang="en-US" sz="1400" dirty="0">
              <a:solidFill>
                <a:srgbClr val="D4D4D4"/>
              </a:solidFill>
              <a:latin typeface="Consolas"/>
            </a:endParaRPr>
          </a:p>
          <a:p>
            <a:pPr>
              <a:lnSpc>
                <a:spcPct val="100000"/>
              </a:lnSpc>
              <a:spcBef>
                <a:spcPts val="0"/>
              </a:spcBef>
              <a:spcAft>
                <a:spcPts val="0"/>
              </a:spcAft>
              <a:buNone/>
            </a:pPr>
            <a:r>
              <a:rPr lang="en-US" sz="1400" dirty="0">
                <a:solidFill>
                  <a:srgbClr val="569CD6"/>
                </a:solidFill>
                <a:latin typeface="Consolas"/>
              </a:rPr>
              <a:t>interface </a:t>
            </a:r>
            <a:r>
              <a:rPr lang="en-US" sz="1400" dirty="0">
                <a:solidFill>
                  <a:srgbClr val="4EC9B0"/>
                </a:solidFill>
                <a:latin typeface="Consolas"/>
              </a:rPr>
              <a:t>ICardPayment</a:t>
            </a:r>
            <a:r>
              <a:rPr lang="en-US" sz="1400" dirty="0">
                <a:solidFill>
                  <a:srgbClr val="D4D4D4"/>
                </a:solidFill>
                <a:latin typeface="Consolas"/>
              </a:rPr>
              <a:t> {</a:t>
            </a:r>
          </a:p>
          <a:p>
            <a:pPr>
              <a:lnSpc>
                <a:spcPct val="100000"/>
              </a:lnSpc>
              <a:spcBef>
                <a:spcPts val="0"/>
              </a:spcBef>
              <a:spcAft>
                <a:spcPts val="0"/>
              </a:spcAft>
              <a:buNone/>
            </a:pPr>
            <a:r>
              <a:rPr lang="en-US" sz="1400" dirty="0">
                <a:solidFill>
                  <a:srgbClr val="D4D4D4"/>
                </a:solidFill>
                <a:latin typeface="Consolas"/>
              </a:rPr>
              <a:t>  </a:t>
            </a:r>
            <a:r>
              <a:rPr lang="en-US" sz="1400" dirty="0">
                <a:solidFill>
                  <a:srgbClr val="9CDCFE"/>
                </a:solidFill>
                <a:latin typeface="Consolas"/>
              </a:rPr>
              <a:t>type</a:t>
            </a:r>
            <a:r>
              <a:rPr lang="en-US" sz="1400" dirty="0">
                <a:solidFill>
                  <a:srgbClr val="D4D4D4"/>
                </a:solidFill>
                <a:latin typeface="Consolas"/>
              </a:rPr>
              <a:t>: </a:t>
            </a:r>
            <a:r>
              <a:rPr lang="en-US" sz="1400" dirty="0">
                <a:solidFill>
                  <a:srgbClr val="CE9178"/>
                </a:solidFill>
                <a:latin typeface="Consolas"/>
              </a:rPr>
              <a:t>"card"</a:t>
            </a:r>
            <a:r>
              <a:rPr lang="en-US" sz="1400" dirty="0">
                <a:solidFill>
                  <a:srgbClr val="D4D4D4"/>
                </a:solidFill>
                <a:latin typeface="Consolas"/>
              </a:rPr>
              <a:t>;</a:t>
            </a:r>
          </a:p>
          <a:p>
            <a:pPr>
              <a:lnSpc>
                <a:spcPct val="100000"/>
              </a:lnSpc>
              <a:spcBef>
                <a:spcPts val="0"/>
              </a:spcBef>
              <a:spcAft>
                <a:spcPts val="0"/>
              </a:spcAft>
              <a:buNone/>
            </a:pPr>
            <a:r>
              <a:rPr lang="en-US" sz="1400" dirty="0">
                <a:solidFill>
                  <a:srgbClr val="D4D4D4"/>
                </a:solidFill>
                <a:latin typeface="Consolas"/>
              </a:rPr>
              <a:t>  </a:t>
            </a:r>
            <a:r>
              <a:rPr lang="en-US" sz="1400" dirty="0">
                <a:solidFill>
                  <a:srgbClr val="9CDCFE"/>
                </a:solidFill>
                <a:latin typeface="Consolas"/>
              </a:rPr>
              <a:t>cardNumber</a:t>
            </a:r>
            <a:r>
              <a:rPr lang="en-US" sz="1400" dirty="0">
                <a:solidFill>
                  <a:srgbClr val="D4D4D4"/>
                </a:solidFill>
                <a:latin typeface="Consolas"/>
              </a:rPr>
              <a:t>: </a:t>
            </a:r>
            <a:r>
              <a:rPr lang="en-US" sz="1400" dirty="0">
                <a:solidFill>
                  <a:srgbClr val="569CD6"/>
                </a:solidFill>
                <a:latin typeface="Consolas"/>
              </a:rPr>
              <a:t>string</a:t>
            </a:r>
            <a:r>
              <a:rPr lang="en-US" sz="1400" dirty="0">
                <a:solidFill>
                  <a:srgbClr val="D4D4D4"/>
                </a:solidFill>
                <a:latin typeface="Consolas"/>
              </a:rPr>
              <a:t>;</a:t>
            </a:r>
          </a:p>
          <a:p>
            <a:pPr>
              <a:lnSpc>
                <a:spcPct val="100000"/>
              </a:lnSpc>
              <a:spcBef>
                <a:spcPts val="0"/>
              </a:spcBef>
              <a:spcAft>
                <a:spcPts val="0"/>
              </a:spcAft>
              <a:buNone/>
            </a:pPr>
            <a:r>
              <a:rPr lang="en-US" sz="1400" dirty="0">
                <a:solidFill>
                  <a:srgbClr val="D4D4D4"/>
                </a:solidFill>
                <a:latin typeface="Consolas"/>
              </a:rPr>
              <a:t>}</a:t>
            </a:r>
          </a:p>
          <a:p>
            <a:pPr>
              <a:lnSpc>
                <a:spcPct val="100000"/>
              </a:lnSpc>
              <a:spcBef>
                <a:spcPts val="0"/>
              </a:spcBef>
              <a:spcAft>
                <a:spcPts val="0"/>
              </a:spcAft>
              <a:buNone/>
            </a:pPr>
            <a:endParaRPr lang="en-US" sz="1400" dirty="0">
              <a:solidFill>
                <a:srgbClr val="D4D4D4"/>
              </a:solidFill>
              <a:latin typeface="Consolas"/>
            </a:endParaRPr>
          </a:p>
          <a:p>
            <a:pPr>
              <a:lnSpc>
                <a:spcPct val="100000"/>
              </a:lnSpc>
              <a:spcBef>
                <a:spcPts val="0"/>
              </a:spcBef>
              <a:spcAft>
                <a:spcPts val="0"/>
              </a:spcAft>
              <a:buNone/>
            </a:pPr>
            <a:r>
              <a:rPr lang="en-US" sz="1400" dirty="0">
                <a:solidFill>
                  <a:srgbClr val="569CD6"/>
                </a:solidFill>
                <a:latin typeface="Consolas"/>
              </a:rPr>
              <a:t>interface </a:t>
            </a:r>
            <a:r>
              <a:rPr lang="en-US" sz="1400" dirty="0">
                <a:solidFill>
                  <a:srgbClr val="4EC9B0"/>
                </a:solidFill>
                <a:latin typeface="Consolas"/>
              </a:rPr>
              <a:t>IBankPayment</a:t>
            </a:r>
            <a:r>
              <a:rPr lang="en-US" sz="1400" dirty="0">
                <a:solidFill>
                  <a:srgbClr val="D4D4D4"/>
                </a:solidFill>
                <a:latin typeface="Consolas"/>
              </a:rPr>
              <a:t> {</a:t>
            </a:r>
          </a:p>
          <a:p>
            <a:pPr>
              <a:lnSpc>
                <a:spcPct val="100000"/>
              </a:lnSpc>
              <a:spcBef>
                <a:spcPts val="0"/>
              </a:spcBef>
              <a:spcAft>
                <a:spcPts val="0"/>
              </a:spcAft>
              <a:buNone/>
            </a:pPr>
            <a:r>
              <a:rPr lang="en-US" sz="1400" dirty="0">
                <a:solidFill>
                  <a:srgbClr val="D4D4D4"/>
                </a:solidFill>
                <a:latin typeface="Consolas"/>
              </a:rPr>
              <a:t>  </a:t>
            </a:r>
            <a:r>
              <a:rPr lang="en-US" sz="1400" dirty="0">
                <a:solidFill>
                  <a:srgbClr val="9CDCFE"/>
                </a:solidFill>
                <a:latin typeface="Consolas"/>
              </a:rPr>
              <a:t>type</a:t>
            </a:r>
            <a:r>
              <a:rPr lang="en-US" sz="1400" dirty="0">
                <a:solidFill>
                  <a:srgbClr val="D4D4D4"/>
                </a:solidFill>
                <a:latin typeface="Consolas"/>
              </a:rPr>
              <a:t>: </a:t>
            </a:r>
            <a:r>
              <a:rPr lang="en-US" sz="1400" dirty="0">
                <a:solidFill>
                  <a:srgbClr val="CE9178"/>
                </a:solidFill>
                <a:latin typeface="Consolas"/>
              </a:rPr>
              <a:t>"bank"</a:t>
            </a:r>
            <a:r>
              <a:rPr lang="en-US" sz="1400" dirty="0">
                <a:solidFill>
                  <a:srgbClr val="D4D4D4"/>
                </a:solidFill>
                <a:latin typeface="Consolas"/>
              </a:rPr>
              <a:t>;</a:t>
            </a:r>
          </a:p>
          <a:p>
            <a:pPr>
              <a:lnSpc>
                <a:spcPct val="100000"/>
              </a:lnSpc>
              <a:spcBef>
                <a:spcPts val="0"/>
              </a:spcBef>
              <a:spcAft>
                <a:spcPts val="0"/>
              </a:spcAft>
              <a:buNone/>
            </a:pPr>
            <a:r>
              <a:rPr lang="en-US" sz="1400" dirty="0">
                <a:solidFill>
                  <a:srgbClr val="D4D4D4"/>
                </a:solidFill>
                <a:latin typeface="Consolas"/>
              </a:rPr>
              <a:t>  </a:t>
            </a:r>
            <a:r>
              <a:rPr lang="en-US" sz="1400" dirty="0">
                <a:solidFill>
                  <a:srgbClr val="9CDCFE"/>
                </a:solidFill>
                <a:latin typeface="Consolas"/>
              </a:rPr>
              <a:t>accountNumber</a:t>
            </a:r>
            <a:r>
              <a:rPr lang="en-US" sz="1400" dirty="0">
                <a:solidFill>
                  <a:srgbClr val="D4D4D4"/>
                </a:solidFill>
                <a:latin typeface="Consolas"/>
              </a:rPr>
              <a:t>: </a:t>
            </a:r>
            <a:r>
              <a:rPr lang="en-US" sz="1400" dirty="0">
                <a:solidFill>
                  <a:srgbClr val="569CD6"/>
                </a:solidFill>
                <a:latin typeface="Consolas"/>
              </a:rPr>
              <a:t>string</a:t>
            </a:r>
            <a:r>
              <a:rPr lang="en-US" sz="1400" dirty="0">
                <a:solidFill>
                  <a:srgbClr val="D4D4D4"/>
                </a:solidFill>
                <a:latin typeface="Consolas"/>
              </a:rPr>
              <a:t>;</a:t>
            </a:r>
          </a:p>
          <a:p>
            <a:pPr>
              <a:lnSpc>
                <a:spcPct val="100000"/>
              </a:lnSpc>
              <a:spcBef>
                <a:spcPts val="0"/>
              </a:spcBef>
              <a:spcAft>
                <a:spcPts val="0"/>
              </a:spcAft>
              <a:buNone/>
            </a:pPr>
            <a:r>
              <a:rPr lang="en-US" sz="1400" dirty="0">
                <a:solidFill>
                  <a:srgbClr val="D4D4D4"/>
                </a:solidFill>
                <a:latin typeface="Consolas"/>
              </a:rPr>
              <a:t>}</a:t>
            </a:r>
          </a:p>
        </p:txBody>
      </p:sp>
      <p:sp>
        <p:nvSpPr>
          <p:cNvPr id="18" name="Arr"/>
          <p:cNvSpPr/>
          <p:nvPr/>
        </p:nvSpPr>
        <p:spPr>
          <a:xfrm>
            <a:off x="5867400" y="2540000"/>
            <a:ext cx="457200" cy="457200"/>
          </a:xfrm>
          <a:prstGeom prst="rect">
            <a:avLst/>
          </a:prstGeom>
          <a:noFill/>
          <a:ln>
            <a:noFill/>
          </a:ln>
        </p:spPr>
        <p:txBody>
          <a:bodyPr wrap="square" lIns="36000" tIns="36000" rIns="36000" bIns="3600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D4AA"/>
                </a:solidFill>
                <a:effectLst/>
                <a:uLnTx/>
                <a:uFillTx/>
                <a:latin typeface="Segoe UI"/>
                <a:ea typeface="+mn-ea"/>
                <a:cs typeface="+mn-cs"/>
              </a:rPr>
              <a:t>→</a:t>
            </a:r>
          </a:p>
        </p:txBody>
      </p:sp>
      <p:sp>
        <p:nvSpPr>
          <p:cNvPr id="2" name="AL">
            <a:extLst>
              <a:ext uri="{FF2B5EF4-FFF2-40B4-BE49-F238E27FC236}">
                <a16:creationId xmlns:a16="http://schemas.microsoft.com/office/drawing/2014/main" id="{202CEDE0-EA16-47C5-A9E7-C4A3984FF2DA}"/>
              </a:ext>
            </a:extLst>
          </p:cNvPr>
          <p:cNvSpPr/>
          <p:nvPr/>
        </p:nvSpPr>
        <p:spPr>
          <a:xfrm>
            <a:off x="762000" y="1041400"/>
            <a:ext cx="1524000" cy="38100"/>
          </a:xfrm>
          <a:prstGeom prst="rect">
            <a:avLst/>
          </a:prstGeom>
          <a:solidFill>
            <a:srgbClr val="00D4AA"/>
          </a:solidFill>
          <a:ln w="1905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D1117"/>
              </a:solidFill>
              <a:effectLst/>
              <a:uLnTx/>
              <a:uFillTx/>
              <a:latin typeface="Segoe UI" panose="020B0503020204020204"/>
              <a:ea typeface="+mn-ea"/>
              <a:cs typeface="+mn-cs"/>
            </a:endParaRPr>
          </a:p>
        </p:txBody>
      </p:sp>
      <p:sp>
        <p:nvSpPr>
          <p:cNvPr id="20" name="Desc"/>
          <p:cNvSpPr/>
          <p:nvPr/>
        </p:nvSpPr>
        <p:spPr>
          <a:xfrm>
            <a:off x="762000" y="4670322"/>
            <a:ext cx="10668000" cy="1806677"/>
          </a:xfrm>
          <a:prstGeom prst="rect">
            <a:avLst/>
          </a:prstGeom>
          <a:noFill/>
          <a:ln>
            <a:noFill/>
          </a:ln>
        </p:spPr>
        <p:txBody>
          <a:bodyPr wrap="square" lIns="72000" tIns="36000" rIns="72000" bIns="36000" anchor="t"/>
          <a:lstStyle/>
          <a:p>
            <a:pPr>
              <a:lnSpc>
                <a:spcPct val="115000"/>
              </a:lnSpc>
              <a:spcBef>
                <a:spcPts val="400"/>
              </a:spcBef>
              <a:buNone/>
            </a:pPr>
            <a:r>
              <a:rPr lang="en-US" sz="1600" dirty="0">
                <a:solidFill>
                  <a:srgbClr val="808080"/>
                </a:solidFill>
                <a:latin typeface="Segoe UI"/>
              </a:rPr>
              <a:t>•  </a:t>
            </a:r>
            <a:r>
              <a:rPr lang="en-US" sz="1600" dirty="0">
                <a:solidFill>
                  <a:srgbClr val="D0D0D0"/>
                </a:solidFill>
                <a:latin typeface="Segoe UI"/>
              </a:rPr>
              <a:t>LLM returns a </a:t>
            </a:r>
            <a:r>
              <a:rPr lang="en-US" sz="1600" b="1" dirty="0">
                <a:solidFill>
                  <a:srgbClr val="FF6B6B"/>
                </a:solidFill>
                <a:latin typeface="Segoe UI Semibold"/>
              </a:rPr>
              <a:t>string</a:t>
            </a:r>
            <a:r>
              <a:rPr lang="en-US" sz="1600" dirty="0">
                <a:solidFill>
                  <a:srgbClr val="D0D0D0"/>
                </a:solidFill>
                <a:latin typeface="Segoe UI"/>
              </a:rPr>
              <a:t> containing JSON — not the object itself</a:t>
            </a:r>
          </a:p>
          <a:p>
            <a:pPr>
              <a:lnSpc>
                <a:spcPct val="115000"/>
              </a:lnSpc>
              <a:spcBef>
                <a:spcPts val="400"/>
              </a:spcBef>
              <a:buNone/>
            </a:pPr>
            <a:r>
              <a:rPr lang="en-US" sz="1600" dirty="0">
                <a:solidFill>
                  <a:srgbClr val="808080"/>
                </a:solidFill>
                <a:latin typeface="Segoe UI"/>
              </a:rPr>
              <a:t>•  </a:t>
            </a:r>
            <a:r>
              <a:rPr lang="en-US" sz="1600" b="1" dirty="0">
                <a:solidFill>
                  <a:srgbClr val="FE9E00"/>
                </a:solidFill>
                <a:latin typeface="Segoe UI Semibold"/>
              </a:rPr>
              <a:t>Valid JSON</a:t>
            </a:r>
            <a:r>
              <a:rPr lang="en-US" sz="1600" dirty="0">
                <a:solidFill>
                  <a:srgbClr val="D0D0D0"/>
                </a:solidFill>
                <a:latin typeface="Segoe UI"/>
              </a:rPr>
              <a:t> — jsonrepair, dirty-json, LangChain all pass it through</a:t>
            </a:r>
          </a:p>
          <a:p>
            <a:pPr>
              <a:lnSpc>
                <a:spcPct val="115000"/>
              </a:lnSpc>
              <a:spcBef>
                <a:spcPts val="400"/>
              </a:spcBef>
              <a:buNone/>
            </a:pPr>
            <a:r>
              <a:rPr lang="en-US" sz="1600" dirty="0">
                <a:solidFill>
                  <a:srgbClr val="808080"/>
                </a:solidFill>
                <a:latin typeface="Segoe UI"/>
              </a:rPr>
              <a:t>•  </a:t>
            </a:r>
            <a:r>
              <a:rPr lang="en-US" sz="1600" dirty="0">
                <a:solidFill>
                  <a:srgbClr val="D0D0D0"/>
                </a:solidFill>
                <a:latin typeface="Segoe UI"/>
              </a:rPr>
              <a:t>Qwen 3.5: </a:t>
            </a:r>
            <a:r>
              <a:rPr lang="en-US" sz="1600" b="1" dirty="0">
                <a:solidFill>
                  <a:srgbClr val="FF6B6B"/>
                </a:solidFill>
                <a:latin typeface="Segoe UI Semibold"/>
              </a:rPr>
              <a:t>100%</a:t>
            </a:r>
            <a:r>
              <a:rPr lang="en-US" sz="1600" dirty="0">
                <a:solidFill>
                  <a:srgbClr val="D0D0D0"/>
                </a:solidFill>
                <a:latin typeface="Segoe UI"/>
              </a:rPr>
              <a:t> of </a:t>
            </a:r>
            <a:r>
              <a:rPr lang="en-US" sz="1600" u="sng" dirty="0">
                <a:solidFill>
                  <a:srgbClr val="D0D0D0"/>
                </a:solidFill>
                <a:latin typeface="Segoe UI"/>
              </a:rPr>
              <a:t>anyOf</a:t>
            </a:r>
            <a:r>
              <a:rPr lang="en-US" sz="1600" dirty="0">
                <a:solidFill>
                  <a:srgbClr val="D0D0D0"/>
                </a:solidFill>
                <a:latin typeface="Segoe UI"/>
              </a:rPr>
              <a:t> fields. Claude: same on </a:t>
            </a:r>
            <a:r>
              <a:rPr lang="en-US" sz="1600" u="sng" dirty="0">
                <a:solidFill>
                  <a:srgbClr val="D0D0D0"/>
                </a:solidFill>
                <a:latin typeface="Segoe UI"/>
              </a:rPr>
              <a:t>oneOf</a:t>
            </a:r>
          </a:p>
          <a:p>
            <a:pPr>
              <a:lnSpc>
                <a:spcPct val="115000"/>
              </a:lnSpc>
              <a:spcBef>
                <a:spcPts val="400"/>
              </a:spcBef>
              <a:buNone/>
            </a:pPr>
            <a:r>
              <a:rPr lang="en-US" sz="1600" dirty="0">
                <a:solidFill>
                  <a:srgbClr val="808080"/>
                </a:solidFill>
                <a:latin typeface="Segoe UI"/>
              </a:rPr>
              <a:t>•  </a:t>
            </a:r>
            <a:r>
              <a:rPr lang="en-US" sz="1600" dirty="0">
                <a:solidFill>
                  <a:srgbClr val="D0D0D0"/>
                </a:solidFill>
                <a:latin typeface="Segoe UI"/>
              </a:rPr>
              <a:t>Only </a:t>
            </a:r>
            <a:r>
              <a:rPr lang="en-US" sz="1600" b="1" dirty="0">
                <a:solidFill>
                  <a:srgbClr val="00D4AA"/>
                </a:solidFill>
                <a:latin typeface="Segoe UI Semibold"/>
              </a:rPr>
              <a:t>type-aware</a:t>
            </a:r>
            <a:r>
              <a:rPr lang="en-US" sz="1600" dirty="0">
                <a:solidFill>
                  <a:srgbClr val="D0D0D0"/>
                </a:solidFill>
                <a:latin typeface="Segoe UI"/>
              </a:rPr>
              <a:t> parsing can detect and unwrap it</a:t>
            </a:r>
          </a:p>
        </p:txBody>
      </p:sp>
    </p:spTree>
    <p:extLst>
      <p:ext uri="{BB962C8B-B14F-4D97-AF65-F5344CB8AC3E}">
        <p14:creationId xmlns:p14="http://schemas.microsoft.com/office/powerpoint/2010/main" val="19529743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DarkBg">
            <a:extLst>
              <a:ext uri="{FF2B5EF4-FFF2-40B4-BE49-F238E27FC236}">
                <a16:creationId xmlns:a16="http://schemas.microsoft.com/office/drawing/2014/main" id="{9A19F7BE-8E98-4792-93FA-813F56ED5601}"/>
              </a:ext>
            </a:extLst>
          </p:cNvPr>
          <p:cNvSpPr/>
          <p:nvPr/>
        </p:nvSpPr>
        <p:spPr>
          <a:xfrm>
            <a:off x="0" y="0"/>
            <a:ext cx="12192000" cy="6858000"/>
          </a:xfrm>
          <a:prstGeom prst="rect">
            <a:avLst/>
          </a:prstGeom>
          <a:solidFill>
            <a:srgbClr val="1A1A2E"/>
          </a:solidFill>
          <a:ln w="1905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0" name="T"/>
          <p:cNvSpPr/>
          <p:nvPr/>
        </p:nvSpPr>
        <p:spPr>
          <a:xfrm>
            <a:off x="762000" y="317500"/>
            <a:ext cx="10668000" cy="508000"/>
          </a:xfrm>
          <a:prstGeom prst="rect">
            <a:avLst/>
          </a:prstGeom>
          <a:noFill/>
          <a:ln>
            <a:noFill/>
          </a:ln>
        </p:spPr>
        <p:txBody>
          <a:bodyPr wrap="square" lIns="0" tIns="0" rIns="0" bIns="0"/>
          <a:lstStyle/>
          <a:p>
            <a:pPr marL="0" indent="0" algn="l">
              <a:buNone/>
            </a:pPr>
            <a:r>
              <a:rPr lang="en-US" sz="2400" b="1" dirty="0">
                <a:ln>
                  <a:noFill/>
                </a:ln>
                <a:solidFill>
                  <a:srgbClr val="F0F0F0"/>
                </a:solidFill>
                <a:latin typeface="Segoe UI Semibold"/>
                <a:ea typeface="+mn-ea"/>
                <a:cs typeface="+mn-cs"/>
              </a:rPr>
              <a:t>Seven Sins in One Output</a:t>
            </a:r>
          </a:p>
        </p:txBody>
      </p:sp>
      <p:sp>
        <p:nvSpPr>
          <p:cNvPr id="201" name="Sub"/>
          <p:cNvSpPr/>
          <p:nvPr/>
        </p:nvSpPr>
        <p:spPr>
          <a:xfrm>
            <a:off x="762000" y="965200"/>
            <a:ext cx="10668000" cy="317500"/>
          </a:xfrm>
          <a:prstGeom prst="rect">
            <a:avLst/>
          </a:prstGeom>
          <a:noFill/>
          <a:ln>
            <a:noFill/>
          </a:ln>
        </p:spPr>
        <p:txBody>
          <a:bodyPr wrap="square" lIns="0" tIns="0" rIns="0" bIns="0"/>
          <a:lstStyle/>
          <a:p>
            <a:pPr marL="0" indent="0" algn="l">
              <a:buNone/>
            </a:pPr>
            <a:r>
              <a:rPr lang="en-US" sz="1800" dirty="0">
                <a:ln>
                  <a:noFill/>
                </a:ln>
                <a:solidFill>
                  <a:srgbClr val="808080"/>
                </a:solidFill>
                <a:latin typeface="Segoe UI"/>
                <a:ea typeface="+mn-ea"/>
                <a:cs typeface="+mn-cs"/>
              </a:rPr>
              <a:t>Markdown wrapper, prefix text, wrong types, incomplete keywords, unclosed brackets</a:t>
            </a:r>
          </a:p>
        </p:txBody>
      </p:sp>
      <p:sp>
        <p:nvSpPr>
          <p:cNvPr id="202" name="CodeBg"/>
          <p:cNvSpPr/>
          <p:nvPr/>
        </p:nvSpPr>
        <p:spPr>
          <a:xfrm>
            <a:off x="508000" y="1333500"/>
            <a:ext cx="11176000" cy="4445000"/>
          </a:xfrm>
          <a:prstGeom prst="roundRect">
            <a:avLst>
              <a:gd name="adj" fmla="val 3000"/>
            </a:avLst>
          </a:prstGeom>
          <a:solidFill>
            <a:srgbClr val="1E1E1E"/>
          </a:solidFill>
          <a:ln>
            <a:noFill/>
          </a:ln>
        </p:spPr>
        <p:txBody>
          <a:bodyPr/>
          <a:lstStyle/>
          <a:p>
            <a:endParaRPr lang="en-US"/>
          </a:p>
        </p:txBody>
      </p:sp>
      <p:sp>
        <p:nvSpPr>
          <p:cNvPr id="203" name="Code"/>
          <p:cNvSpPr/>
          <p:nvPr/>
        </p:nvSpPr>
        <p:spPr>
          <a:xfrm>
            <a:off x="762000" y="1460500"/>
            <a:ext cx="10795000" cy="4191000"/>
          </a:xfrm>
          <a:prstGeom prst="rect">
            <a:avLst/>
          </a:prstGeom>
          <a:noFill/>
          <a:ln>
            <a:noFill/>
          </a:ln>
        </p:spPr>
        <p:txBody>
          <a:bodyPr wrap="square" lIns="0" tIns="0" rIns="0" bIns="0"/>
          <a:lstStyle/>
          <a:p>
            <a:r>
              <a:rPr lang="en-US" sz="1400" dirty="0">
                <a:solidFill>
                  <a:srgbClr val="569CD6"/>
                </a:solidFill>
                <a:latin typeface="Consolas"/>
              </a:rPr>
              <a:t>const </a:t>
            </a:r>
            <a:r>
              <a:rPr lang="en-US" sz="1400" dirty="0">
                <a:solidFill>
                  <a:srgbClr val="D4D4D4"/>
                </a:solidFill>
                <a:latin typeface="Consolas"/>
              </a:rPr>
              <a:t>llmOutput = </a:t>
            </a:r>
            <a:r>
              <a:rPr lang="en-US" sz="1400" dirty="0">
                <a:solidFill>
                  <a:srgbClr val="CE9178"/>
                </a:solidFill>
                <a:latin typeface="Consolas"/>
              </a:rPr>
              <a:t>`</a:t>
            </a:r>
          </a:p>
          <a:p>
            <a:r>
              <a:rPr lang="en-US" sz="1400" dirty="0">
                <a:solidFill>
                  <a:srgbClr val="CE9178"/>
                </a:solidFill>
                <a:latin typeface="Consolas"/>
              </a:rPr>
              <a:t>  I'd be happy to help! </a:t>
            </a:r>
            <a:r>
              <a:rPr lang="en-US" sz="1400" dirty="0">
                <a:solidFill>
                  <a:srgbClr val="6A9955"/>
                </a:solidFill>
                <a:latin typeface="Consolas"/>
              </a:rPr>
              <a:t>← 1. prefix text</a:t>
            </a:r>
          </a:p>
          <a:p>
            <a:endParaRPr lang="en-US" sz="1400" dirty="0">
              <a:solidFill>
                <a:srgbClr val="6A9955"/>
              </a:solidFill>
              <a:latin typeface="Consolas"/>
            </a:endParaRPr>
          </a:p>
          <a:p>
            <a:r>
              <a:rPr lang="en-US" sz="1400" dirty="0">
                <a:solidFill>
                  <a:srgbClr val="CE9178"/>
                </a:solidFill>
                <a:latin typeface="Consolas"/>
              </a:rPr>
              <a:t>  ```</a:t>
            </a:r>
            <a:r>
              <a:rPr lang="en-US" sz="1400" dirty="0" err="1">
                <a:solidFill>
                  <a:srgbClr val="CE9178"/>
                </a:solidFill>
                <a:latin typeface="Consolas"/>
              </a:rPr>
              <a:t>json</a:t>
            </a:r>
            <a:r>
              <a:rPr lang="en-US" sz="1400" dirty="0">
                <a:solidFill>
                  <a:srgbClr val="6A9955"/>
                </a:solidFill>
                <a:latin typeface="Consolas"/>
              </a:rPr>
              <a:t> ← 1. markdown block</a:t>
            </a:r>
          </a:p>
          <a:p>
            <a:r>
              <a:rPr lang="en-US" sz="1400" dirty="0">
                <a:solidFill>
                  <a:srgbClr val="CE9178"/>
                </a:solidFill>
                <a:latin typeface="Consolas"/>
              </a:rPr>
              <a:t>  {</a:t>
            </a:r>
          </a:p>
          <a:p>
            <a:r>
              <a:rPr lang="en-US" sz="1400" dirty="0">
                <a:solidFill>
                  <a:srgbClr val="CE9178"/>
                </a:solidFill>
                <a:latin typeface="Consolas"/>
              </a:rPr>
              <a:t>    "order": {</a:t>
            </a:r>
          </a:p>
          <a:p>
            <a:r>
              <a:rPr lang="en-US" sz="1400" dirty="0">
                <a:solidFill>
                  <a:srgbClr val="CE9178"/>
                </a:solidFill>
                <a:latin typeface="Consolas"/>
              </a:rPr>
              <a:t>      "payment": </a:t>
            </a:r>
            <a:r>
              <a:rPr lang="en-US" sz="1400" dirty="0">
                <a:solidFill>
                  <a:srgbClr val="FF6B6B"/>
                </a:solidFill>
                <a:latin typeface="Consolas"/>
              </a:rPr>
              <a:t>"{\"type\":\"card\“, </a:t>
            </a:r>
            <a:r>
              <a:rPr lang="en-US" sz="1400" dirty="0" err="1">
                <a:solidFill>
                  <a:srgbClr val="FF6B6B"/>
                </a:solidFill>
                <a:latin typeface="Consolas"/>
              </a:rPr>
              <a:t>cardNumber</a:t>
            </a:r>
            <a:r>
              <a:rPr lang="en-US" sz="1400" dirty="0">
                <a:solidFill>
                  <a:srgbClr val="FF6B6B"/>
                </a:solidFill>
                <a:latin typeface="Consolas"/>
              </a:rPr>
              <a:t>: “\1234"</a:t>
            </a:r>
            <a:r>
              <a:rPr lang="en-US" sz="1400" dirty="0">
                <a:solidFill>
                  <a:srgbClr val="6A9955"/>
                </a:solidFill>
                <a:latin typeface="Consolas"/>
              </a:rPr>
              <a:t>  ← 2. double-stringify, but broken</a:t>
            </a:r>
          </a:p>
          <a:p>
            <a:r>
              <a:rPr lang="en-US" sz="1400" dirty="0">
                <a:solidFill>
                  <a:srgbClr val="CE9178"/>
                </a:solidFill>
                <a:latin typeface="Consolas"/>
              </a:rPr>
              <a:t>      "product": {</a:t>
            </a:r>
          </a:p>
          <a:p>
            <a:r>
              <a:rPr lang="en-US" sz="1400" dirty="0">
                <a:solidFill>
                  <a:srgbClr val="FF6B6B"/>
                </a:solidFill>
                <a:latin typeface="Consolas"/>
              </a:rPr>
              <a:t>        name</a:t>
            </a:r>
            <a:r>
              <a:rPr lang="en-US" sz="1400" dirty="0">
                <a:solidFill>
                  <a:srgbClr val="CE9178"/>
                </a:solidFill>
                <a:latin typeface="Consolas"/>
              </a:rPr>
              <a:t>: "Laptop",</a:t>
            </a:r>
            <a:r>
              <a:rPr lang="en-US" sz="1400" dirty="0">
                <a:solidFill>
                  <a:srgbClr val="6A9955"/>
                </a:solidFill>
                <a:latin typeface="Consolas"/>
              </a:rPr>
              <a:t>    ← 3. unquoted key</a:t>
            </a:r>
          </a:p>
          <a:p>
            <a:r>
              <a:rPr lang="en-US" sz="1400" dirty="0">
                <a:solidFill>
                  <a:srgbClr val="CE9178"/>
                </a:solidFill>
                <a:latin typeface="Consolas"/>
              </a:rPr>
              <a:t>        price: </a:t>
            </a:r>
            <a:r>
              <a:rPr lang="en-US" sz="1400" dirty="0">
                <a:solidFill>
                  <a:srgbClr val="FF6B6B"/>
                </a:solidFill>
                <a:latin typeface="Consolas"/>
              </a:rPr>
              <a:t>“1299.99”</a:t>
            </a:r>
            <a:r>
              <a:rPr lang="en-US" sz="1400" dirty="0">
                <a:solidFill>
                  <a:srgbClr val="CE9178"/>
                </a:solidFill>
                <a:latin typeface="Consolas"/>
              </a:rPr>
              <a:t>,</a:t>
            </a:r>
            <a:r>
              <a:rPr lang="en-US" sz="1400" dirty="0">
                <a:solidFill>
                  <a:srgbClr val="6A9955"/>
                </a:solidFill>
                <a:latin typeface="Consolas"/>
              </a:rPr>
              <a:t>  ← 3. </a:t>
            </a:r>
            <a:r>
              <a:rPr lang="en-US" altLang="ko-KR" sz="1400" dirty="0">
                <a:solidFill>
                  <a:srgbClr val="6A9955"/>
                </a:solidFill>
                <a:latin typeface="Consolas"/>
              </a:rPr>
              <a:t>not number</a:t>
            </a:r>
            <a:endParaRPr lang="en-US" sz="1400" dirty="0">
              <a:solidFill>
                <a:srgbClr val="6A9955"/>
              </a:solidFill>
              <a:latin typeface="Consolas"/>
            </a:endParaRPr>
          </a:p>
          <a:p>
            <a:r>
              <a:rPr lang="en-US" sz="1400" dirty="0">
                <a:solidFill>
                  <a:srgbClr val="CE9178"/>
                </a:solidFill>
                <a:latin typeface="Consolas"/>
              </a:rPr>
              <a:t>        quantity: 2</a:t>
            </a:r>
            <a:r>
              <a:rPr lang="en-US" sz="1400" dirty="0">
                <a:solidFill>
                  <a:srgbClr val="FF6B6B"/>
                </a:solidFill>
                <a:latin typeface="Consolas"/>
              </a:rPr>
              <a:t>,</a:t>
            </a:r>
            <a:r>
              <a:rPr lang="en-US" sz="1400" dirty="0">
                <a:solidFill>
                  <a:srgbClr val="6A9955"/>
                </a:solidFill>
                <a:latin typeface="Consolas"/>
              </a:rPr>
              <a:t>       ← 3. trailing comma</a:t>
            </a:r>
          </a:p>
          <a:p>
            <a:r>
              <a:rPr lang="en-US" sz="1400" dirty="0">
                <a:solidFill>
                  <a:srgbClr val="CE9178"/>
                </a:solidFill>
                <a:latin typeface="Consolas"/>
              </a:rPr>
              <a:t>      },</a:t>
            </a:r>
          </a:p>
          <a:p>
            <a:r>
              <a:rPr lang="en-US" sz="1400" dirty="0">
                <a:solidFill>
                  <a:srgbClr val="CE9178"/>
                </a:solidFill>
                <a:latin typeface="Consolas"/>
              </a:rPr>
              <a:t>      "customer": {</a:t>
            </a:r>
          </a:p>
          <a:p>
            <a:r>
              <a:rPr lang="en-US" sz="1400" dirty="0">
                <a:solidFill>
                  <a:srgbClr val="CE9178"/>
                </a:solidFill>
                <a:latin typeface="Consolas"/>
              </a:rPr>
              <a:t>        vip: </a:t>
            </a:r>
            <a:r>
              <a:rPr lang="en-US" sz="1400" dirty="0" err="1">
                <a:solidFill>
                  <a:srgbClr val="CE9178"/>
                </a:solidFill>
                <a:latin typeface="Consolas"/>
              </a:rPr>
              <a:t>tru</a:t>
            </a:r>
            <a:r>
              <a:rPr lang="en-US" sz="1400" dirty="0">
                <a:solidFill>
                  <a:srgbClr val="6A9955"/>
                </a:solidFill>
                <a:latin typeface="Consolas"/>
              </a:rPr>
              <a:t> ← 4. incomplete keyword</a:t>
            </a:r>
          </a:p>
          <a:p>
            <a:r>
              <a:rPr lang="en-US" sz="1400" dirty="0">
                <a:solidFill>
                  <a:srgbClr val="6A9955"/>
                </a:solidFill>
                <a:latin typeface="Consolas"/>
              </a:rPr>
              <a:t>  ← 4. unclosed brackets</a:t>
            </a:r>
          </a:p>
          <a:p>
            <a:r>
              <a:rPr lang="en-US" sz="1400" dirty="0">
                <a:solidFill>
                  <a:srgbClr val="6A9955"/>
                </a:solidFill>
                <a:latin typeface="Consolas"/>
              </a:rPr>
              <a:t>  ← 4. unclosed markdown block</a:t>
            </a:r>
          </a:p>
          <a:p>
            <a:r>
              <a:rPr lang="en-US" sz="1400" dirty="0">
                <a:solidFill>
                  <a:srgbClr val="CE9178"/>
                </a:solidFill>
                <a:latin typeface="Consolas"/>
              </a:rPr>
              <a:t>`</a:t>
            </a:r>
            <a:r>
              <a:rPr lang="en-US" sz="1400" dirty="0">
                <a:solidFill>
                  <a:srgbClr val="D4D4D4"/>
                </a:solidFill>
                <a:latin typeface="Consolas"/>
              </a:rPr>
              <a:t>;</a:t>
            </a:r>
          </a:p>
          <a:p>
            <a:endParaRPr lang="en-US" sz="1400" dirty="0">
              <a:solidFill>
                <a:srgbClr val="D4D4D4"/>
              </a:solidFill>
              <a:latin typeface="Consolas"/>
            </a:endParaRPr>
          </a:p>
          <a:p>
            <a:r>
              <a:rPr lang="en-US" sz="1400" dirty="0">
                <a:solidFill>
                  <a:srgbClr val="569CD6"/>
                </a:solidFill>
                <a:latin typeface="Consolas"/>
              </a:rPr>
              <a:t>const </a:t>
            </a:r>
            <a:r>
              <a:rPr lang="en-US" sz="1400" dirty="0">
                <a:solidFill>
                  <a:srgbClr val="D4D4D4"/>
                </a:solidFill>
                <a:latin typeface="Consolas"/>
              </a:rPr>
              <a:t>result = func</a:t>
            </a:r>
            <a:r>
              <a:rPr lang="en-US" sz="1400" dirty="0">
                <a:solidFill>
                  <a:srgbClr val="9CDCFE"/>
                </a:solidFill>
                <a:latin typeface="Consolas"/>
              </a:rPr>
              <a:t>.parse</a:t>
            </a:r>
            <a:r>
              <a:rPr lang="en-US" sz="1400" dirty="0">
                <a:solidFill>
                  <a:srgbClr val="D4D4D4"/>
                </a:solidFill>
                <a:latin typeface="Consolas"/>
              </a:rPr>
              <a:t>(llmOutput);</a:t>
            </a:r>
            <a:r>
              <a:rPr lang="en-US" sz="1400" dirty="0">
                <a:solidFill>
                  <a:srgbClr val="4EC9B0"/>
                </a:solidFill>
                <a:latin typeface="Consolas"/>
              </a:rPr>
              <a:t> // ✓ all 7 fixed</a:t>
            </a:r>
          </a:p>
        </p:txBody>
      </p:sp>
      <p:sp>
        <p:nvSpPr>
          <p:cNvPr id="204" name="Badge"/>
          <p:cNvSpPr/>
          <p:nvPr/>
        </p:nvSpPr>
        <p:spPr>
          <a:xfrm>
            <a:off x="1270000" y="5969000"/>
            <a:ext cx="9652000" cy="508000"/>
          </a:xfrm>
          <a:prstGeom prst="rect">
            <a:avLst/>
          </a:prstGeom>
          <a:noFill/>
          <a:ln>
            <a:noFill/>
          </a:ln>
        </p:spPr>
        <p:txBody>
          <a:bodyPr wrap="square" anchor="ctr" anchorCtr="1"/>
          <a:lstStyle/>
          <a:p>
            <a:pPr marL="0" indent="0" algn="ctr">
              <a:buNone/>
            </a:pPr>
            <a:r>
              <a:rPr lang="en-US" sz="1800" b="1" dirty="0">
                <a:ln>
                  <a:noFill/>
                </a:ln>
                <a:solidFill>
                  <a:srgbClr val="A6B727"/>
                </a:solidFill>
                <a:latin typeface="Segoe UI Semibold"/>
                <a:ea typeface="+mn-ea"/>
                <a:cs typeface="+mn-cs"/>
              </a:rPr>
              <a:t>One call to func.parse()</a:t>
            </a:r>
            <a:r>
              <a:rPr lang="en-US" sz="1800" dirty="0">
                <a:ln>
                  <a:noFill/>
                </a:ln>
                <a:solidFill>
                  <a:srgbClr val="A0A0A0"/>
                </a:solidFill>
                <a:latin typeface="Segoe UI"/>
                <a:ea typeface="+mn-ea"/>
                <a:cs typeface="+mn-cs"/>
              </a:rPr>
              <a:t>  —  all 7 problems fixed, zero model changes</a:t>
            </a:r>
          </a:p>
        </p:txBody>
      </p:sp>
      <p:sp>
        <p:nvSpPr>
          <p:cNvPr id="3" name="AL">
            <a:extLst>
              <a:ext uri="{FF2B5EF4-FFF2-40B4-BE49-F238E27FC236}">
                <a16:creationId xmlns:a16="http://schemas.microsoft.com/office/drawing/2014/main" id="{5DF2FFDE-C7D0-496E-96EF-59AE99EE4224}"/>
              </a:ext>
            </a:extLst>
          </p:cNvPr>
          <p:cNvSpPr/>
          <p:nvPr/>
        </p:nvSpPr>
        <p:spPr>
          <a:xfrm>
            <a:off x="762000" y="863600"/>
            <a:ext cx="1524000" cy="38100"/>
          </a:xfrm>
          <a:prstGeom prst="rect">
            <a:avLst/>
          </a:prstGeom>
          <a:solidFill>
            <a:srgbClr val="00D4AA"/>
          </a:solidFill>
          <a:ln w="1905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22869798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A1A2E">
            <a:alpha val="100000"/>
          </a:srgbClr>
        </a:solidFill>
        <a:effectLst/>
      </p:bgPr>
    </p:bg>
    <p:spTree>
      <p:nvGrpSpPr>
        <p:cNvPr id="1" name=""/>
        <p:cNvGrpSpPr/>
        <p:nvPr/>
      </p:nvGrpSpPr>
      <p:grpSpPr>
        <a:xfrm>
          <a:off x="0" y="0"/>
          <a:ext cx="0" cy="0"/>
          <a:chOff x="0" y="0"/>
          <a:chExt cx="0" cy="0"/>
        </a:xfrm>
      </p:grpSpPr>
      <p:sp>
        <p:nvSpPr>
          <p:cNvPr id="2" name="DarkBg">
            <a:extLst>
              <a:ext uri="{FF2B5EF4-FFF2-40B4-BE49-F238E27FC236}">
                <a16:creationId xmlns:a16="http://schemas.microsoft.com/office/drawing/2014/main" id="{298AA57F-AEB2-4790-A8B7-B62A0F532266}"/>
              </a:ext>
            </a:extLst>
          </p:cNvPr>
          <p:cNvSpPr/>
          <p:nvPr/>
        </p:nvSpPr>
        <p:spPr>
          <a:xfrm>
            <a:off x="0" y="0"/>
            <a:ext cx="12192000" cy="6858000"/>
          </a:xfrm>
          <a:prstGeom prst="rect">
            <a:avLst/>
          </a:prstGeom>
          <a:solidFill>
            <a:srgbClr val="1A1A2E"/>
          </a:solidFill>
          <a:ln w="1905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0" name="T"/>
          <p:cNvSpPr/>
          <p:nvPr/>
        </p:nvSpPr>
        <p:spPr>
          <a:xfrm>
            <a:off x="762000" y="317500"/>
            <a:ext cx="10668000" cy="508000"/>
          </a:xfrm>
          <a:prstGeom prst="rect">
            <a:avLst/>
          </a:prstGeom>
          <a:noFill/>
          <a:ln>
            <a:noFill/>
          </a:ln>
        </p:spPr>
        <p:txBody>
          <a:bodyPr wrap="square" lIns="0" tIns="0" rIns="0" bIns="0"/>
          <a:lstStyle/>
          <a:p>
            <a:pPr marL="0" indent="0" algn="l">
              <a:buNone/>
            </a:pPr>
            <a:r>
              <a:rPr lang="en-US" sz="2400" b="1" dirty="0">
                <a:ln>
                  <a:noFill/>
                </a:ln>
                <a:solidFill>
                  <a:srgbClr val="F0F0F0"/>
                </a:solidFill>
                <a:latin typeface="Segoe UI Semibold"/>
                <a:ea typeface="+mn-ea"/>
                <a:cs typeface="+mn-cs"/>
              </a:rPr>
              <a:t>Validation Feedback</a:t>
            </a:r>
          </a:p>
        </p:txBody>
      </p:sp>
      <p:sp>
        <p:nvSpPr>
          <p:cNvPr id="201" name="Sub"/>
          <p:cNvSpPr/>
          <p:nvPr/>
        </p:nvSpPr>
        <p:spPr>
          <a:xfrm>
            <a:off x="762000" y="965200"/>
            <a:ext cx="10668000" cy="317500"/>
          </a:xfrm>
          <a:prstGeom prst="rect">
            <a:avLst/>
          </a:prstGeom>
          <a:noFill/>
          <a:ln>
            <a:noFill/>
          </a:ln>
        </p:spPr>
        <p:txBody>
          <a:bodyPr wrap="square" lIns="0" tIns="0" rIns="0" bIns="0"/>
          <a:lstStyle/>
          <a:p>
            <a:pPr marL="0" indent="0" algn="l">
              <a:buNone/>
            </a:pPr>
            <a:r>
              <a:rPr lang="en-US" sz="1800" dirty="0">
                <a:ln>
                  <a:noFill/>
                </a:ln>
                <a:solidFill>
                  <a:srgbClr val="808080"/>
                </a:solidFill>
                <a:latin typeface="Segoe UI"/>
                <a:ea typeface="+mn-ea"/>
                <a:cs typeface="+mn-cs"/>
              </a:rPr>
              <a:t>The LLM sees exactly where it went wrong — on its own JSON</a:t>
            </a:r>
          </a:p>
        </p:txBody>
      </p:sp>
      <p:sp>
        <p:nvSpPr>
          <p:cNvPr id="202" name="CodeBg"/>
          <p:cNvSpPr/>
          <p:nvPr/>
        </p:nvSpPr>
        <p:spPr>
          <a:xfrm>
            <a:off x="508000" y="1333500"/>
            <a:ext cx="11176000" cy="4445000"/>
          </a:xfrm>
          <a:prstGeom prst="roundRect">
            <a:avLst>
              <a:gd name="adj" fmla="val 3000"/>
            </a:avLst>
          </a:prstGeom>
          <a:solidFill>
            <a:srgbClr val="1E1E1E"/>
          </a:solidFill>
          <a:ln>
            <a:noFill/>
          </a:ln>
        </p:spPr>
        <p:txBody>
          <a:bodyPr/>
          <a:lstStyle/>
          <a:p>
            <a:endParaRPr lang="en-US"/>
          </a:p>
        </p:txBody>
      </p:sp>
      <p:sp>
        <p:nvSpPr>
          <p:cNvPr id="203" name="Code"/>
          <p:cNvSpPr/>
          <p:nvPr/>
        </p:nvSpPr>
        <p:spPr>
          <a:xfrm>
            <a:off x="762000" y="1460500"/>
            <a:ext cx="10795000" cy="4254500"/>
          </a:xfrm>
          <a:prstGeom prst="rect">
            <a:avLst/>
          </a:prstGeom>
          <a:noFill/>
          <a:ln>
            <a:noFill/>
          </a:ln>
        </p:spPr>
        <p:txBody>
          <a:bodyPr wrap="square" lIns="0" tIns="0" rIns="0" bIns="0"/>
          <a:lstStyle/>
          <a:p>
            <a:r>
              <a:rPr lang="en-US" sz="1400" dirty="0">
                <a:solidFill>
                  <a:srgbClr val="D4D4D4"/>
                </a:solidFill>
                <a:latin typeface="Consolas"/>
              </a:rPr>
              <a:t>{</a:t>
            </a:r>
          </a:p>
          <a:p>
            <a:r>
              <a:rPr lang="en-US" sz="1400" dirty="0">
                <a:solidFill>
                  <a:srgbClr val="D4D4D4"/>
                </a:solidFill>
                <a:latin typeface="Consolas"/>
              </a:rPr>
              <a:t>  </a:t>
            </a:r>
            <a:r>
              <a:rPr lang="en-US" sz="1400" dirty="0">
                <a:solidFill>
                  <a:srgbClr val="9CDCFE"/>
                </a:solidFill>
                <a:latin typeface="Consolas"/>
              </a:rPr>
              <a:t>"order"</a:t>
            </a:r>
            <a:r>
              <a:rPr lang="en-US" sz="1400" dirty="0">
                <a:solidFill>
                  <a:srgbClr val="D4D4D4"/>
                </a:solidFill>
                <a:latin typeface="Consolas"/>
              </a:rPr>
              <a:t>: {</a:t>
            </a:r>
          </a:p>
          <a:p>
            <a:r>
              <a:rPr lang="en-US" sz="1400" dirty="0">
                <a:solidFill>
                  <a:srgbClr val="D4D4D4"/>
                </a:solidFill>
                <a:latin typeface="Consolas"/>
              </a:rPr>
              <a:t>    </a:t>
            </a:r>
            <a:r>
              <a:rPr lang="en-US" sz="1400" dirty="0">
                <a:solidFill>
                  <a:srgbClr val="9CDCFE"/>
                </a:solidFill>
                <a:latin typeface="Consolas"/>
              </a:rPr>
              <a:t>"payment"</a:t>
            </a:r>
            <a:r>
              <a:rPr lang="en-US" sz="1400" dirty="0">
                <a:solidFill>
                  <a:srgbClr val="D4D4D4"/>
                </a:solidFill>
                <a:latin typeface="Consolas"/>
              </a:rPr>
              <a:t>: {</a:t>
            </a:r>
          </a:p>
          <a:p>
            <a:r>
              <a:rPr lang="en-US" sz="1400" dirty="0">
                <a:solidFill>
                  <a:srgbClr val="D4D4D4"/>
                </a:solidFill>
                <a:latin typeface="Consolas"/>
              </a:rPr>
              <a:t>      </a:t>
            </a:r>
            <a:r>
              <a:rPr lang="en-US" sz="1400" dirty="0">
                <a:solidFill>
                  <a:srgbClr val="9CDCFE"/>
                </a:solidFill>
                <a:latin typeface="Consolas"/>
              </a:rPr>
              <a:t>"type"</a:t>
            </a:r>
            <a:r>
              <a:rPr lang="en-US" sz="1400" dirty="0">
                <a:solidFill>
                  <a:srgbClr val="D4D4D4"/>
                </a:solidFill>
                <a:latin typeface="Consolas"/>
              </a:rPr>
              <a:t>: </a:t>
            </a:r>
            <a:r>
              <a:rPr lang="en-US" sz="1400" dirty="0">
                <a:solidFill>
                  <a:srgbClr val="CE9178"/>
                </a:solidFill>
                <a:latin typeface="Consolas"/>
              </a:rPr>
              <a:t>"card"</a:t>
            </a:r>
            <a:r>
              <a:rPr lang="en-US" sz="1400" dirty="0">
                <a:solidFill>
                  <a:srgbClr val="D4D4D4"/>
                </a:solidFill>
                <a:latin typeface="Consolas"/>
              </a:rPr>
              <a:t>,</a:t>
            </a:r>
          </a:p>
          <a:p>
            <a:r>
              <a:rPr lang="en-US" sz="1400" dirty="0">
                <a:solidFill>
                  <a:srgbClr val="D4D4D4"/>
                </a:solidFill>
                <a:latin typeface="Consolas"/>
              </a:rPr>
              <a:t>      </a:t>
            </a:r>
            <a:r>
              <a:rPr lang="en-US" sz="1400" dirty="0">
                <a:solidFill>
                  <a:srgbClr val="9CDCFE"/>
                </a:solidFill>
                <a:latin typeface="Consolas"/>
              </a:rPr>
              <a:t>"cardNumber"</a:t>
            </a:r>
            <a:r>
              <a:rPr lang="en-US" sz="1400" dirty="0">
                <a:solidFill>
                  <a:srgbClr val="D4D4D4"/>
                </a:solidFill>
                <a:latin typeface="Consolas"/>
              </a:rPr>
              <a:t>: </a:t>
            </a:r>
            <a:r>
              <a:rPr lang="en-US" sz="1400" dirty="0">
                <a:solidFill>
                  <a:srgbClr val="B5CEA8"/>
                </a:solidFill>
                <a:latin typeface="Consolas"/>
              </a:rPr>
              <a:t>12345678 </a:t>
            </a:r>
            <a:r>
              <a:rPr lang="en-US" sz="1400" dirty="0">
                <a:solidFill>
                  <a:srgbClr val="FF6B6B"/>
                </a:solidFill>
                <a:latin typeface="Consolas"/>
              </a:rPr>
              <a:t>// ❌ [{"path":"$input.order.payment.cardNumber","expected":"string"}]</a:t>
            </a:r>
          </a:p>
          <a:p>
            <a:r>
              <a:rPr lang="en-US" sz="1400" dirty="0">
                <a:solidFill>
                  <a:srgbClr val="D4D4D4"/>
                </a:solidFill>
                <a:latin typeface="Consolas"/>
              </a:rPr>
              <a:t>    },</a:t>
            </a:r>
          </a:p>
          <a:p>
            <a:r>
              <a:rPr lang="en-US" sz="1400" dirty="0">
                <a:solidFill>
                  <a:srgbClr val="D4D4D4"/>
                </a:solidFill>
                <a:latin typeface="Consolas"/>
              </a:rPr>
              <a:t>    </a:t>
            </a:r>
            <a:r>
              <a:rPr lang="en-US" sz="1400" dirty="0">
                <a:solidFill>
                  <a:srgbClr val="9CDCFE"/>
                </a:solidFill>
                <a:latin typeface="Consolas"/>
              </a:rPr>
              <a:t>"product"</a:t>
            </a:r>
            <a:r>
              <a:rPr lang="en-US" sz="1400" dirty="0">
                <a:solidFill>
                  <a:srgbClr val="D4D4D4"/>
                </a:solidFill>
                <a:latin typeface="Consolas"/>
              </a:rPr>
              <a:t>: {</a:t>
            </a:r>
          </a:p>
          <a:p>
            <a:r>
              <a:rPr lang="en-US" sz="1400" dirty="0">
                <a:solidFill>
                  <a:srgbClr val="D4D4D4"/>
                </a:solidFill>
                <a:latin typeface="Consolas"/>
              </a:rPr>
              <a:t>      </a:t>
            </a:r>
            <a:r>
              <a:rPr lang="en-US" sz="1400" dirty="0">
                <a:solidFill>
                  <a:srgbClr val="9CDCFE"/>
                </a:solidFill>
                <a:latin typeface="Consolas"/>
              </a:rPr>
              <a:t>"name"</a:t>
            </a:r>
            <a:r>
              <a:rPr lang="en-US" sz="1400" dirty="0">
                <a:solidFill>
                  <a:srgbClr val="D4D4D4"/>
                </a:solidFill>
                <a:latin typeface="Consolas"/>
              </a:rPr>
              <a:t>: </a:t>
            </a:r>
            <a:r>
              <a:rPr lang="en-US" sz="1400" dirty="0">
                <a:solidFill>
                  <a:srgbClr val="CE9178"/>
                </a:solidFill>
                <a:latin typeface="Consolas"/>
              </a:rPr>
              <a:t>"Laptop"</a:t>
            </a:r>
            <a:r>
              <a:rPr lang="en-US" sz="1400" dirty="0">
                <a:solidFill>
                  <a:srgbClr val="D4D4D4"/>
                </a:solidFill>
                <a:latin typeface="Consolas"/>
              </a:rPr>
              <a:t>,</a:t>
            </a:r>
          </a:p>
          <a:p>
            <a:r>
              <a:rPr lang="en-US" sz="1400" dirty="0">
                <a:solidFill>
                  <a:srgbClr val="D4D4D4"/>
                </a:solidFill>
                <a:latin typeface="Consolas"/>
              </a:rPr>
              <a:t>      </a:t>
            </a:r>
            <a:r>
              <a:rPr lang="en-US" sz="1400" dirty="0">
                <a:solidFill>
                  <a:srgbClr val="9CDCFE"/>
                </a:solidFill>
                <a:latin typeface="Consolas"/>
              </a:rPr>
              <a:t>"price"</a:t>
            </a:r>
            <a:r>
              <a:rPr lang="en-US" sz="1400" dirty="0">
                <a:solidFill>
                  <a:srgbClr val="D4D4D4"/>
                </a:solidFill>
                <a:latin typeface="Consolas"/>
              </a:rPr>
              <a:t>: </a:t>
            </a:r>
            <a:r>
              <a:rPr lang="en-US" sz="1400" dirty="0">
                <a:solidFill>
                  <a:srgbClr val="B5CEA8"/>
                </a:solidFill>
                <a:latin typeface="Consolas"/>
              </a:rPr>
              <a:t>-100, </a:t>
            </a:r>
            <a:r>
              <a:rPr lang="en-US" sz="1400" dirty="0">
                <a:solidFill>
                  <a:srgbClr val="FF6B6B"/>
                </a:solidFill>
                <a:latin typeface="Consolas"/>
              </a:rPr>
              <a:t>// ❌ [{"path":"$input.order.product.price","expected":"number &amp; Minimum&lt;0&gt;"}]</a:t>
            </a:r>
          </a:p>
          <a:p>
            <a:r>
              <a:rPr lang="en-US" sz="1400" dirty="0">
                <a:solidFill>
                  <a:srgbClr val="D4D4D4"/>
                </a:solidFill>
                <a:latin typeface="Consolas"/>
              </a:rPr>
              <a:t>      </a:t>
            </a:r>
            <a:r>
              <a:rPr lang="en-US" sz="1400" dirty="0">
                <a:solidFill>
                  <a:srgbClr val="9CDCFE"/>
                </a:solidFill>
                <a:latin typeface="Consolas"/>
              </a:rPr>
              <a:t>"quantity"</a:t>
            </a:r>
            <a:r>
              <a:rPr lang="en-US" sz="1400" dirty="0">
                <a:solidFill>
                  <a:srgbClr val="D4D4D4"/>
                </a:solidFill>
                <a:latin typeface="Consolas"/>
              </a:rPr>
              <a:t>: </a:t>
            </a:r>
            <a:r>
              <a:rPr lang="en-US" sz="1400" dirty="0">
                <a:solidFill>
                  <a:srgbClr val="B5CEA8"/>
                </a:solidFill>
                <a:latin typeface="Consolas"/>
              </a:rPr>
              <a:t>2.5 </a:t>
            </a:r>
            <a:r>
              <a:rPr lang="en-US" sz="1400" dirty="0">
                <a:solidFill>
                  <a:srgbClr val="FF6B6B"/>
                </a:solidFill>
                <a:latin typeface="Consolas"/>
              </a:rPr>
              <a:t>// ❌ [{"path":"$input.order.product.quantity","expected":"number &amp; Type&lt;\"uint32\"&gt;"}]</a:t>
            </a:r>
          </a:p>
          <a:p>
            <a:r>
              <a:rPr lang="en-US" sz="1400" dirty="0">
                <a:solidFill>
                  <a:srgbClr val="D4D4D4"/>
                </a:solidFill>
                <a:latin typeface="Consolas"/>
              </a:rPr>
              <a:t>    },</a:t>
            </a:r>
          </a:p>
          <a:p>
            <a:r>
              <a:rPr lang="en-US" sz="1400" dirty="0">
                <a:solidFill>
                  <a:srgbClr val="D4D4D4"/>
                </a:solidFill>
                <a:latin typeface="Consolas"/>
              </a:rPr>
              <a:t>    </a:t>
            </a:r>
            <a:r>
              <a:rPr lang="en-US" sz="1400" dirty="0">
                <a:solidFill>
                  <a:srgbClr val="9CDCFE"/>
                </a:solidFill>
                <a:latin typeface="Consolas"/>
              </a:rPr>
              <a:t>"customer"</a:t>
            </a:r>
            <a:r>
              <a:rPr lang="en-US" sz="1400" dirty="0">
                <a:solidFill>
                  <a:srgbClr val="D4D4D4"/>
                </a:solidFill>
                <a:latin typeface="Consolas"/>
              </a:rPr>
              <a:t>: {</a:t>
            </a:r>
          </a:p>
          <a:p>
            <a:r>
              <a:rPr lang="en-US" sz="1400" dirty="0">
                <a:solidFill>
                  <a:srgbClr val="D4D4D4"/>
                </a:solidFill>
                <a:latin typeface="Consolas"/>
              </a:rPr>
              <a:t>      </a:t>
            </a:r>
            <a:r>
              <a:rPr lang="en-US" sz="1400" dirty="0">
                <a:solidFill>
                  <a:srgbClr val="9CDCFE"/>
                </a:solidFill>
                <a:latin typeface="Consolas"/>
              </a:rPr>
              <a:t>"name"</a:t>
            </a:r>
            <a:r>
              <a:rPr lang="en-US" sz="1400" dirty="0">
                <a:solidFill>
                  <a:srgbClr val="D4D4D4"/>
                </a:solidFill>
                <a:latin typeface="Consolas"/>
              </a:rPr>
              <a:t>: </a:t>
            </a:r>
            <a:r>
              <a:rPr lang="en-US" sz="1400" dirty="0">
                <a:solidFill>
                  <a:srgbClr val="CE9178"/>
                </a:solidFill>
                <a:latin typeface="Consolas"/>
              </a:rPr>
              <a:t>"John Doe"</a:t>
            </a:r>
            <a:r>
              <a:rPr lang="en-US" sz="1400" dirty="0">
                <a:solidFill>
                  <a:srgbClr val="D4D4D4"/>
                </a:solidFill>
                <a:latin typeface="Consolas"/>
              </a:rPr>
              <a:t>,</a:t>
            </a:r>
          </a:p>
          <a:p>
            <a:r>
              <a:rPr lang="en-US" sz="1400" dirty="0">
                <a:solidFill>
                  <a:srgbClr val="D4D4D4"/>
                </a:solidFill>
                <a:latin typeface="Consolas"/>
              </a:rPr>
              <a:t>      </a:t>
            </a:r>
            <a:r>
              <a:rPr lang="en-US" sz="1400" dirty="0">
                <a:solidFill>
                  <a:srgbClr val="9CDCFE"/>
                </a:solidFill>
                <a:latin typeface="Consolas"/>
              </a:rPr>
              <a:t>"email"</a:t>
            </a:r>
            <a:r>
              <a:rPr lang="en-US" sz="1400" dirty="0">
                <a:solidFill>
                  <a:srgbClr val="D4D4D4"/>
                </a:solidFill>
                <a:latin typeface="Consolas"/>
              </a:rPr>
              <a:t>: </a:t>
            </a:r>
            <a:r>
              <a:rPr lang="en-US" sz="1400" dirty="0">
                <a:solidFill>
                  <a:srgbClr val="CE9178"/>
                </a:solidFill>
                <a:latin typeface="Consolas"/>
              </a:rPr>
              <a:t>"invalid-email", </a:t>
            </a:r>
            <a:r>
              <a:rPr lang="en-US" sz="1400" dirty="0">
                <a:solidFill>
                  <a:srgbClr val="FF6B6B"/>
                </a:solidFill>
                <a:latin typeface="Consolas"/>
              </a:rPr>
              <a:t>// ❌ [{"path":"$input.order.customer.email","expected":"string &amp; Format&lt;\"email\"&gt;"}]</a:t>
            </a:r>
          </a:p>
          <a:p>
            <a:r>
              <a:rPr lang="en-US" sz="1400" dirty="0">
                <a:solidFill>
                  <a:srgbClr val="D4D4D4"/>
                </a:solidFill>
                <a:latin typeface="Consolas"/>
              </a:rPr>
              <a:t>      </a:t>
            </a:r>
            <a:r>
              <a:rPr lang="en-US" sz="1400" dirty="0">
                <a:solidFill>
                  <a:srgbClr val="9CDCFE"/>
                </a:solidFill>
                <a:latin typeface="Consolas"/>
              </a:rPr>
              <a:t>"vip"</a:t>
            </a:r>
            <a:r>
              <a:rPr lang="en-US" sz="1400" dirty="0">
                <a:solidFill>
                  <a:srgbClr val="D4D4D4"/>
                </a:solidFill>
                <a:latin typeface="Consolas"/>
              </a:rPr>
              <a:t>: </a:t>
            </a:r>
            <a:r>
              <a:rPr lang="en-US" sz="1400" dirty="0">
                <a:solidFill>
                  <a:srgbClr val="CE9178"/>
                </a:solidFill>
                <a:latin typeface="Consolas"/>
              </a:rPr>
              <a:t>"yes" </a:t>
            </a:r>
            <a:r>
              <a:rPr lang="en-US" sz="1400" dirty="0">
                <a:solidFill>
                  <a:srgbClr val="FF6B6B"/>
                </a:solidFill>
                <a:latin typeface="Consolas"/>
              </a:rPr>
              <a:t>// ❌ [{"path":"$input.order.customer.vip","expected":"boolean"}]</a:t>
            </a:r>
          </a:p>
          <a:p>
            <a:r>
              <a:rPr lang="en-US" sz="1400" dirty="0">
                <a:solidFill>
                  <a:srgbClr val="D4D4D4"/>
                </a:solidFill>
                <a:latin typeface="Consolas"/>
              </a:rPr>
              <a:t>    }</a:t>
            </a:r>
          </a:p>
          <a:p>
            <a:r>
              <a:rPr lang="en-US" sz="1400" dirty="0">
                <a:solidFill>
                  <a:srgbClr val="D4D4D4"/>
                </a:solidFill>
                <a:latin typeface="Consolas"/>
              </a:rPr>
              <a:t>  }</a:t>
            </a:r>
          </a:p>
          <a:p>
            <a:r>
              <a:rPr lang="en-US" sz="1400" dirty="0">
                <a:solidFill>
                  <a:srgbClr val="D4D4D4"/>
                </a:solidFill>
                <a:latin typeface="Consolas"/>
              </a:rPr>
              <a:t>}</a:t>
            </a:r>
          </a:p>
        </p:txBody>
      </p:sp>
      <p:sp>
        <p:nvSpPr>
          <p:cNvPr id="204" name="Badge"/>
          <p:cNvSpPr/>
          <p:nvPr/>
        </p:nvSpPr>
        <p:spPr>
          <a:xfrm>
            <a:off x="1270000" y="5969000"/>
            <a:ext cx="9652000" cy="508000"/>
          </a:xfrm>
          <a:prstGeom prst="rect">
            <a:avLst/>
          </a:prstGeom>
          <a:noFill/>
          <a:ln>
            <a:noFill/>
          </a:ln>
        </p:spPr>
        <p:txBody>
          <a:bodyPr wrap="square" anchor="ctr" anchorCtr="1"/>
          <a:lstStyle/>
          <a:p>
            <a:pPr marL="0" indent="0" algn="ctr">
              <a:buNone/>
            </a:pPr>
            <a:r>
              <a:rPr lang="en-US" sz="1800" b="1" dirty="0">
                <a:ln>
                  <a:noFill/>
                </a:ln>
                <a:solidFill>
                  <a:srgbClr val="DF5327"/>
                </a:solidFill>
                <a:latin typeface="Segoe UI Semibold"/>
                <a:ea typeface="+mn-ea"/>
                <a:cs typeface="+mn-cs"/>
              </a:rPr>
              <a:t>5 errors, 5 exact paths</a:t>
            </a:r>
            <a:r>
              <a:rPr lang="en-US" sz="1800" dirty="0">
                <a:ln>
                  <a:noFill/>
                </a:ln>
                <a:solidFill>
                  <a:srgbClr val="A0A0A0"/>
                </a:solidFill>
                <a:latin typeface="Segoe UI"/>
                <a:ea typeface="+mn-ea"/>
                <a:cs typeface="+mn-cs"/>
              </a:rPr>
              <a:t>  —  fix only what’s broken, keep everything else</a:t>
            </a:r>
          </a:p>
        </p:txBody>
      </p:sp>
      <p:sp>
        <p:nvSpPr>
          <p:cNvPr id="3" name="AL">
            <a:extLst>
              <a:ext uri="{FF2B5EF4-FFF2-40B4-BE49-F238E27FC236}">
                <a16:creationId xmlns:a16="http://schemas.microsoft.com/office/drawing/2014/main" id="{5AAB71ED-8F04-4FD9-9941-57A8837F6261}"/>
              </a:ext>
            </a:extLst>
          </p:cNvPr>
          <p:cNvSpPr/>
          <p:nvPr/>
        </p:nvSpPr>
        <p:spPr>
          <a:xfrm>
            <a:off x="762000" y="863600"/>
            <a:ext cx="1524000" cy="38100"/>
          </a:xfrm>
          <a:prstGeom prst="rect">
            <a:avLst/>
          </a:prstGeom>
          <a:solidFill>
            <a:srgbClr val="00D4AA"/>
          </a:solidFill>
          <a:ln w="1905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41122088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24024-5850-4C2B-1D47-1E40A9357DA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FB0B2D8-6AAF-F6FA-71CE-16D43D3F6F4F}"/>
              </a:ext>
            </a:extLst>
          </p:cNvPr>
          <p:cNvSpPr>
            <a:spLocks noGrp="1"/>
          </p:cNvSpPr>
          <p:nvPr>
            <p:ph type="title"/>
          </p:nvPr>
        </p:nvSpPr>
        <p:spPr/>
        <p:txBody>
          <a:bodyPr/>
          <a:lstStyle/>
          <a:p>
            <a:pPr>
              <a:buNone/>
            </a:pPr>
            <a:r>
              <a:rPr lang="en-US" sz="2800" b="1" dirty="0">
                <a:solidFill>
                  <a:srgbClr val="222222"/>
                </a:solidFill>
                <a:latin typeface="Segoe UI Semibold"/>
              </a:rPr>
              <a:t>The Only Compiler-Level Solution</a:t>
            </a:r>
          </a:p>
        </p:txBody>
      </p:sp>
      <p:sp>
        <p:nvSpPr>
          <p:cNvPr id="3" name="내용 개체 틀 2">
            <a:extLst>
              <a:ext uri="{FF2B5EF4-FFF2-40B4-BE49-F238E27FC236}">
                <a16:creationId xmlns:a16="http://schemas.microsoft.com/office/drawing/2014/main" id="{B5B743BA-3E45-D5E4-43F6-0E70D319E0DE}"/>
              </a:ext>
            </a:extLst>
          </p:cNvPr>
          <p:cNvSpPr>
            <a:spLocks noGrp="1"/>
          </p:cNvSpPr>
          <p:nvPr>
            <p:ph idx="1"/>
          </p:nvPr>
        </p:nvSpPr>
        <p:spPr/>
        <p:txBody>
          <a:bodyPr/>
          <a:lstStyle/>
          <a:p>
            <a:pPr>
              <a:buNone/>
            </a:pPr>
            <a:r>
              <a:rPr lang="en-US" sz="1800" dirty="0">
                <a:solidFill>
                  <a:srgbClr val="555555"/>
                </a:solidFill>
                <a:latin typeface="Segoe UI"/>
              </a:rPr>
              <a:t>Typia is the only framework that operates at the compiler level</a:t>
            </a:r>
          </a:p>
          <a:p>
            <a:pPr>
              <a:buNone/>
            </a:pPr>
            <a:r>
              <a:rPr lang="en-US" sz="1800" dirty="0">
                <a:solidFill>
                  <a:srgbClr val="555555"/>
                </a:solidFill>
                <a:latin typeface="Segoe UI"/>
              </a:rPr>
              <a:t>and supports all four in a single integrated pipeline:</a:t>
            </a:r>
          </a:p>
          <a:p>
            <a:pPr>
              <a:buNone/>
            </a:pPr>
            <a:endParaRPr lang="en-US" sz="1400" dirty="0"/>
          </a:p>
          <a:p>
            <a:pPr marL="457200" indent="-457200">
              <a:buFont typeface="Segoe UI Semibold"/>
              <a:buAutoNum type="arabicPeriod"/>
            </a:pPr>
            <a:r>
              <a:rPr lang="en-US" sz="2000" b="1" dirty="0">
                <a:solidFill>
                  <a:srgbClr val="222222"/>
                </a:solidFill>
                <a:latin typeface="Segoe UI Semibold"/>
              </a:rPr>
              <a:t>Schema Generation</a:t>
            </a:r>
            <a:r>
              <a:rPr lang="en-US" sz="2000" dirty="0">
                <a:solidFill>
                  <a:srgbClr val="555555"/>
                </a:solidFill>
                <a:latin typeface="Segoe UI"/>
              </a:rPr>
              <a:t>  —  from TypeScript types at compile time</a:t>
            </a:r>
          </a:p>
          <a:p>
            <a:pPr marL="457200" indent="-457200">
              <a:buFont typeface="Segoe UI Semibold"/>
              <a:buAutoNum type="arabicPeriod"/>
            </a:pPr>
            <a:r>
              <a:rPr lang="en-US" sz="2000" b="1" dirty="0">
                <a:solidFill>
                  <a:srgbClr val="222222"/>
                </a:solidFill>
                <a:latin typeface="Segoe UI Semibold"/>
              </a:rPr>
              <a:t>Lenient Parsing</a:t>
            </a:r>
            <a:r>
              <a:rPr lang="en-US" sz="2000" dirty="0">
                <a:solidFill>
                  <a:srgbClr val="555555"/>
                </a:solidFill>
                <a:latin typeface="Segoe UI"/>
              </a:rPr>
              <a:t>  —  broken JSON recovery + type coercion</a:t>
            </a:r>
          </a:p>
          <a:p>
            <a:pPr marL="457200" indent="-457200">
              <a:buFont typeface="Segoe UI Semibold"/>
              <a:buAutoNum type="arabicPeriod"/>
            </a:pPr>
            <a:r>
              <a:rPr lang="en-US" sz="2000" b="1" dirty="0">
                <a:solidFill>
                  <a:srgbClr val="222222"/>
                </a:solidFill>
                <a:latin typeface="Segoe UI Semibold"/>
              </a:rPr>
              <a:t>Validation</a:t>
            </a:r>
            <a:r>
              <a:rPr lang="en-US" sz="2000" dirty="0">
                <a:solidFill>
                  <a:srgbClr val="555555"/>
                </a:solidFill>
                <a:latin typeface="Segoe UI"/>
              </a:rPr>
              <a:t>  —  exact path + expected type for every error</a:t>
            </a:r>
          </a:p>
          <a:p>
            <a:pPr marL="457200" indent="-457200">
              <a:buFont typeface="Segoe UI Semibold"/>
              <a:buAutoNum type="arabicPeriod"/>
            </a:pPr>
            <a:r>
              <a:rPr lang="en-US" sz="2000" b="1" dirty="0">
                <a:solidFill>
                  <a:srgbClr val="222222"/>
                </a:solidFill>
                <a:latin typeface="Segoe UI Semibold"/>
              </a:rPr>
              <a:t>Feedback Generation</a:t>
            </a:r>
            <a:r>
              <a:rPr lang="en-US" sz="2000" dirty="0">
                <a:solidFill>
                  <a:srgbClr val="555555"/>
                </a:solidFill>
                <a:latin typeface="Segoe UI"/>
              </a:rPr>
              <a:t>  —  LLM-readable structured error report</a:t>
            </a:r>
          </a:p>
          <a:p>
            <a:pPr>
              <a:buNone/>
            </a:pPr>
            <a:endParaRPr lang="en-US" sz="1400" dirty="0"/>
          </a:p>
        </p:txBody>
      </p:sp>
    </p:spTree>
    <p:extLst>
      <p:ext uri="{BB962C8B-B14F-4D97-AF65-F5344CB8AC3E}">
        <p14:creationId xmlns:p14="http://schemas.microsoft.com/office/powerpoint/2010/main" val="37388980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13ACF9C-9335-A922-EC24-515B0C39B9CD}"/>
              </a:ext>
            </a:extLst>
          </p:cNvPr>
          <p:cNvSpPr>
            <a:spLocks noGrp="1"/>
          </p:cNvSpPr>
          <p:nvPr>
            <p:ph type="title"/>
          </p:nvPr>
        </p:nvSpPr>
        <p:spPr/>
        <p:txBody>
          <a:bodyPr/>
          <a:lstStyle/>
          <a:p>
            <a:r>
              <a:rPr lang="en-US" dirty="0"/>
              <a:t>Harness Engineering: AutoBe + Typia</a:t>
            </a:r>
          </a:p>
        </p:txBody>
      </p:sp>
      <p:sp>
        <p:nvSpPr>
          <p:cNvPr id="3" name="내용 개체 틀 2">
            <a:extLst>
              <a:ext uri="{FF2B5EF4-FFF2-40B4-BE49-F238E27FC236}">
                <a16:creationId xmlns:a16="http://schemas.microsoft.com/office/drawing/2014/main" id="{3E6D3964-0D57-8F46-B5DC-780FA61A0563}"/>
              </a:ext>
            </a:extLst>
          </p:cNvPr>
          <p:cNvSpPr>
            <a:spLocks noGrp="1"/>
          </p:cNvSpPr>
          <p:nvPr>
            <p:ph idx="1"/>
          </p:nvPr>
        </p:nvSpPr>
        <p:spPr/>
        <p:txBody>
          <a:bodyPr>
            <a:normAutofit fontScale="92500" lnSpcReduction="20000"/>
          </a:bodyPr>
          <a:lstStyle/>
          <a:p>
            <a:pPr>
              <a:buNone/>
            </a:pPr>
            <a:r>
              <a:rPr lang="en-US" sz="1800" b="1" dirty="0"/>
              <a:t>Typia Layer (Function Calling level)</a:t>
            </a:r>
          </a:p>
          <a:p>
            <a:pPr>
              <a:buFont typeface="Arial"/>
              <a:buChar char="•"/>
            </a:pPr>
            <a:r>
              <a:rPr lang="en-US" sz="1800" dirty="0"/>
              <a:t>Type → auto schema generation</a:t>
            </a:r>
          </a:p>
          <a:p>
            <a:pPr>
              <a:buFont typeface="Arial"/>
              <a:buChar char="•"/>
            </a:pPr>
            <a:r>
              <a:rPr lang="en-US" sz="1800" dirty="0"/>
              <a:t>Broken JSON recovery (lenient parsing)</a:t>
            </a:r>
          </a:p>
          <a:p>
            <a:pPr>
              <a:buFont typeface="Arial"/>
              <a:buChar char="•"/>
            </a:pPr>
            <a:r>
              <a:rPr lang="en-US" sz="1800" dirty="0"/>
              <a:t>Schema-based type coercion</a:t>
            </a:r>
          </a:p>
          <a:p>
            <a:pPr>
              <a:buFont typeface="Arial"/>
              <a:buChar char="•"/>
            </a:pPr>
            <a:r>
              <a:rPr lang="en-US" sz="1800" dirty="0"/>
              <a:t>Precise error feedback (validation feedback)</a:t>
            </a:r>
          </a:p>
          <a:p>
            <a:pPr>
              <a:buNone/>
            </a:pPr>
            <a:endParaRPr lang="en-US" sz="800" dirty="0"/>
          </a:p>
          <a:p>
            <a:pPr>
              <a:buNone/>
            </a:pPr>
            <a:r>
              <a:rPr lang="en-US" sz="1800" b="1" dirty="0"/>
              <a:t>AutoBe Layer (system level)</a:t>
            </a:r>
          </a:p>
          <a:p>
            <a:pPr>
              <a:buFont typeface="Arial"/>
              <a:buChar char="•"/>
            </a:pPr>
            <a:r>
              <a:rPr lang="en-US" sz="1800" dirty="0"/>
              <a:t>4 AST types + 4-tier compiler validation</a:t>
            </a:r>
          </a:p>
          <a:p>
            <a:pPr>
              <a:buFont typeface="Arial"/>
              <a:buChar char="•"/>
            </a:pPr>
            <a:r>
              <a:rPr lang="en-US" sz="1800" dirty="0"/>
              <a:t>Self-healing loops (diagnostics → correction)</a:t>
            </a:r>
          </a:p>
          <a:p>
            <a:pPr>
              <a:buFont typeface="Arial"/>
              <a:buChar char="•"/>
            </a:pPr>
            <a:r>
              <a:rPr lang="en-US" sz="1800" dirty="0"/>
              <a:t>40+ agent collaboration + batch + prompt caching</a:t>
            </a:r>
          </a:p>
          <a:p>
            <a:pPr>
              <a:buNone/>
            </a:pPr>
            <a:endParaRPr lang="en-US" sz="800" dirty="0"/>
          </a:p>
          <a:p>
            <a:pPr>
              <a:buNone/>
            </a:pPr>
            <a:r>
              <a:rPr lang="en-US" sz="1800" b="1" dirty="0"/>
              <a:t>Typia makes FC I/O robust. AutoBe ensures system-wide consistency. Together = the harness.</a:t>
            </a:r>
          </a:p>
        </p:txBody>
      </p:sp>
    </p:spTree>
    <p:extLst>
      <p:ext uri="{BB962C8B-B14F-4D97-AF65-F5344CB8AC3E}">
        <p14:creationId xmlns:p14="http://schemas.microsoft.com/office/powerpoint/2010/main" val="8701798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13ACF9C-9335-A922-EC24-515B0C39B9CD}"/>
              </a:ext>
            </a:extLst>
          </p:cNvPr>
          <p:cNvSpPr>
            <a:spLocks noGrp="1"/>
          </p:cNvSpPr>
          <p:nvPr>
            <p:ph type="title"/>
          </p:nvPr>
        </p:nvSpPr>
        <p:spPr/>
        <p:txBody>
          <a:bodyPr/>
          <a:lstStyle/>
          <a:p>
            <a:r>
              <a:rPr lang="en-US" dirty="0"/>
              <a:t> </a:t>
            </a:r>
          </a:p>
        </p:txBody>
      </p:sp>
      <p:sp>
        <p:nvSpPr>
          <p:cNvPr id="3" name="내용 개체 틀 2">
            <a:extLst>
              <a:ext uri="{FF2B5EF4-FFF2-40B4-BE49-F238E27FC236}">
                <a16:creationId xmlns:a16="http://schemas.microsoft.com/office/drawing/2014/main" id="{3E6D3964-0D57-8F46-B5DC-780FA61A0563}"/>
              </a:ext>
            </a:extLst>
          </p:cNvPr>
          <p:cNvSpPr>
            <a:spLocks noGrp="1"/>
          </p:cNvSpPr>
          <p:nvPr>
            <p:ph idx="1"/>
          </p:nvPr>
        </p:nvSpPr>
        <p:spPr/>
        <p:txBody>
          <a:bodyPr/>
          <a:lstStyle/>
          <a:p>
            <a:pPr algn="ctr">
              <a:buNone/>
            </a:pPr>
            <a:endParaRPr lang="en-US" sz="1800" dirty="0"/>
          </a:p>
          <a:p>
            <a:pPr algn="ctr">
              <a:buNone/>
            </a:pPr>
            <a:r>
              <a:rPr lang="en-US" sz="2400" i="1" dirty="0"/>
              <a:t>"The type is the schema,</a:t>
            </a:r>
          </a:p>
          <a:p>
            <a:pPr algn="ctr">
              <a:buNone/>
            </a:pPr>
            <a:r>
              <a:rPr lang="en-US" sz="2400" i="1" dirty="0"/>
              <a:t>the validator,</a:t>
            </a:r>
          </a:p>
          <a:p>
            <a:pPr algn="ctr">
              <a:buNone/>
            </a:pPr>
            <a:r>
              <a:rPr lang="en-US" sz="2400" i="1" dirty="0"/>
              <a:t>and the prompt."</a:t>
            </a:r>
          </a:p>
          <a:p>
            <a:pPr algn="ctr">
              <a:buNone/>
            </a:pPr>
            <a:endParaRPr lang="en-US" sz="1800" dirty="0"/>
          </a:p>
          <a:p>
            <a:pPr algn="ctr">
              <a:buNone/>
            </a:pPr>
            <a:r>
              <a:rPr lang="en-US" sz="1800" dirty="0"/>
              <a:t>The harness is everything around it.</a:t>
            </a:r>
          </a:p>
        </p:txBody>
      </p:sp>
    </p:spTree>
    <p:extLst>
      <p:ext uri="{BB962C8B-B14F-4D97-AF65-F5344CB8AC3E}">
        <p14:creationId xmlns:p14="http://schemas.microsoft.com/office/powerpoint/2010/main" val="23758592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7F071FCC-F169-B831-AD6A-798DA5EE49B0}"/>
              </a:ext>
            </a:extLst>
          </p:cNvPr>
          <p:cNvSpPr>
            <a:spLocks noGrp="1"/>
          </p:cNvSpPr>
          <p:nvPr>
            <p:ph type="title"/>
          </p:nvPr>
        </p:nvSpPr>
        <p:spPr/>
        <p:txBody>
          <a:bodyPr/>
          <a:lstStyle/>
          <a:p>
            <a:r>
              <a:rPr lang="en-US" dirty="0"/>
              <a:t>Function Calling</a:t>
            </a:r>
          </a:p>
        </p:txBody>
      </p:sp>
      <p:sp>
        <p:nvSpPr>
          <p:cNvPr id="5" name="텍스트 개체 틀 4">
            <a:extLst>
              <a:ext uri="{FF2B5EF4-FFF2-40B4-BE49-F238E27FC236}">
                <a16:creationId xmlns:a16="http://schemas.microsoft.com/office/drawing/2014/main" id="{3BC3F71E-05C6-D697-4F24-D4CF0784978D}"/>
              </a:ext>
            </a:extLst>
          </p:cNvPr>
          <p:cNvSpPr>
            <a:spLocks noGrp="1"/>
          </p:cNvSpPr>
          <p:nvPr>
            <p:ph type="body" idx="1"/>
          </p:nvPr>
        </p:nvSpPr>
        <p:spPr/>
        <p:txBody>
          <a:bodyPr/>
          <a:lstStyle/>
          <a:p>
            <a:pPr algn="ctr">
              <a:buNone/>
            </a:pPr>
            <a:r>
              <a:rPr lang="en-US" dirty="0"/>
              <a:t>Advantages of Function Calling</a:t>
            </a:r>
          </a:p>
          <a:p>
            <a:pPr algn="ctr">
              <a:buNone/>
            </a:pPr>
            <a:r>
              <a:rPr lang="en-US" dirty="0"/>
              <a:t>Applications</a:t>
            </a:r>
            <a:r>
              <a:rPr lang="ko-KR" altLang="en-US" dirty="0"/>
              <a:t> </a:t>
            </a:r>
            <a:r>
              <a:rPr lang="en-US" altLang="ko-KR" dirty="0"/>
              <a:t>in</a:t>
            </a:r>
            <a:r>
              <a:rPr lang="ko-KR" altLang="en-US" dirty="0"/>
              <a:t> </a:t>
            </a:r>
            <a:r>
              <a:rPr lang="en-US" altLang="ko-KR" dirty="0"/>
              <a:t>Engineering</a:t>
            </a:r>
            <a:r>
              <a:rPr lang="ko-KR" altLang="en-US" dirty="0"/>
              <a:t> </a:t>
            </a:r>
            <a:r>
              <a:rPr lang="en-US" altLang="ko-KR" dirty="0"/>
              <a:t>Designs</a:t>
            </a:r>
            <a:endParaRPr lang="en-US" dirty="0"/>
          </a:p>
        </p:txBody>
      </p:sp>
    </p:spTree>
    <p:extLst>
      <p:ext uri="{BB962C8B-B14F-4D97-AF65-F5344CB8AC3E}">
        <p14:creationId xmlns:p14="http://schemas.microsoft.com/office/powerpoint/2010/main" val="34732015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48A5411-B2F4-5F32-6EB1-19BE2AEC747C}"/>
              </a:ext>
            </a:extLst>
          </p:cNvPr>
          <p:cNvSpPr>
            <a:spLocks noGrp="1"/>
          </p:cNvSpPr>
          <p:nvPr>
            <p:ph type="title"/>
          </p:nvPr>
        </p:nvSpPr>
        <p:spPr/>
        <p:txBody>
          <a:bodyPr>
            <a:normAutofit/>
          </a:bodyPr>
          <a:lstStyle/>
          <a:p>
            <a:r>
              <a:rPr lang="en-US" dirty="0"/>
              <a:t>4.1. Natural Language vs Types</a:t>
            </a:r>
          </a:p>
        </p:txBody>
      </p:sp>
      <p:sp>
        <p:nvSpPr>
          <p:cNvPr id="3" name="내용 개체 틀 2">
            <a:extLst>
              <a:ext uri="{FF2B5EF4-FFF2-40B4-BE49-F238E27FC236}">
                <a16:creationId xmlns:a16="http://schemas.microsoft.com/office/drawing/2014/main" id="{1FBA0717-BF22-A901-5514-2746EC8C428E}"/>
              </a:ext>
            </a:extLst>
          </p:cNvPr>
          <p:cNvSpPr>
            <a:spLocks noGrp="1"/>
          </p:cNvSpPr>
          <p:nvPr>
            <p:ph idx="1"/>
          </p:nvPr>
        </p:nvSpPr>
        <p:spPr/>
        <p:txBody>
          <a:bodyPr>
            <a:normAutofit/>
          </a:bodyPr>
          <a:lstStyle/>
          <a:p>
            <a:r>
              <a:rPr lang="en-US" dirty="0"/>
              <a:t>Types eliminate ambiguity</a:t>
            </a:r>
          </a:p>
          <a:p>
            <a:pPr lvl="1"/>
            <a:r>
              <a:rPr lang="en-US" dirty="0">
                <a:solidFill>
                  <a:srgbClr val="267F99"/>
                </a:solidFill>
                <a:latin typeface="Consolas"/>
              </a:rPr>
              <a:t>ExclusiveMinimum</a:t>
            </a:r>
            <a:r>
              <a:rPr lang="en-US" dirty="0">
                <a:solidFill>
                  <a:srgbClr val="000000"/>
                </a:solidFill>
                <a:latin typeface="Consolas"/>
              </a:rPr>
              <a:t>&lt;</a:t>
            </a:r>
            <a:r>
              <a:rPr lang="en-US" dirty="0">
                <a:solidFill>
                  <a:srgbClr val="098658"/>
                </a:solidFill>
                <a:latin typeface="Consolas"/>
              </a:rPr>
              <a:t>18</a:t>
            </a:r>
            <a:r>
              <a:rPr lang="en-US" dirty="0">
                <a:solidFill>
                  <a:srgbClr val="000000"/>
                </a:solidFill>
                <a:latin typeface="Consolas"/>
              </a:rPr>
              <a:t>&gt;</a:t>
            </a:r>
            <a:r>
              <a:rPr lang="en-US" dirty="0"/>
              <a:t> vs "greater than 18"</a:t>
            </a:r>
          </a:p>
          <a:p>
            <a:endParaRPr lang="en-US" dirty="0"/>
          </a:p>
          <a:p>
            <a:r>
              <a:rPr lang="en-US" dirty="0"/>
              <a:t>Schemas constrain by absence, not prohibition</a:t>
            </a:r>
          </a:p>
          <a:p>
            <a:pPr lvl="1"/>
            <a:r>
              <a:rPr lang="en-US" dirty="0"/>
              <a:t>No "any" in schema → can't generate it</a:t>
            </a:r>
          </a:p>
          <a:p>
            <a:endParaRPr lang="en-US" dirty="0"/>
          </a:p>
          <a:p>
            <a:r>
              <a:rPr lang="en-US" dirty="0"/>
              <a:t>Model-neutral: same schema, any model</a:t>
            </a:r>
          </a:p>
          <a:p>
            <a:r>
              <a:rPr lang="en-US" dirty="0"/>
              <a:t>Deterministically convergent: 6.75% → 100%</a:t>
            </a:r>
          </a:p>
        </p:txBody>
      </p:sp>
    </p:spTree>
    <p:extLst>
      <p:ext uri="{BB962C8B-B14F-4D97-AF65-F5344CB8AC3E}">
        <p14:creationId xmlns:p14="http://schemas.microsoft.com/office/powerpoint/2010/main" val="30338926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p:txBody>
          <a:bodyPr>
            <a:normAutofit/>
          </a:bodyPr>
          <a:lstStyle/>
          <a:p>
            <a:r>
              <a:rPr lang="en-US" dirty="0"/>
              <a:t>4.1. Natural Language vs Types</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idx="1"/>
          </p:nvPr>
        </p:nvSpPr>
        <p:spPr>
          <a:xfrm>
            <a:off x="1143000" y="2057400"/>
            <a:ext cx="4953000" cy="4038600"/>
          </a:xfrm>
        </p:spPr>
        <p:txBody>
          <a:bodyPr>
            <a:normAutofit/>
          </a:bodyPr>
          <a:lstStyle/>
          <a:p>
            <a:r>
              <a:rPr lang="en-US" dirty="0"/>
              <a:t>Via Prompt:</a:t>
            </a:r>
          </a:p>
          <a:p>
            <a:pPr lvl="1"/>
            <a:r>
              <a:rPr lang="en-US" dirty="0"/>
              <a:t>"The age field must be a positive integer greater than 18. Don't use string types for numeric fields. All required fields must be present..."</a:t>
            </a:r>
          </a:p>
          <a:p>
            <a:endParaRPr lang="en-US" dirty="0"/>
          </a:p>
          <a:p>
            <a:r>
              <a:rPr lang="en-US" dirty="0"/>
              <a:t>Problems:</a:t>
            </a:r>
          </a:p>
          <a:p>
            <a:pPr lvl="1"/>
            <a:r>
              <a:rPr lang="en-US" dirty="0"/>
              <a:t>Is "&gt;18" or "≥18"? No way to verify</a:t>
            </a:r>
          </a:p>
          <a:p>
            <a:pPr lvl="1"/>
            <a:r>
              <a:rPr lang="en-US" dirty="0"/>
              <a:t>Rules multiply endlessly as schemas grow</a:t>
            </a:r>
          </a:p>
        </p:txBody>
      </p:sp>
      <p:sp>
        <p:nvSpPr>
          <p:cNvPr id="4" name="사각형: 둥근 모서리 3">
            <a:extLst>
              <a:ext uri="{FF2B5EF4-FFF2-40B4-BE49-F238E27FC236}">
                <a16:creationId xmlns:a16="http://schemas.microsoft.com/office/drawing/2014/main" id="{176F7788-94AE-4E05-84B1-A2823EE762E5}"/>
              </a:ext>
            </a:extLst>
          </p:cNvPr>
          <p:cNvSpPr/>
          <p:nvPr/>
        </p:nvSpPr>
        <p:spPr>
          <a:xfrm>
            <a:off x="6273800" y="2057400"/>
            <a:ext cx="4749800" cy="4038600"/>
          </a:xfrm>
          <a:prstGeom prst="roundRect">
            <a:avLst/>
          </a:prstGeom>
          <a:solidFill>
            <a:srgbClr val="1E1E1E"/>
          </a:solidFill>
          <a:ln w="19050" cap="flat" cmpd="sng" algn="ctr">
            <a:solidFill>
              <a:srgbClr val="569CD6"/>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72000" tIns="54000" rIns="72000" bIns="54000" rtlCol="0" anchor="t"/>
          <a:lstStyle/>
          <a:p>
            <a:pPr algn="l">
              <a:buNone/>
            </a:pPr>
            <a:r>
              <a:rPr lang="en-US" sz="1600" dirty="0">
                <a:solidFill>
                  <a:srgbClr val="D4D4D4"/>
                </a:solidFill>
                <a:latin typeface="Consolas"/>
              </a:rPr>
              <a:t>Via Type:</a:t>
            </a:r>
          </a:p>
          <a:p>
            <a:pPr algn="l">
              <a:buNone/>
            </a:pPr>
            <a:r>
              <a:rPr lang="en-US" sz="1600" dirty="0">
                <a:solidFill>
                  <a:srgbClr val="569CD6"/>
                </a:solidFill>
                <a:latin typeface="Consolas"/>
              </a:rPr>
              <a:t>interface </a:t>
            </a:r>
            <a:r>
              <a:rPr lang="en-US" sz="1600" dirty="0">
                <a:solidFill>
                  <a:srgbClr val="4EC9B0"/>
                </a:solidFill>
                <a:latin typeface="Consolas"/>
              </a:rPr>
              <a:t>IMember</a:t>
            </a:r>
            <a:r>
              <a:rPr lang="en-US" sz="1600" dirty="0">
                <a:solidFill>
                  <a:srgbClr val="D4D4D4"/>
                </a:solidFill>
                <a:latin typeface="Consolas"/>
              </a:rPr>
              <a:t> {</a:t>
            </a:r>
          </a:p>
          <a:p>
            <a:pPr algn="l">
              <a:buNone/>
            </a:pPr>
            <a:r>
              <a:rPr lang="en-US" sz="1600" dirty="0">
                <a:solidFill>
                  <a:srgbClr val="D4D4D4"/>
                </a:solidFill>
                <a:latin typeface="Consolas"/>
              </a:rPr>
              <a:t>  age: </a:t>
            </a:r>
            <a:r>
              <a:rPr lang="en-US" sz="1600" dirty="0">
                <a:solidFill>
                  <a:srgbClr val="4EC9B0"/>
                </a:solidFill>
                <a:latin typeface="Consolas"/>
              </a:rPr>
              <a:t>number</a:t>
            </a:r>
          </a:p>
          <a:p>
            <a:pPr algn="l">
              <a:buNone/>
            </a:pPr>
            <a:r>
              <a:rPr lang="en-US" sz="1600" dirty="0">
                <a:solidFill>
                  <a:srgbClr val="D4D4D4"/>
                </a:solidFill>
                <a:latin typeface="Consolas"/>
              </a:rPr>
              <a:t>    &amp; </a:t>
            </a:r>
            <a:r>
              <a:rPr lang="en-US" sz="1600" dirty="0">
                <a:solidFill>
                  <a:srgbClr val="4EC9B0"/>
                </a:solidFill>
                <a:latin typeface="Consolas"/>
              </a:rPr>
              <a:t>Type</a:t>
            </a:r>
            <a:r>
              <a:rPr lang="en-US" sz="1600" dirty="0">
                <a:solidFill>
                  <a:srgbClr val="D4D4D4"/>
                </a:solidFill>
                <a:latin typeface="Consolas"/>
              </a:rPr>
              <a:t>&lt;</a:t>
            </a:r>
            <a:r>
              <a:rPr lang="en-US" sz="1600" dirty="0">
                <a:solidFill>
                  <a:srgbClr val="CE9178"/>
                </a:solidFill>
                <a:latin typeface="Consolas"/>
              </a:rPr>
              <a:t>"uint32"</a:t>
            </a:r>
            <a:r>
              <a:rPr lang="en-US" sz="1600" dirty="0">
                <a:solidFill>
                  <a:srgbClr val="D4D4D4"/>
                </a:solidFill>
                <a:latin typeface="Consolas"/>
              </a:rPr>
              <a:t>&gt;</a:t>
            </a:r>
          </a:p>
          <a:p>
            <a:pPr algn="l">
              <a:buNone/>
            </a:pPr>
            <a:r>
              <a:rPr lang="en-US" sz="1600" dirty="0">
                <a:solidFill>
                  <a:srgbClr val="D4D4D4"/>
                </a:solidFill>
                <a:latin typeface="Consolas"/>
              </a:rPr>
              <a:t>    &amp; </a:t>
            </a:r>
            <a:r>
              <a:rPr lang="en-US" sz="1600" dirty="0">
                <a:solidFill>
                  <a:srgbClr val="4EC9B0"/>
                </a:solidFill>
                <a:latin typeface="Consolas"/>
              </a:rPr>
              <a:t>ExclusiveMinimum</a:t>
            </a:r>
            <a:r>
              <a:rPr lang="en-US" sz="1600" dirty="0">
                <a:solidFill>
                  <a:srgbClr val="D4D4D4"/>
                </a:solidFill>
                <a:latin typeface="Consolas"/>
              </a:rPr>
              <a:t>&lt;18&gt;;</a:t>
            </a:r>
          </a:p>
          <a:p>
            <a:pPr algn="l">
              <a:buNone/>
            </a:pPr>
            <a:r>
              <a:rPr lang="en-US" sz="1600" dirty="0">
                <a:solidFill>
                  <a:srgbClr val="D4D4D4"/>
                </a:solidFill>
                <a:latin typeface="Consolas"/>
              </a:rPr>
              <a:t>}</a:t>
            </a:r>
          </a:p>
          <a:p>
            <a:pPr algn="l">
              <a:buNone/>
            </a:pPr>
            <a:endParaRPr lang="en-US" sz="1600" dirty="0">
              <a:solidFill>
                <a:srgbClr val="D4D4D4"/>
              </a:solidFill>
              <a:latin typeface="Consolas"/>
            </a:endParaRPr>
          </a:p>
          <a:p>
            <a:pPr algn="l">
              <a:buNone/>
            </a:pPr>
            <a:r>
              <a:rPr lang="en-US" sz="1600" dirty="0">
                <a:solidFill>
                  <a:srgbClr val="6A9955"/>
                </a:solidFill>
                <a:latin typeface="Consolas"/>
              </a:rPr>
              <a:t>// ✓ Mechanically verifiable</a:t>
            </a:r>
          </a:p>
          <a:p>
            <a:pPr algn="l">
              <a:buNone/>
            </a:pPr>
            <a:r>
              <a:rPr lang="en-US" sz="1600" dirty="0">
                <a:solidFill>
                  <a:srgbClr val="6A9955"/>
                </a:solidFill>
                <a:latin typeface="Consolas"/>
              </a:rPr>
              <a:t>// ExclusiveMinimum&lt;18&gt; is &gt;18.</a:t>
            </a:r>
          </a:p>
          <a:p>
            <a:pPr algn="l">
              <a:buNone/>
            </a:pPr>
            <a:r>
              <a:rPr lang="en-US" sz="1600" dirty="0">
                <a:solidFill>
                  <a:srgbClr val="6A9955"/>
                </a:solidFill>
                <a:latin typeface="Consolas"/>
              </a:rPr>
              <a:t>// It's an integer. It's required.</a:t>
            </a:r>
          </a:p>
          <a:p>
            <a:pPr algn="l">
              <a:buNone/>
            </a:pPr>
            <a:r>
              <a:rPr lang="en-US" sz="1600" dirty="0">
                <a:solidFill>
                  <a:srgbClr val="6A9955"/>
                </a:solidFill>
                <a:latin typeface="Consolas"/>
              </a:rPr>
              <a:t>// No ambiguity.</a:t>
            </a:r>
          </a:p>
        </p:txBody>
      </p:sp>
    </p:spTree>
    <p:extLst>
      <p:ext uri="{BB962C8B-B14F-4D97-AF65-F5344CB8AC3E}">
        <p14:creationId xmlns:p14="http://schemas.microsoft.com/office/powerpoint/2010/main" val="21297018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10">
            <a:extLst>
              <a:ext uri="{FF2B5EF4-FFF2-40B4-BE49-F238E27FC236}">
                <a16:creationId xmlns:a16="http://schemas.microsoft.com/office/drawing/2014/main" id="{3015786B-EDF9-4D06-86F8-138A81A37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12">
            <a:extLst>
              <a:ext uri="{FF2B5EF4-FFF2-40B4-BE49-F238E27FC236}">
                <a16:creationId xmlns:a16="http://schemas.microsoft.com/office/drawing/2014/main" id="{8AC3B7FA-53FD-4D89-BFA4-2DE5AB860B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a:xfrm>
            <a:off x="1143000" y="609600"/>
            <a:ext cx="6858000" cy="1356360"/>
          </a:xfrm>
        </p:spPr>
        <p:txBody>
          <a:bodyPr vert="horz" lIns="91440" tIns="45720" rIns="91440" bIns="45720" rtlCol="0" anchor="ctr">
            <a:normAutofit/>
          </a:bodyPr>
          <a:lstStyle/>
          <a:p>
            <a:r>
              <a:rPr lang="en-US" dirty="0"/>
              <a:t>4.2. Pink Elephant Problem</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sz="half" idx="1"/>
          </p:nvPr>
        </p:nvSpPr>
        <p:spPr>
          <a:xfrm>
            <a:off x="1143001" y="2057400"/>
            <a:ext cx="6858000" cy="4038600"/>
          </a:xfrm>
        </p:spPr>
        <p:txBody>
          <a:bodyPr vert="horz" lIns="91440" tIns="45720" rIns="91440" bIns="45720" rtlCol="0">
            <a:normAutofit/>
          </a:bodyPr>
          <a:lstStyle/>
          <a:p>
            <a:r>
              <a:rPr lang="en-US" sz="1800" dirty="0"/>
              <a:t>"Don't think of a pink elephant“</a:t>
            </a:r>
          </a:p>
          <a:p>
            <a:pPr lvl="1"/>
            <a:r>
              <a:rPr lang="en-US" sz="1600" dirty="0"/>
              <a:t>"Don't do X" places X at the center of attention</a:t>
            </a:r>
          </a:p>
          <a:p>
            <a:pPr lvl="1"/>
            <a:r>
              <a:rPr lang="en-US" sz="1600" dirty="0"/>
              <a:t>Paradoxically</a:t>
            </a:r>
            <a:r>
              <a:rPr lang="ko-KR" altLang="en-US" sz="1600" dirty="0"/>
              <a:t> </a:t>
            </a:r>
            <a:r>
              <a:rPr lang="en-US" altLang="ko-KR" sz="1600" dirty="0"/>
              <a:t>increases</a:t>
            </a:r>
            <a:r>
              <a:rPr lang="ko-KR" altLang="en-US" sz="1600" dirty="0"/>
              <a:t> </a:t>
            </a:r>
            <a:r>
              <a:rPr lang="en-US" altLang="ko-KR" sz="1600" dirty="0"/>
              <a:t>generation</a:t>
            </a:r>
            <a:r>
              <a:rPr lang="ko-KR" altLang="en-US" sz="1600" dirty="0"/>
              <a:t> </a:t>
            </a:r>
            <a:r>
              <a:rPr lang="en-US" altLang="ko-KR" sz="1600" dirty="0"/>
              <a:t>probability</a:t>
            </a:r>
          </a:p>
          <a:p>
            <a:pPr lvl="1"/>
            <a:endParaRPr lang="en-US" sz="1800" dirty="0"/>
          </a:p>
          <a:p>
            <a:r>
              <a:rPr lang="en-US" sz="1800" dirty="0"/>
              <a:t>With schemas, this problem disappears</a:t>
            </a:r>
          </a:p>
          <a:p>
            <a:pPr lvl="1"/>
            <a:r>
              <a:rPr lang="en-US" sz="1600" dirty="0"/>
              <a:t>No "any" in schema → LLM cannot generate it</a:t>
            </a:r>
          </a:p>
          <a:p>
            <a:pPr lvl="1"/>
            <a:r>
              <a:rPr lang="en-US" sz="1600" dirty="0"/>
              <a:t>Field types limited to 7 choices → no "varchar“</a:t>
            </a:r>
          </a:p>
          <a:p>
            <a:pPr lvl="1"/>
            <a:endParaRPr lang="en-US" sz="1800" dirty="0"/>
          </a:p>
          <a:p>
            <a:r>
              <a:rPr lang="en-US" sz="1800" dirty="0"/>
              <a:t>Not prohibition, but absence</a:t>
            </a:r>
          </a:p>
          <a:p>
            <a:pPr lvl="1"/>
            <a:r>
              <a:rPr lang="en-US" sz="1600" dirty="0"/>
              <a:t>Prompts prohibit what you don't want</a:t>
            </a:r>
          </a:p>
          <a:p>
            <a:pPr lvl="1"/>
            <a:r>
              <a:rPr lang="en-US" sz="1600" dirty="0"/>
              <a:t>Schemas allow only what you do want</a:t>
            </a:r>
          </a:p>
        </p:txBody>
      </p:sp>
      <p:pic>
        <p:nvPicPr>
          <p:cNvPr id="6" name="내용 개체 틀 5">
            <a:extLst>
              <a:ext uri="{FF2B5EF4-FFF2-40B4-BE49-F238E27FC236}">
                <a16:creationId xmlns:a16="http://schemas.microsoft.com/office/drawing/2014/main" id="{B5942124-FF8B-D9BD-7304-3FDC6CBF3AD5}"/>
              </a:ext>
            </a:extLst>
          </p:cNvPr>
          <p:cNvPicPr>
            <a:picLocks noGrp="1" noChangeAspect="1"/>
          </p:cNvPicPr>
          <p:nvPr>
            <p:ph sz="half" idx="2"/>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31669" r="26877"/>
          <a:stretch>
            <a:fillRect/>
          </a:stretch>
        </p:blipFill>
        <p:spPr>
          <a:xfrm>
            <a:off x="8301386" y="243840"/>
            <a:ext cx="3646837" cy="6377939"/>
          </a:xfrm>
          <a:prstGeom prst="rect">
            <a:avLst/>
          </a:prstGeom>
        </p:spPr>
      </p:pic>
      <p:sp>
        <p:nvSpPr>
          <p:cNvPr id="10" name="Rectangle 14">
            <a:extLst>
              <a:ext uri="{FF2B5EF4-FFF2-40B4-BE49-F238E27FC236}">
                <a16:creationId xmlns:a16="http://schemas.microsoft.com/office/drawing/2014/main" id="{E3C6F6B7-7899-41D8-AB85-2854E032D0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4919910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p:txBody>
          <a:bodyPr>
            <a:normAutofit/>
          </a:bodyPr>
          <a:lstStyle/>
          <a:p>
            <a:r>
              <a:rPr lang="en-US" dirty="0"/>
              <a:t>4.2. Pink Elephant Problem</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idx="1"/>
          </p:nvPr>
        </p:nvSpPr>
        <p:spPr>
          <a:xfrm>
            <a:off x="1143000" y="2057400"/>
            <a:ext cx="4953000" cy="4038600"/>
          </a:xfrm>
        </p:spPr>
        <p:txBody>
          <a:bodyPr>
            <a:normAutofit/>
          </a:bodyPr>
          <a:lstStyle/>
          <a:p>
            <a:r>
              <a:rPr lang="en-US" dirty="0"/>
              <a:t>Prompt:</a:t>
            </a:r>
          </a:p>
          <a:p>
            <a:pPr lvl="1"/>
            <a:r>
              <a:rPr lang="en-US" dirty="0"/>
              <a:t>"Don't use the any type"</a:t>
            </a:r>
          </a:p>
          <a:p>
            <a:endParaRPr lang="en-US" dirty="0"/>
          </a:p>
          <a:p>
            <a:r>
              <a:rPr lang="en-US" dirty="0"/>
              <a:t>Schema:</a:t>
            </a:r>
          </a:p>
          <a:p>
            <a:pPr lvl="1"/>
            <a:r>
              <a:rPr lang="en-US" dirty="0"/>
              <a:t>IJsonSchema = 10 variants</a:t>
            </a:r>
          </a:p>
          <a:p>
            <a:pPr lvl="1"/>
            <a:r>
              <a:rPr lang="en-US" dirty="0"/>
              <a:t>No "any" in the union</a:t>
            </a:r>
          </a:p>
          <a:p>
            <a:pPr lvl="1"/>
            <a:r>
              <a:rPr lang="en-US" dirty="0"/>
              <a:t>→ Can't generate it</a:t>
            </a:r>
          </a:p>
        </p:txBody>
      </p:sp>
      <p:sp>
        <p:nvSpPr>
          <p:cNvPr id="4" name="사각형: 둥근 모서리 3">
            <a:extLst>
              <a:ext uri="{FF2B5EF4-FFF2-40B4-BE49-F238E27FC236}">
                <a16:creationId xmlns:a16="http://schemas.microsoft.com/office/drawing/2014/main" id="{F8702D85-A6E1-4B85-A971-D080F22BD8B5}"/>
              </a:ext>
            </a:extLst>
          </p:cNvPr>
          <p:cNvSpPr/>
          <p:nvPr/>
        </p:nvSpPr>
        <p:spPr>
          <a:xfrm>
            <a:off x="6273800" y="2057400"/>
            <a:ext cx="4749800" cy="4038600"/>
          </a:xfrm>
          <a:prstGeom prst="roundRect">
            <a:avLst/>
          </a:prstGeom>
          <a:solidFill>
            <a:srgbClr val="1E1E1E"/>
          </a:solidFill>
          <a:ln w="19050" cap="flat" cmpd="sng" algn="ctr">
            <a:solidFill>
              <a:srgbClr val="569CD6"/>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72000" tIns="54000" rIns="72000" bIns="54000" rtlCol="0" anchor="t"/>
          <a:lstStyle/>
          <a:p>
            <a:pPr algn="l">
              <a:buNone/>
            </a:pPr>
            <a:r>
              <a:rPr lang="en-US" sz="1600" dirty="0">
                <a:solidFill>
                  <a:srgbClr val="569CD6"/>
                </a:solidFill>
                <a:latin typeface="Consolas"/>
              </a:rPr>
              <a:t>export type </a:t>
            </a:r>
            <a:r>
              <a:rPr lang="en-US" sz="1600" dirty="0">
                <a:solidFill>
                  <a:srgbClr val="4EC9B0"/>
                </a:solidFill>
                <a:latin typeface="Consolas"/>
              </a:rPr>
              <a:t>IJsonSchema</a:t>
            </a:r>
            <a:r>
              <a:rPr lang="en-US" sz="1600" dirty="0">
                <a:solidFill>
                  <a:srgbClr val="D4D4D4"/>
                </a:solidFill>
                <a:latin typeface="Consolas"/>
              </a:rPr>
              <a:t> =</a:t>
            </a:r>
          </a:p>
          <a:p>
            <a:pPr algn="l">
              <a:buNone/>
            </a:pPr>
            <a:r>
              <a:rPr lang="en-US" sz="1600" dirty="0">
                <a:solidFill>
                  <a:srgbClr val="D4D4D4"/>
                </a:solidFill>
                <a:latin typeface="Consolas"/>
              </a:rPr>
              <a:t>  | </a:t>
            </a:r>
            <a:r>
              <a:rPr lang="en-US" sz="1600" dirty="0">
                <a:solidFill>
                  <a:srgbClr val="4EC9B0"/>
                </a:solidFill>
                <a:latin typeface="Consolas"/>
              </a:rPr>
              <a:t>IJsonSchema.IConstant</a:t>
            </a:r>
          </a:p>
          <a:p>
            <a:pPr algn="l">
              <a:buNone/>
            </a:pPr>
            <a:r>
              <a:rPr lang="en-US" sz="1600" dirty="0">
                <a:solidFill>
                  <a:srgbClr val="D4D4D4"/>
                </a:solidFill>
                <a:latin typeface="Consolas"/>
              </a:rPr>
              <a:t>  | </a:t>
            </a:r>
            <a:r>
              <a:rPr lang="en-US" sz="1600" dirty="0">
                <a:solidFill>
                  <a:srgbClr val="4EC9B0"/>
                </a:solidFill>
                <a:latin typeface="Consolas"/>
              </a:rPr>
              <a:t>IJsonSchema.IBoolean</a:t>
            </a:r>
          </a:p>
          <a:p>
            <a:pPr algn="l">
              <a:buNone/>
            </a:pPr>
            <a:r>
              <a:rPr lang="en-US" sz="1600" dirty="0">
                <a:solidFill>
                  <a:srgbClr val="D4D4D4"/>
                </a:solidFill>
                <a:latin typeface="Consolas"/>
              </a:rPr>
              <a:t>  | </a:t>
            </a:r>
            <a:r>
              <a:rPr lang="en-US" sz="1600" dirty="0">
                <a:solidFill>
                  <a:srgbClr val="4EC9B0"/>
                </a:solidFill>
                <a:latin typeface="Consolas"/>
              </a:rPr>
              <a:t>IJsonSchema.IInteger</a:t>
            </a:r>
          </a:p>
          <a:p>
            <a:pPr algn="l">
              <a:buNone/>
            </a:pPr>
            <a:r>
              <a:rPr lang="en-US" sz="1600" dirty="0">
                <a:solidFill>
                  <a:srgbClr val="D4D4D4"/>
                </a:solidFill>
                <a:latin typeface="Consolas"/>
              </a:rPr>
              <a:t>  | </a:t>
            </a:r>
            <a:r>
              <a:rPr lang="en-US" sz="1600" dirty="0">
                <a:solidFill>
                  <a:srgbClr val="4EC9B0"/>
                </a:solidFill>
                <a:latin typeface="Consolas"/>
              </a:rPr>
              <a:t>IJsonSchema.INumber</a:t>
            </a:r>
          </a:p>
          <a:p>
            <a:pPr algn="l">
              <a:buNone/>
            </a:pPr>
            <a:r>
              <a:rPr lang="en-US" sz="1600" dirty="0">
                <a:solidFill>
                  <a:srgbClr val="D4D4D4"/>
                </a:solidFill>
                <a:latin typeface="Consolas"/>
              </a:rPr>
              <a:t>  | </a:t>
            </a:r>
            <a:r>
              <a:rPr lang="en-US" sz="1600" dirty="0">
                <a:solidFill>
                  <a:srgbClr val="4EC9B0"/>
                </a:solidFill>
                <a:latin typeface="Consolas"/>
              </a:rPr>
              <a:t>IJsonSchema.IString</a:t>
            </a:r>
          </a:p>
          <a:p>
            <a:pPr algn="l">
              <a:buNone/>
            </a:pPr>
            <a:r>
              <a:rPr lang="en-US" sz="1600" dirty="0">
                <a:solidFill>
                  <a:srgbClr val="D4D4D4"/>
                </a:solidFill>
                <a:latin typeface="Consolas"/>
              </a:rPr>
              <a:t>  | </a:t>
            </a:r>
            <a:r>
              <a:rPr lang="en-US" sz="1600" dirty="0">
                <a:solidFill>
                  <a:srgbClr val="4EC9B0"/>
                </a:solidFill>
                <a:latin typeface="Consolas"/>
              </a:rPr>
              <a:t>IJsonSchema.IArray</a:t>
            </a:r>
          </a:p>
          <a:p>
            <a:pPr algn="l">
              <a:buNone/>
            </a:pPr>
            <a:r>
              <a:rPr lang="en-US" sz="1600" dirty="0">
                <a:solidFill>
                  <a:srgbClr val="D4D4D4"/>
                </a:solidFill>
                <a:latin typeface="Consolas"/>
              </a:rPr>
              <a:t>  | </a:t>
            </a:r>
            <a:r>
              <a:rPr lang="en-US" sz="1600" dirty="0">
                <a:solidFill>
                  <a:srgbClr val="4EC9B0"/>
                </a:solidFill>
                <a:latin typeface="Consolas"/>
              </a:rPr>
              <a:t>IJsonSchema.IObject</a:t>
            </a:r>
          </a:p>
          <a:p>
            <a:pPr algn="l">
              <a:buNone/>
            </a:pPr>
            <a:r>
              <a:rPr lang="en-US" sz="1600" dirty="0">
                <a:solidFill>
                  <a:srgbClr val="D4D4D4"/>
                </a:solidFill>
                <a:latin typeface="Consolas"/>
              </a:rPr>
              <a:t>  | </a:t>
            </a:r>
            <a:r>
              <a:rPr lang="en-US" sz="1600" dirty="0">
                <a:solidFill>
                  <a:srgbClr val="4EC9B0"/>
                </a:solidFill>
                <a:latin typeface="Consolas"/>
              </a:rPr>
              <a:t>IJsonSchema.IReference</a:t>
            </a:r>
          </a:p>
          <a:p>
            <a:pPr algn="l">
              <a:buNone/>
            </a:pPr>
            <a:r>
              <a:rPr lang="en-US" sz="1600" dirty="0">
                <a:solidFill>
                  <a:srgbClr val="D4D4D4"/>
                </a:solidFill>
                <a:latin typeface="Consolas"/>
              </a:rPr>
              <a:t>  | </a:t>
            </a:r>
            <a:r>
              <a:rPr lang="en-US" sz="1600" dirty="0">
                <a:solidFill>
                  <a:srgbClr val="4EC9B0"/>
                </a:solidFill>
                <a:latin typeface="Consolas"/>
              </a:rPr>
              <a:t>IJsonSchema.IOneOf</a:t>
            </a:r>
          </a:p>
          <a:p>
            <a:pPr algn="l">
              <a:buNone/>
            </a:pPr>
            <a:r>
              <a:rPr lang="en-US" sz="1600" dirty="0">
                <a:solidFill>
                  <a:srgbClr val="D4D4D4"/>
                </a:solidFill>
                <a:latin typeface="Consolas"/>
              </a:rPr>
              <a:t>  | </a:t>
            </a:r>
            <a:r>
              <a:rPr lang="en-US" sz="1600" dirty="0">
                <a:solidFill>
                  <a:srgbClr val="4EC9B0"/>
                </a:solidFill>
                <a:latin typeface="Consolas"/>
              </a:rPr>
              <a:t>IJsonSchema.INull</a:t>
            </a:r>
            <a:r>
              <a:rPr lang="en-US" sz="1600" dirty="0">
                <a:solidFill>
                  <a:srgbClr val="D4D4D4"/>
                </a:solidFill>
                <a:latin typeface="Consolas"/>
              </a:rPr>
              <a:t>;</a:t>
            </a:r>
          </a:p>
          <a:p>
            <a:pPr algn="l">
              <a:buNone/>
            </a:pPr>
            <a:endParaRPr lang="en-US" sz="1600" dirty="0">
              <a:latin typeface="Consolas"/>
            </a:endParaRPr>
          </a:p>
          <a:p>
            <a:pPr algn="l">
              <a:buNone/>
            </a:pPr>
            <a:r>
              <a:rPr lang="en-US" sz="1600" dirty="0">
                <a:solidFill>
                  <a:srgbClr val="6A9955"/>
                </a:solidFill>
                <a:latin typeface="Consolas"/>
              </a:rPr>
              <a:t>// 10 variants. No "any".</a:t>
            </a:r>
          </a:p>
          <a:p>
            <a:pPr algn="l">
              <a:buNone/>
            </a:pPr>
            <a:r>
              <a:rPr lang="en-US" sz="1600" dirty="0">
                <a:solidFill>
                  <a:srgbClr val="6A9955"/>
                </a:solidFill>
                <a:latin typeface="Consolas"/>
              </a:rPr>
              <a:t>// Can't generate what doesn't exist.</a:t>
            </a:r>
          </a:p>
        </p:txBody>
      </p:sp>
    </p:spTree>
    <p:extLst>
      <p:ext uri="{BB962C8B-B14F-4D97-AF65-F5344CB8AC3E}">
        <p14:creationId xmlns:p14="http://schemas.microsoft.com/office/powerpoint/2010/main" val="3198913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p:txBody>
          <a:bodyPr>
            <a:normAutofit/>
          </a:bodyPr>
          <a:lstStyle/>
          <a:p>
            <a:r>
              <a:rPr lang="en-US" dirty="0"/>
              <a:t>4.2. Pink Elephant Problem</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idx="1"/>
          </p:nvPr>
        </p:nvSpPr>
        <p:spPr>
          <a:xfrm>
            <a:off x="1143000" y="2057400"/>
            <a:ext cx="4953000" cy="4038600"/>
          </a:xfrm>
        </p:spPr>
        <p:txBody>
          <a:bodyPr>
            <a:normAutofit/>
          </a:bodyPr>
          <a:lstStyle/>
          <a:p>
            <a:r>
              <a:rPr lang="en-US" dirty="0"/>
              <a:t>Prompt:</a:t>
            </a:r>
          </a:p>
          <a:p>
            <a:pPr lvl="1"/>
            <a:r>
              <a:rPr lang="en-US" dirty="0"/>
              <a:t>"Don't make inline</a:t>
            </a:r>
            <a:r>
              <a:rPr lang="ko-KR" altLang="en-US" dirty="0"/>
              <a:t> </a:t>
            </a:r>
            <a:r>
              <a:rPr lang="en-US" dirty="0"/>
              <a:t>object type</a:t>
            </a:r>
          </a:p>
          <a:p>
            <a:pPr lvl="1"/>
            <a:r>
              <a:rPr lang="en-US" dirty="0"/>
              <a:t>(describing what inline object type is)</a:t>
            </a:r>
          </a:p>
          <a:p>
            <a:pPr lvl="1"/>
            <a:r>
              <a:rPr lang="en-US" sz="1800" dirty="0">
                <a:solidFill>
                  <a:srgbClr val="000000"/>
                </a:solidFill>
                <a:latin typeface="Consolas"/>
              </a:rPr>
              <a:t>{</a:t>
            </a:r>
            <a:r>
              <a:rPr lang="en-US" sz="1800" dirty="0">
                <a:solidFill>
                  <a:srgbClr val="001080"/>
                </a:solidFill>
                <a:latin typeface="Consolas"/>
              </a:rPr>
              <a:t>something</a:t>
            </a:r>
            <a:r>
              <a:rPr lang="en-US" sz="1800" dirty="0">
                <a:solidFill>
                  <a:srgbClr val="000000"/>
                </a:solidFill>
                <a:latin typeface="Consolas"/>
              </a:rPr>
              <a:t>:{</a:t>
            </a:r>
            <a:r>
              <a:rPr lang="en-US" sz="1800" dirty="0">
                <a:solidFill>
                  <a:srgbClr val="001080"/>
                </a:solidFill>
                <a:latin typeface="Consolas"/>
              </a:rPr>
              <a:t>nothing</a:t>
            </a:r>
            <a:r>
              <a:rPr lang="en-US" sz="1800" dirty="0">
                <a:solidFill>
                  <a:srgbClr val="000000"/>
                </a:solidFill>
                <a:latin typeface="Consolas"/>
              </a:rPr>
              <a:t>:{</a:t>
            </a:r>
            <a:r>
              <a:rPr lang="en-US" sz="1800" dirty="0">
                <a:solidFill>
                  <a:srgbClr val="001080"/>
                </a:solidFill>
                <a:latin typeface="Consolas"/>
              </a:rPr>
              <a:t>x</a:t>
            </a:r>
            <a:r>
              <a:rPr lang="en-US" sz="1800" dirty="0">
                <a:solidFill>
                  <a:srgbClr val="000000"/>
                </a:solidFill>
                <a:latin typeface="Consolas"/>
              </a:rPr>
              <a:t>: </a:t>
            </a:r>
            <a:r>
              <a:rPr lang="en-US" sz="1800" dirty="0">
                <a:solidFill>
                  <a:srgbClr val="267F99"/>
                </a:solidFill>
                <a:latin typeface="Consolas"/>
              </a:rPr>
              <a:t>number</a:t>
            </a:r>
            <a:r>
              <a:rPr lang="en-US" sz="1800" dirty="0">
                <a:solidFill>
                  <a:srgbClr val="000000"/>
                </a:solidFill>
                <a:latin typeface="Consolas"/>
              </a:rPr>
              <a:t>}}}</a:t>
            </a:r>
            <a:endParaRPr lang="en-US" sz="1800" dirty="0"/>
          </a:p>
          <a:p>
            <a:endParaRPr lang="en-US" dirty="0"/>
          </a:p>
          <a:p>
            <a:r>
              <a:rPr lang="en-US" dirty="0"/>
              <a:t>Schema:</a:t>
            </a:r>
          </a:p>
          <a:p>
            <a:pPr lvl="1"/>
            <a:r>
              <a:rPr lang="en-US" dirty="0">
                <a:solidFill>
                  <a:srgbClr val="795E26"/>
                </a:solidFill>
                <a:latin typeface="Consolas"/>
              </a:rPr>
              <a:t>Exclude</a:t>
            </a:r>
            <a:r>
              <a:rPr lang="en-US" dirty="0">
                <a:solidFill>
                  <a:srgbClr val="000000"/>
                </a:solidFill>
                <a:latin typeface="Consolas"/>
              </a:rPr>
              <a:t>&lt;</a:t>
            </a:r>
            <a:r>
              <a:rPr lang="en-US" dirty="0">
                <a:solidFill>
                  <a:srgbClr val="267F99"/>
                </a:solidFill>
                <a:latin typeface="Consolas"/>
              </a:rPr>
              <a:t>IJsonSchema</a:t>
            </a:r>
            <a:r>
              <a:rPr lang="en-US" dirty="0">
                <a:solidFill>
                  <a:srgbClr val="000000"/>
                </a:solidFill>
                <a:latin typeface="Consolas"/>
              </a:rPr>
              <a:t>, </a:t>
            </a:r>
            <a:r>
              <a:rPr lang="en-US" dirty="0">
                <a:solidFill>
                  <a:srgbClr val="267F99"/>
                </a:solidFill>
                <a:latin typeface="Consolas"/>
              </a:rPr>
              <a:t>IObject</a:t>
            </a:r>
            <a:r>
              <a:rPr lang="en-US" dirty="0">
                <a:solidFill>
                  <a:srgbClr val="000000"/>
                </a:solidFill>
                <a:latin typeface="Consolas"/>
              </a:rPr>
              <a:t>&gt;</a:t>
            </a:r>
            <a:endParaRPr lang="en-US" dirty="0"/>
          </a:p>
          <a:p>
            <a:pPr lvl="1"/>
            <a:r>
              <a:rPr lang="en-US" dirty="0"/>
              <a:t>Inline object excluded by type</a:t>
            </a:r>
          </a:p>
          <a:p>
            <a:pPr lvl="1"/>
            <a:r>
              <a:rPr lang="en-US" dirty="0"/>
              <a:t>→ Can't generate it</a:t>
            </a:r>
          </a:p>
        </p:txBody>
      </p:sp>
      <p:sp>
        <p:nvSpPr>
          <p:cNvPr id="4" name="사각형: 둥근 모서리 3">
            <a:extLst>
              <a:ext uri="{FF2B5EF4-FFF2-40B4-BE49-F238E27FC236}">
                <a16:creationId xmlns:a16="http://schemas.microsoft.com/office/drawing/2014/main" id="{3FF25A35-1385-41C0-8E18-D4F5958DDCF9}"/>
              </a:ext>
            </a:extLst>
          </p:cNvPr>
          <p:cNvSpPr/>
          <p:nvPr/>
        </p:nvSpPr>
        <p:spPr>
          <a:xfrm>
            <a:off x="6080760" y="2057400"/>
            <a:ext cx="5730240" cy="4399280"/>
          </a:xfrm>
          <a:prstGeom prst="roundRect">
            <a:avLst/>
          </a:prstGeom>
          <a:solidFill>
            <a:srgbClr val="1E1E1E"/>
          </a:solidFill>
          <a:ln w="19050" cap="flat" cmpd="sng" algn="ctr">
            <a:solidFill>
              <a:srgbClr val="569CD6"/>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lIns="72000" tIns="54000" rIns="72000" bIns="54000" rtlCol="0" anchor="t"/>
          <a:lstStyle/>
          <a:p>
            <a:pPr algn="l">
              <a:buNone/>
            </a:pPr>
            <a:r>
              <a:rPr lang="en-US" sz="1400" dirty="0">
                <a:solidFill>
                  <a:srgbClr val="569CD6"/>
                </a:solidFill>
                <a:latin typeface="Consolas"/>
              </a:rPr>
              <a:t>export namespace </a:t>
            </a:r>
            <a:r>
              <a:rPr lang="en-US" sz="1400" dirty="0">
                <a:solidFill>
                  <a:srgbClr val="4EC9B0"/>
                </a:solidFill>
                <a:latin typeface="Consolas"/>
              </a:rPr>
              <a:t>IJsonSchema</a:t>
            </a:r>
            <a:r>
              <a:rPr lang="en-US" sz="1400" dirty="0">
                <a:solidFill>
                  <a:srgbClr val="D4D4D4"/>
                </a:solidFill>
                <a:latin typeface="Consolas"/>
              </a:rPr>
              <a:t> {</a:t>
            </a:r>
          </a:p>
          <a:p>
            <a:pPr algn="l">
              <a:buNone/>
            </a:pPr>
            <a:r>
              <a:rPr lang="en-US" sz="1400" dirty="0">
                <a:solidFill>
                  <a:srgbClr val="569CD6"/>
                </a:solidFill>
                <a:latin typeface="Consolas"/>
              </a:rPr>
              <a:t>  export interface </a:t>
            </a:r>
            <a:r>
              <a:rPr lang="en-US" sz="1400" dirty="0">
                <a:solidFill>
                  <a:srgbClr val="4EC9B0"/>
                </a:solidFill>
                <a:latin typeface="Consolas"/>
              </a:rPr>
              <a:t>IObject</a:t>
            </a:r>
            <a:r>
              <a:rPr lang="en-US" sz="1400" dirty="0">
                <a:solidFill>
                  <a:srgbClr val="D4D4D4"/>
                </a:solidFill>
                <a:latin typeface="Consolas"/>
              </a:rPr>
              <a:t> {</a:t>
            </a:r>
          </a:p>
          <a:p>
            <a:pPr algn="l">
              <a:buNone/>
            </a:pPr>
            <a:r>
              <a:rPr lang="en-US" sz="1400" dirty="0">
                <a:solidFill>
                  <a:srgbClr val="D4D4D4"/>
                </a:solidFill>
                <a:latin typeface="Consolas"/>
              </a:rPr>
              <a:t>    type: </a:t>
            </a:r>
            <a:r>
              <a:rPr lang="en-US" sz="1400" dirty="0">
                <a:solidFill>
                  <a:srgbClr val="CE9178"/>
                </a:solidFill>
                <a:latin typeface="Consolas"/>
              </a:rPr>
              <a:t>"object"</a:t>
            </a:r>
            <a:r>
              <a:rPr lang="en-US" sz="1400" dirty="0">
                <a:solidFill>
                  <a:srgbClr val="D4D4D4"/>
                </a:solidFill>
                <a:latin typeface="Consolas"/>
              </a:rPr>
              <a:t>;</a:t>
            </a:r>
          </a:p>
          <a:p>
            <a:pPr algn="l">
              <a:buNone/>
            </a:pPr>
            <a:r>
              <a:rPr lang="en-US" sz="1400" dirty="0">
                <a:solidFill>
                  <a:srgbClr val="D4D4D4"/>
                </a:solidFill>
                <a:latin typeface="Consolas"/>
              </a:rPr>
              <a:t>    properties?: </a:t>
            </a:r>
            <a:r>
              <a:rPr lang="en-US" sz="1400" dirty="0">
                <a:solidFill>
                  <a:srgbClr val="4EC9B0"/>
                </a:solidFill>
                <a:latin typeface="Consolas"/>
              </a:rPr>
              <a:t>Record</a:t>
            </a:r>
            <a:r>
              <a:rPr lang="en-US" sz="1400" dirty="0">
                <a:solidFill>
                  <a:srgbClr val="D4D4D4"/>
                </a:solidFill>
                <a:latin typeface="Consolas"/>
              </a:rPr>
              <a:t>&lt;</a:t>
            </a:r>
          </a:p>
          <a:p>
            <a:pPr algn="l">
              <a:buNone/>
            </a:pPr>
            <a:r>
              <a:rPr lang="en-US" sz="1400" dirty="0">
                <a:solidFill>
                  <a:srgbClr val="D4D4D4"/>
                </a:solidFill>
                <a:latin typeface="Consolas"/>
              </a:rPr>
              <a:t>      </a:t>
            </a:r>
            <a:r>
              <a:rPr lang="en-US" sz="1400" dirty="0">
                <a:solidFill>
                  <a:srgbClr val="4EC9B0"/>
                </a:solidFill>
                <a:latin typeface="Consolas"/>
              </a:rPr>
              <a:t>string</a:t>
            </a:r>
            <a:r>
              <a:rPr lang="en-US" sz="1400" dirty="0">
                <a:solidFill>
                  <a:srgbClr val="D4D4D4"/>
                </a:solidFill>
                <a:latin typeface="Consolas"/>
              </a:rPr>
              <a:t>, </a:t>
            </a:r>
          </a:p>
          <a:p>
            <a:pPr algn="l">
              <a:buNone/>
            </a:pPr>
            <a:r>
              <a:rPr lang="en-US" sz="1400" dirty="0">
                <a:solidFill>
                  <a:srgbClr val="D4D4D4"/>
                </a:solidFill>
                <a:latin typeface="Consolas"/>
              </a:rPr>
              <a:t>      </a:t>
            </a:r>
            <a:r>
              <a:rPr lang="en-US" sz="1400" b="1" u="sng" dirty="0">
                <a:solidFill>
                  <a:srgbClr val="4EC9B0"/>
                </a:solidFill>
                <a:latin typeface="Consolas"/>
              </a:rPr>
              <a:t>Exclude</a:t>
            </a:r>
            <a:r>
              <a:rPr lang="en-US" sz="1400" b="1" u="sng" dirty="0">
                <a:solidFill>
                  <a:srgbClr val="D4D4D4"/>
                </a:solidFill>
                <a:latin typeface="Consolas"/>
              </a:rPr>
              <a:t>&lt;</a:t>
            </a:r>
            <a:r>
              <a:rPr lang="en-US" sz="1400" b="1" u="sng" dirty="0" err="1">
                <a:solidFill>
                  <a:srgbClr val="4EC9B0"/>
                </a:solidFill>
                <a:latin typeface="Consolas"/>
              </a:rPr>
              <a:t>IJsonSchema</a:t>
            </a:r>
            <a:r>
              <a:rPr lang="en-US" sz="1400" b="1" u="sng" dirty="0">
                <a:solidFill>
                  <a:srgbClr val="D4D4D4"/>
                </a:solidFill>
                <a:latin typeface="Consolas"/>
              </a:rPr>
              <a:t>, </a:t>
            </a:r>
            <a:r>
              <a:rPr lang="en-US" sz="1400" b="1" u="sng" dirty="0" err="1">
                <a:solidFill>
                  <a:srgbClr val="4EC9B0"/>
                </a:solidFill>
                <a:latin typeface="Consolas"/>
              </a:rPr>
              <a:t>IJsonSchema.IObject</a:t>
            </a:r>
            <a:r>
              <a:rPr lang="en-US" sz="1400" b="1" u="sng" dirty="0">
                <a:solidFill>
                  <a:srgbClr val="D4D4D4"/>
                </a:solidFill>
                <a:latin typeface="Consolas"/>
              </a:rPr>
              <a:t>&gt;</a:t>
            </a:r>
          </a:p>
          <a:p>
            <a:pPr algn="l">
              <a:buNone/>
            </a:pPr>
            <a:r>
              <a:rPr lang="en-US" sz="1400" dirty="0">
                <a:solidFill>
                  <a:srgbClr val="D4D4D4"/>
                </a:solidFill>
                <a:latin typeface="Consolas"/>
              </a:rPr>
              <a:t>    &gt;;</a:t>
            </a:r>
          </a:p>
          <a:p>
            <a:pPr algn="l">
              <a:buNone/>
            </a:pPr>
            <a:r>
              <a:rPr lang="en-US" sz="1400" dirty="0">
                <a:solidFill>
                  <a:srgbClr val="D4D4D4"/>
                </a:solidFill>
                <a:latin typeface="Consolas"/>
              </a:rPr>
              <a:t>    additionalProperties?: </a:t>
            </a:r>
          </a:p>
          <a:p>
            <a:pPr algn="l">
              <a:buNone/>
            </a:pPr>
            <a:r>
              <a:rPr lang="en-US" sz="1400" dirty="0">
                <a:solidFill>
                  <a:srgbClr val="D4D4D4"/>
                </a:solidFill>
                <a:latin typeface="Consolas"/>
              </a:rPr>
              <a:t>      | </a:t>
            </a:r>
            <a:r>
              <a:rPr lang="en-US" sz="1400" dirty="0" err="1">
                <a:solidFill>
                  <a:srgbClr val="4EC9B0"/>
                </a:solidFill>
                <a:latin typeface="Consolas"/>
              </a:rPr>
              <a:t>boolean</a:t>
            </a:r>
            <a:r>
              <a:rPr lang="en-US" sz="1400" dirty="0">
                <a:solidFill>
                  <a:srgbClr val="D4D4D4"/>
                </a:solidFill>
                <a:latin typeface="Consolas"/>
              </a:rPr>
              <a:t> </a:t>
            </a:r>
          </a:p>
          <a:p>
            <a:pPr algn="l">
              <a:buNone/>
            </a:pPr>
            <a:r>
              <a:rPr lang="en-US" sz="1400" dirty="0">
                <a:solidFill>
                  <a:srgbClr val="D4D4D4"/>
                </a:solidFill>
                <a:latin typeface="Consolas"/>
              </a:rPr>
              <a:t>      | </a:t>
            </a:r>
            <a:r>
              <a:rPr lang="en-US" sz="1400" b="1" u="sng" dirty="0">
                <a:solidFill>
                  <a:srgbClr val="4EC9B0"/>
                </a:solidFill>
                <a:latin typeface="Consolas"/>
              </a:rPr>
              <a:t>Exclude</a:t>
            </a:r>
            <a:r>
              <a:rPr lang="en-US" sz="1400" b="1" u="sng" dirty="0">
                <a:solidFill>
                  <a:srgbClr val="D4D4D4"/>
                </a:solidFill>
                <a:latin typeface="Consolas"/>
              </a:rPr>
              <a:t>&lt;</a:t>
            </a:r>
            <a:r>
              <a:rPr lang="en-US" sz="1400" b="1" u="sng" dirty="0" err="1">
                <a:solidFill>
                  <a:srgbClr val="4EC9B0"/>
                </a:solidFill>
                <a:latin typeface="Consolas"/>
              </a:rPr>
              <a:t>IJsonSchema</a:t>
            </a:r>
            <a:r>
              <a:rPr lang="en-US" sz="1400" b="1" u="sng" dirty="0">
                <a:solidFill>
                  <a:srgbClr val="D4D4D4"/>
                </a:solidFill>
                <a:latin typeface="Consolas"/>
              </a:rPr>
              <a:t>, </a:t>
            </a:r>
            <a:r>
              <a:rPr lang="en-US" sz="1400" b="1" u="sng" dirty="0" err="1">
                <a:solidFill>
                  <a:srgbClr val="4EC9B0"/>
                </a:solidFill>
                <a:latin typeface="Consolas"/>
              </a:rPr>
              <a:t>IJsonSchema.IObject</a:t>
            </a:r>
            <a:r>
              <a:rPr lang="en-US" sz="1400" b="1" u="sng" dirty="0">
                <a:solidFill>
                  <a:srgbClr val="D4D4D4"/>
                </a:solidFill>
                <a:latin typeface="Consolas"/>
              </a:rPr>
              <a:t>&gt;</a:t>
            </a:r>
            <a:r>
              <a:rPr lang="en-US" sz="1400" dirty="0">
                <a:solidFill>
                  <a:srgbClr val="D4D4D4"/>
                </a:solidFill>
                <a:latin typeface="Consolas"/>
              </a:rPr>
              <a:t>;</a:t>
            </a:r>
          </a:p>
          <a:p>
            <a:pPr algn="l">
              <a:buNone/>
            </a:pPr>
            <a:r>
              <a:rPr lang="en-US" sz="1400" dirty="0">
                <a:solidFill>
                  <a:srgbClr val="D4D4D4"/>
                </a:solidFill>
                <a:latin typeface="Consolas"/>
              </a:rPr>
              <a:t>    required?: </a:t>
            </a:r>
            <a:r>
              <a:rPr lang="en-US" sz="1400" dirty="0">
                <a:solidFill>
                  <a:srgbClr val="4EC9B0"/>
                </a:solidFill>
                <a:latin typeface="Consolas"/>
              </a:rPr>
              <a:t>string</a:t>
            </a:r>
            <a:r>
              <a:rPr lang="en-US" sz="1400" dirty="0">
                <a:solidFill>
                  <a:srgbClr val="D4D4D4"/>
                </a:solidFill>
                <a:latin typeface="Consolas"/>
              </a:rPr>
              <a:t>[];</a:t>
            </a:r>
          </a:p>
          <a:p>
            <a:pPr algn="l">
              <a:buNone/>
            </a:pPr>
            <a:r>
              <a:rPr lang="en-US" sz="1400" dirty="0">
                <a:solidFill>
                  <a:srgbClr val="D4D4D4"/>
                </a:solidFill>
                <a:latin typeface="Consolas"/>
              </a:rPr>
              <a:t>    description?: </a:t>
            </a:r>
            <a:r>
              <a:rPr lang="en-US" sz="1400" dirty="0">
                <a:solidFill>
                  <a:srgbClr val="4EC9B0"/>
                </a:solidFill>
                <a:latin typeface="Consolas"/>
              </a:rPr>
              <a:t>string</a:t>
            </a:r>
            <a:r>
              <a:rPr lang="en-US" sz="1400" dirty="0">
                <a:solidFill>
                  <a:srgbClr val="D4D4D4"/>
                </a:solidFill>
                <a:latin typeface="Consolas"/>
              </a:rPr>
              <a:t> | </a:t>
            </a:r>
            <a:r>
              <a:rPr lang="en-US" sz="1400" dirty="0">
                <a:solidFill>
                  <a:srgbClr val="4EC9B0"/>
                </a:solidFill>
                <a:latin typeface="Consolas"/>
              </a:rPr>
              <a:t>undefined</a:t>
            </a:r>
            <a:r>
              <a:rPr lang="en-US" sz="1400" dirty="0">
                <a:solidFill>
                  <a:srgbClr val="D4D4D4"/>
                </a:solidFill>
                <a:latin typeface="Consolas"/>
              </a:rPr>
              <a:t>;</a:t>
            </a:r>
          </a:p>
          <a:p>
            <a:pPr algn="l">
              <a:buNone/>
            </a:pPr>
            <a:r>
              <a:rPr lang="en-US" sz="1400" dirty="0">
                <a:solidFill>
                  <a:srgbClr val="D4D4D4"/>
                </a:solidFill>
                <a:latin typeface="Consolas"/>
              </a:rPr>
              <a:t>  }</a:t>
            </a:r>
          </a:p>
          <a:p>
            <a:pPr algn="l">
              <a:buNone/>
            </a:pPr>
            <a:r>
              <a:rPr lang="en-US" sz="1400" dirty="0">
                <a:solidFill>
                  <a:srgbClr val="D4D4D4"/>
                </a:solidFill>
                <a:latin typeface="Consolas"/>
              </a:rPr>
              <a:t>}</a:t>
            </a:r>
          </a:p>
        </p:txBody>
      </p:sp>
    </p:spTree>
    <p:extLst>
      <p:ext uri="{BB962C8B-B14F-4D97-AF65-F5344CB8AC3E}">
        <p14:creationId xmlns:p14="http://schemas.microsoft.com/office/powerpoint/2010/main" val="21728347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p:txBody>
          <a:bodyPr>
            <a:normAutofit/>
          </a:bodyPr>
          <a:lstStyle/>
          <a:p>
            <a:r>
              <a:rPr lang="en-US" dirty="0"/>
              <a:t>4.3. Model Neutrality</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idx="1"/>
          </p:nvPr>
        </p:nvSpPr>
        <p:spPr/>
        <p:txBody>
          <a:bodyPr>
            <a:normAutofit lnSpcReduction="10000"/>
          </a:bodyPr>
          <a:lstStyle/>
          <a:p>
            <a:r>
              <a:rPr lang="en-US" dirty="0"/>
              <a:t>Prompt engineering is inherently model-dependent</a:t>
            </a:r>
          </a:p>
          <a:p>
            <a:pPr lvl="1"/>
            <a:r>
              <a:rPr lang="en-US" sz="1900" dirty="0"/>
              <a:t>Optimized for GPT ≠ works on Claude ≠ works on Qwen</a:t>
            </a:r>
          </a:p>
          <a:p>
            <a:endParaRPr lang="en-US" dirty="0"/>
          </a:p>
          <a:p>
            <a:r>
              <a:rPr lang="en-US" dirty="0"/>
              <a:t>Function calling is model-neutral</a:t>
            </a:r>
          </a:p>
          <a:p>
            <a:pPr lvl="1"/>
            <a:r>
              <a:rPr lang="en-US" sz="1900" dirty="0"/>
              <a:t>JSON Schema means the same regardless of model</a:t>
            </a:r>
          </a:p>
          <a:p>
            <a:pPr lvl="1"/>
            <a:r>
              <a:rPr lang="en-US" sz="1900" dirty="0"/>
              <a:t>Strong models: 1–2 attempts, weaker: 3–4, both → 100%</a:t>
            </a:r>
          </a:p>
          <a:p>
            <a:endParaRPr lang="en-US" dirty="0"/>
          </a:p>
          <a:p>
            <a:r>
              <a:rPr lang="en-US" dirty="0"/>
              <a:t>Same schema, same pipeline → 100% on all models</a:t>
            </a:r>
          </a:p>
          <a:p>
            <a:pPr lvl="1"/>
            <a:r>
              <a:rPr lang="en-US" sz="1900" dirty="0"/>
              <a:t>Qwen, GLM, DeepSeek, OpenAI — no model-specific tuning</a:t>
            </a:r>
          </a:p>
          <a:p>
            <a:pPr lvl="1"/>
            <a:r>
              <a:rPr lang="en-US" sz="1900" dirty="0"/>
              <a:t>"Can this model do it?" → "Which is most cost-effective?"</a:t>
            </a:r>
          </a:p>
          <a:p>
            <a:pPr lvl="1"/>
            <a:r>
              <a:rPr lang="en-US" sz="1900" dirty="0"/>
              <a:t>Cost = avg retries × tokens/attempt × cost/token</a:t>
            </a:r>
          </a:p>
        </p:txBody>
      </p:sp>
    </p:spTree>
    <p:extLst>
      <p:ext uri="{BB962C8B-B14F-4D97-AF65-F5344CB8AC3E}">
        <p14:creationId xmlns:p14="http://schemas.microsoft.com/office/powerpoint/2010/main" val="21408268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p:txBody>
          <a:bodyPr>
            <a:normAutofit/>
          </a:bodyPr>
          <a:lstStyle/>
          <a:p>
            <a:r>
              <a:rPr lang="en-US" dirty="0"/>
              <a:t>4.3. Model Neutrality</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idx="1"/>
          </p:nvPr>
        </p:nvSpPr>
        <p:spPr/>
        <p:txBody>
          <a:bodyPr>
            <a:normAutofit lnSpcReduction="10000"/>
          </a:bodyPr>
          <a:lstStyle/>
          <a:p>
            <a:pPr>
              <a:buNone/>
            </a:pPr>
            <a:r>
              <a:rPr lang="en-US" sz="1800" b="1" dirty="0"/>
              <a:t>Prompt Fragility — OpenAI Cases</a:t>
            </a:r>
          </a:p>
          <a:p>
            <a:endParaRPr lang="en-US" sz="1800" dirty="0"/>
          </a:p>
          <a:p>
            <a:r>
              <a:rPr lang="en-US" sz="1800" dirty="0"/>
              <a:t>GPT-4 → GPT-4o: same prompts suddenly fail</a:t>
            </a:r>
          </a:p>
          <a:p>
            <a:pPr lvl="1"/>
            <a:r>
              <a:rPr lang="en-US" sz="1800" u="sng" dirty="0">
                <a:solidFill>
                  <a:srgbClr val="4A86C8"/>
                </a:solidFill>
              </a:rPr>
              <a:t>github.com/chapman4444/gpt4o-regression-report</a:t>
            </a:r>
            <a:endParaRPr lang="en-US" sz="1800" dirty="0"/>
          </a:p>
          <a:p>
            <a:endParaRPr lang="en-US" sz="1800" dirty="0"/>
          </a:p>
          <a:p>
            <a:r>
              <a:rPr lang="en-US" sz="1800" dirty="0"/>
              <a:t>GPT-4 → GPT-5: prompt rewrite required</a:t>
            </a:r>
          </a:p>
          <a:p>
            <a:pPr lvl="1"/>
            <a:r>
              <a:rPr lang="en-US" sz="1800" dirty="0"/>
              <a:t>OpenAI had to ship a Prompt Optimizer tool</a:t>
            </a:r>
          </a:p>
          <a:p>
            <a:pPr lvl="1"/>
            <a:r>
              <a:rPr lang="en-US" sz="1800" u="sng" dirty="0">
                <a:solidFill>
                  <a:srgbClr val="4A86C8"/>
                </a:solidFill>
              </a:rPr>
              <a:t>cookbook.openai.com/examples/gpt-5</a:t>
            </a:r>
            <a:endParaRPr lang="en-US" sz="1800" dirty="0"/>
          </a:p>
          <a:p>
            <a:endParaRPr lang="en-US" sz="1800" dirty="0"/>
          </a:p>
          <a:p>
            <a:r>
              <a:rPr lang="en-US" sz="1800" dirty="0"/>
              <a:t>GPT-4o retirement (2026.03.31): API endpoints shut down</a:t>
            </a:r>
          </a:p>
          <a:p>
            <a:pPr lvl="1"/>
            <a:r>
              <a:rPr lang="en-US" sz="1800" u="sng" dirty="0">
                <a:solidFill>
                  <a:srgbClr val="4A86C8"/>
                </a:solidFill>
              </a:rPr>
              <a:t>echostash.app/blog/gpt-4o-retirement</a:t>
            </a:r>
            <a:endParaRPr lang="en-US" sz="1800" dirty="0"/>
          </a:p>
        </p:txBody>
      </p:sp>
    </p:spTree>
    <p:extLst>
      <p:ext uri="{BB962C8B-B14F-4D97-AF65-F5344CB8AC3E}">
        <p14:creationId xmlns:p14="http://schemas.microsoft.com/office/powerpoint/2010/main" val="28217769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p:txBody>
          <a:bodyPr>
            <a:normAutofit/>
          </a:bodyPr>
          <a:lstStyle/>
          <a:p>
            <a:r>
              <a:rPr lang="en-US" dirty="0"/>
              <a:t>4.3. Model Neutrality</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idx="1"/>
          </p:nvPr>
        </p:nvSpPr>
        <p:spPr/>
        <p:txBody>
          <a:bodyPr>
            <a:normAutofit lnSpcReduction="10000"/>
          </a:bodyPr>
          <a:lstStyle/>
          <a:p>
            <a:pPr>
              <a:buNone/>
            </a:pPr>
            <a:r>
              <a:rPr lang="en-US" sz="1800" b="1" dirty="0"/>
              <a:t>Prompt Fragility — Anthropic + Conclusion</a:t>
            </a:r>
          </a:p>
          <a:p>
            <a:endParaRPr lang="en-US" sz="1800" dirty="0"/>
          </a:p>
          <a:p>
            <a:r>
              <a:rPr lang="en-US" sz="1800" dirty="0"/>
              <a:t>Claude 3.x → 4.x: breaking changes every major version</a:t>
            </a:r>
          </a:p>
          <a:p>
            <a:pPr lvl="1"/>
            <a:r>
              <a:rPr lang="en-US" sz="1800" dirty="0"/>
              <a:t>Prefill removed, tool versions changed, style shifted</a:t>
            </a:r>
          </a:p>
          <a:p>
            <a:pPr lvl="1"/>
            <a:r>
              <a:rPr lang="en-US" sz="1800" u="sng" dirty="0">
                <a:solidFill>
                  <a:srgbClr val="4A86C8"/>
                </a:solidFill>
              </a:rPr>
              <a:t>docs.anthropic.com/en/docs/about-claude/models/migrating-to-claude-4</a:t>
            </a:r>
            <a:endParaRPr lang="en-US" sz="1800" dirty="0"/>
          </a:p>
          <a:p>
            <a:endParaRPr lang="en-US" sz="1800" dirty="0"/>
          </a:p>
          <a:p>
            <a:r>
              <a:rPr lang="en-US" sz="1800" dirty="0"/>
              <a:t>Every vendor, every version: prompts must be rewritten</a:t>
            </a:r>
          </a:p>
          <a:p>
            <a:pPr lvl="1"/>
            <a:r>
              <a:rPr lang="en-US" sz="1800" dirty="0"/>
              <a:t>Model-specific tricks = vendor lock-in + technical debt</a:t>
            </a:r>
          </a:p>
          <a:p>
            <a:endParaRPr lang="en-US" sz="1800" dirty="0"/>
          </a:p>
          <a:p>
            <a:r>
              <a:rPr lang="en-US" sz="1800" b="1" dirty="0"/>
              <a:t>Type schemas don't break across versions.</a:t>
            </a:r>
          </a:p>
          <a:p>
            <a:r>
              <a:rPr lang="en-US" sz="1800" b="1" dirty="0"/>
              <a:t>JSON Schema is an industry standard — zero rewrite.</a:t>
            </a:r>
          </a:p>
        </p:txBody>
      </p:sp>
    </p:spTree>
    <p:extLst>
      <p:ext uri="{BB962C8B-B14F-4D97-AF65-F5344CB8AC3E}">
        <p14:creationId xmlns:p14="http://schemas.microsoft.com/office/powerpoint/2010/main" val="33660882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p:txBody>
          <a:bodyPr>
            <a:normAutofit/>
          </a:bodyPr>
          <a:lstStyle/>
          <a:p>
            <a:r>
              <a:rPr lang="en-US" dirty="0"/>
              <a:t>4.4. The Core: Verifiability</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idx="1"/>
          </p:nvPr>
        </p:nvSpPr>
        <p:spPr/>
        <p:txBody>
          <a:bodyPr>
            <a:normAutofit/>
          </a:bodyPr>
          <a:lstStyle/>
          <a:p>
            <a:r>
              <a:rPr lang="en-US" dirty="0"/>
              <a:t>Function calling brings LLM output into software engineering</a:t>
            </a:r>
          </a:p>
          <a:p>
            <a:endParaRPr lang="en-US" dirty="0"/>
          </a:p>
          <a:p>
            <a:r>
              <a:rPr lang="en-US" dirty="0"/>
              <a:t>Structured output → engineering problem</a:t>
            </a:r>
          </a:p>
          <a:p>
            <a:pPr lvl="1"/>
            <a:r>
              <a:rPr lang="en-US" dirty="0"/>
              <a:t>Validation is deterministic — pass/fail</a:t>
            </a:r>
          </a:p>
          <a:p>
            <a:pPr lvl="1"/>
            <a:r>
              <a:rPr lang="en-US" dirty="0"/>
              <a:t>Feedback is precise — "Field X should be Y but got Z"</a:t>
            </a:r>
          </a:p>
          <a:p>
            <a:pPr lvl="1"/>
            <a:r>
              <a:rPr lang="en-US" dirty="0"/>
              <a:t>Correction converges — fix only that part</a:t>
            </a:r>
          </a:p>
          <a:p>
            <a:endParaRPr lang="en-US" dirty="0"/>
          </a:p>
          <a:p>
            <a:r>
              <a:rPr lang="en-US" dirty="0"/>
              <a:t>Type schema + deterministic validator + structured feedback</a:t>
            </a:r>
          </a:p>
          <a:p>
            <a:pPr lvl="1"/>
            <a:r>
              <a:rPr lang="en-US" dirty="0"/>
              <a:t>= harness</a:t>
            </a:r>
          </a:p>
          <a:p>
            <a:pPr lvl="1"/>
            <a:r>
              <a:rPr lang="en-US" dirty="0"/>
              <a:t>6.75% → 100%</a:t>
            </a:r>
          </a:p>
        </p:txBody>
      </p:sp>
    </p:spTree>
    <p:extLst>
      <p:ext uri="{BB962C8B-B14F-4D97-AF65-F5344CB8AC3E}">
        <p14:creationId xmlns:p14="http://schemas.microsoft.com/office/powerpoint/2010/main" val="24110913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p:txBody>
          <a:bodyPr>
            <a:normAutofit/>
          </a:bodyPr>
          <a:lstStyle/>
          <a:p>
            <a:r>
              <a:rPr lang="en-US" dirty="0"/>
              <a:t>4.4. The Core: Verifiability</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idx="1"/>
          </p:nvPr>
        </p:nvSpPr>
        <p:spPr/>
        <p:txBody>
          <a:bodyPr>
            <a:normAutofit/>
          </a:bodyPr>
          <a:lstStyle/>
          <a:p>
            <a:r>
              <a:rPr lang="en-US" dirty="0"/>
              <a:t>Type Schema</a:t>
            </a:r>
          </a:p>
          <a:p>
            <a:r>
              <a:rPr lang="en-US" dirty="0"/>
              <a:t>+ Deterministic Validator</a:t>
            </a:r>
          </a:p>
          <a:p>
            <a:r>
              <a:rPr lang="en-US" dirty="0"/>
              <a:t>+ Structured Feedback</a:t>
            </a:r>
          </a:p>
          <a:p>
            <a:endParaRPr lang="en-US" dirty="0"/>
          </a:p>
          <a:p>
            <a:r>
              <a:rPr lang="en-US" dirty="0"/>
              <a:t>Prompt engineering tries to make the probabilistic part reliable.</a:t>
            </a:r>
          </a:p>
          <a:p>
            <a:r>
              <a:rPr lang="en-US" dirty="0"/>
              <a:t>The harness makes the deterministic part airtight.</a:t>
            </a:r>
          </a:p>
          <a:p>
            <a:endParaRPr lang="en-US" dirty="0"/>
          </a:p>
          <a:p>
            <a:r>
              <a:rPr lang="en-US" dirty="0"/>
              <a:t>In domains that demand precision: 6.75% → 100%</a:t>
            </a:r>
          </a:p>
        </p:txBody>
      </p:sp>
    </p:spTree>
    <p:extLst>
      <p:ext uri="{BB962C8B-B14F-4D97-AF65-F5344CB8AC3E}">
        <p14:creationId xmlns:p14="http://schemas.microsoft.com/office/powerpoint/2010/main" val="22147122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p:txBody>
          <a:bodyPr>
            <a:normAutofit/>
          </a:bodyPr>
          <a:lstStyle/>
          <a:p>
            <a:r>
              <a:rPr lang="en-US" dirty="0"/>
              <a:t>4.4. The Core: Verifiability</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idx="1"/>
          </p:nvPr>
        </p:nvSpPr>
        <p:spPr/>
        <p:txBody>
          <a:bodyPr>
            <a:normAutofit/>
          </a:bodyPr>
          <a:lstStyle/>
          <a:p>
            <a:r>
              <a:rPr lang="en-US" dirty="0"/>
              <a:t>"The LLM doesn't need to be accurate.</a:t>
            </a:r>
          </a:p>
          <a:p>
            <a:r>
              <a:rPr lang="en-US" dirty="0"/>
              <a:t>It just needs to be harnessed."</a:t>
            </a:r>
          </a:p>
          <a:p>
            <a:endParaRPr lang="en-US" dirty="0"/>
          </a:p>
          <a:p>
            <a:r>
              <a:rPr lang="en-US" dirty="0"/>
              <a:t>Correctability is not a property of the model —</a:t>
            </a:r>
          </a:p>
          <a:p>
            <a:r>
              <a:rPr lang="en-US" dirty="0"/>
              <a:t>it's a property of the validation infrastructure.</a:t>
            </a:r>
          </a:p>
        </p:txBody>
      </p:sp>
    </p:spTree>
    <p:extLst>
      <p:ext uri="{BB962C8B-B14F-4D97-AF65-F5344CB8AC3E}">
        <p14:creationId xmlns:p14="http://schemas.microsoft.com/office/powerpoint/2010/main" val="29366121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p:txBody>
          <a:bodyPr>
            <a:normAutofit/>
          </a:bodyPr>
          <a:lstStyle/>
          <a:p>
            <a:r>
              <a:rPr lang="en-US" dirty="0"/>
              <a:t>4.5. This Pattern Is Universal</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idx="1"/>
          </p:nvPr>
        </p:nvSpPr>
        <p:spPr/>
        <p:txBody>
          <a:bodyPr>
            <a:normAutofit/>
          </a:bodyPr>
          <a:lstStyle/>
          <a:p>
            <a:r>
              <a:rPr lang="en-US" dirty="0"/>
              <a:t>Every domain where output is mechanically verifiable</a:t>
            </a:r>
          </a:p>
          <a:p>
            <a:endParaRPr lang="en-US" dirty="0"/>
          </a:p>
          <a:p>
            <a:r>
              <a:rPr lang="en-US" dirty="0"/>
              <a:t>Applicable Domains</a:t>
            </a:r>
          </a:p>
          <a:p>
            <a:pPr lvl="1"/>
            <a:r>
              <a:rPr lang="en-US" dirty="0"/>
              <a:t>Software: type check → compilation → test execution</a:t>
            </a:r>
          </a:p>
          <a:p>
            <a:pPr lvl="1"/>
            <a:r>
              <a:rPr lang="en-US" dirty="0"/>
              <a:t>Semiconductor: DRC → LVS → SPICE simulation</a:t>
            </a:r>
          </a:p>
          <a:p>
            <a:pPr lvl="1"/>
            <a:r>
              <a:rPr lang="en-US" dirty="0"/>
              <a:t>Chemical Process: mass balance → energy balance → simulation</a:t>
            </a:r>
          </a:p>
          <a:p>
            <a:pPr lvl="1"/>
            <a:r>
              <a:rPr lang="en-US" dirty="0"/>
              <a:t>Control Systems: transfer function → stability → time-domain</a:t>
            </a:r>
          </a:p>
          <a:p>
            <a:endParaRPr lang="en-US" dirty="0"/>
          </a:p>
          <a:p>
            <a:r>
              <a:rPr lang="en-US" dirty="0"/>
              <a:t>Inapplicable: creative writing, strategic decisions</a:t>
            </a:r>
          </a:p>
          <a:p>
            <a:pPr lvl="1"/>
            <a:r>
              <a:rPr lang="en-US" dirty="0"/>
              <a:t>No validator → no feedback loop → no convergence</a:t>
            </a:r>
          </a:p>
        </p:txBody>
      </p:sp>
    </p:spTree>
    <p:extLst>
      <p:ext uri="{BB962C8B-B14F-4D97-AF65-F5344CB8AC3E}">
        <p14:creationId xmlns:p14="http://schemas.microsoft.com/office/powerpoint/2010/main" val="25564371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rkBg">
            <a:extLst>
              <a:ext uri="{FF2B5EF4-FFF2-40B4-BE49-F238E27FC236}">
                <a16:creationId xmlns:a16="http://schemas.microsoft.com/office/drawing/2014/main" id="{13D6CDE0-ED4D-44B9-A561-485A02015F23}"/>
              </a:ext>
            </a:extLst>
          </p:cNvPr>
          <p:cNvSpPr/>
          <p:nvPr/>
        </p:nvSpPr>
        <p:spPr>
          <a:xfrm>
            <a:off x="0" y="0"/>
            <a:ext cx="12192000" cy="6858000"/>
          </a:xfrm>
          <a:prstGeom prst="rect">
            <a:avLst/>
          </a:prstGeom>
          <a:solidFill>
            <a:srgbClr val="1A1A2E"/>
          </a:solidFill>
          <a:ln w="1905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
          <p:cNvSpPr/>
          <p:nvPr/>
        </p:nvSpPr>
        <p:spPr>
          <a:xfrm>
            <a:off x="762000" y="317500"/>
            <a:ext cx="10668000" cy="508000"/>
          </a:xfrm>
          <a:prstGeom prst="rect">
            <a:avLst/>
          </a:prstGeom>
          <a:noFill/>
          <a:ln w="0">
            <a:noFill/>
          </a:ln>
        </p:spPr>
        <p:txBody>
          <a:bodyPr wrap="square" lIns="72000" tIns="36000" rIns="72000" bIns="36000" anchor="t"/>
          <a:lstStyle/>
          <a:p>
            <a:pPr>
              <a:buNone/>
            </a:pPr>
            <a:r>
              <a:rPr lang="en-US" sz="2400" b="1" dirty="0">
                <a:solidFill>
                  <a:srgbClr val="F0F0F0"/>
                </a:solidFill>
                <a:latin typeface="Segoe UI Semibold"/>
              </a:rPr>
              <a:t>Semiconductors — Chip Layout Hierarchy</a:t>
            </a:r>
          </a:p>
        </p:txBody>
      </p:sp>
      <p:sp>
        <p:nvSpPr>
          <p:cNvPr id="11" name="AL"/>
          <p:cNvSpPr/>
          <p:nvPr/>
        </p:nvSpPr>
        <p:spPr>
          <a:xfrm>
            <a:off x="762000" y="863600"/>
            <a:ext cx="1524000" cy="38100"/>
          </a:xfrm>
          <a:prstGeom prst="rect">
            <a:avLst/>
          </a:prstGeom>
          <a:solidFill>
            <a:srgbClr val="00D4AA"/>
          </a:solidFill>
          <a:ln w="0">
            <a:noFill/>
          </a:ln>
        </p:spPr>
        <p:txBody>
          <a:bodyPr wrap="square" lIns="72000" tIns="36000" rIns="72000" bIns="36000" anchor="t"/>
          <a:lstStyle/>
          <a:p>
            <a:endParaRPr lang="en-US"/>
          </a:p>
        </p:txBody>
      </p:sp>
      <p:sp>
        <p:nvSpPr>
          <p:cNvPr id="12" name="Sub"/>
          <p:cNvSpPr/>
          <p:nvPr/>
        </p:nvSpPr>
        <p:spPr>
          <a:xfrm>
            <a:off x="762000" y="965200"/>
            <a:ext cx="10668000" cy="317500"/>
          </a:xfrm>
          <a:prstGeom prst="rect">
            <a:avLst/>
          </a:prstGeom>
          <a:noFill/>
          <a:ln w="0">
            <a:noFill/>
          </a:ln>
        </p:spPr>
        <p:txBody>
          <a:bodyPr wrap="square" lIns="72000" tIns="36000" rIns="72000" bIns="36000" anchor="t"/>
          <a:lstStyle/>
          <a:p>
            <a:pPr>
              <a:buNone/>
            </a:pPr>
            <a:r>
              <a:rPr lang="en-US" sz="1800" dirty="0">
                <a:solidFill>
                  <a:srgbClr val="808080"/>
                </a:solidFill>
                <a:latin typeface="Segoe UI"/>
              </a:rPr>
              <a:t>DRC (fast) → LVS (med) → SPICE simulation (deep) — all deterministic</a:t>
            </a:r>
          </a:p>
        </p:txBody>
      </p:sp>
      <p:sp>
        <p:nvSpPr>
          <p:cNvPr id="13" name="CodeBg"/>
          <p:cNvSpPr/>
          <p:nvPr/>
        </p:nvSpPr>
        <p:spPr>
          <a:xfrm>
            <a:off x="508000" y="1333500"/>
            <a:ext cx="11176000" cy="4445000"/>
          </a:xfrm>
          <a:prstGeom prst="rect">
            <a:avLst/>
          </a:prstGeom>
          <a:solidFill>
            <a:srgbClr val="1E1E1E"/>
          </a:solidFill>
          <a:ln w="0">
            <a:noFill/>
          </a:ln>
        </p:spPr>
        <p:txBody>
          <a:bodyPr wrap="square" lIns="72000" tIns="36000" rIns="72000" bIns="36000" anchor="t"/>
          <a:lstStyle/>
          <a:p>
            <a:endParaRPr lang="en-US"/>
          </a:p>
        </p:txBody>
      </p:sp>
      <p:sp>
        <p:nvSpPr>
          <p:cNvPr id="14" name="Code"/>
          <p:cNvSpPr/>
          <p:nvPr/>
        </p:nvSpPr>
        <p:spPr>
          <a:xfrm>
            <a:off x="762000" y="1397000"/>
            <a:ext cx="10795000" cy="4318000"/>
          </a:xfrm>
          <a:prstGeom prst="rect">
            <a:avLst/>
          </a:prstGeom>
          <a:noFill/>
          <a:ln w="0">
            <a:noFill/>
          </a:ln>
        </p:spPr>
        <p:txBody>
          <a:bodyPr wrap="square" lIns="72000" tIns="36000" rIns="72000" bIns="36000" anchor="t"/>
          <a:lstStyle/>
          <a:p>
            <a:pPr>
              <a:buNone/>
            </a:pPr>
            <a:r>
              <a:rPr lang="en-US" sz="1400" dirty="0">
                <a:solidFill>
                  <a:srgbClr val="569CD6"/>
                </a:solidFill>
                <a:latin typeface="Consolas"/>
              </a:rPr>
              <a:t>type </a:t>
            </a:r>
            <a:r>
              <a:rPr lang="en-US" sz="1400" dirty="0">
                <a:solidFill>
                  <a:srgbClr val="4EC9B0"/>
                </a:solidFill>
                <a:latin typeface="Consolas"/>
              </a:rPr>
              <a:t>IBlock</a:t>
            </a:r>
            <a:r>
              <a:rPr lang="en-US" sz="1400" dirty="0">
                <a:solidFill>
                  <a:srgbClr val="D4D4D4"/>
                </a:solidFill>
                <a:latin typeface="Consolas"/>
              </a:rPr>
              <a:t> =</a:t>
            </a:r>
          </a:p>
          <a:p>
            <a:pPr>
              <a:buNone/>
            </a:pPr>
            <a:r>
              <a:rPr lang="en-US" sz="1400" dirty="0">
                <a:solidFill>
                  <a:srgbClr val="D4D4D4"/>
                </a:solidFill>
                <a:latin typeface="Consolas"/>
              </a:rPr>
              <a:t>  | </a:t>
            </a:r>
            <a:r>
              <a:rPr lang="en-US" sz="1400" dirty="0">
                <a:solidFill>
                  <a:srgbClr val="4EC9B0"/>
                </a:solidFill>
                <a:latin typeface="Consolas"/>
              </a:rPr>
              <a:t>ILogicBlock</a:t>
            </a:r>
            <a:r>
              <a:rPr lang="en-US" sz="1400" dirty="0">
                <a:solidFill>
                  <a:srgbClr val="6A9955"/>
                </a:solidFill>
                <a:latin typeface="Consolas"/>
              </a:rPr>
              <a:t>        // children: IBlock[]  ← recursive</a:t>
            </a:r>
          </a:p>
          <a:p>
            <a:pPr>
              <a:buNone/>
            </a:pPr>
            <a:r>
              <a:rPr lang="en-US" sz="1400" dirty="0">
                <a:solidFill>
                  <a:srgbClr val="D4D4D4"/>
                </a:solidFill>
                <a:latin typeface="Consolas"/>
              </a:rPr>
              <a:t>  | </a:t>
            </a:r>
            <a:r>
              <a:rPr lang="en-US" sz="1400" dirty="0">
                <a:solidFill>
                  <a:srgbClr val="4EC9B0"/>
                </a:solidFill>
                <a:latin typeface="Consolas"/>
              </a:rPr>
              <a:t>IMemoryBlock</a:t>
            </a:r>
            <a:r>
              <a:rPr lang="en-US" sz="1400" dirty="0">
                <a:solidFill>
                  <a:srgbClr val="6A9955"/>
                </a:solidFill>
                <a:latin typeface="Consolas"/>
              </a:rPr>
              <a:t>       // children: IBlock[]  ← SRAM, DRAM, ROM, Flash, MRAM</a:t>
            </a:r>
          </a:p>
          <a:p>
            <a:pPr>
              <a:buNone/>
            </a:pPr>
            <a:r>
              <a:rPr lang="en-US" sz="1400" dirty="0">
                <a:solidFill>
                  <a:srgbClr val="D4D4D4"/>
                </a:solidFill>
                <a:latin typeface="Consolas"/>
              </a:rPr>
              <a:t>  | </a:t>
            </a:r>
            <a:r>
              <a:rPr lang="en-US" sz="1400" dirty="0">
                <a:solidFill>
                  <a:srgbClr val="4EC9B0"/>
                </a:solidFill>
                <a:latin typeface="Consolas"/>
              </a:rPr>
              <a:t>IAnalogBlock</a:t>
            </a:r>
            <a:r>
              <a:rPr lang="en-US" sz="1400" dirty="0">
                <a:solidFill>
                  <a:srgbClr val="6A9955"/>
                </a:solidFill>
                <a:latin typeface="Consolas"/>
              </a:rPr>
              <a:t>       // children: IBlock[]  ← PLL, ADC, DAC, SerDes, LDO</a:t>
            </a:r>
          </a:p>
          <a:p>
            <a:pPr>
              <a:buNone/>
            </a:pPr>
            <a:r>
              <a:rPr lang="en-US" sz="1400" dirty="0">
                <a:solidFill>
                  <a:srgbClr val="D4D4D4"/>
                </a:solidFill>
                <a:latin typeface="Consolas"/>
              </a:rPr>
              <a:t>  | </a:t>
            </a:r>
            <a:r>
              <a:rPr lang="en-US" sz="1400" dirty="0">
                <a:solidFill>
                  <a:srgbClr val="4EC9B0"/>
                </a:solidFill>
                <a:latin typeface="Consolas"/>
              </a:rPr>
              <a:t>IIOBlock</a:t>
            </a:r>
            <a:r>
              <a:rPr lang="en-US" sz="1400" dirty="0">
                <a:solidFill>
                  <a:srgbClr val="D4D4D4"/>
                </a:solidFill>
                <a:latin typeface="Consolas"/>
              </a:rPr>
              <a:t> | </a:t>
            </a:r>
            <a:r>
              <a:rPr lang="en-US" sz="1400" dirty="0">
                <a:solidFill>
                  <a:srgbClr val="4EC9B0"/>
                </a:solidFill>
                <a:latin typeface="Consolas"/>
              </a:rPr>
              <a:t>IClockTree</a:t>
            </a:r>
            <a:r>
              <a:rPr lang="en-US" sz="1400" dirty="0">
                <a:solidFill>
                  <a:srgbClr val="D4D4D4"/>
                </a:solidFill>
                <a:latin typeface="Consolas"/>
              </a:rPr>
              <a:t> | </a:t>
            </a:r>
            <a:r>
              <a:rPr lang="en-US" sz="1400" dirty="0">
                <a:solidFill>
                  <a:srgbClr val="4EC9B0"/>
                </a:solidFill>
                <a:latin typeface="Consolas"/>
              </a:rPr>
              <a:t>IInterconnect</a:t>
            </a:r>
            <a:r>
              <a:rPr lang="en-US" sz="1400" dirty="0">
                <a:solidFill>
                  <a:srgbClr val="D4D4D4"/>
                </a:solidFill>
                <a:latin typeface="Consolas"/>
              </a:rPr>
              <a:t> | </a:t>
            </a:r>
            <a:r>
              <a:rPr lang="en-US" sz="1400" dirty="0">
                <a:solidFill>
                  <a:srgbClr val="4EC9B0"/>
                </a:solidFill>
                <a:latin typeface="Consolas"/>
              </a:rPr>
              <a:t>IPowerGrid</a:t>
            </a:r>
            <a:r>
              <a:rPr lang="en-US" sz="1400" dirty="0">
                <a:solidFill>
                  <a:srgbClr val="D4D4D4"/>
                </a:solidFill>
                <a:latin typeface="Consolas"/>
              </a:rPr>
              <a:t> | </a:t>
            </a:r>
            <a:r>
              <a:rPr lang="en-US" sz="1400" dirty="0">
                <a:solidFill>
                  <a:srgbClr val="4EC9B0"/>
                </a:solidFill>
                <a:latin typeface="Consolas"/>
              </a:rPr>
              <a:t>ICPU</a:t>
            </a:r>
            <a:r>
              <a:rPr lang="en-US" sz="1400" dirty="0">
                <a:solidFill>
                  <a:srgbClr val="D4D4D4"/>
                </a:solidFill>
                <a:latin typeface="Consolas"/>
              </a:rPr>
              <a:t> | </a:t>
            </a:r>
            <a:r>
              <a:rPr lang="en-US" sz="1400" dirty="0">
                <a:solidFill>
                  <a:srgbClr val="4EC9B0"/>
                </a:solidFill>
                <a:latin typeface="Consolas"/>
              </a:rPr>
              <a:t>IGPU</a:t>
            </a:r>
          </a:p>
          <a:p>
            <a:pPr>
              <a:buNone/>
            </a:pPr>
            <a:r>
              <a:rPr lang="en-US" sz="1400" dirty="0">
                <a:solidFill>
                  <a:srgbClr val="D4D4D4"/>
                </a:solidFill>
                <a:latin typeface="Consolas"/>
              </a:rPr>
              <a:t>  | </a:t>
            </a:r>
            <a:r>
              <a:rPr lang="en-US" sz="1400" dirty="0">
                <a:solidFill>
                  <a:srgbClr val="4EC9B0"/>
                </a:solidFill>
                <a:latin typeface="Consolas"/>
              </a:rPr>
              <a:t>INPU</a:t>
            </a:r>
            <a:r>
              <a:rPr lang="en-US" sz="1400" dirty="0">
                <a:solidFill>
                  <a:srgbClr val="D4D4D4"/>
                </a:solidFill>
                <a:latin typeface="Consolas"/>
              </a:rPr>
              <a:t> | </a:t>
            </a:r>
            <a:r>
              <a:rPr lang="en-US" sz="1400" dirty="0">
                <a:solidFill>
                  <a:srgbClr val="4EC9B0"/>
                </a:solidFill>
                <a:latin typeface="Consolas"/>
              </a:rPr>
              <a:t>IDSP</a:t>
            </a:r>
            <a:r>
              <a:rPr lang="en-US" sz="1400" dirty="0">
                <a:solidFill>
                  <a:srgbClr val="D4D4D4"/>
                </a:solidFill>
                <a:latin typeface="Consolas"/>
              </a:rPr>
              <a:t> | </a:t>
            </a:r>
            <a:r>
              <a:rPr lang="en-US" sz="1400" dirty="0">
                <a:solidFill>
                  <a:srgbClr val="4EC9B0"/>
                </a:solidFill>
                <a:latin typeface="Consolas"/>
              </a:rPr>
              <a:t>ISecurityBlock</a:t>
            </a:r>
            <a:r>
              <a:rPr lang="en-US" sz="1400" dirty="0">
                <a:solidFill>
                  <a:srgbClr val="D4D4D4"/>
                </a:solidFill>
                <a:latin typeface="Consolas"/>
              </a:rPr>
              <a:t> | </a:t>
            </a:r>
            <a:r>
              <a:rPr lang="en-US" sz="1400" dirty="0">
                <a:solidFill>
                  <a:srgbClr val="4EC9B0"/>
                </a:solidFill>
                <a:latin typeface="Consolas"/>
              </a:rPr>
              <a:t>IDebugBlock</a:t>
            </a:r>
            <a:r>
              <a:rPr lang="en-US" sz="1400" dirty="0">
                <a:solidFill>
                  <a:srgbClr val="D4D4D4"/>
                </a:solidFill>
                <a:latin typeface="Consolas"/>
              </a:rPr>
              <a:t> | </a:t>
            </a:r>
            <a:r>
              <a:rPr lang="en-US" sz="1400" dirty="0">
                <a:solidFill>
                  <a:srgbClr val="4EC9B0"/>
                </a:solidFill>
                <a:latin typeface="Consolas"/>
              </a:rPr>
              <a:t>IPhyBlock</a:t>
            </a:r>
            <a:r>
              <a:rPr lang="en-US" sz="1400" dirty="0">
                <a:solidFill>
                  <a:srgbClr val="D4D4D4"/>
                </a:solidFill>
                <a:latin typeface="Consolas"/>
              </a:rPr>
              <a:t>;</a:t>
            </a:r>
          </a:p>
          <a:p>
            <a:pPr>
              <a:buNone/>
            </a:pPr>
            <a:endParaRPr lang="en-US" sz="1400" dirty="0">
              <a:latin typeface="Consolas"/>
            </a:endParaRPr>
          </a:p>
          <a:p>
            <a:pPr>
              <a:buNone/>
            </a:pPr>
            <a:r>
              <a:rPr lang="en-US" sz="1400" dirty="0">
                <a:solidFill>
                  <a:srgbClr val="569CD6"/>
                </a:solidFill>
                <a:latin typeface="Consolas"/>
              </a:rPr>
              <a:t>type </a:t>
            </a:r>
            <a:r>
              <a:rPr lang="en-US" sz="1400" dirty="0">
                <a:solidFill>
                  <a:srgbClr val="4EC9B0"/>
                </a:solidFill>
                <a:latin typeface="Consolas"/>
              </a:rPr>
              <a:t>IStandardCell</a:t>
            </a:r>
            <a:r>
              <a:rPr lang="en-US" sz="1400" dirty="0">
                <a:solidFill>
                  <a:srgbClr val="D4D4D4"/>
                </a:solidFill>
                <a:latin typeface="Consolas"/>
              </a:rPr>
              <a:t> =</a:t>
            </a:r>
            <a:r>
              <a:rPr lang="en-US" sz="1400" dirty="0">
                <a:solidFill>
                  <a:srgbClr val="6A9955"/>
                </a:solidFill>
                <a:latin typeface="Consolas"/>
              </a:rPr>
              <a:t>                    // hundreds per PDK</a:t>
            </a:r>
          </a:p>
          <a:p>
            <a:pPr>
              <a:buNone/>
            </a:pPr>
            <a:r>
              <a:rPr lang="en-US" sz="1400" dirty="0">
                <a:solidFill>
                  <a:srgbClr val="D4D4D4"/>
                </a:solidFill>
                <a:latin typeface="Consolas"/>
              </a:rPr>
              <a:t>  | </a:t>
            </a:r>
            <a:r>
              <a:rPr lang="en-US" sz="1400" dirty="0">
                <a:solidFill>
                  <a:srgbClr val="4EC9B0"/>
                </a:solidFill>
                <a:latin typeface="Consolas"/>
              </a:rPr>
              <a:t>IAND</a:t>
            </a:r>
            <a:r>
              <a:rPr lang="en-US" sz="1400" dirty="0">
                <a:solidFill>
                  <a:srgbClr val="D4D4D4"/>
                </a:solidFill>
                <a:latin typeface="Consolas"/>
              </a:rPr>
              <a:t> | </a:t>
            </a:r>
            <a:r>
              <a:rPr lang="en-US" sz="1400" dirty="0">
                <a:solidFill>
                  <a:srgbClr val="4EC9B0"/>
                </a:solidFill>
                <a:latin typeface="Consolas"/>
              </a:rPr>
              <a:t>IOR</a:t>
            </a:r>
            <a:r>
              <a:rPr lang="en-US" sz="1400" dirty="0">
                <a:solidFill>
                  <a:srgbClr val="D4D4D4"/>
                </a:solidFill>
                <a:latin typeface="Consolas"/>
              </a:rPr>
              <a:t> | </a:t>
            </a:r>
            <a:r>
              <a:rPr lang="en-US" sz="1400" dirty="0">
                <a:solidFill>
                  <a:srgbClr val="4EC9B0"/>
                </a:solidFill>
                <a:latin typeface="Consolas"/>
              </a:rPr>
              <a:t>INAND</a:t>
            </a:r>
            <a:r>
              <a:rPr lang="en-US" sz="1400" dirty="0">
                <a:solidFill>
                  <a:srgbClr val="D4D4D4"/>
                </a:solidFill>
                <a:latin typeface="Consolas"/>
              </a:rPr>
              <a:t> | </a:t>
            </a:r>
            <a:r>
              <a:rPr lang="en-US" sz="1400" dirty="0">
                <a:solidFill>
                  <a:srgbClr val="4EC9B0"/>
                </a:solidFill>
                <a:latin typeface="Consolas"/>
              </a:rPr>
              <a:t>INOR</a:t>
            </a:r>
            <a:r>
              <a:rPr lang="en-US" sz="1400" dirty="0">
                <a:solidFill>
                  <a:srgbClr val="D4D4D4"/>
                </a:solidFill>
                <a:latin typeface="Consolas"/>
              </a:rPr>
              <a:t> | </a:t>
            </a:r>
            <a:r>
              <a:rPr lang="en-US" sz="1400" dirty="0">
                <a:solidFill>
                  <a:srgbClr val="4EC9B0"/>
                </a:solidFill>
                <a:latin typeface="Consolas"/>
              </a:rPr>
              <a:t>IXOR</a:t>
            </a:r>
            <a:r>
              <a:rPr lang="en-US" sz="1400" dirty="0">
                <a:solidFill>
                  <a:srgbClr val="D4D4D4"/>
                </a:solidFill>
                <a:latin typeface="Consolas"/>
              </a:rPr>
              <a:t> | </a:t>
            </a:r>
            <a:r>
              <a:rPr lang="en-US" sz="1400" dirty="0">
                <a:solidFill>
                  <a:srgbClr val="4EC9B0"/>
                </a:solidFill>
                <a:latin typeface="Consolas"/>
              </a:rPr>
              <a:t>IXNOR</a:t>
            </a:r>
            <a:r>
              <a:rPr lang="en-US" sz="1400" dirty="0">
                <a:solidFill>
                  <a:srgbClr val="D4D4D4"/>
                </a:solidFill>
                <a:latin typeface="Consolas"/>
              </a:rPr>
              <a:t> | </a:t>
            </a:r>
            <a:r>
              <a:rPr lang="en-US" sz="1400" dirty="0">
                <a:solidFill>
                  <a:srgbClr val="4EC9B0"/>
                </a:solidFill>
                <a:latin typeface="Consolas"/>
              </a:rPr>
              <a:t>INOT</a:t>
            </a:r>
            <a:r>
              <a:rPr lang="en-US" sz="1400" dirty="0">
                <a:solidFill>
                  <a:srgbClr val="D4D4D4"/>
                </a:solidFill>
                <a:latin typeface="Consolas"/>
              </a:rPr>
              <a:t> | </a:t>
            </a:r>
            <a:r>
              <a:rPr lang="en-US" sz="1400" dirty="0">
                <a:solidFill>
                  <a:srgbClr val="4EC9B0"/>
                </a:solidFill>
                <a:latin typeface="Consolas"/>
              </a:rPr>
              <a:t>IBUF</a:t>
            </a:r>
            <a:r>
              <a:rPr lang="en-US" sz="1400" dirty="0">
                <a:solidFill>
                  <a:srgbClr val="D4D4D4"/>
                </a:solidFill>
                <a:latin typeface="Consolas"/>
              </a:rPr>
              <a:t> | </a:t>
            </a:r>
            <a:r>
              <a:rPr lang="en-US" sz="1400" dirty="0">
                <a:solidFill>
                  <a:srgbClr val="4EC9B0"/>
                </a:solidFill>
                <a:latin typeface="Consolas"/>
              </a:rPr>
              <a:t>IMUX</a:t>
            </a:r>
            <a:r>
              <a:rPr lang="en-US" sz="1400" dirty="0">
                <a:solidFill>
                  <a:srgbClr val="D4D4D4"/>
                </a:solidFill>
                <a:latin typeface="Consolas"/>
              </a:rPr>
              <a:t> | </a:t>
            </a:r>
            <a:r>
              <a:rPr lang="en-US" sz="1400" dirty="0">
                <a:solidFill>
                  <a:srgbClr val="4EC9B0"/>
                </a:solidFill>
                <a:latin typeface="Consolas"/>
              </a:rPr>
              <a:t>IDEMUX</a:t>
            </a:r>
          </a:p>
          <a:p>
            <a:pPr>
              <a:buNone/>
            </a:pPr>
            <a:r>
              <a:rPr lang="en-US" sz="1400" dirty="0">
                <a:solidFill>
                  <a:srgbClr val="D4D4D4"/>
                </a:solidFill>
                <a:latin typeface="Consolas"/>
              </a:rPr>
              <a:t>  | </a:t>
            </a:r>
            <a:r>
              <a:rPr lang="en-US" sz="1400" dirty="0">
                <a:solidFill>
                  <a:srgbClr val="4EC9B0"/>
                </a:solidFill>
                <a:latin typeface="Consolas"/>
              </a:rPr>
              <a:t>IAOI</a:t>
            </a:r>
            <a:r>
              <a:rPr lang="en-US" sz="1400" dirty="0">
                <a:solidFill>
                  <a:srgbClr val="D4D4D4"/>
                </a:solidFill>
                <a:latin typeface="Consolas"/>
              </a:rPr>
              <a:t> | </a:t>
            </a:r>
            <a:r>
              <a:rPr lang="en-US" sz="1400" dirty="0">
                <a:solidFill>
                  <a:srgbClr val="4EC9B0"/>
                </a:solidFill>
                <a:latin typeface="Consolas"/>
              </a:rPr>
              <a:t>IOAI</a:t>
            </a:r>
            <a:r>
              <a:rPr lang="en-US" sz="1400" dirty="0">
                <a:solidFill>
                  <a:srgbClr val="D4D4D4"/>
                </a:solidFill>
                <a:latin typeface="Consolas"/>
              </a:rPr>
              <a:t> | </a:t>
            </a:r>
            <a:r>
              <a:rPr lang="en-US" sz="1400" dirty="0">
                <a:solidFill>
                  <a:srgbClr val="4EC9B0"/>
                </a:solidFill>
                <a:latin typeface="Consolas"/>
              </a:rPr>
              <a:t>IHA</a:t>
            </a:r>
            <a:r>
              <a:rPr lang="en-US" sz="1400" dirty="0">
                <a:solidFill>
                  <a:srgbClr val="D4D4D4"/>
                </a:solidFill>
                <a:latin typeface="Consolas"/>
              </a:rPr>
              <a:t> | </a:t>
            </a:r>
            <a:r>
              <a:rPr lang="en-US" sz="1400" dirty="0">
                <a:solidFill>
                  <a:srgbClr val="4EC9B0"/>
                </a:solidFill>
                <a:latin typeface="Consolas"/>
              </a:rPr>
              <a:t>IFA</a:t>
            </a:r>
            <a:r>
              <a:rPr lang="en-US" sz="1400" dirty="0">
                <a:solidFill>
                  <a:srgbClr val="D4D4D4"/>
                </a:solidFill>
                <a:latin typeface="Consolas"/>
              </a:rPr>
              <a:t> | </a:t>
            </a:r>
            <a:r>
              <a:rPr lang="en-US" sz="1400" dirty="0">
                <a:solidFill>
                  <a:srgbClr val="4EC9B0"/>
                </a:solidFill>
                <a:latin typeface="Consolas"/>
              </a:rPr>
              <a:t>IDFF</a:t>
            </a:r>
            <a:r>
              <a:rPr lang="en-US" sz="1400" dirty="0">
                <a:solidFill>
                  <a:srgbClr val="D4D4D4"/>
                </a:solidFill>
                <a:latin typeface="Consolas"/>
              </a:rPr>
              <a:t> | </a:t>
            </a:r>
            <a:r>
              <a:rPr lang="en-US" sz="1400" dirty="0">
                <a:solidFill>
                  <a:srgbClr val="4EC9B0"/>
                </a:solidFill>
                <a:latin typeface="Consolas"/>
              </a:rPr>
              <a:t>IJKFF</a:t>
            </a:r>
            <a:r>
              <a:rPr lang="en-US" sz="1400" dirty="0">
                <a:solidFill>
                  <a:srgbClr val="D4D4D4"/>
                </a:solidFill>
                <a:latin typeface="Consolas"/>
              </a:rPr>
              <a:t> | </a:t>
            </a:r>
            <a:r>
              <a:rPr lang="en-US" sz="1400" dirty="0">
                <a:solidFill>
                  <a:srgbClr val="4EC9B0"/>
                </a:solidFill>
                <a:latin typeface="Consolas"/>
              </a:rPr>
              <a:t>ILatch</a:t>
            </a:r>
            <a:r>
              <a:rPr lang="en-US" sz="1400" dirty="0">
                <a:solidFill>
                  <a:srgbClr val="D4D4D4"/>
                </a:solidFill>
                <a:latin typeface="Consolas"/>
              </a:rPr>
              <a:t> | </a:t>
            </a:r>
            <a:r>
              <a:rPr lang="en-US" sz="1400" dirty="0">
                <a:solidFill>
                  <a:srgbClr val="4EC9B0"/>
                </a:solidFill>
                <a:latin typeface="Consolas"/>
              </a:rPr>
              <a:t>IScanFF</a:t>
            </a:r>
            <a:r>
              <a:rPr lang="en-US" sz="1400" dirty="0">
                <a:solidFill>
                  <a:srgbClr val="D4D4D4"/>
                </a:solidFill>
                <a:latin typeface="Consolas"/>
              </a:rPr>
              <a:t> | </a:t>
            </a:r>
            <a:r>
              <a:rPr lang="en-US" sz="1400" dirty="0">
                <a:solidFill>
                  <a:srgbClr val="4EC9B0"/>
                </a:solidFill>
                <a:latin typeface="Consolas"/>
              </a:rPr>
              <a:t>IRetentionFF</a:t>
            </a:r>
          </a:p>
          <a:p>
            <a:pPr>
              <a:buNone/>
            </a:pPr>
            <a:r>
              <a:rPr lang="en-US" sz="1400" dirty="0">
                <a:solidFill>
                  <a:srgbClr val="D4D4D4"/>
                </a:solidFill>
                <a:latin typeface="Consolas"/>
              </a:rPr>
              <a:t>  | </a:t>
            </a:r>
            <a:r>
              <a:rPr lang="en-US" sz="1400" dirty="0">
                <a:solidFill>
                  <a:srgbClr val="4EC9B0"/>
                </a:solidFill>
                <a:latin typeface="Consolas"/>
              </a:rPr>
              <a:t>IICG</a:t>
            </a:r>
            <a:r>
              <a:rPr lang="en-US" sz="1400" dirty="0">
                <a:solidFill>
                  <a:srgbClr val="D4D4D4"/>
                </a:solidFill>
                <a:latin typeface="Consolas"/>
              </a:rPr>
              <a:t> | </a:t>
            </a:r>
            <a:r>
              <a:rPr lang="en-US" sz="1400" dirty="0">
                <a:solidFill>
                  <a:srgbClr val="4EC9B0"/>
                </a:solidFill>
                <a:latin typeface="Consolas"/>
              </a:rPr>
              <a:t>IClkBuf</a:t>
            </a:r>
            <a:r>
              <a:rPr lang="en-US" sz="1400" dirty="0">
                <a:solidFill>
                  <a:srgbClr val="D4D4D4"/>
                </a:solidFill>
                <a:latin typeface="Consolas"/>
              </a:rPr>
              <a:t> | </a:t>
            </a:r>
            <a:r>
              <a:rPr lang="en-US" sz="1400" dirty="0">
                <a:solidFill>
                  <a:srgbClr val="4EC9B0"/>
                </a:solidFill>
                <a:latin typeface="Consolas"/>
              </a:rPr>
              <a:t>IClkInv</a:t>
            </a:r>
            <a:r>
              <a:rPr lang="en-US" sz="1400" dirty="0">
                <a:solidFill>
                  <a:srgbClr val="D4D4D4"/>
                </a:solidFill>
                <a:latin typeface="Consolas"/>
              </a:rPr>
              <a:t> | </a:t>
            </a:r>
            <a:r>
              <a:rPr lang="en-US" sz="1400" dirty="0">
                <a:solidFill>
                  <a:srgbClr val="4EC9B0"/>
                </a:solidFill>
                <a:latin typeface="Consolas"/>
              </a:rPr>
              <a:t>ITieCell</a:t>
            </a:r>
            <a:r>
              <a:rPr lang="en-US" sz="1400" dirty="0">
                <a:solidFill>
                  <a:srgbClr val="D4D4D4"/>
                </a:solidFill>
                <a:latin typeface="Consolas"/>
              </a:rPr>
              <a:t> | </a:t>
            </a:r>
            <a:r>
              <a:rPr lang="en-US" sz="1400" dirty="0">
                <a:solidFill>
                  <a:srgbClr val="4EC9B0"/>
                </a:solidFill>
                <a:latin typeface="Consolas"/>
              </a:rPr>
              <a:t>ITapCell</a:t>
            </a:r>
            <a:r>
              <a:rPr lang="en-US" sz="1400" dirty="0">
                <a:solidFill>
                  <a:srgbClr val="D4D4D4"/>
                </a:solidFill>
                <a:latin typeface="Consolas"/>
              </a:rPr>
              <a:t> | </a:t>
            </a:r>
            <a:r>
              <a:rPr lang="en-US" sz="1400" dirty="0">
                <a:solidFill>
                  <a:srgbClr val="4EC9B0"/>
                </a:solidFill>
                <a:latin typeface="Consolas"/>
              </a:rPr>
              <a:t>IFiller</a:t>
            </a:r>
            <a:r>
              <a:rPr lang="en-US" sz="1400" dirty="0">
                <a:solidFill>
                  <a:srgbClr val="D4D4D4"/>
                </a:solidFill>
                <a:latin typeface="Consolas"/>
              </a:rPr>
              <a:t> | </a:t>
            </a:r>
            <a:r>
              <a:rPr lang="en-US" sz="1400" dirty="0">
                <a:solidFill>
                  <a:srgbClr val="4EC9B0"/>
                </a:solidFill>
                <a:latin typeface="Consolas"/>
              </a:rPr>
              <a:t>IDecap</a:t>
            </a:r>
            <a:r>
              <a:rPr lang="en-US" sz="1400" dirty="0">
                <a:solidFill>
                  <a:srgbClr val="D4D4D4"/>
                </a:solidFill>
                <a:latin typeface="Consolas"/>
              </a:rPr>
              <a:t> | </a:t>
            </a:r>
            <a:r>
              <a:rPr lang="en-US" sz="1400" dirty="0">
                <a:solidFill>
                  <a:srgbClr val="4EC9B0"/>
                </a:solidFill>
                <a:latin typeface="Consolas"/>
              </a:rPr>
              <a:t>IEndcap</a:t>
            </a:r>
          </a:p>
          <a:p>
            <a:pPr>
              <a:buNone/>
            </a:pPr>
            <a:r>
              <a:rPr lang="en-US" sz="1400" dirty="0">
                <a:solidFill>
                  <a:srgbClr val="D4D4D4"/>
                </a:solidFill>
                <a:latin typeface="Consolas"/>
              </a:rPr>
              <a:t>  | </a:t>
            </a:r>
            <a:r>
              <a:rPr lang="en-US" sz="1400" dirty="0">
                <a:solidFill>
                  <a:srgbClr val="4EC9B0"/>
                </a:solidFill>
                <a:latin typeface="Consolas"/>
              </a:rPr>
              <a:t>ILevelShifter</a:t>
            </a:r>
            <a:r>
              <a:rPr lang="en-US" sz="1400" dirty="0">
                <a:solidFill>
                  <a:srgbClr val="D4D4D4"/>
                </a:solidFill>
                <a:latin typeface="Consolas"/>
              </a:rPr>
              <a:t> | </a:t>
            </a:r>
            <a:r>
              <a:rPr lang="en-US" sz="1400" dirty="0">
                <a:solidFill>
                  <a:srgbClr val="4EC9B0"/>
                </a:solidFill>
                <a:latin typeface="Consolas"/>
              </a:rPr>
              <a:t>IIsolationCell</a:t>
            </a:r>
            <a:r>
              <a:rPr lang="en-US" sz="1400" dirty="0">
                <a:solidFill>
                  <a:srgbClr val="D4D4D4"/>
                </a:solidFill>
                <a:latin typeface="Consolas"/>
              </a:rPr>
              <a:t> | </a:t>
            </a:r>
            <a:r>
              <a:rPr lang="en-US" sz="1400" dirty="0">
                <a:solidFill>
                  <a:srgbClr val="4EC9B0"/>
                </a:solidFill>
                <a:latin typeface="Consolas"/>
              </a:rPr>
              <a:t>IPowerGate</a:t>
            </a:r>
            <a:r>
              <a:rPr lang="en-US" sz="1400" dirty="0">
                <a:solidFill>
                  <a:srgbClr val="D4D4D4"/>
                </a:solidFill>
                <a:latin typeface="Consolas"/>
              </a:rPr>
              <a:t> | </a:t>
            </a:r>
            <a:r>
              <a:rPr lang="en-US" sz="1400" dirty="0">
                <a:solidFill>
                  <a:srgbClr val="4EC9B0"/>
                </a:solidFill>
                <a:latin typeface="Consolas"/>
              </a:rPr>
              <a:t>IAntennaCell</a:t>
            </a:r>
            <a:r>
              <a:rPr lang="en-US" sz="1400" dirty="0">
                <a:solidFill>
                  <a:srgbClr val="D4D4D4"/>
                </a:solidFill>
                <a:latin typeface="Consolas"/>
              </a:rPr>
              <a:t> | </a:t>
            </a:r>
            <a:r>
              <a:rPr lang="en-US" sz="1400" dirty="0">
                <a:solidFill>
                  <a:srgbClr val="4EC9B0"/>
                </a:solidFill>
                <a:latin typeface="Consolas"/>
              </a:rPr>
              <a:t>ISpareCell</a:t>
            </a:r>
            <a:r>
              <a:rPr lang="en-US" sz="1400" dirty="0">
                <a:solidFill>
                  <a:srgbClr val="D4D4D4"/>
                </a:solidFill>
                <a:latin typeface="Consolas"/>
              </a:rPr>
              <a:t> | </a:t>
            </a:r>
            <a:r>
              <a:rPr lang="en-US" sz="1400" dirty="0">
                <a:solidFill>
                  <a:srgbClr val="4EC9B0"/>
                </a:solidFill>
                <a:latin typeface="Consolas"/>
              </a:rPr>
              <a:t>IECOCell</a:t>
            </a:r>
            <a:r>
              <a:rPr lang="en-US" sz="1400" dirty="0">
                <a:solidFill>
                  <a:srgbClr val="D4D4D4"/>
                </a:solidFill>
                <a:latin typeface="Consolas"/>
              </a:rPr>
              <a:t> | ...</a:t>
            </a:r>
          </a:p>
          <a:p>
            <a:pPr>
              <a:buNone/>
            </a:pPr>
            <a:endParaRPr lang="en-US" sz="1400" dirty="0">
              <a:latin typeface="Consolas"/>
            </a:endParaRPr>
          </a:p>
          <a:p>
            <a:pPr>
              <a:buNone/>
            </a:pPr>
            <a:r>
              <a:rPr lang="en-US" sz="1400" dirty="0">
                <a:solidFill>
                  <a:srgbClr val="6A9955"/>
                </a:solidFill>
                <a:latin typeface="Consolas"/>
              </a:rPr>
              <a:t>// IBlock contains IBlock[] — recursive like IJsonSchema</a:t>
            </a:r>
          </a:p>
          <a:p>
            <a:pPr>
              <a:buNone/>
            </a:pPr>
            <a:r>
              <a:rPr lang="en-US" sz="1400" dirty="0">
                <a:solidFill>
                  <a:srgbClr val="6A9955"/>
                </a:solidFill>
                <a:latin typeface="Consolas"/>
              </a:rPr>
              <a:t>// each ILogicBlock.cells: IStandardCell[] — union within union</a:t>
            </a:r>
          </a:p>
          <a:p>
            <a:pPr>
              <a:buNone/>
            </a:pPr>
            <a:r>
              <a:rPr lang="en-US" sz="1400" dirty="0">
                <a:solidFill>
                  <a:srgbClr val="6A9955"/>
                </a:solidFill>
                <a:latin typeface="Consolas"/>
              </a:rPr>
              <a:t>// DRC → LVS → SPICE — all deterministic, all validatable</a:t>
            </a:r>
          </a:p>
        </p:txBody>
      </p:sp>
      <p:sp>
        <p:nvSpPr>
          <p:cNvPr id="15" name="Badge"/>
          <p:cNvSpPr/>
          <p:nvPr/>
        </p:nvSpPr>
        <p:spPr>
          <a:xfrm>
            <a:off x="1270000" y="5943600"/>
            <a:ext cx="9652000" cy="457200"/>
          </a:xfrm>
          <a:prstGeom prst="rect">
            <a:avLst/>
          </a:prstGeom>
          <a:noFill/>
          <a:ln w="0">
            <a:noFill/>
          </a:ln>
        </p:spPr>
        <p:txBody>
          <a:bodyPr wrap="square" lIns="36000" tIns="18000" rIns="36000" bIns="18000" anchor="ctr"/>
          <a:lstStyle/>
          <a:p>
            <a:pPr algn="ctr">
              <a:buNone/>
            </a:pPr>
            <a:r>
              <a:rPr lang="en-US" sz="1800" b="1" dirty="0">
                <a:solidFill>
                  <a:srgbClr val="4A90D9"/>
                </a:solidFill>
                <a:latin typeface="Segoe UI Semibold"/>
              </a:rPr>
              <a:t>Physical rules of chip design are not negotiable</a:t>
            </a:r>
          </a:p>
        </p:txBody>
      </p:sp>
    </p:spTree>
    <p:extLst>
      <p:ext uri="{BB962C8B-B14F-4D97-AF65-F5344CB8AC3E}">
        <p14:creationId xmlns:p14="http://schemas.microsoft.com/office/powerpoint/2010/main" val="6664964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rkBg">
            <a:extLst>
              <a:ext uri="{FF2B5EF4-FFF2-40B4-BE49-F238E27FC236}">
                <a16:creationId xmlns:a16="http://schemas.microsoft.com/office/drawing/2014/main" id="{D1589C49-AEB4-4B73-A923-235E358A5E1F}"/>
              </a:ext>
            </a:extLst>
          </p:cNvPr>
          <p:cNvSpPr/>
          <p:nvPr/>
        </p:nvSpPr>
        <p:spPr>
          <a:xfrm>
            <a:off x="0" y="0"/>
            <a:ext cx="12192000" cy="6858000"/>
          </a:xfrm>
          <a:prstGeom prst="rect">
            <a:avLst/>
          </a:prstGeom>
          <a:solidFill>
            <a:srgbClr val="1A1A2E"/>
          </a:solidFill>
          <a:ln w="1905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
          <p:cNvSpPr/>
          <p:nvPr/>
        </p:nvSpPr>
        <p:spPr>
          <a:xfrm>
            <a:off x="762000" y="317500"/>
            <a:ext cx="10668000" cy="508000"/>
          </a:xfrm>
          <a:prstGeom prst="rect">
            <a:avLst/>
          </a:prstGeom>
          <a:noFill/>
          <a:ln w="0">
            <a:noFill/>
          </a:ln>
        </p:spPr>
        <p:txBody>
          <a:bodyPr wrap="square" lIns="72000" tIns="36000" rIns="72000" bIns="36000" anchor="t"/>
          <a:lstStyle/>
          <a:p>
            <a:pPr>
              <a:buNone/>
            </a:pPr>
            <a:r>
              <a:rPr lang="en-US" sz="2400" b="1" dirty="0">
                <a:solidFill>
                  <a:srgbClr val="F0F0F0"/>
                </a:solidFill>
                <a:latin typeface="Segoe UI Semibold"/>
              </a:rPr>
              <a:t>Chemical Process — Unit Operations</a:t>
            </a:r>
          </a:p>
        </p:txBody>
      </p:sp>
      <p:sp>
        <p:nvSpPr>
          <p:cNvPr id="11" name="AL"/>
          <p:cNvSpPr/>
          <p:nvPr/>
        </p:nvSpPr>
        <p:spPr>
          <a:xfrm>
            <a:off x="762000" y="863600"/>
            <a:ext cx="1524000" cy="38100"/>
          </a:xfrm>
          <a:prstGeom prst="rect">
            <a:avLst/>
          </a:prstGeom>
          <a:solidFill>
            <a:srgbClr val="00D4AA"/>
          </a:solidFill>
          <a:ln w="0">
            <a:noFill/>
          </a:ln>
        </p:spPr>
        <p:txBody>
          <a:bodyPr wrap="square" lIns="72000" tIns="36000" rIns="72000" bIns="36000" anchor="t"/>
          <a:lstStyle/>
          <a:p>
            <a:endParaRPr lang="en-US"/>
          </a:p>
        </p:txBody>
      </p:sp>
      <p:sp>
        <p:nvSpPr>
          <p:cNvPr id="12" name="Sub"/>
          <p:cNvSpPr/>
          <p:nvPr/>
        </p:nvSpPr>
        <p:spPr>
          <a:xfrm>
            <a:off x="762000" y="965200"/>
            <a:ext cx="10668000" cy="317500"/>
          </a:xfrm>
          <a:prstGeom prst="rect">
            <a:avLst/>
          </a:prstGeom>
          <a:noFill/>
          <a:ln w="0">
            <a:noFill/>
          </a:ln>
        </p:spPr>
        <p:txBody>
          <a:bodyPr wrap="square" lIns="72000" tIns="36000" rIns="72000" bIns="36000" anchor="t"/>
          <a:lstStyle/>
          <a:p>
            <a:pPr>
              <a:buNone/>
            </a:pPr>
            <a:r>
              <a:rPr lang="en-US" sz="1800" dirty="0">
                <a:solidFill>
                  <a:srgbClr val="808080"/>
                </a:solidFill>
                <a:latin typeface="Segoe UI"/>
              </a:rPr>
              <a:t>Mass balance (fast) → Energy balance (med) → ASPEN simulation (deep)</a:t>
            </a:r>
          </a:p>
        </p:txBody>
      </p:sp>
      <p:sp>
        <p:nvSpPr>
          <p:cNvPr id="13" name="CodeBg"/>
          <p:cNvSpPr/>
          <p:nvPr/>
        </p:nvSpPr>
        <p:spPr>
          <a:xfrm>
            <a:off x="508000" y="1333500"/>
            <a:ext cx="11176000" cy="4445000"/>
          </a:xfrm>
          <a:prstGeom prst="rect">
            <a:avLst/>
          </a:prstGeom>
          <a:solidFill>
            <a:srgbClr val="1E1E1E"/>
          </a:solidFill>
          <a:ln w="0">
            <a:noFill/>
          </a:ln>
        </p:spPr>
        <p:txBody>
          <a:bodyPr wrap="square" lIns="72000" tIns="36000" rIns="72000" bIns="36000" anchor="t"/>
          <a:lstStyle/>
          <a:p>
            <a:endParaRPr lang="en-US"/>
          </a:p>
        </p:txBody>
      </p:sp>
      <p:sp>
        <p:nvSpPr>
          <p:cNvPr id="14" name="Code"/>
          <p:cNvSpPr/>
          <p:nvPr/>
        </p:nvSpPr>
        <p:spPr>
          <a:xfrm>
            <a:off x="762000" y="1397000"/>
            <a:ext cx="10795000" cy="4318000"/>
          </a:xfrm>
          <a:prstGeom prst="rect">
            <a:avLst/>
          </a:prstGeom>
          <a:noFill/>
          <a:ln w="0">
            <a:noFill/>
          </a:ln>
        </p:spPr>
        <p:txBody>
          <a:bodyPr wrap="square" lIns="72000" tIns="36000" rIns="72000" bIns="36000" anchor="t"/>
          <a:lstStyle/>
          <a:p>
            <a:pPr>
              <a:buNone/>
            </a:pPr>
            <a:r>
              <a:rPr lang="en-US" sz="1400" dirty="0">
                <a:solidFill>
                  <a:srgbClr val="569CD6"/>
                </a:solidFill>
                <a:latin typeface="Consolas"/>
              </a:rPr>
              <a:t>type </a:t>
            </a:r>
            <a:r>
              <a:rPr lang="en-US" sz="1400" dirty="0">
                <a:solidFill>
                  <a:srgbClr val="4EC9B0"/>
                </a:solidFill>
                <a:latin typeface="Consolas"/>
              </a:rPr>
              <a:t>IUnitOperation</a:t>
            </a:r>
            <a:r>
              <a:rPr lang="en-US" sz="1400" dirty="0">
                <a:solidFill>
                  <a:srgbClr val="D4D4D4"/>
                </a:solidFill>
                <a:latin typeface="Consolas"/>
              </a:rPr>
              <a:t> =</a:t>
            </a:r>
          </a:p>
          <a:p>
            <a:pPr>
              <a:buNone/>
            </a:pPr>
            <a:r>
              <a:rPr lang="en-US" sz="1400" dirty="0">
                <a:solidFill>
                  <a:srgbClr val="D4D4D4"/>
                </a:solidFill>
                <a:latin typeface="Consolas"/>
              </a:rPr>
              <a:t>  | </a:t>
            </a:r>
            <a:r>
              <a:rPr lang="en-US" sz="1400" dirty="0">
                <a:solidFill>
                  <a:srgbClr val="4EC9B0"/>
                </a:solidFill>
                <a:latin typeface="Consolas"/>
              </a:rPr>
              <a:t>IReactor</a:t>
            </a:r>
            <a:r>
              <a:rPr lang="en-US" sz="1400" dirty="0">
                <a:solidFill>
                  <a:srgbClr val="6A9955"/>
                </a:solidFill>
                <a:latin typeface="Consolas"/>
              </a:rPr>
              <a:t>            // sub_units: IUnitOperation[]  ← recursive flowsheet</a:t>
            </a:r>
          </a:p>
          <a:p>
            <a:pPr>
              <a:buNone/>
            </a:pPr>
            <a:r>
              <a:rPr lang="en-US" sz="1400" dirty="0">
                <a:solidFill>
                  <a:srgbClr val="D4D4D4"/>
                </a:solidFill>
                <a:latin typeface="Consolas"/>
              </a:rPr>
              <a:t>  | </a:t>
            </a:r>
            <a:r>
              <a:rPr lang="en-US" sz="1400" dirty="0">
                <a:solidFill>
                  <a:srgbClr val="4EC9B0"/>
                </a:solidFill>
                <a:latin typeface="Consolas"/>
              </a:rPr>
              <a:t>IDistColumn</a:t>
            </a:r>
            <a:r>
              <a:rPr lang="en-US" sz="1400" dirty="0">
                <a:solidFill>
                  <a:srgbClr val="6A9955"/>
                </a:solidFill>
                <a:latin typeface="Consolas"/>
              </a:rPr>
              <a:t>         // sub_units: IUnitOperation[]  ← condenser + reboiler inside</a:t>
            </a:r>
          </a:p>
          <a:p>
            <a:pPr>
              <a:buNone/>
            </a:pPr>
            <a:r>
              <a:rPr lang="en-US" sz="1400" dirty="0">
                <a:solidFill>
                  <a:srgbClr val="D4D4D4"/>
                </a:solidFill>
                <a:latin typeface="Consolas"/>
              </a:rPr>
              <a:t>  | </a:t>
            </a:r>
            <a:r>
              <a:rPr lang="en-US" sz="1400" dirty="0">
                <a:solidFill>
                  <a:srgbClr val="4EC9B0"/>
                </a:solidFill>
                <a:latin typeface="Consolas"/>
              </a:rPr>
              <a:t>IAbsorber</a:t>
            </a:r>
            <a:r>
              <a:rPr lang="en-US" sz="1400" dirty="0">
                <a:solidFill>
                  <a:srgbClr val="D4D4D4"/>
                </a:solidFill>
                <a:latin typeface="Consolas"/>
              </a:rPr>
              <a:t> | </a:t>
            </a:r>
            <a:r>
              <a:rPr lang="en-US" sz="1400" dirty="0">
                <a:solidFill>
                  <a:srgbClr val="4EC9B0"/>
                </a:solidFill>
                <a:latin typeface="Consolas"/>
              </a:rPr>
              <a:t>IStripper</a:t>
            </a:r>
            <a:r>
              <a:rPr lang="en-US" sz="1400" dirty="0">
                <a:solidFill>
                  <a:srgbClr val="D4D4D4"/>
                </a:solidFill>
                <a:latin typeface="Consolas"/>
              </a:rPr>
              <a:t> | </a:t>
            </a:r>
            <a:r>
              <a:rPr lang="en-US" sz="1400" dirty="0">
                <a:solidFill>
                  <a:srgbClr val="4EC9B0"/>
                </a:solidFill>
                <a:latin typeface="Consolas"/>
              </a:rPr>
              <a:t>IExtractor</a:t>
            </a:r>
            <a:r>
              <a:rPr lang="en-US" sz="1400" dirty="0">
                <a:solidFill>
                  <a:srgbClr val="D4D4D4"/>
                </a:solidFill>
                <a:latin typeface="Consolas"/>
              </a:rPr>
              <a:t> | </a:t>
            </a:r>
            <a:r>
              <a:rPr lang="en-US" sz="1400" dirty="0">
                <a:solidFill>
                  <a:srgbClr val="4EC9B0"/>
                </a:solidFill>
                <a:latin typeface="Consolas"/>
              </a:rPr>
              <a:t>ICrystallizer</a:t>
            </a:r>
            <a:r>
              <a:rPr lang="en-US" sz="1400" dirty="0">
                <a:solidFill>
                  <a:srgbClr val="D4D4D4"/>
                </a:solidFill>
                <a:latin typeface="Consolas"/>
              </a:rPr>
              <a:t> | </a:t>
            </a:r>
            <a:r>
              <a:rPr lang="en-US" sz="1400" dirty="0">
                <a:solidFill>
                  <a:srgbClr val="4EC9B0"/>
                </a:solidFill>
                <a:latin typeface="Consolas"/>
              </a:rPr>
              <a:t>IDryer</a:t>
            </a:r>
            <a:r>
              <a:rPr lang="en-US" sz="1400" dirty="0">
                <a:solidFill>
                  <a:srgbClr val="D4D4D4"/>
                </a:solidFill>
                <a:latin typeface="Consolas"/>
              </a:rPr>
              <a:t> | </a:t>
            </a:r>
            <a:r>
              <a:rPr lang="en-US" sz="1400" dirty="0">
                <a:solidFill>
                  <a:srgbClr val="4EC9B0"/>
                </a:solidFill>
                <a:latin typeface="Consolas"/>
              </a:rPr>
              <a:t>IEvaporator</a:t>
            </a:r>
          </a:p>
          <a:p>
            <a:pPr>
              <a:buNone/>
            </a:pPr>
            <a:r>
              <a:rPr lang="en-US" sz="1400" dirty="0">
                <a:solidFill>
                  <a:srgbClr val="D4D4D4"/>
                </a:solidFill>
                <a:latin typeface="Consolas"/>
              </a:rPr>
              <a:t>  | </a:t>
            </a:r>
            <a:r>
              <a:rPr lang="en-US" sz="1400" dirty="0">
                <a:solidFill>
                  <a:srgbClr val="4EC9B0"/>
                </a:solidFill>
                <a:latin typeface="Consolas"/>
              </a:rPr>
              <a:t>IHeatExchanger</a:t>
            </a:r>
            <a:r>
              <a:rPr lang="en-US" sz="1400" dirty="0">
                <a:solidFill>
                  <a:srgbClr val="D4D4D4"/>
                </a:solidFill>
                <a:latin typeface="Consolas"/>
              </a:rPr>
              <a:t> | </a:t>
            </a:r>
            <a:r>
              <a:rPr lang="en-US" sz="1400" dirty="0">
                <a:solidFill>
                  <a:srgbClr val="4EC9B0"/>
                </a:solidFill>
                <a:latin typeface="Consolas"/>
              </a:rPr>
              <a:t>ICondenser</a:t>
            </a:r>
            <a:r>
              <a:rPr lang="en-US" sz="1400" dirty="0">
                <a:solidFill>
                  <a:srgbClr val="D4D4D4"/>
                </a:solidFill>
                <a:latin typeface="Consolas"/>
              </a:rPr>
              <a:t> | </a:t>
            </a:r>
            <a:r>
              <a:rPr lang="en-US" sz="1400" dirty="0">
                <a:solidFill>
                  <a:srgbClr val="4EC9B0"/>
                </a:solidFill>
                <a:latin typeface="Consolas"/>
              </a:rPr>
              <a:t>IReboiler</a:t>
            </a:r>
            <a:r>
              <a:rPr lang="en-US" sz="1400" dirty="0">
                <a:solidFill>
                  <a:srgbClr val="D4D4D4"/>
                </a:solidFill>
                <a:latin typeface="Consolas"/>
              </a:rPr>
              <a:t> | </a:t>
            </a:r>
            <a:r>
              <a:rPr lang="en-US" sz="1400" dirty="0">
                <a:solidFill>
                  <a:srgbClr val="4EC9B0"/>
                </a:solidFill>
                <a:latin typeface="Consolas"/>
              </a:rPr>
              <a:t>IHeater</a:t>
            </a:r>
            <a:r>
              <a:rPr lang="en-US" sz="1400" dirty="0">
                <a:solidFill>
                  <a:srgbClr val="D4D4D4"/>
                </a:solidFill>
                <a:latin typeface="Consolas"/>
              </a:rPr>
              <a:t> | </a:t>
            </a:r>
            <a:r>
              <a:rPr lang="en-US" sz="1400" dirty="0">
                <a:solidFill>
                  <a:srgbClr val="4EC9B0"/>
                </a:solidFill>
                <a:latin typeface="Consolas"/>
              </a:rPr>
              <a:t>ICooler</a:t>
            </a:r>
            <a:r>
              <a:rPr lang="en-US" sz="1400" dirty="0">
                <a:solidFill>
                  <a:srgbClr val="D4D4D4"/>
                </a:solidFill>
                <a:latin typeface="Consolas"/>
              </a:rPr>
              <a:t> | </a:t>
            </a:r>
            <a:r>
              <a:rPr lang="en-US" sz="1400" dirty="0">
                <a:solidFill>
                  <a:srgbClr val="4EC9B0"/>
                </a:solidFill>
                <a:latin typeface="Consolas"/>
              </a:rPr>
              <a:t>IFurnace</a:t>
            </a:r>
          </a:p>
          <a:p>
            <a:pPr>
              <a:buNone/>
            </a:pPr>
            <a:r>
              <a:rPr lang="en-US" sz="1400" dirty="0">
                <a:solidFill>
                  <a:srgbClr val="D4D4D4"/>
                </a:solidFill>
                <a:latin typeface="Consolas"/>
              </a:rPr>
              <a:t>  | </a:t>
            </a:r>
            <a:r>
              <a:rPr lang="en-US" sz="1400" dirty="0">
                <a:solidFill>
                  <a:srgbClr val="4EC9B0"/>
                </a:solidFill>
                <a:latin typeface="Consolas"/>
              </a:rPr>
              <a:t>IMixer</a:t>
            </a:r>
            <a:r>
              <a:rPr lang="en-US" sz="1400" dirty="0">
                <a:solidFill>
                  <a:srgbClr val="D4D4D4"/>
                </a:solidFill>
                <a:latin typeface="Consolas"/>
              </a:rPr>
              <a:t> | </a:t>
            </a:r>
            <a:r>
              <a:rPr lang="en-US" sz="1400" dirty="0">
                <a:solidFill>
                  <a:srgbClr val="4EC9B0"/>
                </a:solidFill>
                <a:latin typeface="Consolas"/>
              </a:rPr>
              <a:t>ISplitter</a:t>
            </a:r>
            <a:r>
              <a:rPr lang="en-US" sz="1400" dirty="0">
                <a:solidFill>
                  <a:srgbClr val="D4D4D4"/>
                </a:solidFill>
                <a:latin typeface="Consolas"/>
              </a:rPr>
              <a:t> | </a:t>
            </a:r>
            <a:r>
              <a:rPr lang="en-US" sz="1400" dirty="0">
                <a:solidFill>
                  <a:srgbClr val="4EC9B0"/>
                </a:solidFill>
                <a:latin typeface="Consolas"/>
              </a:rPr>
              <a:t>IPump</a:t>
            </a:r>
            <a:r>
              <a:rPr lang="en-US" sz="1400" dirty="0">
                <a:solidFill>
                  <a:srgbClr val="D4D4D4"/>
                </a:solidFill>
                <a:latin typeface="Consolas"/>
              </a:rPr>
              <a:t> | </a:t>
            </a:r>
            <a:r>
              <a:rPr lang="en-US" sz="1400" dirty="0">
                <a:solidFill>
                  <a:srgbClr val="4EC9B0"/>
                </a:solidFill>
                <a:latin typeface="Consolas"/>
              </a:rPr>
              <a:t>ICompressor</a:t>
            </a:r>
            <a:r>
              <a:rPr lang="en-US" sz="1400" dirty="0">
                <a:solidFill>
                  <a:srgbClr val="D4D4D4"/>
                </a:solidFill>
                <a:latin typeface="Consolas"/>
              </a:rPr>
              <a:t> | </a:t>
            </a:r>
            <a:r>
              <a:rPr lang="en-US" sz="1400" dirty="0">
                <a:solidFill>
                  <a:srgbClr val="4EC9B0"/>
                </a:solidFill>
                <a:latin typeface="Consolas"/>
              </a:rPr>
              <a:t>IExpander</a:t>
            </a:r>
            <a:r>
              <a:rPr lang="en-US" sz="1400" dirty="0">
                <a:solidFill>
                  <a:srgbClr val="D4D4D4"/>
                </a:solidFill>
                <a:latin typeface="Consolas"/>
              </a:rPr>
              <a:t> | </a:t>
            </a:r>
            <a:r>
              <a:rPr lang="en-US" sz="1400" dirty="0">
                <a:solidFill>
                  <a:srgbClr val="4EC9B0"/>
                </a:solidFill>
                <a:latin typeface="Consolas"/>
              </a:rPr>
              <a:t>ITurbine</a:t>
            </a:r>
            <a:r>
              <a:rPr lang="en-US" sz="1400" dirty="0">
                <a:solidFill>
                  <a:srgbClr val="D4D4D4"/>
                </a:solidFill>
                <a:latin typeface="Consolas"/>
              </a:rPr>
              <a:t> | </a:t>
            </a:r>
            <a:r>
              <a:rPr lang="en-US" sz="1400" dirty="0">
                <a:solidFill>
                  <a:srgbClr val="4EC9B0"/>
                </a:solidFill>
                <a:latin typeface="Consolas"/>
              </a:rPr>
              <a:t>IValve</a:t>
            </a:r>
          </a:p>
          <a:p>
            <a:pPr>
              <a:buNone/>
            </a:pPr>
            <a:r>
              <a:rPr lang="en-US" sz="1400" dirty="0">
                <a:solidFill>
                  <a:srgbClr val="D4D4D4"/>
                </a:solidFill>
                <a:latin typeface="Consolas"/>
              </a:rPr>
              <a:t>  | </a:t>
            </a:r>
            <a:r>
              <a:rPr lang="en-US" sz="1400" dirty="0">
                <a:solidFill>
                  <a:srgbClr val="4EC9B0"/>
                </a:solidFill>
                <a:latin typeface="Consolas"/>
              </a:rPr>
              <a:t>ISeparator</a:t>
            </a:r>
            <a:r>
              <a:rPr lang="en-US" sz="1400" dirty="0">
                <a:solidFill>
                  <a:srgbClr val="D4D4D4"/>
                </a:solidFill>
                <a:latin typeface="Consolas"/>
              </a:rPr>
              <a:t> | </a:t>
            </a:r>
            <a:r>
              <a:rPr lang="en-US" sz="1400" dirty="0">
                <a:solidFill>
                  <a:srgbClr val="4EC9B0"/>
                </a:solidFill>
                <a:latin typeface="Consolas"/>
              </a:rPr>
              <a:t>IFilter</a:t>
            </a:r>
            <a:r>
              <a:rPr lang="en-US" sz="1400" dirty="0">
                <a:solidFill>
                  <a:srgbClr val="D4D4D4"/>
                </a:solidFill>
                <a:latin typeface="Consolas"/>
              </a:rPr>
              <a:t> | </a:t>
            </a:r>
            <a:r>
              <a:rPr lang="en-US" sz="1400" dirty="0">
                <a:solidFill>
                  <a:srgbClr val="4EC9B0"/>
                </a:solidFill>
                <a:latin typeface="Consolas"/>
              </a:rPr>
              <a:t>ICyclone</a:t>
            </a:r>
            <a:r>
              <a:rPr lang="en-US" sz="1400" dirty="0">
                <a:solidFill>
                  <a:srgbClr val="D4D4D4"/>
                </a:solidFill>
                <a:latin typeface="Consolas"/>
              </a:rPr>
              <a:t> | </a:t>
            </a:r>
            <a:r>
              <a:rPr lang="en-US" sz="1400" dirty="0">
                <a:solidFill>
                  <a:srgbClr val="4EC9B0"/>
                </a:solidFill>
                <a:latin typeface="Consolas"/>
              </a:rPr>
              <a:t>ICentrifuge</a:t>
            </a:r>
            <a:r>
              <a:rPr lang="en-US" sz="1400" dirty="0">
                <a:solidFill>
                  <a:srgbClr val="D4D4D4"/>
                </a:solidFill>
                <a:latin typeface="Consolas"/>
              </a:rPr>
              <a:t> | </a:t>
            </a:r>
            <a:r>
              <a:rPr lang="en-US" sz="1400" dirty="0">
                <a:solidFill>
                  <a:srgbClr val="4EC9B0"/>
                </a:solidFill>
                <a:latin typeface="Consolas"/>
              </a:rPr>
              <a:t>IMembrane</a:t>
            </a:r>
            <a:r>
              <a:rPr lang="en-US" sz="1400" dirty="0">
                <a:solidFill>
                  <a:srgbClr val="D4D4D4"/>
                </a:solidFill>
                <a:latin typeface="Consolas"/>
              </a:rPr>
              <a:t> | </a:t>
            </a:r>
            <a:r>
              <a:rPr lang="en-US" sz="1400" dirty="0">
                <a:solidFill>
                  <a:srgbClr val="4EC9B0"/>
                </a:solidFill>
                <a:latin typeface="Consolas"/>
              </a:rPr>
              <a:t>IAdsorber</a:t>
            </a:r>
          </a:p>
          <a:p>
            <a:pPr>
              <a:buNone/>
            </a:pPr>
            <a:r>
              <a:rPr lang="en-US" sz="1400" dirty="0">
                <a:solidFill>
                  <a:srgbClr val="D4D4D4"/>
                </a:solidFill>
                <a:latin typeface="Consolas"/>
              </a:rPr>
              <a:t>  | </a:t>
            </a:r>
            <a:r>
              <a:rPr lang="en-US" sz="1400" dirty="0">
                <a:solidFill>
                  <a:srgbClr val="4EC9B0"/>
                </a:solidFill>
                <a:latin typeface="Consolas"/>
              </a:rPr>
              <a:t>IPipe</a:t>
            </a:r>
            <a:r>
              <a:rPr lang="en-US" sz="1400" dirty="0">
                <a:solidFill>
                  <a:srgbClr val="D4D4D4"/>
                </a:solidFill>
                <a:latin typeface="Consolas"/>
              </a:rPr>
              <a:t> | </a:t>
            </a:r>
            <a:r>
              <a:rPr lang="en-US" sz="1400" dirty="0">
                <a:solidFill>
                  <a:srgbClr val="4EC9B0"/>
                </a:solidFill>
                <a:latin typeface="Consolas"/>
              </a:rPr>
              <a:t>IOrifice</a:t>
            </a:r>
            <a:r>
              <a:rPr lang="en-US" sz="1400" dirty="0">
                <a:solidFill>
                  <a:srgbClr val="D4D4D4"/>
                </a:solidFill>
                <a:latin typeface="Consolas"/>
              </a:rPr>
              <a:t> | </a:t>
            </a:r>
            <a:r>
              <a:rPr lang="en-US" sz="1400" dirty="0">
                <a:solidFill>
                  <a:srgbClr val="4EC9B0"/>
                </a:solidFill>
                <a:latin typeface="Consolas"/>
              </a:rPr>
              <a:t>ITank</a:t>
            </a:r>
            <a:r>
              <a:rPr lang="en-US" sz="1400" dirty="0">
                <a:solidFill>
                  <a:srgbClr val="D4D4D4"/>
                </a:solidFill>
                <a:latin typeface="Consolas"/>
              </a:rPr>
              <a:t> | </a:t>
            </a:r>
            <a:r>
              <a:rPr lang="en-US" sz="1400" dirty="0">
                <a:solidFill>
                  <a:srgbClr val="4EC9B0"/>
                </a:solidFill>
                <a:latin typeface="Consolas"/>
              </a:rPr>
              <a:t>IFlare</a:t>
            </a:r>
            <a:r>
              <a:rPr lang="en-US" sz="1400" dirty="0">
                <a:solidFill>
                  <a:srgbClr val="D4D4D4"/>
                </a:solidFill>
                <a:latin typeface="Consolas"/>
              </a:rPr>
              <a:t> | </a:t>
            </a:r>
            <a:r>
              <a:rPr lang="en-US" sz="1400" dirty="0">
                <a:solidFill>
                  <a:srgbClr val="4EC9B0"/>
                </a:solidFill>
                <a:latin typeface="Consolas"/>
              </a:rPr>
              <a:t>IEjector</a:t>
            </a:r>
            <a:r>
              <a:rPr lang="en-US" sz="1400" dirty="0">
                <a:solidFill>
                  <a:srgbClr val="D4D4D4"/>
                </a:solidFill>
                <a:latin typeface="Consolas"/>
              </a:rPr>
              <a:t> | </a:t>
            </a:r>
            <a:r>
              <a:rPr lang="en-US" sz="1400" dirty="0">
                <a:solidFill>
                  <a:srgbClr val="4EC9B0"/>
                </a:solidFill>
                <a:latin typeface="Consolas"/>
              </a:rPr>
              <a:t>ISpreadsheet</a:t>
            </a:r>
            <a:r>
              <a:rPr lang="en-US" sz="1400" dirty="0">
                <a:solidFill>
                  <a:srgbClr val="D4D4D4"/>
                </a:solidFill>
                <a:latin typeface="Consolas"/>
              </a:rPr>
              <a:t> | ...</a:t>
            </a:r>
          </a:p>
          <a:p>
            <a:pPr>
              <a:buNone/>
            </a:pPr>
            <a:endParaRPr lang="en-US" sz="1400" dirty="0">
              <a:latin typeface="Consolas"/>
            </a:endParaRPr>
          </a:p>
          <a:p>
            <a:pPr>
              <a:buNone/>
            </a:pPr>
            <a:r>
              <a:rPr lang="en-US" sz="1400" dirty="0">
                <a:solidFill>
                  <a:srgbClr val="569CD6"/>
                </a:solidFill>
                <a:latin typeface="Consolas"/>
              </a:rPr>
              <a:t>type </a:t>
            </a:r>
            <a:r>
              <a:rPr lang="en-US" sz="1400" dirty="0">
                <a:solidFill>
                  <a:srgbClr val="4EC9B0"/>
                </a:solidFill>
                <a:latin typeface="Consolas"/>
              </a:rPr>
              <a:t>IReactor</a:t>
            </a:r>
            <a:r>
              <a:rPr lang="en-US" sz="1400" dirty="0">
                <a:solidFill>
                  <a:srgbClr val="D4D4D4"/>
                </a:solidFill>
                <a:latin typeface="Consolas"/>
              </a:rPr>
              <a:t> =</a:t>
            </a:r>
            <a:r>
              <a:rPr lang="en-US" sz="1400" dirty="0">
                <a:solidFill>
                  <a:srgbClr val="6A9955"/>
                </a:solidFill>
                <a:latin typeface="Consolas"/>
              </a:rPr>
              <a:t>                          // union within union</a:t>
            </a:r>
          </a:p>
          <a:p>
            <a:pPr>
              <a:buNone/>
            </a:pPr>
            <a:r>
              <a:rPr lang="en-US" sz="1400" dirty="0">
                <a:solidFill>
                  <a:srgbClr val="D4D4D4"/>
                </a:solidFill>
                <a:latin typeface="Consolas"/>
              </a:rPr>
              <a:t>  | </a:t>
            </a:r>
            <a:r>
              <a:rPr lang="en-US" sz="1400" dirty="0">
                <a:solidFill>
                  <a:srgbClr val="4EC9B0"/>
                </a:solidFill>
                <a:latin typeface="Consolas"/>
              </a:rPr>
              <a:t>ICSTR</a:t>
            </a:r>
            <a:r>
              <a:rPr lang="en-US" sz="1400" dirty="0">
                <a:solidFill>
                  <a:srgbClr val="D4D4D4"/>
                </a:solidFill>
                <a:latin typeface="Consolas"/>
              </a:rPr>
              <a:t> | </a:t>
            </a:r>
            <a:r>
              <a:rPr lang="en-US" sz="1400" dirty="0">
                <a:solidFill>
                  <a:srgbClr val="4EC9B0"/>
                </a:solidFill>
                <a:latin typeface="Consolas"/>
              </a:rPr>
              <a:t>IPFR</a:t>
            </a:r>
            <a:r>
              <a:rPr lang="en-US" sz="1400" dirty="0">
                <a:solidFill>
                  <a:srgbClr val="D4D4D4"/>
                </a:solidFill>
                <a:latin typeface="Consolas"/>
              </a:rPr>
              <a:t> | </a:t>
            </a:r>
            <a:r>
              <a:rPr lang="en-US" sz="1400" dirty="0">
                <a:solidFill>
                  <a:srgbClr val="4EC9B0"/>
                </a:solidFill>
                <a:latin typeface="Consolas"/>
              </a:rPr>
              <a:t>IBatchReactor</a:t>
            </a:r>
            <a:r>
              <a:rPr lang="en-US" sz="1400" dirty="0">
                <a:solidFill>
                  <a:srgbClr val="D4D4D4"/>
                </a:solidFill>
                <a:latin typeface="Consolas"/>
              </a:rPr>
              <a:t> | </a:t>
            </a:r>
            <a:r>
              <a:rPr lang="en-US" sz="1400" dirty="0">
                <a:solidFill>
                  <a:srgbClr val="4EC9B0"/>
                </a:solidFill>
                <a:latin typeface="Consolas"/>
              </a:rPr>
              <a:t>IGibbsReactor</a:t>
            </a:r>
            <a:r>
              <a:rPr lang="en-US" sz="1400" dirty="0">
                <a:solidFill>
                  <a:srgbClr val="D4D4D4"/>
                </a:solidFill>
                <a:latin typeface="Consolas"/>
              </a:rPr>
              <a:t> | </a:t>
            </a:r>
            <a:r>
              <a:rPr lang="en-US" sz="1400" dirty="0">
                <a:solidFill>
                  <a:srgbClr val="4EC9B0"/>
                </a:solidFill>
                <a:latin typeface="Consolas"/>
              </a:rPr>
              <a:t>IEquilibrium</a:t>
            </a:r>
            <a:r>
              <a:rPr lang="en-US" sz="1400" dirty="0">
                <a:solidFill>
                  <a:srgbClr val="D4D4D4"/>
                </a:solidFill>
                <a:latin typeface="Consolas"/>
              </a:rPr>
              <a:t> | </a:t>
            </a:r>
            <a:r>
              <a:rPr lang="en-US" sz="1400" dirty="0">
                <a:solidFill>
                  <a:srgbClr val="4EC9B0"/>
                </a:solidFill>
                <a:latin typeface="Consolas"/>
              </a:rPr>
              <a:t>IConversion</a:t>
            </a:r>
            <a:r>
              <a:rPr lang="en-US" sz="1400" dirty="0">
                <a:solidFill>
                  <a:srgbClr val="D4D4D4"/>
                </a:solidFill>
                <a:latin typeface="Consolas"/>
              </a:rPr>
              <a:t>;</a:t>
            </a:r>
          </a:p>
          <a:p>
            <a:pPr>
              <a:buNone/>
            </a:pPr>
            <a:endParaRPr lang="en-US" sz="1400" dirty="0">
              <a:latin typeface="Consolas"/>
            </a:endParaRPr>
          </a:p>
          <a:p>
            <a:pPr>
              <a:buNone/>
            </a:pPr>
            <a:r>
              <a:rPr lang="en-US" sz="1400" dirty="0">
                <a:solidFill>
                  <a:srgbClr val="569CD6"/>
                </a:solidFill>
                <a:latin typeface="Consolas"/>
              </a:rPr>
              <a:t>type </a:t>
            </a:r>
            <a:r>
              <a:rPr lang="en-US" sz="1400" dirty="0">
                <a:solidFill>
                  <a:srgbClr val="4EC9B0"/>
                </a:solidFill>
                <a:latin typeface="Consolas"/>
              </a:rPr>
              <a:t>IThermodynamicModel</a:t>
            </a:r>
            <a:r>
              <a:rPr lang="en-US" sz="1400" dirty="0">
                <a:solidFill>
                  <a:srgbClr val="D4D4D4"/>
                </a:solidFill>
                <a:latin typeface="Consolas"/>
              </a:rPr>
              <a:t> =</a:t>
            </a:r>
            <a:r>
              <a:rPr lang="en-US" sz="1400" dirty="0">
                <a:solidFill>
                  <a:srgbClr val="6A9955"/>
                </a:solidFill>
                <a:latin typeface="Consolas"/>
              </a:rPr>
              <a:t>              // governs phase equilibria</a:t>
            </a:r>
          </a:p>
          <a:p>
            <a:pPr>
              <a:buNone/>
            </a:pPr>
            <a:r>
              <a:rPr lang="en-US" sz="1400" dirty="0">
                <a:solidFill>
                  <a:srgbClr val="D4D4D4"/>
                </a:solidFill>
                <a:latin typeface="Consolas"/>
              </a:rPr>
              <a:t>  | </a:t>
            </a:r>
            <a:r>
              <a:rPr lang="en-US" sz="1400" dirty="0">
                <a:solidFill>
                  <a:srgbClr val="4EC9B0"/>
                </a:solidFill>
                <a:latin typeface="Consolas"/>
              </a:rPr>
              <a:t>IPengRobinson</a:t>
            </a:r>
            <a:r>
              <a:rPr lang="en-US" sz="1400" dirty="0">
                <a:solidFill>
                  <a:srgbClr val="D4D4D4"/>
                </a:solidFill>
                <a:latin typeface="Consolas"/>
              </a:rPr>
              <a:t> | </a:t>
            </a:r>
            <a:r>
              <a:rPr lang="en-US" sz="1400" dirty="0">
                <a:solidFill>
                  <a:srgbClr val="4EC9B0"/>
                </a:solidFill>
                <a:latin typeface="Consolas"/>
              </a:rPr>
              <a:t>ISRK</a:t>
            </a:r>
            <a:r>
              <a:rPr lang="en-US" sz="1400" dirty="0">
                <a:solidFill>
                  <a:srgbClr val="D4D4D4"/>
                </a:solidFill>
                <a:latin typeface="Consolas"/>
              </a:rPr>
              <a:t> | </a:t>
            </a:r>
            <a:r>
              <a:rPr lang="en-US" sz="1400" dirty="0">
                <a:solidFill>
                  <a:srgbClr val="4EC9B0"/>
                </a:solidFill>
                <a:latin typeface="Consolas"/>
              </a:rPr>
              <a:t>INRTL</a:t>
            </a:r>
            <a:r>
              <a:rPr lang="en-US" sz="1400" dirty="0">
                <a:solidFill>
                  <a:srgbClr val="D4D4D4"/>
                </a:solidFill>
                <a:latin typeface="Consolas"/>
              </a:rPr>
              <a:t> | </a:t>
            </a:r>
            <a:r>
              <a:rPr lang="en-US" sz="1400" dirty="0">
                <a:solidFill>
                  <a:srgbClr val="4EC9B0"/>
                </a:solidFill>
                <a:latin typeface="Consolas"/>
              </a:rPr>
              <a:t>IUNIQUAC</a:t>
            </a:r>
            <a:r>
              <a:rPr lang="en-US" sz="1400" dirty="0">
                <a:solidFill>
                  <a:srgbClr val="D4D4D4"/>
                </a:solidFill>
                <a:latin typeface="Consolas"/>
              </a:rPr>
              <a:t> | </a:t>
            </a:r>
            <a:r>
              <a:rPr lang="en-US" sz="1400" dirty="0">
                <a:solidFill>
                  <a:srgbClr val="4EC9B0"/>
                </a:solidFill>
                <a:latin typeface="Consolas"/>
              </a:rPr>
              <a:t>IWilson</a:t>
            </a:r>
            <a:r>
              <a:rPr lang="en-US" sz="1400" dirty="0">
                <a:solidFill>
                  <a:srgbClr val="D4D4D4"/>
                </a:solidFill>
                <a:latin typeface="Consolas"/>
              </a:rPr>
              <a:t> | </a:t>
            </a:r>
            <a:r>
              <a:rPr lang="en-US" sz="1400" dirty="0">
                <a:solidFill>
                  <a:srgbClr val="4EC9B0"/>
                </a:solidFill>
                <a:latin typeface="Consolas"/>
              </a:rPr>
              <a:t>ICPA</a:t>
            </a:r>
            <a:r>
              <a:rPr lang="en-US" sz="1400" dirty="0">
                <a:solidFill>
                  <a:srgbClr val="D4D4D4"/>
                </a:solidFill>
                <a:latin typeface="Consolas"/>
              </a:rPr>
              <a:t> | </a:t>
            </a:r>
            <a:r>
              <a:rPr lang="en-US" sz="1400" dirty="0">
                <a:solidFill>
                  <a:srgbClr val="4EC9B0"/>
                </a:solidFill>
                <a:latin typeface="Consolas"/>
              </a:rPr>
              <a:t>ISAFT</a:t>
            </a:r>
            <a:r>
              <a:rPr lang="en-US" sz="1400" dirty="0">
                <a:solidFill>
                  <a:srgbClr val="D4D4D4"/>
                </a:solidFill>
                <a:latin typeface="Consolas"/>
              </a:rPr>
              <a:t> | </a:t>
            </a:r>
            <a:r>
              <a:rPr lang="en-US" sz="1400" dirty="0">
                <a:solidFill>
                  <a:srgbClr val="4EC9B0"/>
                </a:solidFill>
                <a:latin typeface="Consolas"/>
              </a:rPr>
              <a:t>IELECNRTL</a:t>
            </a:r>
            <a:r>
              <a:rPr lang="en-US" sz="1400" dirty="0">
                <a:solidFill>
                  <a:srgbClr val="D4D4D4"/>
                </a:solidFill>
                <a:latin typeface="Consolas"/>
              </a:rPr>
              <a:t> | ...</a:t>
            </a:r>
          </a:p>
          <a:p>
            <a:pPr>
              <a:buNone/>
            </a:pPr>
            <a:endParaRPr lang="en-US" sz="1400" dirty="0">
              <a:latin typeface="Consolas"/>
            </a:endParaRPr>
          </a:p>
          <a:p>
            <a:pPr>
              <a:buNone/>
            </a:pPr>
            <a:r>
              <a:rPr lang="en-US" sz="1400" dirty="0">
                <a:solidFill>
                  <a:srgbClr val="6A9955"/>
                </a:solidFill>
                <a:latin typeface="Consolas"/>
              </a:rPr>
              <a:t>// IDistColumn contains IUnitOperation[] — recursive like IJsonSchema</a:t>
            </a:r>
          </a:p>
          <a:p>
            <a:pPr>
              <a:buNone/>
            </a:pPr>
            <a:r>
              <a:rPr lang="en-US" sz="1400" dirty="0">
                <a:solidFill>
                  <a:srgbClr val="6A9955"/>
                </a:solidFill>
                <a:latin typeface="Consolas"/>
              </a:rPr>
              <a:t>// each IReactor is itself a union — union within union</a:t>
            </a:r>
          </a:p>
        </p:txBody>
      </p:sp>
      <p:sp>
        <p:nvSpPr>
          <p:cNvPr id="15" name="Badge"/>
          <p:cNvSpPr/>
          <p:nvPr/>
        </p:nvSpPr>
        <p:spPr>
          <a:xfrm>
            <a:off x="1270000" y="5943600"/>
            <a:ext cx="9652000" cy="457200"/>
          </a:xfrm>
          <a:prstGeom prst="rect">
            <a:avLst/>
          </a:prstGeom>
          <a:noFill/>
          <a:ln w="0">
            <a:noFill/>
          </a:ln>
        </p:spPr>
        <p:txBody>
          <a:bodyPr wrap="square" lIns="36000" tIns="18000" rIns="36000" bIns="18000" anchor="ctr"/>
          <a:lstStyle/>
          <a:p>
            <a:pPr algn="ctr">
              <a:buNone/>
            </a:pPr>
            <a:r>
              <a:rPr lang="en-US" sz="1800" b="1" dirty="0">
                <a:solidFill>
                  <a:srgbClr val="50C878"/>
                </a:solidFill>
                <a:latin typeface="Segoe UI Semibold"/>
              </a:rPr>
              <a:t>ASPEN and HYSYS: deterministic validation for 40+ years</a:t>
            </a:r>
          </a:p>
        </p:txBody>
      </p:sp>
    </p:spTree>
    <p:extLst>
      <p:ext uri="{BB962C8B-B14F-4D97-AF65-F5344CB8AC3E}">
        <p14:creationId xmlns:p14="http://schemas.microsoft.com/office/powerpoint/2010/main" val="35600503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rkBg">
            <a:extLst>
              <a:ext uri="{FF2B5EF4-FFF2-40B4-BE49-F238E27FC236}">
                <a16:creationId xmlns:a16="http://schemas.microsoft.com/office/drawing/2014/main" id="{F1C63935-A9C4-4060-9ACD-F8CCE6899B12}"/>
              </a:ext>
            </a:extLst>
          </p:cNvPr>
          <p:cNvSpPr/>
          <p:nvPr/>
        </p:nvSpPr>
        <p:spPr>
          <a:xfrm>
            <a:off x="0" y="0"/>
            <a:ext cx="12192000" cy="6858000"/>
          </a:xfrm>
          <a:prstGeom prst="rect">
            <a:avLst/>
          </a:prstGeom>
          <a:solidFill>
            <a:srgbClr val="1A1A2E"/>
          </a:solidFill>
          <a:ln w="1905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
          <p:cNvSpPr/>
          <p:nvPr/>
        </p:nvSpPr>
        <p:spPr>
          <a:xfrm>
            <a:off x="762000" y="317500"/>
            <a:ext cx="10668000" cy="508000"/>
          </a:xfrm>
          <a:prstGeom prst="rect">
            <a:avLst/>
          </a:prstGeom>
          <a:noFill/>
          <a:ln w="0">
            <a:noFill/>
          </a:ln>
        </p:spPr>
        <p:txBody>
          <a:bodyPr wrap="square" lIns="72000" tIns="36000" rIns="72000" bIns="36000" anchor="t"/>
          <a:lstStyle/>
          <a:p>
            <a:pPr>
              <a:buNone/>
            </a:pPr>
            <a:r>
              <a:rPr lang="en-US" sz="2400" b="1" dirty="0">
                <a:solidFill>
                  <a:srgbClr val="F0F0F0"/>
                </a:solidFill>
                <a:latin typeface="Segoe UI Semibold"/>
              </a:rPr>
              <a:t>Construction (BIM) — IFC Element Hierarchy</a:t>
            </a:r>
          </a:p>
        </p:txBody>
      </p:sp>
      <p:sp>
        <p:nvSpPr>
          <p:cNvPr id="11" name="AL"/>
          <p:cNvSpPr/>
          <p:nvPr/>
        </p:nvSpPr>
        <p:spPr>
          <a:xfrm>
            <a:off x="762000" y="863600"/>
            <a:ext cx="1524000" cy="38100"/>
          </a:xfrm>
          <a:prstGeom prst="rect">
            <a:avLst/>
          </a:prstGeom>
          <a:solidFill>
            <a:srgbClr val="00D4AA"/>
          </a:solidFill>
          <a:ln w="0">
            <a:noFill/>
          </a:ln>
        </p:spPr>
        <p:txBody>
          <a:bodyPr wrap="square" lIns="72000" tIns="36000" rIns="72000" bIns="36000" anchor="t"/>
          <a:lstStyle/>
          <a:p>
            <a:endParaRPr lang="en-US"/>
          </a:p>
        </p:txBody>
      </p:sp>
      <p:sp>
        <p:nvSpPr>
          <p:cNvPr id="12" name="Sub"/>
          <p:cNvSpPr/>
          <p:nvPr/>
        </p:nvSpPr>
        <p:spPr>
          <a:xfrm>
            <a:off x="762000" y="965200"/>
            <a:ext cx="10668000" cy="317500"/>
          </a:xfrm>
          <a:prstGeom prst="rect">
            <a:avLst/>
          </a:prstGeom>
          <a:noFill/>
          <a:ln w="0">
            <a:noFill/>
          </a:ln>
        </p:spPr>
        <p:txBody>
          <a:bodyPr wrap="square" lIns="72000" tIns="36000" rIns="72000" bIns="36000" anchor="t"/>
          <a:lstStyle/>
          <a:p>
            <a:pPr>
              <a:buNone/>
            </a:pPr>
            <a:r>
              <a:rPr lang="en-US" sz="1800" dirty="0">
                <a:solidFill>
                  <a:srgbClr val="808080"/>
                </a:solidFill>
                <a:latin typeface="Segoe UI"/>
              </a:rPr>
              <a:t>IFC 4.3: 1,300+ entity types — collision detection, code compliance</a:t>
            </a:r>
          </a:p>
        </p:txBody>
      </p:sp>
      <p:sp>
        <p:nvSpPr>
          <p:cNvPr id="13" name="CodeBg"/>
          <p:cNvSpPr/>
          <p:nvPr/>
        </p:nvSpPr>
        <p:spPr>
          <a:xfrm>
            <a:off x="508000" y="1333500"/>
            <a:ext cx="11176000" cy="4445000"/>
          </a:xfrm>
          <a:prstGeom prst="rect">
            <a:avLst/>
          </a:prstGeom>
          <a:solidFill>
            <a:srgbClr val="1E1E1E"/>
          </a:solidFill>
          <a:ln w="0">
            <a:noFill/>
          </a:ln>
        </p:spPr>
        <p:txBody>
          <a:bodyPr wrap="square" lIns="72000" tIns="36000" rIns="72000" bIns="36000" anchor="t"/>
          <a:lstStyle/>
          <a:p>
            <a:endParaRPr lang="en-US"/>
          </a:p>
        </p:txBody>
      </p:sp>
      <p:sp>
        <p:nvSpPr>
          <p:cNvPr id="14" name="Code"/>
          <p:cNvSpPr/>
          <p:nvPr/>
        </p:nvSpPr>
        <p:spPr>
          <a:xfrm>
            <a:off x="762000" y="1397000"/>
            <a:ext cx="10795000" cy="4318000"/>
          </a:xfrm>
          <a:prstGeom prst="rect">
            <a:avLst/>
          </a:prstGeom>
          <a:noFill/>
          <a:ln w="0">
            <a:noFill/>
          </a:ln>
        </p:spPr>
        <p:txBody>
          <a:bodyPr wrap="square" lIns="72000" tIns="36000" rIns="72000" bIns="36000" anchor="t"/>
          <a:lstStyle/>
          <a:p>
            <a:pPr>
              <a:buNone/>
            </a:pPr>
            <a:r>
              <a:rPr lang="en-US" sz="1400" dirty="0">
                <a:solidFill>
                  <a:srgbClr val="569CD6"/>
                </a:solidFill>
                <a:latin typeface="Consolas"/>
              </a:rPr>
              <a:t>type </a:t>
            </a:r>
            <a:r>
              <a:rPr lang="en-US" sz="1400" dirty="0">
                <a:solidFill>
                  <a:srgbClr val="4EC9B0"/>
                </a:solidFill>
                <a:latin typeface="Consolas"/>
              </a:rPr>
              <a:t>IfcElement</a:t>
            </a:r>
            <a:r>
              <a:rPr lang="en-US" sz="1400" dirty="0">
                <a:solidFill>
                  <a:srgbClr val="D4D4D4"/>
                </a:solidFill>
                <a:latin typeface="Consolas"/>
              </a:rPr>
              <a:t> =</a:t>
            </a:r>
          </a:p>
          <a:p>
            <a:pPr>
              <a:buNone/>
            </a:pPr>
            <a:r>
              <a:rPr lang="en-US" sz="1400" dirty="0">
                <a:solidFill>
                  <a:srgbClr val="D4D4D4"/>
                </a:solidFill>
                <a:latin typeface="Consolas"/>
              </a:rPr>
              <a:t>  | </a:t>
            </a:r>
            <a:r>
              <a:rPr lang="en-US" sz="1400" dirty="0">
                <a:solidFill>
                  <a:srgbClr val="4EC9B0"/>
                </a:solidFill>
                <a:latin typeface="Consolas"/>
              </a:rPr>
              <a:t>IfcWall</a:t>
            </a:r>
            <a:r>
              <a:rPr lang="en-US" sz="1400" dirty="0">
                <a:solidFill>
                  <a:srgbClr val="6A9955"/>
                </a:solidFill>
                <a:latin typeface="Consolas"/>
              </a:rPr>
              <a:t>              // components: IfcElement[]  ← recursive assembly</a:t>
            </a:r>
          </a:p>
          <a:p>
            <a:pPr>
              <a:buNone/>
            </a:pPr>
            <a:r>
              <a:rPr lang="en-US" sz="1400" dirty="0">
                <a:solidFill>
                  <a:srgbClr val="D4D4D4"/>
                </a:solidFill>
                <a:latin typeface="Consolas"/>
              </a:rPr>
              <a:t>  | </a:t>
            </a:r>
            <a:r>
              <a:rPr lang="en-US" sz="1400" dirty="0">
                <a:solidFill>
                  <a:srgbClr val="4EC9B0"/>
                </a:solidFill>
                <a:latin typeface="Consolas"/>
              </a:rPr>
              <a:t>IfcSlab</a:t>
            </a:r>
            <a:r>
              <a:rPr lang="en-US" sz="1400" dirty="0">
                <a:solidFill>
                  <a:srgbClr val="D4D4D4"/>
                </a:solidFill>
                <a:latin typeface="Consolas"/>
              </a:rPr>
              <a:t> | </a:t>
            </a:r>
            <a:r>
              <a:rPr lang="en-US" sz="1400" dirty="0">
                <a:solidFill>
                  <a:srgbClr val="4EC9B0"/>
                </a:solidFill>
                <a:latin typeface="Consolas"/>
              </a:rPr>
              <a:t>IfcBeam</a:t>
            </a:r>
            <a:r>
              <a:rPr lang="en-US" sz="1400" dirty="0">
                <a:solidFill>
                  <a:srgbClr val="D4D4D4"/>
                </a:solidFill>
                <a:latin typeface="Consolas"/>
              </a:rPr>
              <a:t> | </a:t>
            </a:r>
            <a:r>
              <a:rPr lang="en-US" sz="1400" dirty="0">
                <a:solidFill>
                  <a:srgbClr val="4EC9B0"/>
                </a:solidFill>
                <a:latin typeface="Consolas"/>
              </a:rPr>
              <a:t>IfcColumn</a:t>
            </a:r>
            <a:r>
              <a:rPr lang="en-US" sz="1400" dirty="0">
                <a:solidFill>
                  <a:srgbClr val="D4D4D4"/>
                </a:solidFill>
                <a:latin typeface="Consolas"/>
              </a:rPr>
              <a:t> | </a:t>
            </a:r>
            <a:r>
              <a:rPr lang="en-US" sz="1400" dirty="0">
                <a:solidFill>
                  <a:srgbClr val="4EC9B0"/>
                </a:solidFill>
                <a:latin typeface="Consolas"/>
              </a:rPr>
              <a:t>IfcRoof</a:t>
            </a:r>
            <a:r>
              <a:rPr lang="en-US" sz="1400" dirty="0">
                <a:solidFill>
                  <a:srgbClr val="D4D4D4"/>
                </a:solidFill>
                <a:latin typeface="Consolas"/>
              </a:rPr>
              <a:t> | </a:t>
            </a:r>
            <a:r>
              <a:rPr lang="en-US" sz="1400" dirty="0">
                <a:solidFill>
                  <a:srgbClr val="4EC9B0"/>
                </a:solidFill>
                <a:latin typeface="Consolas"/>
              </a:rPr>
              <a:t>IfcStair</a:t>
            </a:r>
            <a:r>
              <a:rPr lang="en-US" sz="1400" dirty="0">
                <a:solidFill>
                  <a:srgbClr val="D4D4D4"/>
                </a:solidFill>
                <a:latin typeface="Consolas"/>
              </a:rPr>
              <a:t> | </a:t>
            </a:r>
            <a:r>
              <a:rPr lang="en-US" sz="1400" dirty="0">
                <a:solidFill>
                  <a:srgbClr val="4EC9B0"/>
                </a:solidFill>
                <a:latin typeface="Consolas"/>
              </a:rPr>
              <a:t>IfcRamp</a:t>
            </a:r>
            <a:r>
              <a:rPr lang="en-US" sz="1400" dirty="0">
                <a:solidFill>
                  <a:srgbClr val="D4D4D4"/>
                </a:solidFill>
                <a:latin typeface="Consolas"/>
              </a:rPr>
              <a:t> | </a:t>
            </a:r>
            <a:r>
              <a:rPr lang="en-US" sz="1400" dirty="0">
                <a:solidFill>
                  <a:srgbClr val="4EC9B0"/>
                </a:solidFill>
                <a:latin typeface="Consolas"/>
              </a:rPr>
              <a:t>IfcFooting</a:t>
            </a:r>
          </a:p>
          <a:p>
            <a:pPr>
              <a:buNone/>
            </a:pPr>
            <a:r>
              <a:rPr lang="en-US" sz="1400" dirty="0">
                <a:solidFill>
                  <a:srgbClr val="D4D4D4"/>
                </a:solidFill>
                <a:latin typeface="Consolas"/>
              </a:rPr>
              <a:t>  | </a:t>
            </a:r>
            <a:r>
              <a:rPr lang="en-US" sz="1400" dirty="0">
                <a:solidFill>
                  <a:srgbClr val="4EC9B0"/>
                </a:solidFill>
                <a:latin typeface="Consolas"/>
              </a:rPr>
              <a:t>IfcDoor</a:t>
            </a:r>
            <a:r>
              <a:rPr lang="en-US" sz="1400" dirty="0">
                <a:solidFill>
                  <a:srgbClr val="D4D4D4"/>
                </a:solidFill>
                <a:latin typeface="Consolas"/>
              </a:rPr>
              <a:t> | </a:t>
            </a:r>
            <a:r>
              <a:rPr lang="en-US" sz="1400" dirty="0">
                <a:solidFill>
                  <a:srgbClr val="4EC9B0"/>
                </a:solidFill>
                <a:latin typeface="Consolas"/>
              </a:rPr>
              <a:t>IfcWindow</a:t>
            </a:r>
            <a:r>
              <a:rPr lang="en-US" sz="1400" dirty="0">
                <a:solidFill>
                  <a:srgbClr val="D4D4D4"/>
                </a:solidFill>
                <a:latin typeface="Consolas"/>
              </a:rPr>
              <a:t> | </a:t>
            </a:r>
            <a:r>
              <a:rPr lang="en-US" sz="1400" dirty="0">
                <a:solidFill>
                  <a:srgbClr val="4EC9B0"/>
                </a:solidFill>
                <a:latin typeface="Consolas"/>
              </a:rPr>
              <a:t>IfcCurtainWall</a:t>
            </a:r>
            <a:r>
              <a:rPr lang="en-US" sz="1400" dirty="0">
                <a:solidFill>
                  <a:srgbClr val="D4D4D4"/>
                </a:solidFill>
                <a:latin typeface="Consolas"/>
              </a:rPr>
              <a:t> | </a:t>
            </a:r>
            <a:r>
              <a:rPr lang="en-US" sz="1400" dirty="0">
                <a:solidFill>
                  <a:srgbClr val="4EC9B0"/>
                </a:solidFill>
                <a:latin typeface="Consolas"/>
              </a:rPr>
              <a:t>IfcRailing</a:t>
            </a:r>
            <a:r>
              <a:rPr lang="en-US" sz="1400" dirty="0">
                <a:solidFill>
                  <a:srgbClr val="D4D4D4"/>
                </a:solidFill>
                <a:latin typeface="Consolas"/>
              </a:rPr>
              <a:t> | </a:t>
            </a:r>
            <a:r>
              <a:rPr lang="en-US" sz="1400" dirty="0">
                <a:solidFill>
                  <a:srgbClr val="4EC9B0"/>
                </a:solidFill>
                <a:latin typeface="Consolas"/>
              </a:rPr>
              <a:t>IfcCovering</a:t>
            </a:r>
            <a:r>
              <a:rPr lang="en-US" sz="1400" dirty="0">
                <a:solidFill>
                  <a:srgbClr val="D4D4D4"/>
                </a:solidFill>
                <a:latin typeface="Consolas"/>
              </a:rPr>
              <a:t> | </a:t>
            </a:r>
            <a:r>
              <a:rPr lang="en-US" sz="1400" dirty="0">
                <a:solidFill>
                  <a:srgbClr val="4EC9B0"/>
                </a:solidFill>
                <a:latin typeface="Consolas"/>
              </a:rPr>
              <a:t>IfcPlate</a:t>
            </a:r>
          </a:p>
          <a:p>
            <a:pPr>
              <a:buNone/>
            </a:pPr>
            <a:r>
              <a:rPr lang="en-US" sz="1400" dirty="0">
                <a:solidFill>
                  <a:srgbClr val="D4D4D4"/>
                </a:solidFill>
                <a:latin typeface="Consolas"/>
              </a:rPr>
              <a:t>  | </a:t>
            </a:r>
            <a:r>
              <a:rPr lang="en-US" sz="1400" dirty="0">
                <a:solidFill>
                  <a:srgbClr val="4EC9B0"/>
                </a:solidFill>
                <a:latin typeface="Consolas"/>
              </a:rPr>
              <a:t>IfcPile</a:t>
            </a:r>
            <a:r>
              <a:rPr lang="en-US" sz="1400" dirty="0">
                <a:solidFill>
                  <a:srgbClr val="D4D4D4"/>
                </a:solidFill>
                <a:latin typeface="Consolas"/>
              </a:rPr>
              <a:t> | </a:t>
            </a:r>
            <a:r>
              <a:rPr lang="en-US" sz="1400" dirty="0">
                <a:solidFill>
                  <a:srgbClr val="4EC9B0"/>
                </a:solidFill>
                <a:latin typeface="Consolas"/>
              </a:rPr>
              <a:t>IfcMember</a:t>
            </a:r>
            <a:r>
              <a:rPr lang="en-US" sz="1400" dirty="0">
                <a:solidFill>
                  <a:srgbClr val="D4D4D4"/>
                </a:solidFill>
                <a:latin typeface="Consolas"/>
              </a:rPr>
              <a:t> | </a:t>
            </a:r>
            <a:r>
              <a:rPr lang="en-US" sz="1400" dirty="0">
                <a:solidFill>
                  <a:srgbClr val="4EC9B0"/>
                </a:solidFill>
                <a:latin typeface="Consolas"/>
              </a:rPr>
              <a:t>IfcChimney</a:t>
            </a:r>
            <a:r>
              <a:rPr lang="en-US" sz="1400" dirty="0">
                <a:solidFill>
                  <a:srgbClr val="D4D4D4"/>
                </a:solidFill>
                <a:latin typeface="Consolas"/>
              </a:rPr>
              <a:t> | </a:t>
            </a:r>
            <a:r>
              <a:rPr lang="en-US" sz="1400" dirty="0">
                <a:solidFill>
                  <a:srgbClr val="4EC9B0"/>
                </a:solidFill>
                <a:latin typeface="Consolas"/>
              </a:rPr>
              <a:t>IfcShadingDevice</a:t>
            </a:r>
            <a:r>
              <a:rPr lang="en-US" sz="1400" dirty="0">
                <a:solidFill>
                  <a:srgbClr val="D4D4D4"/>
                </a:solidFill>
                <a:latin typeface="Consolas"/>
              </a:rPr>
              <a:t> | </a:t>
            </a:r>
            <a:r>
              <a:rPr lang="en-US" sz="1400" dirty="0">
                <a:solidFill>
                  <a:srgbClr val="4EC9B0"/>
                </a:solidFill>
                <a:latin typeface="Consolas"/>
              </a:rPr>
              <a:t>IfcBuildingProxy</a:t>
            </a:r>
            <a:r>
              <a:rPr lang="en-US" sz="1400" dirty="0">
                <a:solidFill>
                  <a:srgbClr val="D4D4D4"/>
                </a:solidFill>
                <a:latin typeface="Consolas"/>
              </a:rPr>
              <a:t> | ...</a:t>
            </a:r>
          </a:p>
          <a:p>
            <a:pPr>
              <a:buNone/>
            </a:pPr>
            <a:endParaRPr lang="en-US" sz="1400" dirty="0">
              <a:latin typeface="Consolas"/>
            </a:endParaRPr>
          </a:p>
          <a:p>
            <a:pPr>
              <a:buNone/>
            </a:pPr>
            <a:r>
              <a:rPr lang="en-US" sz="1400" dirty="0">
                <a:solidFill>
                  <a:srgbClr val="569CD6"/>
                </a:solidFill>
                <a:latin typeface="Consolas"/>
              </a:rPr>
              <a:t>type </a:t>
            </a:r>
            <a:r>
              <a:rPr lang="en-US" sz="1400" dirty="0">
                <a:solidFill>
                  <a:srgbClr val="4EC9B0"/>
                </a:solidFill>
                <a:latin typeface="Consolas"/>
              </a:rPr>
              <a:t>IfcDistributionElement</a:t>
            </a:r>
            <a:r>
              <a:rPr lang="en-US" sz="1400" dirty="0">
                <a:solidFill>
                  <a:srgbClr val="D4D4D4"/>
                </a:solidFill>
                <a:latin typeface="Consolas"/>
              </a:rPr>
              <a:t> =</a:t>
            </a:r>
            <a:r>
              <a:rPr lang="en-US" sz="1400" dirty="0">
                <a:solidFill>
                  <a:srgbClr val="6A9955"/>
                </a:solidFill>
                <a:latin typeface="Consolas"/>
              </a:rPr>
              <a:t>       // union within union (MEP)</a:t>
            </a:r>
          </a:p>
          <a:p>
            <a:pPr>
              <a:buNone/>
            </a:pPr>
            <a:r>
              <a:rPr lang="en-US" sz="1400" dirty="0">
                <a:solidFill>
                  <a:srgbClr val="D4D4D4"/>
                </a:solidFill>
                <a:latin typeface="Consolas"/>
              </a:rPr>
              <a:t>  | </a:t>
            </a:r>
            <a:r>
              <a:rPr lang="en-US" sz="1400" dirty="0">
                <a:solidFill>
                  <a:srgbClr val="4EC9B0"/>
                </a:solidFill>
                <a:latin typeface="Consolas"/>
              </a:rPr>
              <a:t>IfcPipeSegment</a:t>
            </a:r>
            <a:r>
              <a:rPr lang="en-US" sz="1400" dirty="0">
                <a:solidFill>
                  <a:srgbClr val="D4D4D4"/>
                </a:solidFill>
                <a:latin typeface="Consolas"/>
              </a:rPr>
              <a:t> | </a:t>
            </a:r>
            <a:r>
              <a:rPr lang="en-US" sz="1400" dirty="0">
                <a:solidFill>
                  <a:srgbClr val="4EC9B0"/>
                </a:solidFill>
                <a:latin typeface="Consolas"/>
              </a:rPr>
              <a:t>IfcPipeFitting</a:t>
            </a:r>
            <a:r>
              <a:rPr lang="en-US" sz="1400" dirty="0">
                <a:solidFill>
                  <a:srgbClr val="D4D4D4"/>
                </a:solidFill>
                <a:latin typeface="Consolas"/>
              </a:rPr>
              <a:t> | </a:t>
            </a:r>
            <a:r>
              <a:rPr lang="en-US" sz="1400" dirty="0">
                <a:solidFill>
                  <a:srgbClr val="4EC9B0"/>
                </a:solidFill>
                <a:latin typeface="Consolas"/>
              </a:rPr>
              <a:t>IfcDuctSegment</a:t>
            </a:r>
            <a:r>
              <a:rPr lang="en-US" sz="1400" dirty="0">
                <a:solidFill>
                  <a:srgbClr val="D4D4D4"/>
                </a:solidFill>
                <a:latin typeface="Consolas"/>
              </a:rPr>
              <a:t> | </a:t>
            </a:r>
            <a:r>
              <a:rPr lang="en-US" sz="1400" dirty="0">
                <a:solidFill>
                  <a:srgbClr val="4EC9B0"/>
                </a:solidFill>
                <a:latin typeface="Consolas"/>
              </a:rPr>
              <a:t>IfcDuctFitting</a:t>
            </a:r>
          </a:p>
          <a:p>
            <a:pPr>
              <a:buNone/>
            </a:pPr>
            <a:r>
              <a:rPr lang="en-US" sz="1400" dirty="0">
                <a:solidFill>
                  <a:srgbClr val="D4D4D4"/>
                </a:solidFill>
                <a:latin typeface="Consolas"/>
              </a:rPr>
              <a:t>  | </a:t>
            </a:r>
            <a:r>
              <a:rPr lang="en-US" sz="1400" dirty="0">
                <a:solidFill>
                  <a:srgbClr val="4EC9B0"/>
                </a:solidFill>
                <a:latin typeface="Consolas"/>
              </a:rPr>
              <a:t>IfcCableSegment</a:t>
            </a:r>
            <a:r>
              <a:rPr lang="en-US" sz="1400" dirty="0">
                <a:solidFill>
                  <a:srgbClr val="D4D4D4"/>
                </a:solidFill>
                <a:latin typeface="Consolas"/>
              </a:rPr>
              <a:t> | </a:t>
            </a:r>
            <a:r>
              <a:rPr lang="en-US" sz="1400" dirty="0">
                <a:solidFill>
                  <a:srgbClr val="4EC9B0"/>
                </a:solidFill>
                <a:latin typeface="Consolas"/>
              </a:rPr>
              <a:t>IfcCableCarrier</a:t>
            </a:r>
            <a:r>
              <a:rPr lang="en-US" sz="1400" dirty="0">
                <a:solidFill>
                  <a:srgbClr val="D4D4D4"/>
                </a:solidFill>
                <a:latin typeface="Consolas"/>
              </a:rPr>
              <a:t> | </a:t>
            </a:r>
            <a:r>
              <a:rPr lang="en-US" sz="1400" dirty="0">
                <a:solidFill>
                  <a:srgbClr val="4EC9B0"/>
                </a:solidFill>
                <a:latin typeface="Consolas"/>
              </a:rPr>
              <a:t>IfcJunctionBox</a:t>
            </a:r>
            <a:r>
              <a:rPr lang="en-US" sz="1400" dirty="0">
                <a:solidFill>
                  <a:srgbClr val="D4D4D4"/>
                </a:solidFill>
                <a:latin typeface="Consolas"/>
              </a:rPr>
              <a:t> | </a:t>
            </a:r>
            <a:r>
              <a:rPr lang="en-US" sz="1400" dirty="0">
                <a:solidFill>
                  <a:srgbClr val="4EC9B0"/>
                </a:solidFill>
                <a:latin typeface="Consolas"/>
              </a:rPr>
              <a:t>IfcOutlet</a:t>
            </a:r>
            <a:r>
              <a:rPr lang="en-US" sz="1400" dirty="0">
                <a:solidFill>
                  <a:srgbClr val="D4D4D4"/>
                </a:solidFill>
                <a:latin typeface="Consolas"/>
              </a:rPr>
              <a:t> | </a:t>
            </a:r>
            <a:r>
              <a:rPr lang="en-US" sz="1400" dirty="0">
                <a:solidFill>
                  <a:srgbClr val="4EC9B0"/>
                </a:solidFill>
                <a:latin typeface="Consolas"/>
              </a:rPr>
              <a:t>IfcSwitch</a:t>
            </a:r>
          </a:p>
          <a:p>
            <a:pPr>
              <a:buNone/>
            </a:pPr>
            <a:r>
              <a:rPr lang="en-US" sz="1400" dirty="0">
                <a:solidFill>
                  <a:srgbClr val="D4D4D4"/>
                </a:solidFill>
                <a:latin typeface="Consolas"/>
              </a:rPr>
              <a:t>  | </a:t>
            </a:r>
            <a:r>
              <a:rPr lang="en-US" sz="1400" dirty="0">
                <a:solidFill>
                  <a:srgbClr val="4EC9B0"/>
                </a:solidFill>
                <a:latin typeface="Consolas"/>
              </a:rPr>
              <a:t>IfcPump</a:t>
            </a:r>
            <a:r>
              <a:rPr lang="en-US" sz="1400" dirty="0">
                <a:solidFill>
                  <a:srgbClr val="D4D4D4"/>
                </a:solidFill>
                <a:latin typeface="Consolas"/>
              </a:rPr>
              <a:t> | </a:t>
            </a:r>
            <a:r>
              <a:rPr lang="en-US" sz="1400" dirty="0">
                <a:solidFill>
                  <a:srgbClr val="4EC9B0"/>
                </a:solidFill>
                <a:latin typeface="Consolas"/>
              </a:rPr>
              <a:t>IfcFan</a:t>
            </a:r>
            <a:r>
              <a:rPr lang="en-US" sz="1400" dirty="0">
                <a:solidFill>
                  <a:srgbClr val="D4D4D4"/>
                </a:solidFill>
                <a:latin typeface="Consolas"/>
              </a:rPr>
              <a:t> | </a:t>
            </a:r>
            <a:r>
              <a:rPr lang="en-US" sz="1400" dirty="0">
                <a:solidFill>
                  <a:srgbClr val="4EC9B0"/>
                </a:solidFill>
                <a:latin typeface="Consolas"/>
              </a:rPr>
              <a:t>IfcBoiler</a:t>
            </a:r>
            <a:r>
              <a:rPr lang="en-US" sz="1400" dirty="0">
                <a:solidFill>
                  <a:srgbClr val="D4D4D4"/>
                </a:solidFill>
                <a:latin typeface="Consolas"/>
              </a:rPr>
              <a:t> | </a:t>
            </a:r>
            <a:r>
              <a:rPr lang="en-US" sz="1400" dirty="0">
                <a:solidFill>
                  <a:srgbClr val="4EC9B0"/>
                </a:solidFill>
                <a:latin typeface="Consolas"/>
              </a:rPr>
              <a:t>IfcChiller</a:t>
            </a:r>
            <a:r>
              <a:rPr lang="en-US" sz="1400" dirty="0">
                <a:solidFill>
                  <a:srgbClr val="D4D4D4"/>
                </a:solidFill>
                <a:latin typeface="Consolas"/>
              </a:rPr>
              <a:t> | </a:t>
            </a:r>
            <a:r>
              <a:rPr lang="en-US" sz="1400" dirty="0">
                <a:solidFill>
                  <a:srgbClr val="4EC9B0"/>
                </a:solidFill>
                <a:latin typeface="Consolas"/>
              </a:rPr>
              <a:t>IfcCoil</a:t>
            </a:r>
            <a:r>
              <a:rPr lang="en-US" sz="1400" dirty="0">
                <a:solidFill>
                  <a:srgbClr val="D4D4D4"/>
                </a:solidFill>
                <a:latin typeface="Consolas"/>
              </a:rPr>
              <a:t> | </a:t>
            </a:r>
            <a:r>
              <a:rPr lang="en-US" sz="1400" dirty="0">
                <a:solidFill>
                  <a:srgbClr val="4EC9B0"/>
                </a:solidFill>
                <a:latin typeface="Consolas"/>
              </a:rPr>
              <a:t>IfcCondenser</a:t>
            </a:r>
            <a:r>
              <a:rPr lang="en-US" sz="1400" dirty="0">
                <a:solidFill>
                  <a:srgbClr val="D4D4D4"/>
                </a:solidFill>
                <a:latin typeface="Consolas"/>
              </a:rPr>
              <a:t> | </a:t>
            </a:r>
            <a:r>
              <a:rPr lang="en-US" sz="1400" dirty="0">
                <a:solidFill>
                  <a:srgbClr val="4EC9B0"/>
                </a:solidFill>
                <a:latin typeface="Consolas"/>
              </a:rPr>
              <a:t>IfcCoolingTower</a:t>
            </a:r>
          </a:p>
          <a:p>
            <a:pPr>
              <a:buNone/>
            </a:pPr>
            <a:r>
              <a:rPr lang="en-US" sz="1400" dirty="0">
                <a:solidFill>
                  <a:srgbClr val="D4D4D4"/>
                </a:solidFill>
                <a:latin typeface="Consolas"/>
              </a:rPr>
              <a:t>  | </a:t>
            </a:r>
            <a:r>
              <a:rPr lang="en-US" sz="1400" dirty="0">
                <a:solidFill>
                  <a:srgbClr val="4EC9B0"/>
                </a:solidFill>
                <a:latin typeface="Consolas"/>
              </a:rPr>
              <a:t>IfcValve</a:t>
            </a:r>
            <a:r>
              <a:rPr lang="en-US" sz="1400" dirty="0">
                <a:solidFill>
                  <a:srgbClr val="D4D4D4"/>
                </a:solidFill>
                <a:latin typeface="Consolas"/>
              </a:rPr>
              <a:t> | </a:t>
            </a:r>
            <a:r>
              <a:rPr lang="en-US" sz="1400" dirty="0">
                <a:solidFill>
                  <a:srgbClr val="4EC9B0"/>
                </a:solidFill>
                <a:latin typeface="Consolas"/>
              </a:rPr>
              <a:t>IfcSensor</a:t>
            </a:r>
            <a:r>
              <a:rPr lang="en-US" sz="1400" dirty="0">
                <a:solidFill>
                  <a:srgbClr val="D4D4D4"/>
                </a:solidFill>
                <a:latin typeface="Consolas"/>
              </a:rPr>
              <a:t> | </a:t>
            </a:r>
            <a:r>
              <a:rPr lang="en-US" sz="1400" dirty="0">
                <a:solidFill>
                  <a:srgbClr val="4EC9B0"/>
                </a:solidFill>
                <a:latin typeface="Consolas"/>
              </a:rPr>
              <a:t>IfcActuator</a:t>
            </a:r>
            <a:r>
              <a:rPr lang="en-US" sz="1400" dirty="0">
                <a:solidFill>
                  <a:srgbClr val="D4D4D4"/>
                </a:solidFill>
                <a:latin typeface="Consolas"/>
              </a:rPr>
              <a:t> | </a:t>
            </a:r>
            <a:r>
              <a:rPr lang="en-US" sz="1400" dirty="0">
                <a:solidFill>
                  <a:srgbClr val="4EC9B0"/>
                </a:solidFill>
                <a:latin typeface="Consolas"/>
              </a:rPr>
              <a:t>IfcAlarm</a:t>
            </a:r>
            <a:r>
              <a:rPr lang="en-US" sz="1400" dirty="0">
                <a:solidFill>
                  <a:srgbClr val="D4D4D4"/>
                </a:solidFill>
                <a:latin typeface="Consolas"/>
              </a:rPr>
              <a:t> | </a:t>
            </a:r>
            <a:r>
              <a:rPr lang="en-US" sz="1400" dirty="0">
                <a:solidFill>
                  <a:srgbClr val="4EC9B0"/>
                </a:solidFill>
                <a:latin typeface="Consolas"/>
              </a:rPr>
              <a:t>IfcController</a:t>
            </a:r>
            <a:r>
              <a:rPr lang="en-US" sz="1400" dirty="0">
                <a:solidFill>
                  <a:srgbClr val="D4D4D4"/>
                </a:solidFill>
                <a:latin typeface="Consolas"/>
              </a:rPr>
              <a:t> | </a:t>
            </a:r>
            <a:r>
              <a:rPr lang="en-US" sz="1400" dirty="0">
                <a:solidFill>
                  <a:srgbClr val="4EC9B0"/>
                </a:solidFill>
                <a:latin typeface="Consolas"/>
              </a:rPr>
              <a:t>IfcFlowMeter</a:t>
            </a:r>
            <a:r>
              <a:rPr lang="en-US" sz="1400" dirty="0">
                <a:solidFill>
                  <a:srgbClr val="D4D4D4"/>
                </a:solidFill>
                <a:latin typeface="Consolas"/>
              </a:rPr>
              <a:t> | ...</a:t>
            </a:r>
          </a:p>
          <a:p>
            <a:pPr>
              <a:buNone/>
            </a:pPr>
            <a:endParaRPr lang="en-US" sz="1400" dirty="0">
              <a:latin typeface="Consolas"/>
            </a:endParaRPr>
          </a:p>
          <a:p>
            <a:pPr>
              <a:buNone/>
            </a:pPr>
            <a:r>
              <a:rPr lang="en-US" sz="1400" dirty="0">
                <a:solidFill>
                  <a:srgbClr val="569CD6"/>
                </a:solidFill>
                <a:latin typeface="Consolas"/>
              </a:rPr>
              <a:t>type </a:t>
            </a:r>
            <a:r>
              <a:rPr lang="en-US" sz="1400" dirty="0">
                <a:solidFill>
                  <a:srgbClr val="4EC9B0"/>
                </a:solidFill>
                <a:latin typeface="Consolas"/>
              </a:rPr>
              <a:t>IfcSpatialElement</a:t>
            </a:r>
            <a:r>
              <a:rPr lang="en-US" sz="1400" dirty="0">
                <a:solidFill>
                  <a:srgbClr val="D4D4D4"/>
                </a:solidFill>
                <a:latin typeface="Consolas"/>
              </a:rPr>
              <a:t> =</a:t>
            </a:r>
            <a:r>
              <a:rPr lang="en-US" sz="1400" dirty="0">
                <a:solidFill>
                  <a:srgbClr val="6A9955"/>
                </a:solidFill>
                <a:latin typeface="Consolas"/>
              </a:rPr>
              <a:t>           // spatial hierarchy ← recursive</a:t>
            </a:r>
          </a:p>
          <a:p>
            <a:pPr>
              <a:buNone/>
            </a:pPr>
            <a:r>
              <a:rPr lang="en-US" sz="1400" dirty="0">
                <a:solidFill>
                  <a:srgbClr val="D4D4D4"/>
                </a:solidFill>
                <a:latin typeface="Consolas"/>
              </a:rPr>
              <a:t>  | </a:t>
            </a:r>
            <a:r>
              <a:rPr lang="en-US" sz="1400" dirty="0">
                <a:solidFill>
                  <a:srgbClr val="4EC9B0"/>
                </a:solidFill>
                <a:latin typeface="Consolas"/>
              </a:rPr>
              <a:t>IfcSite</a:t>
            </a:r>
            <a:r>
              <a:rPr lang="en-US" sz="1400" dirty="0">
                <a:solidFill>
                  <a:srgbClr val="D4D4D4"/>
                </a:solidFill>
                <a:latin typeface="Consolas"/>
              </a:rPr>
              <a:t> | </a:t>
            </a:r>
            <a:r>
              <a:rPr lang="en-US" sz="1400" dirty="0">
                <a:solidFill>
                  <a:srgbClr val="4EC9B0"/>
                </a:solidFill>
                <a:latin typeface="Consolas"/>
              </a:rPr>
              <a:t>IfcBuilding</a:t>
            </a:r>
            <a:r>
              <a:rPr lang="en-US" sz="1400" dirty="0">
                <a:solidFill>
                  <a:srgbClr val="D4D4D4"/>
                </a:solidFill>
                <a:latin typeface="Consolas"/>
              </a:rPr>
              <a:t> | </a:t>
            </a:r>
            <a:r>
              <a:rPr lang="en-US" sz="1400" dirty="0">
                <a:solidFill>
                  <a:srgbClr val="4EC9B0"/>
                </a:solidFill>
                <a:latin typeface="Consolas"/>
              </a:rPr>
              <a:t>IfcBuildingStorey</a:t>
            </a:r>
            <a:r>
              <a:rPr lang="en-US" sz="1400" dirty="0">
                <a:solidFill>
                  <a:srgbClr val="D4D4D4"/>
                </a:solidFill>
                <a:latin typeface="Consolas"/>
              </a:rPr>
              <a:t> | </a:t>
            </a:r>
            <a:r>
              <a:rPr lang="en-US" sz="1400" dirty="0">
                <a:solidFill>
                  <a:srgbClr val="4EC9B0"/>
                </a:solidFill>
                <a:latin typeface="Consolas"/>
              </a:rPr>
              <a:t>IfcSpace</a:t>
            </a:r>
            <a:r>
              <a:rPr lang="en-US" sz="1400" dirty="0">
                <a:solidFill>
                  <a:srgbClr val="D4D4D4"/>
                </a:solidFill>
                <a:latin typeface="Consolas"/>
              </a:rPr>
              <a:t> | </a:t>
            </a:r>
            <a:r>
              <a:rPr lang="en-US" sz="1400" dirty="0">
                <a:solidFill>
                  <a:srgbClr val="4EC9B0"/>
                </a:solidFill>
                <a:latin typeface="Consolas"/>
              </a:rPr>
              <a:t>IfcFacility</a:t>
            </a:r>
            <a:r>
              <a:rPr lang="en-US" sz="1400" dirty="0">
                <a:solidFill>
                  <a:srgbClr val="D4D4D4"/>
                </a:solidFill>
                <a:latin typeface="Consolas"/>
              </a:rPr>
              <a:t> | </a:t>
            </a:r>
            <a:r>
              <a:rPr lang="en-US" sz="1400" dirty="0">
                <a:solidFill>
                  <a:srgbClr val="4EC9B0"/>
                </a:solidFill>
                <a:latin typeface="Consolas"/>
              </a:rPr>
              <a:t>IfcBridge</a:t>
            </a:r>
            <a:r>
              <a:rPr lang="en-US" sz="1400" dirty="0">
                <a:solidFill>
                  <a:srgbClr val="D4D4D4"/>
                </a:solidFill>
                <a:latin typeface="Consolas"/>
              </a:rPr>
              <a:t>;</a:t>
            </a:r>
          </a:p>
          <a:p>
            <a:pPr>
              <a:buNone/>
            </a:pPr>
            <a:endParaRPr lang="en-US" sz="1400" dirty="0">
              <a:latin typeface="Consolas"/>
            </a:endParaRPr>
          </a:p>
          <a:p>
            <a:pPr>
              <a:buNone/>
            </a:pPr>
            <a:r>
              <a:rPr lang="en-US" sz="1400" dirty="0">
                <a:solidFill>
                  <a:srgbClr val="6A9955"/>
                </a:solidFill>
                <a:latin typeface="Consolas"/>
              </a:rPr>
              <a:t>// IfcWall contains IfcElement[] — recursive like IJsonSchema</a:t>
            </a:r>
          </a:p>
          <a:p>
            <a:pPr>
              <a:buNone/>
            </a:pPr>
            <a:r>
              <a:rPr lang="en-US" sz="1400" dirty="0">
                <a:solidFill>
                  <a:srgbClr val="6A9955"/>
                </a:solidFill>
                <a:latin typeface="Consolas"/>
              </a:rPr>
              <a:t>// IfcDistributionElement is itself a union — union within union</a:t>
            </a:r>
          </a:p>
        </p:txBody>
      </p:sp>
      <p:sp>
        <p:nvSpPr>
          <p:cNvPr id="15" name="Badge"/>
          <p:cNvSpPr/>
          <p:nvPr/>
        </p:nvSpPr>
        <p:spPr>
          <a:xfrm>
            <a:off x="1270000" y="5943600"/>
            <a:ext cx="9652000" cy="457200"/>
          </a:xfrm>
          <a:prstGeom prst="rect">
            <a:avLst/>
          </a:prstGeom>
          <a:noFill/>
          <a:ln w="0">
            <a:noFill/>
          </a:ln>
        </p:spPr>
        <p:txBody>
          <a:bodyPr wrap="square" lIns="36000" tIns="18000" rIns="36000" bIns="18000" anchor="ctr"/>
          <a:lstStyle/>
          <a:p>
            <a:pPr algn="ctr">
              <a:buNone/>
            </a:pPr>
            <a:r>
              <a:rPr lang="en-US" sz="1800" b="1" dirty="0">
                <a:solidFill>
                  <a:srgbClr val="FF9F43"/>
                </a:solidFill>
                <a:latin typeface="Segoe UI Semibold"/>
              </a:rPr>
              <a:t>BIM tools like Revit: collision detection for decades</a:t>
            </a:r>
          </a:p>
        </p:txBody>
      </p:sp>
    </p:spTree>
    <p:extLst>
      <p:ext uri="{BB962C8B-B14F-4D97-AF65-F5344CB8AC3E}">
        <p14:creationId xmlns:p14="http://schemas.microsoft.com/office/powerpoint/2010/main" val="4740467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rkBg">
            <a:extLst>
              <a:ext uri="{FF2B5EF4-FFF2-40B4-BE49-F238E27FC236}">
                <a16:creationId xmlns:a16="http://schemas.microsoft.com/office/drawing/2014/main" id="{B4F4345E-F019-4CF8-89AC-960DDAF46810}"/>
              </a:ext>
            </a:extLst>
          </p:cNvPr>
          <p:cNvSpPr/>
          <p:nvPr/>
        </p:nvSpPr>
        <p:spPr>
          <a:xfrm>
            <a:off x="0" y="0"/>
            <a:ext cx="12192000" cy="6858000"/>
          </a:xfrm>
          <a:prstGeom prst="rect">
            <a:avLst/>
          </a:prstGeom>
          <a:solidFill>
            <a:srgbClr val="1A1A2E"/>
          </a:solidFill>
          <a:ln w="1905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
          <p:cNvSpPr/>
          <p:nvPr/>
        </p:nvSpPr>
        <p:spPr>
          <a:xfrm>
            <a:off x="762000" y="317500"/>
            <a:ext cx="10668000" cy="508000"/>
          </a:xfrm>
          <a:prstGeom prst="rect">
            <a:avLst/>
          </a:prstGeom>
          <a:noFill/>
          <a:ln w="0">
            <a:noFill/>
          </a:ln>
        </p:spPr>
        <p:txBody>
          <a:bodyPr wrap="square" lIns="72000" tIns="36000" rIns="72000" bIns="36000" anchor="t"/>
          <a:lstStyle/>
          <a:p>
            <a:pPr>
              <a:buNone/>
            </a:pPr>
            <a:r>
              <a:rPr lang="en-US" sz="2400" b="1" dirty="0">
                <a:solidFill>
                  <a:srgbClr val="F0F0F0"/>
                </a:solidFill>
                <a:latin typeface="Segoe UI Semibold"/>
              </a:rPr>
              <a:t>Control Systems — Controller Hierarchy</a:t>
            </a:r>
          </a:p>
        </p:txBody>
      </p:sp>
      <p:sp>
        <p:nvSpPr>
          <p:cNvPr id="11" name="AL"/>
          <p:cNvSpPr/>
          <p:nvPr/>
        </p:nvSpPr>
        <p:spPr>
          <a:xfrm>
            <a:off x="762000" y="863600"/>
            <a:ext cx="1524000" cy="38100"/>
          </a:xfrm>
          <a:prstGeom prst="rect">
            <a:avLst/>
          </a:prstGeom>
          <a:solidFill>
            <a:srgbClr val="00D4AA"/>
          </a:solidFill>
          <a:ln w="0">
            <a:noFill/>
          </a:ln>
        </p:spPr>
        <p:txBody>
          <a:bodyPr wrap="square" lIns="72000" tIns="36000" rIns="72000" bIns="36000" anchor="t"/>
          <a:lstStyle/>
          <a:p>
            <a:endParaRPr lang="en-US"/>
          </a:p>
        </p:txBody>
      </p:sp>
      <p:sp>
        <p:nvSpPr>
          <p:cNvPr id="12" name="Sub"/>
          <p:cNvSpPr/>
          <p:nvPr/>
        </p:nvSpPr>
        <p:spPr>
          <a:xfrm>
            <a:off x="762000" y="965200"/>
            <a:ext cx="10668000" cy="317500"/>
          </a:xfrm>
          <a:prstGeom prst="rect">
            <a:avLst/>
          </a:prstGeom>
          <a:noFill/>
          <a:ln w="0">
            <a:noFill/>
          </a:ln>
        </p:spPr>
        <p:txBody>
          <a:bodyPr wrap="square" lIns="72000" tIns="36000" rIns="72000" bIns="36000" anchor="t"/>
          <a:lstStyle/>
          <a:p>
            <a:pPr>
              <a:buNone/>
            </a:pPr>
            <a:r>
              <a:rPr lang="en-US" sz="1800" dirty="0">
                <a:solidFill>
                  <a:srgbClr val="808080"/>
                </a:solidFill>
                <a:latin typeface="Segoe UI"/>
              </a:rPr>
              <a:t>Transfer function (fast) → Stability analysis (med) → Time-domain sim (deep)</a:t>
            </a:r>
          </a:p>
        </p:txBody>
      </p:sp>
      <p:sp>
        <p:nvSpPr>
          <p:cNvPr id="13" name="CodeBg"/>
          <p:cNvSpPr/>
          <p:nvPr/>
        </p:nvSpPr>
        <p:spPr>
          <a:xfrm>
            <a:off x="508000" y="1333500"/>
            <a:ext cx="11176000" cy="4445000"/>
          </a:xfrm>
          <a:prstGeom prst="rect">
            <a:avLst/>
          </a:prstGeom>
          <a:solidFill>
            <a:srgbClr val="1E1E1E"/>
          </a:solidFill>
          <a:ln w="0">
            <a:noFill/>
          </a:ln>
        </p:spPr>
        <p:txBody>
          <a:bodyPr wrap="square" lIns="72000" tIns="36000" rIns="72000" bIns="36000" anchor="t"/>
          <a:lstStyle/>
          <a:p>
            <a:endParaRPr lang="en-US"/>
          </a:p>
        </p:txBody>
      </p:sp>
      <p:sp>
        <p:nvSpPr>
          <p:cNvPr id="14" name="Code"/>
          <p:cNvSpPr/>
          <p:nvPr/>
        </p:nvSpPr>
        <p:spPr>
          <a:xfrm>
            <a:off x="762000" y="1397000"/>
            <a:ext cx="10795000" cy="4318000"/>
          </a:xfrm>
          <a:prstGeom prst="rect">
            <a:avLst/>
          </a:prstGeom>
          <a:noFill/>
          <a:ln w="0">
            <a:noFill/>
          </a:ln>
        </p:spPr>
        <p:txBody>
          <a:bodyPr wrap="square" lIns="72000" tIns="36000" rIns="72000" bIns="36000" anchor="t"/>
          <a:lstStyle/>
          <a:p>
            <a:pPr>
              <a:buNone/>
            </a:pPr>
            <a:r>
              <a:rPr lang="en-US" sz="1400" dirty="0">
                <a:solidFill>
                  <a:srgbClr val="569CD6"/>
                </a:solidFill>
                <a:latin typeface="Consolas"/>
              </a:rPr>
              <a:t>type </a:t>
            </a:r>
            <a:r>
              <a:rPr lang="en-US" sz="1400" dirty="0">
                <a:solidFill>
                  <a:srgbClr val="4EC9B0"/>
                </a:solidFill>
                <a:latin typeface="Consolas"/>
              </a:rPr>
              <a:t>IController</a:t>
            </a:r>
            <a:r>
              <a:rPr lang="en-US" sz="1400" dirty="0">
                <a:solidFill>
                  <a:srgbClr val="D4D4D4"/>
                </a:solidFill>
                <a:latin typeface="Consolas"/>
              </a:rPr>
              <a:t> =</a:t>
            </a:r>
          </a:p>
          <a:p>
            <a:pPr>
              <a:buNone/>
            </a:pPr>
            <a:r>
              <a:rPr lang="en-US" sz="1400" dirty="0">
                <a:solidFill>
                  <a:srgbClr val="D4D4D4"/>
                </a:solidFill>
                <a:latin typeface="Consolas"/>
              </a:rPr>
              <a:t>  | </a:t>
            </a:r>
            <a:r>
              <a:rPr lang="en-US" sz="1400" dirty="0">
                <a:solidFill>
                  <a:srgbClr val="4EC9B0"/>
                </a:solidFill>
                <a:latin typeface="Consolas"/>
              </a:rPr>
              <a:t>IPID</a:t>
            </a:r>
            <a:r>
              <a:rPr lang="en-US" sz="1400" dirty="0">
                <a:solidFill>
                  <a:srgbClr val="6A9955"/>
                </a:solidFill>
                <a:latin typeface="Consolas"/>
              </a:rPr>
              <a:t>               // inner: IController  ← cascade recursion</a:t>
            </a:r>
          </a:p>
          <a:p>
            <a:pPr>
              <a:buNone/>
            </a:pPr>
            <a:r>
              <a:rPr lang="en-US" sz="1400" dirty="0">
                <a:solidFill>
                  <a:srgbClr val="D4D4D4"/>
                </a:solidFill>
                <a:latin typeface="Consolas"/>
              </a:rPr>
              <a:t>  | </a:t>
            </a:r>
            <a:r>
              <a:rPr lang="en-US" sz="1400" dirty="0">
                <a:solidFill>
                  <a:srgbClr val="4EC9B0"/>
                </a:solidFill>
                <a:latin typeface="Consolas"/>
              </a:rPr>
              <a:t>IMPC</a:t>
            </a:r>
            <a:r>
              <a:rPr lang="en-US" sz="1400" dirty="0">
                <a:solidFill>
                  <a:srgbClr val="6A9955"/>
                </a:solidFill>
                <a:latin typeface="Consolas"/>
              </a:rPr>
              <a:t>               // constraints: IConstraint[]  ← another union</a:t>
            </a:r>
          </a:p>
          <a:p>
            <a:pPr>
              <a:buNone/>
            </a:pPr>
            <a:r>
              <a:rPr lang="en-US" sz="1400" dirty="0">
                <a:solidFill>
                  <a:srgbClr val="D4D4D4"/>
                </a:solidFill>
                <a:latin typeface="Consolas"/>
              </a:rPr>
              <a:t>  | </a:t>
            </a:r>
            <a:r>
              <a:rPr lang="en-US" sz="1400" dirty="0">
                <a:solidFill>
                  <a:srgbClr val="4EC9B0"/>
                </a:solidFill>
                <a:latin typeface="Consolas"/>
              </a:rPr>
              <a:t>ILQR</a:t>
            </a:r>
            <a:r>
              <a:rPr lang="en-US" sz="1400" dirty="0">
                <a:solidFill>
                  <a:srgbClr val="D4D4D4"/>
                </a:solidFill>
                <a:latin typeface="Consolas"/>
              </a:rPr>
              <a:t> | </a:t>
            </a:r>
            <a:r>
              <a:rPr lang="en-US" sz="1400" dirty="0">
                <a:solidFill>
                  <a:srgbClr val="4EC9B0"/>
                </a:solidFill>
                <a:latin typeface="Consolas"/>
              </a:rPr>
              <a:t>ILQG</a:t>
            </a:r>
            <a:r>
              <a:rPr lang="en-US" sz="1400" dirty="0">
                <a:solidFill>
                  <a:srgbClr val="D4D4D4"/>
                </a:solidFill>
                <a:latin typeface="Consolas"/>
              </a:rPr>
              <a:t> | </a:t>
            </a:r>
            <a:r>
              <a:rPr lang="en-US" sz="1400" dirty="0">
                <a:solidFill>
                  <a:srgbClr val="4EC9B0"/>
                </a:solidFill>
                <a:latin typeface="Consolas"/>
              </a:rPr>
              <a:t>IHinf</a:t>
            </a:r>
            <a:r>
              <a:rPr lang="en-US" sz="1400" dirty="0">
                <a:solidFill>
                  <a:srgbClr val="D4D4D4"/>
                </a:solidFill>
                <a:latin typeface="Consolas"/>
              </a:rPr>
              <a:t> | </a:t>
            </a:r>
            <a:r>
              <a:rPr lang="en-US" sz="1400" dirty="0">
                <a:solidFill>
                  <a:srgbClr val="4EC9B0"/>
                </a:solidFill>
                <a:latin typeface="Consolas"/>
              </a:rPr>
              <a:t>IFeedforward</a:t>
            </a:r>
            <a:r>
              <a:rPr lang="en-US" sz="1400" dirty="0">
                <a:solidFill>
                  <a:srgbClr val="D4D4D4"/>
                </a:solidFill>
                <a:latin typeface="Consolas"/>
              </a:rPr>
              <a:t> | </a:t>
            </a:r>
            <a:r>
              <a:rPr lang="en-US" sz="1400" dirty="0">
                <a:solidFill>
                  <a:srgbClr val="4EC9B0"/>
                </a:solidFill>
                <a:latin typeface="Consolas"/>
              </a:rPr>
              <a:t>ICascade</a:t>
            </a:r>
            <a:r>
              <a:rPr lang="en-US" sz="1400" dirty="0">
                <a:solidFill>
                  <a:srgbClr val="D4D4D4"/>
                </a:solidFill>
                <a:latin typeface="Consolas"/>
              </a:rPr>
              <a:t> | </a:t>
            </a:r>
            <a:r>
              <a:rPr lang="en-US" sz="1400" dirty="0">
                <a:solidFill>
                  <a:srgbClr val="4EC9B0"/>
                </a:solidFill>
                <a:latin typeface="Consolas"/>
              </a:rPr>
              <a:t>IAdaptive</a:t>
            </a:r>
          </a:p>
          <a:p>
            <a:pPr>
              <a:buNone/>
            </a:pPr>
            <a:r>
              <a:rPr lang="en-US" sz="1400" dirty="0">
                <a:solidFill>
                  <a:srgbClr val="D4D4D4"/>
                </a:solidFill>
                <a:latin typeface="Consolas"/>
              </a:rPr>
              <a:t>  | </a:t>
            </a:r>
            <a:r>
              <a:rPr lang="en-US" sz="1400" dirty="0">
                <a:solidFill>
                  <a:srgbClr val="4EC9B0"/>
                </a:solidFill>
                <a:latin typeface="Consolas"/>
              </a:rPr>
              <a:t>IFuzzy</a:t>
            </a:r>
            <a:r>
              <a:rPr lang="en-US" sz="1400" dirty="0">
                <a:solidFill>
                  <a:srgbClr val="D4D4D4"/>
                </a:solidFill>
                <a:latin typeface="Consolas"/>
              </a:rPr>
              <a:t> | </a:t>
            </a:r>
            <a:r>
              <a:rPr lang="en-US" sz="1400" dirty="0">
                <a:solidFill>
                  <a:srgbClr val="4EC9B0"/>
                </a:solidFill>
                <a:latin typeface="Consolas"/>
              </a:rPr>
              <a:t>ISlidingMode</a:t>
            </a:r>
            <a:r>
              <a:rPr lang="en-US" sz="1400" dirty="0">
                <a:solidFill>
                  <a:srgbClr val="D4D4D4"/>
                </a:solidFill>
                <a:latin typeface="Consolas"/>
              </a:rPr>
              <a:t> | </a:t>
            </a:r>
            <a:r>
              <a:rPr lang="en-US" sz="1400" dirty="0">
                <a:solidFill>
                  <a:srgbClr val="4EC9B0"/>
                </a:solidFill>
                <a:latin typeface="Consolas"/>
              </a:rPr>
              <a:t>IBackstepping</a:t>
            </a:r>
            <a:r>
              <a:rPr lang="en-US" sz="1400" dirty="0">
                <a:solidFill>
                  <a:srgbClr val="D4D4D4"/>
                </a:solidFill>
                <a:latin typeface="Consolas"/>
              </a:rPr>
              <a:t> | </a:t>
            </a:r>
            <a:r>
              <a:rPr lang="en-US" sz="1400" dirty="0">
                <a:solidFill>
                  <a:srgbClr val="4EC9B0"/>
                </a:solidFill>
                <a:latin typeface="Consolas"/>
              </a:rPr>
              <a:t>IRobust</a:t>
            </a:r>
            <a:r>
              <a:rPr lang="en-US" sz="1400" dirty="0">
                <a:solidFill>
                  <a:srgbClr val="D4D4D4"/>
                </a:solidFill>
                <a:latin typeface="Consolas"/>
              </a:rPr>
              <a:t> | </a:t>
            </a:r>
            <a:r>
              <a:rPr lang="en-US" sz="1400" dirty="0">
                <a:solidFill>
                  <a:srgbClr val="4EC9B0"/>
                </a:solidFill>
                <a:latin typeface="Consolas"/>
              </a:rPr>
              <a:t>IGainScheduled</a:t>
            </a:r>
            <a:r>
              <a:rPr lang="en-US" sz="1400" dirty="0">
                <a:solidFill>
                  <a:srgbClr val="D4D4D4"/>
                </a:solidFill>
                <a:latin typeface="Consolas"/>
              </a:rPr>
              <a:t>;</a:t>
            </a:r>
          </a:p>
          <a:p>
            <a:pPr>
              <a:buNone/>
            </a:pPr>
            <a:endParaRPr lang="en-US" sz="1400" dirty="0">
              <a:latin typeface="Consolas"/>
            </a:endParaRPr>
          </a:p>
          <a:p>
            <a:pPr>
              <a:buNone/>
            </a:pPr>
            <a:r>
              <a:rPr lang="en-US" sz="1400" dirty="0">
                <a:solidFill>
                  <a:srgbClr val="569CD6"/>
                </a:solidFill>
                <a:latin typeface="Consolas"/>
              </a:rPr>
              <a:t>type </a:t>
            </a:r>
            <a:r>
              <a:rPr lang="en-US" sz="1400" dirty="0">
                <a:solidFill>
                  <a:srgbClr val="4EC9B0"/>
                </a:solidFill>
                <a:latin typeface="Consolas"/>
              </a:rPr>
              <a:t>IConstraint</a:t>
            </a:r>
            <a:r>
              <a:rPr lang="en-US" sz="1400" dirty="0">
                <a:solidFill>
                  <a:srgbClr val="D4D4D4"/>
                </a:solidFill>
                <a:latin typeface="Consolas"/>
              </a:rPr>
              <a:t> =</a:t>
            </a:r>
            <a:r>
              <a:rPr lang="en-US" sz="1400" dirty="0">
                <a:solidFill>
                  <a:srgbClr val="6A9955"/>
                </a:solidFill>
                <a:latin typeface="Consolas"/>
              </a:rPr>
              <a:t>                        // union within union</a:t>
            </a:r>
          </a:p>
          <a:p>
            <a:pPr>
              <a:buNone/>
            </a:pPr>
            <a:r>
              <a:rPr lang="en-US" sz="1400" dirty="0">
                <a:solidFill>
                  <a:srgbClr val="D4D4D4"/>
                </a:solidFill>
                <a:latin typeface="Consolas"/>
              </a:rPr>
              <a:t>  | </a:t>
            </a:r>
            <a:r>
              <a:rPr lang="en-US" sz="1400" dirty="0">
                <a:solidFill>
                  <a:srgbClr val="4EC9B0"/>
                </a:solidFill>
                <a:latin typeface="Consolas"/>
              </a:rPr>
              <a:t>IRangeConstraint</a:t>
            </a:r>
            <a:r>
              <a:rPr lang="en-US" sz="1400" dirty="0">
                <a:solidFill>
                  <a:srgbClr val="D4D4D4"/>
                </a:solidFill>
                <a:latin typeface="Consolas"/>
              </a:rPr>
              <a:t> | </a:t>
            </a:r>
            <a:r>
              <a:rPr lang="en-US" sz="1400" dirty="0">
                <a:solidFill>
                  <a:srgbClr val="4EC9B0"/>
                </a:solidFill>
                <a:latin typeface="Consolas"/>
              </a:rPr>
              <a:t>IRateConstraint</a:t>
            </a:r>
            <a:r>
              <a:rPr lang="en-US" sz="1400" dirty="0">
                <a:solidFill>
                  <a:srgbClr val="D4D4D4"/>
                </a:solidFill>
                <a:latin typeface="Consolas"/>
              </a:rPr>
              <a:t> | </a:t>
            </a:r>
            <a:r>
              <a:rPr lang="en-US" sz="1400" dirty="0">
                <a:solidFill>
                  <a:srgbClr val="4EC9B0"/>
                </a:solidFill>
                <a:latin typeface="Consolas"/>
              </a:rPr>
              <a:t>IStabilityConstraint</a:t>
            </a:r>
            <a:r>
              <a:rPr lang="en-US" sz="1400" dirty="0">
                <a:solidFill>
                  <a:srgbClr val="D4D4D4"/>
                </a:solidFill>
                <a:latin typeface="Consolas"/>
              </a:rPr>
              <a:t> | </a:t>
            </a:r>
            <a:r>
              <a:rPr lang="en-US" sz="1400" dirty="0">
                <a:solidFill>
                  <a:srgbClr val="4EC9B0"/>
                </a:solidFill>
                <a:latin typeface="Consolas"/>
              </a:rPr>
              <a:t>ISafetyConstraint</a:t>
            </a:r>
          </a:p>
          <a:p>
            <a:pPr>
              <a:buNone/>
            </a:pPr>
            <a:r>
              <a:rPr lang="en-US" sz="1400" dirty="0">
                <a:solidFill>
                  <a:srgbClr val="D4D4D4"/>
                </a:solidFill>
                <a:latin typeface="Consolas"/>
              </a:rPr>
              <a:t>  | </a:t>
            </a:r>
            <a:r>
              <a:rPr lang="en-US" sz="1400" dirty="0">
                <a:solidFill>
                  <a:srgbClr val="4EC9B0"/>
                </a:solidFill>
                <a:latin typeface="Consolas"/>
              </a:rPr>
              <a:t>IBandwidthConstraint</a:t>
            </a:r>
            <a:r>
              <a:rPr lang="en-US" sz="1400" dirty="0">
                <a:solidFill>
                  <a:srgbClr val="D4D4D4"/>
                </a:solidFill>
                <a:latin typeface="Consolas"/>
              </a:rPr>
              <a:t> | </a:t>
            </a:r>
            <a:r>
              <a:rPr lang="en-US" sz="1400" dirty="0">
                <a:solidFill>
                  <a:srgbClr val="4EC9B0"/>
                </a:solidFill>
                <a:latin typeface="Consolas"/>
              </a:rPr>
              <a:t>IRobustnessConstraint</a:t>
            </a:r>
            <a:r>
              <a:rPr lang="en-US" sz="1400" dirty="0">
                <a:solidFill>
                  <a:srgbClr val="D4D4D4"/>
                </a:solidFill>
                <a:latin typeface="Consolas"/>
              </a:rPr>
              <a:t> | </a:t>
            </a:r>
            <a:r>
              <a:rPr lang="en-US" sz="1400" dirty="0">
                <a:solidFill>
                  <a:srgbClr val="4EC9B0"/>
                </a:solidFill>
                <a:latin typeface="Consolas"/>
              </a:rPr>
              <a:t>IEnergyConstraint</a:t>
            </a:r>
            <a:r>
              <a:rPr lang="en-US" sz="1400" dirty="0">
                <a:solidFill>
                  <a:srgbClr val="D4D4D4"/>
                </a:solidFill>
                <a:latin typeface="Consolas"/>
              </a:rPr>
              <a:t>;</a:t>
            </a:r>
          </a:p>
          <a:p>
            <a:pPr>
              <a:buNone/>
            </a:pPr>
            <a:endParaRPr lang="en-US" sz="1400" dirty="0">
              <a:latin typeface="Consolas"/>
            </a:endParaRPr>
          </a:p>
          <a:p>
            <a:pPr>
              <a:buNone/>
            </a:pPr>
            <a:r>
              <a:rPr lang="en-US" sz="1400" dirty="0">
                <a:solidFill>
                  <a:srgbClr val="569CD6"/>
                </a:solidFill>
                <a:latin typeface="Consolas"/>
              </a:rPr>
              <a:t>type </a:t>
            </a:r>
            <a:r>
              <a:rPr lang="en-US" sz="1400" dirty="0">
                <a:solidFill>
                  <a:srgbClr val="4EC9B0"/>
                </a:solidFill>
                <a:latin typeface="Consolas"/>
              </a:rPr>
              <a:t>IPlantModel</a:t>
            </a:r>
            <a:r>
              <a:rPr lang="en-US" sz="1400" dirty="0">
                <a:solidFill>
                  <a:srgbClr val="D4D4D4"/>
                </a:solidFill>
                <a:latin typeface="Consolas"/>
              </a:rPr>
              <a:t> =</a:t>
            </a:r>
            <a:r>
              <a:rPr lang="en-US" sz="1400" dirty="0">
                <a:solidFill>
                  <a:srgbClr val="6A9955"/>
                </a:solidFill>
                <a:latin typeface="Consolas"/>
              </a:rPr>
              <a:t>                        // subsystems: IPlantModel[]  ← recursive</a:t>
            </a:r>
          </a:p>
          <a:p>
            <a:pPr>
              <a:buNone/>
            </a:pPr>
            <a:r>
              <a:rPr lang="en-US" sz="1400" dirty="0">
                <a:solidFill>
                  <a:srgbClr val="D4D4D4"/>
                </a:solidFill>
                <a:latin typeface="Consolas"/>
              </a:rPr>
              <a:t>  | </a:t>
            </a:r>
            <a:r>
              <a:rPr lang="en-US" sz="1400" dirty="0">
                <a:solidFill>
                  <a:srgbClr val="4EC9B0"/>
                </a:solidFill>
                <a:latin typeface="Consolas"/>
              </a:rPr>
              <a:t>ILinearPlant</a:t>
            </a:r>
            <a:r>
              <a:rPr lang="en-US" sz="1400" dirty="0">
                <a:solidFill>
                  <a:srgbClr val="D4D4D4"/>
                </a:solidFill>
                <a:latin typeface="Consolas"/>
              </a:rPr>
              <a:t> | </a:t>
            </a:r>
            <a:r>
              <a:rPr lang="en-US" sz="1400" dirty="0">
                <a:solidFill>
                  <a:srgbClr val="4EC9B0"/>
                </a:solidFill>
                <a:latin typeface="Consolas"/>
              </a:rPr>
              <a:t>INonlinearPlant</a:t>
            </a:r>
            <a:r>
              <a:rPr lang="en-US" sz="1400" dirty="0">
                <a:solidFill>
                  <a:srgbClr val="D4D4D4"/>
                </a:solidFill>
                <a:latin typeface="Consolas"/>
              </a:rPr>
              <a:t> | </a:t>
            </a:r>
            <a:r>
              <a:rPr lang="en-US" sz="1400" dirty="0">
                <a:solidFill>
                  <a:srgbClr val="4EC9B0"/>
                </a:solidFill>
                <a:latin typeface="Consolas"/>
              </a:rPr>
              <a:t>IDelayPlant</a:t>
            </a:r>
            <a:r>
              <a:rPr lang="en-US" sz="1400" dirty="0">
                <a:solidFill>
                  <a:srgbClr val="D4D4D4"/>
                </a:solidFill>
                <a:latin typeface="Consolas"/>
              </a:rPr>
              <a:t> | </a:t>
            </a:r>
            <a:r>
              <a:rPr lang="en-US" sz="1400" dirty="0">
                <a:solidFill>
                  <a:srgbClr val="4EC9B0"/>
                </a:solidFill>
                <a:latin typeface="Consolas"/>
              </a:rPr>
              <a:t>IHybridPlant</a:t>
            </a:r>
            <a:r>
              <a:rPr lang="en-US" sz="1400" dirty="0">
                <a:solidFill>
                  <a:srgbClr val="D4D4D4"/>
                </a:solidFill>
                <a:latin typeface="Consolas"/>
              </a:rPr>
              <a:t> | </a:t>
            </a:r>
            <a:r>
              <a:rPr lang="en-US" sz="1400" dirty="0">
                <a:solidFill>
                  <a:srgbClr val="4EC9B0"/>
                </a:solidFill>
                <a:latin typeface="Consolas"/>
              </a:rPr>
              <a:t>ISwitchedPlant</a:t>
            </a:r>
          </a:p>
          <a:p>
            <a:pPr>
              <a:buNone/>
            </a:pPr>
            <a:r>
              <a:rPr lang="en-US" sz="1400" dirty="0">
                <a:solidFill>
                  <a:srgbClr val="D4D4D4"/>
                </a:solidFill>
                <a:latin typeface="Consolas"/>
              </a:rPr>
              <a:t>  | </a:t>
            </a:r>
            <a:r>
              <a:rPr lang="en-US" sz="1400" dirty="0">
                <a:solidFill>
                  <a:srgbClr val="4EC9B0"/>
                </a:solidFill>
                <a:latin typeface="Consolas"/>
              </a:rPr>
              <a:t>IStateSpace</a:t>
            </a:r>
            <a:r>
              <a:rPr lang="en-US" sz="1400" dirty="0">
                <a:solidFill>
                  <a:srgbClr val="D4D4D4"/>
                </a:solidFill>
                <a:latin typeface="Consolas"/>
              </a:rPr>
              <a:t> | </a:t>
            </a:r>
            <a:r>
              <a:rPr lang="en-US" sz="1400" dirty="0">
                <a:solidFill>
                  <a:srgbClr val="4EC9B0"/>
                </a:solidFill>
                <a:latin typeface="Consolas"/>
              </a:rPr>
              <a:t>ITransferFunction</a:t>
            </a:r>
            <a:r>
              <a:rPr lang="en-US" sz="1400" dirty="0">
                <a:solidFill>
                  <a:srgbClr val="D4D4D4"/>
                </a:solidFill>
                <a:latin typeface="Consolas"/>
              </a:rPr>
              <a:t> | </a:t>
            </a:r>
            <a:r>
              <a:rPr lang="en-US" sz="1400" dirty="0">
                <a:solidFill>
                  <a:srgbClr val="4EC9B0"/>
                </a:solidFill>
                <a:latin typeface="Consolas"/>
              </a:rPr>
              <a:t>IZeroPoleGain</a:t>
            </a:r>
            <a:r>
              <a:rPr lang="en-US" sz="1400" dirty="0">
                <a:solidFill>
                  <a:srgbClr val="D4D4D4"/>
                </a:solidFill>
                <a:latin typeface="Consolas"/>
              </a:rPr>
              <a:t> | </a:t>
            </a:r>
            <a:r>
              <a:rPr lang="en-US" sz="1400" dirty="0">
                <a:solidFill>
                  <a:srgbClr val="4EC9B0"/>
                </a:solidFill>
                <a:latin typeface="Consolas"/>
              </a:rPr>
              <a:t>IFreqResponse</a:t>
            </a:r>
            <a:r>
              <a:rPr lang="en-US" sz="1400" dirty="0">
                <a:solidFill>
                  <a:srgbClr val="D4D4D4"/>
                </a:solidFill>
                <a:latin typeface="Consolas"/>
              </a:rPr>
              <a:t>;</a:t>
            </a:r>
          </a:p>
          <a:p>
            <a:pPr>
              <a:buNone/>
            </a:pPr>
            <a:endParaRPr lang="en-US" sz="1400" dirty="0">
              <a:latin typeface="Consolas"/>
            </a:endParaRPr>
          </a:p>
          <a:p>
            <a:pPr>
              <a:buNone/>
            </a:pPr>
            <a:r>
              <a:rPr lang="en-US" sz="1400" dirty="0">
                <a:solidFill>
                  <a:srgbClr val="569CD6"/>
                </a:solidFill>
                <a:latin typeface="Consolas"/>
              </a:rPr>
              <a:t>type </a:t>
            </a:r>
            <a:r>
              <a:rPr lang="en-US" sz="1400" dirty="0">
                <a:solidFill>
                  <a:srgbClr val="4EC9B0"/>
                </a:solidFill>
                <a:latin typeface="Consolas"/>
              </a:rPr>
              <a:t>IEstimator</a:t>
            </a:r>
            <a:r>
              <a:rPr lang="en-US" sz="1400" dirty="0">
                <a:solidFill>
                  <a:srgbClr val="D4D4D4"/>
                </a:solidFill>
                <a:latin typeface="Consolas"/>
              </a:rPr>
              <a:t> = </a:t>
            </a:r>
            <a:r>
              <a:rPr lang="en-US" sz="1400" dirty="0">
                <a:solidFill>
                  <a:srgbClr val="4EC9B0"/>
                </a:solidFill>
                <a:latin typeface="Consolas"/>
              </a:rPr>
              <a:t>IKalmanFilter</a:t>
            </a:r>
            <a:r>
              <a:rPr lang="en-US" sz="1400" dirty="0">
                <a:solidFill>
                  <a:srgbClr val="D4D4D4"/>
                </a:solidFill>
                <a:latin typeface="Consolas"/>
              </a:rPr>
              <a:t> | </a:t>
            </a:r>
            <a:r>
              <a:rPr lang="en-US" sz="1400" dirty="0">
                <a:solidFill>
                  <a:srgbClr val="4EC9B0"/>
                </a:solidFill>
                <a:latin typeface="Consolas"/>
              </a:rPr>
              <a:t>IEKF</a:t>
            </a:r>
            <a:r>
              <a:rPr lang="en-US" sz="1400" dirty="0">
                <a:solidFill>
                  <a:srgbClr val="D4D4D4"/>
                </a:solidFill>
                <a:latin typeface="Consolas"/>
              </a:rPr>
              <a:t> | </a:t>
            </a:r>
            <a:r>
              <a:rPr lang="en-US" sz="1400" dirty="0">
                <a:solidFill>
                  <a:srgbClr val="4EC9B0"/>
                </a:solidFill>
                <a:latin typeface="Consolas"/>
              </a:rPr>
              <a:t>IUKF</a:t>
            </a:r>
            <a:r>
              <a:rPr lang="en-US" sz="1400" dirty="0">
                <a:solidFill>
                  <a:srgbClr val="D4D4D4"/>
                </a:solidFill>
                <a:latin typeface="Consolas"/>
              </a:rPr>
              <a:t> | </a:t>
            </a:r>
            <a:r>
              <a:rPr lang="en-US" sz="1400" dirty="0">
                <a:solidFill>
                  <a:srgbClr val="4EC9B0"/>
                </a:solidFill>
                <a:latin typeface="Consolas"/>
              </a:rPr>
              <a:t>IParticleFilter</a:t>
            </a:r>
            <a:r>
              <a:rPr lang="en-US" sz="1400" dirty="0">
                <a:solidFill>
                  <a:srgbClr val="D4D4D4"/>
                </a:solidFill>
                <a:latin typeface="Consolas"/>
              </a:rPr>
              <a:t> | </a:t>
            </a:r>
            <a:r>
              <a:rPr lang="en-US" sz="1400" dirty="0">
                <a:solidFill>
                  <a:srgbClr val="4EC9B0"/>
                </a:solidFill>
                <a:latin typeface="Consolas"/>
              </a:rPr>
              <a:t>ILuenberger</a:t>
            </a:r>
            <a:r>
              <a:rPr lang="en-US" sz="1400" dirty="0">
                <a:solidFill>
                  <a:srgbClr val="D4D4D4"/>
                </a:solidFill>
                <a:latin typeface="Consolas"/>
              </a:rPr>
              <a:t>;</a:t>
            </a:r>
          </a:p>
          <a:p>
            <a:pPr>
              <a:buNone/>
            </a:pPr>
            <a:endParaRPr lang="en-US" sz="1400" dirty="0">
              <a:latin typeface="Consolas"/>
            </a:endParaRPr>
          </a:p>
          <a:p>
            <a:pPr>
              <a:buNone/>
            </a:pPr>
            <a:r>
              <a:rPr lang="en-US" sz="1400" dirty="0">
                <a:solidFill>
                  <a:srgbClr val="6A9955"/>
                </a:solidFill>
                <a:latin typeface="Consolas"/>
              </a:rPr>
              <a:t>// ICascade.inner: IController — recursive like IJsonSchema</a:t>
            </a:r>
          </a:p>
          <a:p>
            <a:pPr>
              <a:buNone/>
            </a:pPr>
            <a:r>
              <a:rPr lang="en-US" sz="1400" dirty="0">
                <a:solidFill>
                  <a:srgbClr val="6A9955"/>
                </a:solidFill>
                <a:latin typeface="Consolas"/>
              </a:rPr>
              <a:t>// IMPC.constraints: IConstraint[] — union within union</a:t>
            </a:r>
          </a:p>
        </p:txBody>
      </p:sp>
      <p:sp>
        <p:nvSpPr>
          <p:cNvPr id="15" name="Badge"/>
          <p:cNvSpPr/>
          <p:nvPr/>
        </p:nvSpPr>
        <p:spPr>
          <a:xfrm>
            <a:off x="1270000" y="5943600"/>
            <a:ext cx="9652000" cy="457200"/>
          </a:xfrm>
          <a:prstGeom prst="rect">
            <a:avLst/>
          </a:prstGeom>
          <a:noFill/>
          <a:ln w="0">
            <a:noFill/>
          </a:ln>
        </p:spPr>
        <p:txBody>
          <a:bodyPr wrap="square" lIns="36000" tIns="18000" rIns="36000" bIns="18000" anchor="ctr"/>
          <a:lstStyle/>
          <a:p>
            <a:pPr algn="ctr">
              <a:buNone/>
            </a:pPr>
            <a:r>
              <a:rPr lang="en-US" sz="1800" b="1" dirty="0">
                <a:solidFill>
                  <a:srgbClr val="A855F7"/>
                </a:solidFill>
                <a:latin typeface="Segoe UI Semibold"/>
              </a:rPr>
              <a:t>60+ years of Bode, Nyquist, and pole-placement analysis tools</a:t>
            </a:r>
          </a:p>
        </p:txBody>
      </p:sp>
    </p:spTree>
    <p:extLst>
      <p:ext uri="{BB962C8B-B14F-4D97-AF65-F5344CB8AC3E}">
        <p14:creationId xmlns:p14="http://schemas.microsoft.com/office/powerpoint/2010/main" val="18473309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647F12C9-18FF-7C59-7315-790EF7901F9B}"/>
              </a:ext>
            </a:extLst>
          </p:cNvPr>
          <p:cNvSpPr>
            <a:spLocks noGrp="1"/>
          </p:cNvSpPr>
          <p:nvPr>
            <p:ph type="title"/>
          </p:nvPr>
        </p:nvSpPr>
        <p:spPr/>
        <p:txBody>
          <a:bodyPr/>
          <a:lstStyle/>
          <a:p>
            <a:r>
              <a:rPr lang="en-US" dirty="0"/>
              <a:t>Qwen Series</a:t>
            </a:r>
          </a:p>
        </p:txBody>
      </p:sp>
      <p:sp>
        <p:nvSpPr>
          <p:cNvPr id="5" name="텍스트 개체 틀 4">
            <a:extLst>
              <a:ext uri="{FF2B5EF4-FFF2-40B4-BE49-F238E27FC236}">
                <a16:creationId xmlns:a16="http://schemas.microsoft.com/office/drawing/2014/main" id="{6323321E-28F9-699E-09BA-2E50DA0067DA}"/>
              </a:ext>
            </a:extLst>
          </p:cNvPr>
          <p:cNvSpPr>
            <a:spLocks noGrp="1"/>
          </p:cNvSpPr>
          <p:nvPr>
            <p:ph type="body" idx="1"/>
          </p:nvPr>
        </p:nvSpPr>
        <p:spPr/>
        <p:txBody>
          <a:bodyPr/>
          <a:lstStyle/>
          <a:p>
            <a:r>
              <a:rPr lang="en-US" dirty="0"/>
              <a:t>Small Models and QA Engineering</a:t>
            </a:r>
          </a:p>
          <a:p>
            <a:r>
              <a:rPr lang="en-US" dirty="0"/>
              <a:t>Why Open Weights Changed Everything</a:t>
            </a:r>
          </a:p>
        </p:txBody>
      </p:sp>
    </p:spTree>
    <p:extLst>
      <p:ext uri="{BB962C8B-B14F-4D97-AF65-F5344CB8AC3E}">
        <p14:creationId xmlns:p14="http://schemas.microsoft.com/office/powerpoint/2010/main" val="30662011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p:txBody>
          <a:bodyPr>
            <a:normAutofit/>
          </a:bodyPr>
          <a:lstStyle/>
          <a:p>
            <a:r>
              <a:rPr lang="en-US" dirty="0"/>
              <a:t>5.1. Small/Medium Models Excel</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idx="1"/>
          </p:nvPr>
        </p:nvSpPr>
        <p:spPr/>
        <p:txBody>
          <a:bodyPr>
            <a:normAutofit/>
          </a:bodyPr>
          <a:lstStyle/>
          <a:p>
            <a:r>
              <a:rPr lang="en-US" dirty="0"/>
              <a:t>AutoBe's only criterion: how accurately a model fills complex JSON Schemas</a:t>
            </a:r>
          </a:p>
          <a:p>
            <a:endParaRPr lang="en-US" dirty="0"/>
          </a:p>
          <a:p>
            <a:r>
              <a:rPr lang="en-US" dirty="0"/>
              <a:t>GLM, Kimi — strong FC at large scale</a:t>
            </a:r>
          </a:p>
          <a:p>
            <a:r>
              <a:rPr lang="en-US" dirty="0"/>
              <a:t>At small/medium scale, Qwen was the only one</a:t>
            </a:r>
          </a:p>
          <a:p>
            <a:endParaRPr lang="en-US" dirty="0"/>
          </a:p>
          <a:p>
            <a:r>
              <a:rPr lang="en-US" dirty="0"/>
              <a:t>Even 3B active params supports tool choice</a:t>
            </a:r>
          </a:p>
          <a:p>
            <a:pPr lvl="1"/>
            <a:r>
              <a:rPr lang="en-US" dirty="0"/>
              <a:t>Handles 10+ variant recursive unions at 35B class</a:t>
            </a:r>
          </a:p>
        </p:txBody>
      </p:sp>
    </p:spTree>
    <p:extLst>
      <p:ext uri="{BB962C8B-B14F-4D97-AF65-F5344CB8AC3E}">
        <p14:creationId xmlns:p14="http://schemas.microsoft.com/office/powerpoint/2010/main" val="12176033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p:txBody>
          <a:bodyPr>
            <a:normAutofit/>
          </a:bodyPr>
          <a:lstStyle/>
          <a:p>
            <a:r>
              <a:rPr lang="en-US" dirty="0"/>
              <a:t>5.2. R&amp;D Cost: Users vs Developers</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idx="1"/>
          </p:nvPr>
        </p:nvSpPr>
        <p:spPr/>
        <p:txBody>
          <a:bodyPr>
            <a:normAutofit/>
          </a:bodyPr>
          <a:lstStyle/>
          <a:p>
            <a:r>
              <a:rPr lang="en-US" dirty="0"/>
              <a:t>For users: even the most expensive model is cheaper than hiring a backend developer</a:t>
            </a:r>
          </a:p>
          <a:p>
            <a:endParaRPr lang="en-US" dirty="0"/>
          </a:p>
          <a:p>
            <a:r>
              <a:rPr lang="en-US" dirty="0"/>
              <a:t>For developers: thousands of generate-compile-feedback cycles per feature</a:t>
            </a:r>
          </a:p>
          <a:p>
            <a:pPr lvl="1"/>
            <a:r>
              <a:rPr lang="en-US" dirty="0"/>
              <a:t>Commercial models at this scale = financial ruin</a:t>
            </a:r>
          </a:p>
          <a:p>
            <a:endParaRPr lang="en-US" dirty="0"/>
          </a:p>
          <a:p>
            <a:r>
              <a:rPr lang="en-US" dirty="0"/>
              <a:t>Local models make R&amp;D cycles possible</a:t>
            </a:r>
          </a:p>
          <a:p>
            <a:pPr lvl="1"/>
            <a:r>
              <a:rPr lang="en-US" dirty="0"/>
              <a:t>Experiment without limits, without cost</a:t>
            </a:r>
          </a:p>
          <a:p>
            <a:pPr lvl="1"/>
            <a:r>
              <a:rPr lang="en-US" dirty="0"/>
              <a:t>6.75% → 100% required hundreds of cycles — only possible with local models</a:t>
            </a:r>
          </a:p>
        </p:txBody>
      </p:sp>
    </p:spTree>
    <p:extLst>
      <p:ext uri="{BB962C8B-B14F-4D97-AF65-F5344CB8AC3E}">
        <p14:creationId xmlns:p14="http://schemas.microsoft.com/office/powerpoint/2010/main" val="40516957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p:txBody>
          <a:bodyPr>
            <a:normAutofit/>
          </a:bodyPr>
          <a:lstStyle/>
          <a:p>
            <a:r>
              <a:rPr lang="en-US" dirty="0"/>
              <a:t>5.3. Small Models = Best QA Engineers</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idx="1"/>
          </p:nvPr>
        </p:nvSpPr>
        <p:spPr/>
        <p:txBody>
          <a:bodyPr>
            <a:normAutofit/>
          </a:bodyPr>
          <a:lstStyle/>
          <a:p>
            <a:r>
              <a:rPr lang="en-US" dirty="0"/>
              <a:t>Large models' advantage = their blind spot</a:t>
            </a:r>
          </a:p>
          <a:p>
            <a:pPr lvl="1"/>
            <a:r>
              <a:rPr lang="en-US" dirty="0"/>
              <a:t>"Correctly guess" ambiguous schemas — our mistakes stay hidden</a:t>
            </a:r>
          </a:p>
          <a:p>
            <a:endParaRPr lang="en-US" dirty="0"/>
          </a:p>
          <a:p>
            <a:r>
              <a:rPr lang="en-US" dirty="0"/>
              <a:t>Small model results:</a:t>
            </a:r>
          </a:p>
          <a:p>
            <a:pPr lvl="1"/>
            <a:r>
              <a:rPr lang="en-US" dirty="0"/>
              <a:t>qwen3-30b-a3b (3B active): ~10% — found fundamental schema ambiguities</a:t>
            </a:r>
          </a:p>
          <a:p>
            <a:pPr lvl="1"/>
            <a:r>
              <a:rPr lang="en-US" dirty="0"/>
              <a:t>qwen3-next-80b-a3b (3B active): ~20% — found subtle type mismatches</a:t>
            </a:r>
          </a:p>
          <a:p>
            <a:endParaRPr lang="en-US" dirty="0"/>
          </a:p>
          <a:p>
            <a:r>
              <a:rPr lang="en-US" dirty="0"/>
              <a:t>10% success = most valuable result</a:t>
            </a:r>
          </a:p>
          <a:p>
            <a:pPr lvl="1"/>
            <a:r>
              <a:rPr lang="en-US" dirty="0"/>
              <a:t>Every failure → system vulnerability → fix for ALL models</a:t>
            </a:r>
          </a:p>
        </p:txBody>
      </p:sp>
    </p:spTree>
    <p:extLst>
      <p:ext uri="{BB962C8B-B14F-4D97-AF65-F5344CB8AC3E}">
        <p14:creationId xmlns:p14="http://schemas.microsoft.com/office/powerpoint/2010/main" val="1173034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p:txBody>
          <a:bodyPr>
            <a:normAutofit/>
          </a:bodyPr>
          <a:lstStyle/>
          <a:p>
            <a:r>
              <a:rPr lang="en-US" dirty="0"/>
              <a:t>5.4. No Vendor Lock-In</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idx="1"/>
          </p:nvPr>
        </p:nvSpPr>
        <p:spPr/>
        <p:txBody>
          <a:bodyPr>
            <a:normAutofit/>
          </a:bodyPr>
          <a:lstStyle/>
          <a:p>
            <a:r>
              <a:rPr lang="en-US" dirty="0"/>
              <a:t>Commercial API risks:</a:t>
            </a:r>
          </a:p>
          <a:p>
            <a:pPr lvl="1"/>
            <a:r>
              <a:rPr lang="en-US" dirty="0"/>
              <a:t>Pricing changes at vendor's discretion</a:t>
            </a:r>
          </a:p>
          <a:p>
            <a:pPr lvl="1"/>
            <a:r>
              <a:rPr lang="en-US" dirty="0"/>
              <a:t>Model deprecations — today's model could disappear tomorrow</a:t>
            </a:r>
          </a:p>
          <a:p>
            <a:pPr lvl="1"/>
            <a:r>
              <a:rPr lang="en-US" dirty="0"/>
              <a:t>Request limits</a:t>
            </a:r>
          </a:p>
          <a:p>
            <a:endParaRPr lang="en-US" dirty="0"/>
          </a:p>
          <a:p>
            <a:r>
              <a:rPr lang="en-US" dirty="0"/>
              <a:t>AutoBe's function calling schemas are model-neutral</a:t>
            </a:r>
          </a:p>
          <a:p>
            <a:pPr lvl="1"/>
            <a:r>
              <a:rPr lang="en-US" dirty="0"/>
              <a:t>No model-specific prompt tricks</a:t>
            </a:r>
          </a:p>
          <a:p>
            <a:pPr lvl="1"/>
            <a:r>
              <a:rPr lang="en-US" dirty="0"/>
              <a:t>JSON Schema + type-based validation = industry standards</a:t>
            </a:r>
          </a:p>
          <a:p>
            <a:pPr lvl="1"/>
            <a:r>
              <a:rPr lang="en-US" dirty="0"/>
              <a:t>System unchanged even when models change</a:t>
            </a:r>
          </a:p>
        </p:txBody>
      </p:sp>
    </p:spTree>
    <p:extLst>
      <p:ext uri="{BB962C8B-B14F-4D97-AF65-F5344CB8AC3E}">
        <p14:creationId xmlns:p14="http://schemas.microsoft.com/office/powerpoint/2010/main" val="26276231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p:txBody>
          <a:bodyPr>
            <a:normAutofit/>
          </a:bodyPr>
          <a:lstStyle/>
          <a:p>
            <a:r>
              <a:rPr lang="en-US" dirty="0"/>
              <a:t>5.5. Open Source + Open Weights: Virtuous Cycle</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idx="1"/>
          </p:nvPr>
        </p:nvSpPr>
        <p:spPr/>
        <p:txBody>
          <a:bodyPr>
            <a:normAutofit/>
          </a:bodyPr>
          <a:lstStyle/>
          <a:p>
            <a:r>
              <a:rPr lang="en-US" dirty="0"/>
              <a:t>AutoBe = open source</a:t>
            </a:r>
          </a:p>
          <a:p>
            <a:r>
              <a:rPr lang="en-US" dirty="0"/>
              <a:t>Qwen = open weight</a:t>
            </a:r>
          </a:p>
          <a:p>
            <a:endParaRPr lang="en-US" dirty="0"/>
          </a:p>
          <a:p>
            <a:r>
              <a:rPr lang="en-US" dirty="0"/>
              <a:t>The virtuous cycle:</a:t>
            </a:r>
          </a:p>
          <a:p>
            <a:pPr lvl="1"/>
            <a:r>
              <a:rPr lang="en-US" dirty="0"/>
              <a:t>AutoBe strengthens its system using Qwen</a:t>
            </a:r>
          </a:p>
          <a:p>
            <a:pPr lvl="1"/>
            <a:r>
              <a:rPr lang="en-US" dirty="0"/>
              <a:t>Strengthened system proves Qwen's production viability</a:t>
            </a:r>
          </a:p>
          <a:p>
            <a:pPr lvl="1"/>
            <a:r>
              <a:rPr lang="en-US" dirty="0"/>
              <a:t>Qwen's improvements raise AutoBe's performance</a:t>
            </a:r>
          </a:p>
          <a:p>
            <a:pPr lvl="1"/>
            <a:r>
              <a:rPr lang="en-US" dirty="0"/>
              <a:t>AutoBe's discoveries (e.g., double-stringify) can contribute to Qwen</a:t>
            </a:r>
          </a:p>
        </p:txBody>
      </p:sp>
    </p:spTree>
    <p:extLst>
      <p:ext uri="{BB962C8B-B14F-4D97-AF65-F5344CB8AC3E}">
        <p14:creationId xmlns:p14="http://schemas.microsoft.com/office/powerpoint/2010/main" val="42679475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647F12C9-18FF-7C59-7315-790EF7901F9B}"/>
              </a:ext>
            </a:extLst>
          </p:cNvPr>
          <p:cNvSpPr>
            <a:spLocks noGrp="1"/>
          </p:cNvSpPr>
          <p:nvPr>
            <p:ph type="title"/>
          </p:nvPr>
        </p:nvSpPr>
        <p:spPr/>
        <p:txBody>
          <a:bodyPr/>
          <a:lstStyle/>
          <a:p>
            <a:r>
              <a:rPr lang="en-US" dirty="0"/>
              <a:t>Conclusion</a:t>
            </a:r>
          </a:p>
        </p:txBody>
      </p:sp>
      <p:sp>
        <p:nvSpPr>
          <p:cNvPr id="5" name="텍스트 개체 틀 4">
            <a:extLst>
              <a:ext uri="{FF2B5EF4-FFF2-40B4-BE49-F238E27FC236}">
                <a16:creationId xmlns:a16="http://schemas.microsoft.com/office/drawing/2014/main" id="{6323321E-28F9-699E-09BA-2E50DA0067DA}"/>
              </a:ext>
            </a:extLst>
          </p:cNvPr>
          <p:cNvSpPr>
            <a:spLocks noGrp="1"/>
          </p:cNvSpPr>
          <p:nvPr>
            <p:ph type="body" idx="1"/>
          </p:nvPr>
        </p:nvSpPr>
        <p:spPr/>
        <p:txBody>
          <a:bodyPr/>
          <a:lstStyle/>
          <a:p>
            <a:r>
              <a:rPr lang="en-US" dirty="0"/>
              <a:t>6.75% → 100%</a:t>
            </a:r>
          </a:p>
        </p:txBody>
      </p:sp>
    </p:spTree>
    <p:extLst>
      <p:ext uri="{BB962C8B-B14F-4D97-AF65-F5344CB8AC3E}">
        <p14:creationId xmlns:p14="http://schemas.microsoft.com/office/powerpoint/2010/main" val="542421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p:txBody>
          <a:bodyPr>
            <a:normAutofit/>
          </a:bodyPr>
          <a:lstStyle/>
          <a:p>
            <a:r>
              <a:rPr lang="en-US" dirty="0"/>
              <a:t>Conclusion</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idx="1"/>
          </p:nvPr>
        </p:nvSpPr>
        <p:spPr/>
        <p:txBody>
          <a:bodyPr>
            <a:normAutofit/>
          </a:bodyPr>
          <a:lstStyle/>
          <a:p>
            <a:r>
              <a:rPr lang="en-US" dirty="0"/>
              <a:t>➜ Types = No misunderstandings</a:t>
            </a:r>
          </a:p>
          <a:p>
            <a:r>
              <a:rPr lang="en-US" dirty="0"/>
              <a:t>➜ Schemas = No pink elephants</a:t>
            </a:r>
          </a:p>
          <a:p>
            <a:r>
              <a:rPr lang="en-US" dirty="0"/>
              <a:t>➜ Deterministic loop: 6.75% → 100%</a:t>
            </a:r>
          </a:p>
          <a:p>
            <a:r>
              <a:rPr lang="en-US" dirty="0"/>
              <a:t>➜ Transfers to any domain with validators</a:t>
            </a:r>
          </a:p>
          <a:p>
            <a:endParaRPr lang="en-US" dirty="0"/>
          </a:p>
          <a:p>
            <a:r>
              <a:rPr lang="en-US" b="1" dirty="0"/>
              <a:t>Type Schema + Compiler + Feedback = Deterministic Loop</a:t>
            </a:r>
          </a:p>
        </p:txBody>
      </p:sp>
    </p:spTree>
    <p:extLst>
      <p:ext uri="{BB962C8B-B14F-4D97-AF65-F5344CB8AC3E}">
        <p14:creationId xmlns:p14="http://schemas.microsoft.com/office/powerpoint/2010/main" val="7666330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p:txBody>
          <a:bodyPr>
            <a:normAutofit/>
          </a:bodyPr>
          <a:lstStyle/>
          <a:p>
            <a:r>
              <a:rPr lang="en-US" dirty="0"/>
              <a:t>The Journey</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idx="1"/>
          </p:nvPr>
        </p:nvSpPr>
        <p:spPr/>
        <p:txBody>
          <a:bodyPr>
            <a:normAutofit/>
          </a:bodyPr>
          <a:lstStyle/>
          <a:p>
            <a:r>
              <a:rPr lang="en-US" dirty="0"/>
              <a:t>6.75%  Raw function calling success</a:t>
            </a:r>
          </a:p>
          <a:p>
            <a:pPr lvl="1"/>
            <a:r>
              <a:rPr lang="en-US" dirty="0"/>
              <a:t>↓</a:t>
            </a:r>
          </a:p>
          <a:p>
            <a:r>
              <a:rPr lang="en-US" dirty="0"/>
              <a:t>Typia  Parse → Coerce → Validate → Feedback</a:t>
            </a:r>
          </a:p>
          <a:p>
            <a:pPr lvl="1"/>
            <a:r>
              <a:rPr lang="en-US" dirty="0"/>
              <a:t>↓</a:t>
            </a:r>
          </a:p>
          <a:p>
            <a:r>
              <a:rPr lang="en-US" dirty="0"/>
              <a:t>Loop  Deterministic harness overcomes probabilistic LLM</a:t>
            </a:r>
          </a:p>
          <a:p>
            <a:pPr lvl="1"/>
            <a:r>
              <a:rPr lang="en-US" dirty="0"/>
              <a:t>↓</a:t>
            </a:r>
          </a:p>
          <a:p>
            <a:r>
              <a:rPr lang="en-US" dirty="0"/>
              <a:t>100%  All 4 Qwen models, same harness — transferable to all domains</a:t>
            </a:r>
          </a:p>
        </p:txBody>
      </p:sp>
    </p:spTree>
    <p:extLst>
      <p:ext uri="{BB962C8B-B14F-4D97-AF65-F5344CB8AC3E}">
        <p14:creationId xmlns:p14="http://schemas.microsoft.com/office/powerpoint/2010/main" val="33152085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p:txBody>
          <a:bodyPr>
            <a:normAutofit/>
          </a:bodyPr>
          <a:lstStyle/>
          <a:p>
            <a:r>
              <a:rPr lang="en-US" dirty="0"/>
              <a:t>Three Principles</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idx="1"/>
          </p:nvPr>
        </p:nvSpPr>
        <p:spPr/>
        <p:txBody>
          <a:bodyPr>
            <a:normAutofit/>
          </a:bodyPr>
          <a:lstStyle/>
          <a:p>
            <a:r>
              <a:rPr lang="en-US" dirty="0"/>
              <a:t>Types &gt; Prompts</a:t>
            </a:r>
          </a:p>
          <a:p>
            <a:endParaRPr lang="en-US" dirty="0"/>
          </a:p>
          <a:p>
            <a:r>
              <a:rPr lang="en-US" dirty="0"/>
              <a:t>Schemas &gt; Prohibition</a:t>
            </a:r>
          </a:p>
          <a:p>
            <a:endParaRPr lang="en-US" dirty="0"/>
          </a:p>
          <a:p>
            <a:r>
              <a:rPr lang="en-US" dirty="0"/>
              <a:t>Validation -&gt; Accuracy</a:t>
            </a:r>
          </a:p>
        </p:txBody>
      </p:sp>
    </p:spTree>
    <p:extLst>
      <p:ext uri="{BB962C8B-B14F-4D97-AF65-F5344CB8AC3E}">
        <p14:creationId xmlns:p14="http://schemas.microsoft.com/office/powerpoint/2010/main" val="30623507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A59B9D-2723-4230-6F35-A8C6EDC31069}"/>
              </a:ext>
            </a:extLst>
          </p:cNvPr>
          <p:cNvSpPr>
            <a:spLocks noGrp="1"/>
          </p:cNvSpPr>
          <p:nvPr>
            <p:ph type="title"/>
          </p:nvPr>
        </p:nvSpPr>
        <p:spPr/>
        <p:txBody>
          <a:bodyPr>
            <a:normAutofit/>
          </a:bodyPr>
          <a:lstStyle/>
          <a:p>
            <a:r>
              <a:rPr lang="en-US" dirty="0"/>
              <a:t>6.75% is not a failure —</a:t>
            </a:r>
          </a:p>
        </p:txBody>
      </p:sp>
      <p:sp>
        <p:nvSpPr>
          <p:cNvPr id="3" name="내용 개체 틀 2">
            <a:extLst>
              <a:ext uri="{FF2B5EF4-FFF2-40B4-BE49-F238E27FC236}">
                <a16:creationId xmlns:a16="http://schemas.microsoft.com/office/drawing/2014/main" id="{6C71D8C8-83DC-F569-BA11-A4F133493935}"/>
              </a:ext>
            </a:extLst>
          </p:cNvPr>
          <p:cNvSpPr>
            <a:spLocks noGrp="1"/>
          </p:cNvSpPr>
          <p:nvPr>
            <p:ph idx="1"/>
          </p:nvPr>
        </p:nvSpPr>
        <p:spPr>
          <a:xfrm>
            <a:off x="1135856" y="2064544"/>
            <a:ext cx="9872871" cy="4038600"/>
          </a:xfrm>
        </p:spPr>
        <p:txBody>
          <a:bodyPr>
            <a:normAutofit/>
          </a:bodyPr>
          <a:lstStyle/>
          <a:p>
            <a:r>
              <a:rPr lang="en-US" dirty="0"/>
              <a:t>it's the first input to the loop.</a:t>
            </a:r>
          </a:p>
          <a:p>
            <a:endParaRPr lang="en-US" dirty="0"/>
          </a:p>
          <a:p>
            <a:r>
              <a:rPr lang="en-US" dirty="0"/>
              <a:t>If you can verify, you converge.</a:t>
            </a:r>
          </a:p>
          <a:p>
            <a:endParaRPr lang="en-US" dirty="0"/>
          </a:p>
          <a:p>
            <a:r>
              <a:rPr lang="en-US" dirty="0"/>
              <a:t>challenge in engineering fields.</a:t>
            </a:r>
          </a:p>
        </p:txBody>
      </p:sp>
    </p:spTree>
    <p:extLst>
      <p:ext uri="{BB962C8B-B14F-4D97-AF65-F5344CB8AC3E}">
        <p14:creationId xmlns:p14="http://schemas.microsoft.com/office/powerpoint/2010/main" val="16041546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4294EE26-2BE2-8517-F2AE-1EB8763A843D}"/>
              </a:ext>
            </a:extLst>
          </p:cNvPr>
          <p:cNvSpPr>
            <a:spLocks noGrp="1"/>
          </p:cNvSpPr>
          <p:nvPr>
            <p:ph type="title"/>
          </p:nvPr>
        </p:nvSpPr>
        <p:spPr/>
        <p:txBody>
          <a:bodyPr/>
          <a:lstStyle/>
          <a:p>
            <a:r>
              <a:rPr lang="en-US" dirty="0"/>
              <a:t>Q&amp;A</a:t>
            </a:r>
          </a:p>
        </p:txBody>
      </p:sp>
      <p:sp>
        <p:nvSpPr>
          <p:cNvPr id="5" name="텍스트 개체 틀 4">
            <a:extLst>
              <a:ext uri="{FF2B5EF4-FFF2-40B4-BE49-F238E27FC236}">
                <a16:creationId xmlns:a16="http://schemas.microsoft.com/office/drawing/2014/main" id="{AF14B22B-4E98-263D-5291-3C89687F8085}"/>
              </a:ext>
            </a:extLst>
          </p:cNvPr>
          <p:cNvSpPr>
            <a:spLocks noGrp="1"/>
          </p:cNvSpPr>
          <p:nvPr>
            <p:ph type="body" idx="1"/>
          </p:nvPr>
        </p:nvSpPr>
        <p:spPr>
          <a:xfrm>
            <a:off x="1709928" y="4154520"/>
            <a:ext cx="8769096" cy="2029304"/>
          </a:xfrm>
        </p:spPr>
        <p:txBody>
          <a:bodyPr>
            <a:normAutofit/>
          </a:bodyPr>
          <a:lstStyle/>
          <a:p>
            <a:r>
              <a:rPr lang="en-US" dirty="0"/>
              <a:t>Qwen Meetup Korea</a:t>
            </a:r>
          </a:p>
          <a:p>
            <a:r>
              <a:rPr lang="en-US" altLang="ko-KR" dirty="0"/>
              <a:t>2026-03-26</a:t>
            </a:r>
          </a:p>
          <a:p>
            <a:r>
              <a:rPr lang="en-US" dirty="0"/>
              <a:t>Samchon, Wrtn Technologies</a:t>
            </a:r>
          </a:p>
        </p:txBody>
      </p:sp>
    </p:spTree>
    <p:extLst>
      <p:ext uri="{BB962C8B-B14F-4D97-AF65-F5344CB8AC3E}">
        <p14:creationId xmlns:p14="http://schemas.microsoft.com/office/powerpoint/2010/main" val="889141785"/>
      </p:ext>
    </p:extLst>
  </p:cSld>
  <p:clrMapOvr>
    <a:masterClrMapping/>
  </p:clrMapOvr>
</p:sld>
</file>

<file path=ppt/theme/theme1.xml><?xml version="1.0" encoding="utf-8"?>
<a:theme xmlns:a="http://schemas.openxmlformats.org/drawingml/2006/main" name="기본">
  <a:themeElements>
    <a:clrScheme name="기본">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기본">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기본">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ppt/theme/theme2.xml><?xml version="1.0" encoding="utf-8"?>
<a:theme xmlns:a="http://schemas.openxmlformats.org/drawingml/2006/main" name="기본 [1774069290905]">
  <a:themeElements>
    <a:clrScheme name="Harness Dark">
      <a:dk1>
        <a:srgbClr val="F0F0F0"/>
      </a:dk1>
      <a:lt1>
        <a:srgbClr val="0D1117"/>
      </a:lt1>
      <a:dk2>
        <a:srgbClr val="B0B0B0"/>
      </a:dk2>
      <a:lt2>
        <a:srgbClr val="161B22"/>
      </a:lt2>
      <a:accent1>
        <a:srgbClr val="00D4AA"/>
      </a:accent1>
      <a:accent2>
        <a:srgbClr val="FF6B6B"/>
      </a:accent2>
      <a:accent3>
        <a:srgbClr val="FFD93D"/>
      </a:accent3>
      <a:accent4>
        <a:srgbClr val="6C5CE7"/>
      </a:accent4>
      <a:accent5>
        <a:srgbClr val="74B9FF"/>
      </a:accent5>
      <a:accent6>
        <a:srgbClr val="A8E6CF"/>
      </a:accent6>
      <a:hlink>
        <a:srgbClr val="F59E00"/>
      </a:hlink>
      <a:folHlink>
        <a:srgbClr val="B2B2B2"/>
      </a:folHlink>
    </a:clrScheme>
    <a:fontScheme name="Harness">
      <a:majorFont>
        <a:latin typeface="Segoe UI Semibold"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Segoe UI"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기본">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8CBE745-F2E2-4DC4-86C5-90F295BEEB6B}">
  <we:reference id="wa200010001" version="1.0.0.1" store="en-US" storeType="OMEX"/>
  <we:alternateReferences>
    <we:reference id="WA200010001" version="1.0.0.1"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기본</Template>
  <TotalTime>942</TotalTime>
  <Words>7925</Words>
  <Application>Microsoft Office PowerPoint</Application>
  <PresentationFormat>와이드스크린</PresentationFormat>
  <Paragraphs>920</Paragraphs>
  <Slides>63</Slides>
  <Notes>63</Notes>
  <HiddenSlides>0</HiddenSlides>
  <MMClips>0</MMClips>
  <ScaleCrop>false</ScaleCrop>
  <HeadingPairs>
    <vt:vector size="6" baseType="variant">
      <vt:variant>
        <vt:lpstr>사용한 글꼴</vt:lpstr>
      </vt:variant>
      <vt:variant>
        <vt:i4>7</vt:i4>
      </vt:variant>
      <vt:variant>
        <vt:lpstr>테마</vt:lpstr>
      </vt:variant>
      <vt:variant>
        <vt:i4>2</vt:i4>
      </vt:variant>
      <vt:variant>
        <vt:lpstr>슬라이드 제목</vt:lpstr>
      </vt:variant>
      <vt:variant>
        <vt:i4>63</vt:i4>
      </vt:variant>
    </vt:vector>
  </HeadingPairs>
  <TitlesOfParts>
    <vt:vector size="72" baseType="lpstr">
      <vt:lpstr>맑은 고딕</vt:lpstr>
      <vt:lpstr>Aptos</vt:lpstr>
      <vt:lpstr>Arial</vt:lpstr>
      <vt:lpstr>Consolas</vt:lpstr>
      <vt:lpstr>Corbel</vt:lpstr>
      <vt:lpstr>Segoe UI</vt:lpstr>
      <vt:lpstr>Segoe UI Semibold</vt:lpstr>
      <vt:lpstr>기본</vt:lpstr>
      <vt:lpstr>기본 [1774069290905]</vt:lpstr>
      <vt:lpstr>Function Calling Harness</vt:lpstr>
      <vt:lpstr>Tr;dr</vt:lpstr>
      <vt:lpstr>AutoBe</vt:lpstr>
      <vt:lpstr>Typia</vt:lpstr>
      <vt:lpstr>Function Calling</vt:lpstr>
      <vt:lpstr>Qwen Series</vt:lpstr>
      <vt:lpstr>Preface</vt:lpstr>
      <vt:lpstr>1. Industrial Consensus</vt:lpstr>
      <vt:lpstr>2. No Alternative Solution</vt:lpstr>
      <vt:lpstr>3. Harness Engineering</vt:lpstr>
      <vt:lpstr>3. Harness Engineering</vt:lpstr>
      <vt:lpstr>AutoBe</vt:lpstr>
      <vt:lpstr>2.1. What AutoBe Does</vt:lpstr>
      <vt:lpstr>2.2. LLMs Don’t Write Code</vt:lpstr>
      <vt:lpstr>PowerPoint 프레젠테이션</vt:lpstr>
      <vt:lpstr>PowerPoint 프레젠테이션</vt:lpstr>
      <vt:lpstr>2.3. Self-Healing Loops</vt:lpstr>
      <vt:lpstr>2.4. AST Specs Are Better</vt:lpstr>
      <vt:lpstr>2.5. Four Qwen Models, All 99.8%</vt:lpstr>
      <vt:lpstr>PowerPoint 프레젠테이션</vt:lpstr>
      <vt:lpstr>PowerPoint 프레젠테이션</vt:lpstr>
      <vt:lpstr>PowerPoint 프레젠테이션</vt:lpstr>
      <vt:lpstr>PowerPoint 프레젠테이션</vt:lpstr>
      <vt:lpstr>Typia</vt:lpstr>
      <vt:lpstr>3.1. What Is Typia</vt:lpstr>
      <vt:lpstr>PowerPoint 프레젠테이션</vt:lpstr>
      <vt:lpstr>PowerPoint 프레젠테이션</vt:lpstr>
      <vt:lpstr>3.2. typia.llm.application&lt;Class&gt;()</vt:lpstr>
      <vt:lpstr>PowerPoint 프레젠테이션</vt:lpstr>
      <vt:lpstr>PowerPoint 프레젠테이션</vt:lpstr>
      <vt:lpstr>PowerPoint 프레젠테이션</vt:lpstr>
      <vt:lpstr>The Only Compiler-Level Solution</vt:lpstr>
      <vt:lpstr>Harness Engineering: AutoBe + Typia</vt:lpstr>
      <vt:lpstr> </vt:lpstr>
      <vt:lpstr>Function Calling</vt:lpstr>
      <vt:lpstr>4.1. Natural Language vs Types</vt:lpstr>
      <vt:lpstr>4.1. Natural Language vs Types</vt:lpstr>
      <vt:lpstr>4.2. Pink Elephant Problem</vt:lpstr>
      <vt:lpstr>4.2. Pink Elephant Problem</vt:lpstr>
      <vt:lpstr>4.2. Pink Elephant Problem</vt:lpstr>
      <vt:lpstr>4.3. Model Neutrality</vt:lpstr>
      <vt:lpstr>4.3. Model Neutrality</vt:lpstr>
      <vt:lpstr>4.3. Model Neutrality</vt:lpstr>
      <vt:lpstr>4.4. The Core: Verifiability</vt:lpstr>
      <vt:lpstr>4.4. The Core: Verifiability</vt:lpstr>
      <vt:lpstr>4.4. The Core: Verifiability</vt:lpstr>
      <vt:lpstr>4.5. This Pattern Is Universal</vt:lpstr>
      <vt:lpstr>PowerPoint 프레젠테이션</vt:lpstr>
      <vt:lpstr>PowerPoint 프레젠테이션</vt:lpstr>
      <vt:lpstr>PowerPoint 프레젠테이션</vt:lpstr>
      <vt:lpstr>PowerPoint 프레젠테이션</vt:lpstr>
      <vt:lpstr>Qwen Series</vt:lpstr>
      <vt:lpstr>5.1. Small/Medium Models Excel</vt:lpstr>
      <vt:lpstr>5.2. R&amp;D Cost: Users vs Developers</vt:lpstr>
      <vt:lpstr>5.3. Small Models = Best QA Engineers</vt:lpstr>
      <vt:lpstr>5.4. No Vendor Lock-In</vt:lpstr>
      <vt:lpstr>5.5. Open Source + Open Weights: Virtuous Cycle</vt:lpstr>
      <vt:lpstr>Conclusion</vt:lpstr>
      <vt:lpstr>Conclusion</vt:lpstr>
      <vt:lpstr>The Journey</vt:lpstr>
      <vt:lpstr>Three Principles</vt:lpstr>
      <vt:lpstr>6.75% is not a failure —</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Jeongho Nam</dc:creator>
  <cp:lastModifiedBy>Jeongho Nam</cp:lastModifiedBy>
  <cp:revision>212</cp:revision>
  <dcterms:created xsi:type="dcterms:W3CDTF">2026-03-21T07:18:57Z</dcterms:created>
  <dcterms:modified xsi:type="dcterms:W3CDTF">2026-03-26T07:20:06Z</dcterms:modified>
</cp:coreProperties>
</file>