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64"/>
  </p:notesMasterIdLst>
  <p:sldIdLst>
    <p:sldId id="699" r:id="rId2"/>
    <p:sldId id="700" r:id="rId3"/>
    <p:sldId id="701" r:id="rId4"/>
    <p:sldId id="702" r:id="rId5"/>
    <p:sldId id="703" r:id="rId6"/>
    <p:sldId id="704" r:id="rId7"/>
    <p:sldId id="705" r:id="rId8"/>
    <p:sldId id="706" r:id="rId9"/>
    <p:sldId id="707" r:id="rId10"/>
    <p:sldId id="708" r:id="rId11"/>
    <p:sldId id="709" r:id="rId12"/>
    <p:sldId id="710" r:id="rId13"/>
    <p:sldId id="711" r:id="rId14"/>
    <p:sldId id="712" r:id="rId15"/>
    <p:sldId id="713" r:id="rId16"/>
    <p:sldId id="714" r:id="rId17"/>
    <p:sldId id="715" r:id="rId18"/>
    <p:sldId id="716" r:id="rId19"/>
    <p:sldId id="717" r:id="rId20"/>
    <p:sldId id="718" r:id="rId21"/>
    <p:sldId id="719" r:id="rId22"/>
    <p:sldId id="720" r:id="rId23"/>
    <p:sldId id="721" r:id="rId24"/>
    <p:sldId id="722" r:id="rId25"/>
    <p:sldId id="723" r:id="rId26"/>
    <p:sldId id="724" r:id="rId27"/>
    <p:sldId id="725" r:id="rId28"/>
    <p:sldId id="726" r:id="rId29"/>
    <p:sldId id="727" r:id="rId30"/>
    <p:sldId id="728" r:id="rId31"/>
    <p:sldId id="729" r:id="rId32"/>
    <p:sldId id="730" r:id="rId33"/>
    <p:sldId id="731" r:id="rId34"/>
    <p:sldId id="732" r:id="rId35"/>
    <p:sldId id="733" r:id="rId36"/>
    <p:sldId id="734" r:id="rId37"/>
    <p:sldId id="735" r:id="rId38"/>
    <p:sldId id="736" r:id="rId39"/>
    <p:sldId id="737" r:id="rId40"/>
    <p:sldId id="738" r:id="rId41"/>
    <p:sldId id="739" r:id="rId42"/>
    <p:sldId id="740" r:id="rId43"/>
    <p:sldId id="741" r:id="rId44"/>
    <p:sldId id="742" r:id="rId45"/>
    <p:sldId id="743" r:id="rId46"/>
    <p:sldId id="744" r:id="rId47"/>
    <p:sldId id="745" r:id="rId48"/>
    <p:sldId id="746" r:id="rId49"/>
    <p:sldId id="761" r:id="rId50"/>
    <p:sldId id="747" r:id="rId51"/>
    <p:sldId id="748" r:id="rId52"/>
    <p:sldId id="749" r:id="rId53"/>
    <p:sldId id="750" r:id="rId54"/>
    <p:sldId id="751" r:id="rId55"/>
    <p:sldId id="752" r:id="rId56"/>
    <p:sldId id="753" r:id="rId57"/>
    <p:sldId id="754" r:id="rId58"/>
    <p:sldId id="755" r:id="rId59"/>
    <p:sldId id="756" r:id="rId60"/>
    <p:sldId id="757" r:id="rId61"/>
    <p:sldId id="758" r:id="rId62"/>
    <p:sldId id="759"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83033" autoAdjust="0"/>
  </p:normalViewPr>
  <p:slideViewPr>
    <p:cSldViewPr snapToGrid="0">
      <p:cViewPr varScale="1">
        <p:scale>
          <a:sx n="104" d="100"/>
          <a:sy n="104" d="100"/>
        </p:scale>
        <p:origin x="101" y="3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60F9CA-1A93-4D79-84D7-7CA1A1B56831}" type="datetimeFigureOut">
              <a:rPr lang="ko-KR" altLang="en-US" smtClean="0"/>
              <a:t>2026-03-21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CB9699-E895-4047-86EF-009608022D02}" type="slidenum">
              <a:rPr lang="ko-KR" altLang="en-US" smtClean="0"/>
              <a:t>‹#›</a:t>
            </a:fld>
            <a:endParaRPr lang="ko-KR" altLang="en-US"/>
          </a:p>
        </p:txBody>
      </p:sp>
    </p:spTree>
    <p:extLst>
      <p:ext uri="{BB962C8B-B14F-4D97-AF65-F5344CB8AC3E}">
        <p14:creationId xmlns:p14="http://schemas.microsoft.com/office/powerpoint/2010/main" val="291741713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안녕하세요, 오늘 발표할 주제는 Function Calling Harness입니다. 6.75%라는 숫자에서 시작해서, 어떻게 100%까지 도달했는지 그 여정을 이야기하겠습니다. 이 발표는 AI가 정확한 구조적 출력을 만들어내기 위해 필요한 엔지니어링, 즉 '하네스'에 대한 이야기입니다.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ko-KR" dirty="0"/>
              <a:t>이 발표의 핵심을 5가지로 요약합니다. 첫째, AutoBe는 자연어 대화로 프로덕션급 백엔드를 자동 생성하는 오픈소스 AI 에이전트입니다. 4개의 AST 타입, 4단계 컴파일러 검증, 자기 수정 루프가 핵심입니다. 둘째, Typia는 하나의 타입으로 스키마, 파서, 밸리데이터, 피드백 생성기를 모두 자동화하는 인프라입니다. 셋째, Function Calling은 타입으로 모호함을 제거하고, 스키마로 부재를 통해 제약하는 패턴입니다.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계속해서, 넷째 Qwen은 소형 모델이 시스템의 취약점을 가장 잘 드러내는 최고의 QA 엔지니어라는 점입니다. R&amp;D 비용 절감, 벤더 독립성, 오픈 생태계의 선순환이 핵심입니다. 다섯째, 6.75%는 실패가 아니라 루프의 첫 입력이라는 것입니다. 검증할 수 있으면 수렴합니다.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6.75%. qwen3-coder-next에게 쇼핑몰 백엔드의 API 데이터 타입을 생성하라고 했을 때의 첫 시도 function calling 성공률입니다. 100번 시도 중 93번이 잘못된 구조적 출력을 만들어냅니다. 이 숫자가 우리의 출발점이었습니다.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P"/>
          <p:cNvSpPr>
            <a:spLocks noGrp="1" noRot="1" noChangeAspect="1"/>
          </p:cNvSpPr>
          <p:nvPr>
            <p:ph type="sldImg"/>
          </p:nvPr>
        </p:nvSpPr>
        <p:spPr/>
      </p:sp>
      <p:sp>
        <p:nvSpPr>
          <p:cNvPr id="3" name="NP"/>
          <p:cNvSpPr>
            <a:spLocks noGrp="1"/>
          </p:cNvSpPr>
          <p:nvPr>
            <p:ph type="body" idx="1"/>
          </p:nvPr>
        </p:nvSpPr>
        <p:spPr/>
        <p:txBody>
          <a:bodyPr/>
          <a:lstStyle/>
          <a:p>
            <a:r>
              <a:rPr lang="ko-KR" dirty="0"/>
              <a:t>이건 우리만의 문제가 아닙니다. NESTFUL 논문에서 GPT-4o가 중첩 도구 호출에서 28% 정확도를 기록했고, JSONSchemaBench에서 10,000개 실제 스키마에 3~41% 커버리지, BoundaryML은 구조적 출력이 모델의 추론 능력을 오히려 떨어뜨린다고 주장합니다. 학계와 업계의 컨센서스는 명확합니다: 복잡한 스키마에서 function calling은 안 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하지만 대안이 없습니다. AI 출력을 결정론적으로 만들려면, 파싱하고, 검증하고, 루프에서 수정해야 합니다. 자유형 텍스트는 기계적으로 검증할 수 없고, 자연어는 컴파일할 수 없습니다. 구조 없이는 피드백 루프가 없고, 피드백 루프 없이는 보장이 없습니다. 그래서 우리는 포기할 수 없었습니다.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결과: 100%. 4개의 Qwen 모델 전부에서 최종 컴파일 성공률 100%를 달성했습니다. 비결은 더 나은 모델이나 더 똑똑한 프롬프트가 아니었습니다. 타입 스키마로 출력을 제약하고, 컴파일러로 결과를 검증하고, 구조화된 피드백으로 정확히 어디가 왜 틀렸는지 알려주는 하네스였습니다.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Chapter 2. AutoBe의 아키텍처를 살펴봅니다. 5단계 파이프라인, 4개의 AST 타입, 4단계 컴파일러, 그리고 LLM의 실수를 체계적으로 수정하는 자기 수정 루프입니다.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AutoBe는 자연어로 프로덕션급 백엔드를 자동 생성하는 오픈소스 AI 에이전트입니다. '쇼핑몰 백엔드를 만들어줘'라는 한 문장으로 요구사항 분석, DB 스키마, API 명세, E2E 테스트, 구현 코드까지 전부 생성합니다. 생성된 모든 코드는 컴파일됩니다.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대부분의 AI 코딩 에이전트는 LLM에게 '이 코드를 작성해'라고 하고 결과를 파일로 저장합니다. AutoBe는 다릅니다. Function calling을 사용합니다. LLM이 자유형 텍스트를 생성하는 대신, 미리 정의된 구조, 즉 JSON Schema를 채웁니다. 빈 페이지에 쓰는 게 아니라 양식을 채우는 겁니다. LLM이 양식을 채우면 컴파일러가 실제 코드로 변환합니다.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5단계 워터폴 파이프라인입니다. 각 단계에서 LLM이 채우는 구조와 컴파일러 검증이 분리되어 있습니다. Requirements의 AutoBeAnalyze, Database의 AutoBeDatabase, API Design의 AutoBeOpenApi, Testing의 AutoBeTest, Implementation의 모듈화된 코드. 40개 이상의 전문 AI 에이전트가 이 파이프라인을 실행합니다.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컴파일 실패는 끝이 아닙니다. AutoBe의 핵심 메커니즘은 자기 수정 루프입니다. 생성, 컴파일, 진단 추출, 수정, 재컴파일을 성공할 때까지 반복합니다. 가장 복잡한 구현 단계에는 4레벨의 재시도가 중첩됩니다. 성공한 코드는 보존하고 실패한 부분만 수정합니다.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4단계 컴파일러 검증 시스템입니다. Tier 1은 DB AST의 구조적 무결성, Tier 2는 OpenAPI 명세와 DB의 일관성, Tier 3은 테스트 AST와 API 명세의 일관성, Tier 4는 TypeScript strict mode 컴파일. 모든 컴파일러가 실패 시 '어디서, 무엇이, 왜 틀렸는지'를 구조화된 형태로 반환합니다.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LLM이 채워야 할 구조는 결코 단순하지 않습니다. IJsonSchema는 10개 변형의 재귀적 유니온 타입입니다. 배열은 IJsonSchema를 아이템으로 갖고, 객체는 Record&lt;string, IJsonSchema&gt;를 속성으로 갖고, OneOf는 IJsonSchema 배열입니다. 무한히 재귀적인 중첩. 이 타입의 첫 시도 성공률이 바로 6.75%입니다.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테스팅 단계는 복잡도가 한 단계 더 올라갑니다. E2E 테스트 코드는 IExpression이라는 30개 이상의 변형 타입으로 표현됩니다. 리터럴, 복합 리터럴, 접근자, 단항/이항 연산, 함수, 배열 연산, 랜덤 생성, 어서션까지. 프로그래밍 언어 수준의 복잡도를 단일 function call로 처리해야 합니다.</a:t>
            </a:r>
          </a:p>
        </p:txBody>
      </p:sp>
      <p:sp>
        <p:nvSpPr>
          <p:cNvPr id="4" name="슬라이드 번호 개체 틀 3"/>
          <p:cNvSpPr>
            <a:spLocks noGrp="1"/>
          </p:cNvSpPr>
          <p:nvPr>
            <p:ph type="sldNum" sz="quarter" idx="5"/>
          </p:nvPr>
        </p:nvSpPr>
        <p:spPr/>
        <p:txBody>
          <a:bodyPr/>
          <a:lstStyle/>
          <a:p>
            <a:fld id="{2CCB9699-E895-4047-86EF-009608022D02}" type="slidenum">
              <a:rPr lang="ko-KR" altLang="en-US" smtClean="0"/>
              <a:t>15</a:t>
            </a:fld>
            <a:endParaRPr lang="ko-KR" altLang="en-US"/>
          </a:p>
        </p:txBody>
      </p:sp>
    </p:spTree>
    <p:extLst>
      <p:ext uri="{BB962C8B-B14F-4D97-AF65-F5344CB8AC3E}">
        <p14:creationId xmlns:p14="http://schemas.microsoft.com/office/powerpoint/2010/main" val="4277843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기존 AI 에이전트에서 프롬프트는 자연어 지시입니다. AutoBe에서 프롬프트 역할을 하는 것은 스키마 스펙 자체입니다. 자연어 프롬프트는 모호하고, 모델마다 다르게 해석되며, 준수 여부를 검증할 수 없습니다. 스키마 스펙은 명확하고, 모델 독립적이며, 기계적으로 검증 가능합니다. Schema specs are the new prompts.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현재 AutoBe는 4개의 Qwen 모델을 테스트합니다. 397B부터 35B까지. 심지어 3B 활성 파라미터의 소형 모델도 완전한 쇼핑몰 백엔드를 생성합니다. 같은 스키마, 같은 파이프라인, 같은 결과. 모든 모델에서 100% 컴파일 성공.</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Chapter 3. Typia입니다. 6.75%를 어떻게 살아남는지, 그 인프라의 내부를 들여다봅니다. 스키마 생성, 깨진 JSON 복구, 타입 교정, 정밀한 에러 피드백, 이 모든 것을 담당하는 것이 Typia입니다.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Typia는 TypeScript 컴파일러의 타입 분석기를 직접 활용하여 JSON Schema, 밸리데이터, 파서, 피드백 생성기를 컴파일 타임에 자동 생성하는 컴파일러 라이브러리입니다. 하나의 타입을 정의하면 컴파일러가 나머지를 처리합니다. 런타임 리플렉션이 아니라 컴파일러 수준에서 동작합니다.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Typia의 핵심 원리입니다. typia.is&lt;T&gt;()를 호출하면 컴파일 타임에 타입 정보가 분석되어 최적화된 검증 코드로 변환됩니다. 왼쪽의 TypeScript 인터페이스가 오른쪽의 UUID regex, email regex, 정수 체크, 범위 체크를 포함한 JavaScript 코드로 변환됩니다. TypeScript의 타입이 런타임에 지워지는 한계를 컴파일러 플러그인으로 극복합니다.</a:t>
            </a:r>
          </a:p>
        </p:txBody>
      </p:sp>
      <p:sp>
        <p:nvSpPr>
          <p:cNvPr id="4" name="슬라이드 번호 개체 틀 3"/>
          <p:cNvSpPr>
            <a:spLocks noGrp="1"/>
          </p:cNvSpPr>
          <p:nvPr>
            <p:ph type="sldNum" sz="quarter" idx="5"/>
          </p:nvPr>
        </p:nvSpPr>
        <p:spPr/>
        <p:txBody>
          <a:bodyPr/>
          <a:lstStyle/>
          <a:p>
            <a:fld id="{2CCB9699-E895-4047-86EF-009608022D02}" type="slidenum">
              <a:rPr lang="ko-KR" altLang="en-US" smtClean="0"/>
              <a:t>20</a:t>
            </a:fld>
            <a:endParaRPr lang="ko-KR" altLang="en-US"/>
          </a:p>
        </p:txBody>
      </p:sp>
    </p:spTree>
    <p:extLst>
      <p:ext uri="{BB962C8B-B14F-4D97-AF65-F5344CB8AC3E}">
        <p14:creationId xmlns:p14="http://schemas.microsoft.com/office/powerpoint/2010/main" val="5851114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같은 원리가 function calling에 직접 적용됩니다. typia.llm.parameters&lt;T&gt;()가 같은 타입 분석을 통해 JSON Schema를 생성합니다. JSDoc 주석은 description 필드가 되어 LLM이 어떤 값을 생성할지 안내하고, 타입 제약은 검증 규칙이 됩니다. 하나의 타입 정의가 LLM 가이던스와 검증 규칙을 동시에 생성합니다.</a:t>
            </a:r>
          </a:p>
        </p:txBody>
      </p:sp>
      <p:sp>
        <p:nvSpPr>
          <p:cNvPr id="4" name="슬라이드 번호 개체 틀 3"/>
          <p:cNvSpPr>
            <a:spLocks noGrp="1"/>
          </p:cNvSpPr>
          <p:nvPr>
            <p:ph type="sldNum" sz="quarter" idx="5"/>
          </p:nvPr>
        </p:nvSpPr>
        <p:spPr/>
        <p:txBody>
          <a:bodyPr/>
          <a:lstStyle/>
          <a:p>
            <a:fld id="{2CCB9699-E895-4047-86EF-009608022D02}" type="slidenum">
              <a:rPr lang="ko-KR" altLang="en-US" smtClean="0"/>
              <a:t>21</a:t>
            </a:fld>
            <a:endParaRPr lang="ko-KR" altLang="en-US"/>
          </a:p>
        </p:txBody>
      </p:sp>
    </p:spTree>
    <p:extLst>
      <p:ext uri="{BB962C8B-B14F-4D97-AF65-F5344CB8AC3E}">
        <p14:creationId xmlns:p14="http://schemas.microsoft.com/office/powerpoint/2010/main" val="22870592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JSDoc이 어떻게 LLM의 description이 되는지 더 자세히 봅니다. 개발자가 작성한 주석이 그대로 JSON Schema의 description 필드가 됩니다. LLM은 이 description을 읽고 어떤 값을 생성할지 결정합니다. 타입 제약과 자연어 설명이 하나의 소스에서 나옵니다.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왜 6.75%인가? 재귀적 유니온 타입은 조합 폭발을 일으킵니다. 10개 변형이 3단계 중첩되면 1,000개 경로, 30개 변형이면 27,000개. LLM이 첫 시도에 정확한 경로를 선택할 확률이 구조적으로 낮습니다. 게다가 유니온 타입에서는 미묘한 에러가 빈번합니다.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Qwen 3.5 시리즈의 더 극적인 케이스입니다. anyOf 필드에서 100% 일관되게 double-stringify가 발생합니다. 객체여야 할 것을 JSON 문자열로 감싸버립니다. 이건 간헐적 에러가 아니라 100% 재현되는 구조적 문제입니다. Claude도 oneOf에서 같은 행동을 보입니다. 모든 모델 패밀리가 유니온 타입에 사각지대가 있습니다.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실제 LLM 출력에 7가지 문제가 동시에 존재하는 경우를 봅니다. Markdown 래핑, 설명 접두어, 따옴표 없는 키, trailing comma, 불완전한 키워드, 닫히지 않은 괄호, double-stringify. func.parse()는 이 모든 것을 한 번의 호출로 처리합니다.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대부분의 JSON 복구 도구는 문자열 수준에서 동작합니다. double-stringify된 값은 이미 유효한 JSON 문자열이므로 그대로 통과합니다. 스키마 없이는 그것이 객체여야 한다는 것을 알 수 없습니다. Typia의 parse()는 컴파일러가 타입에서 생성한 스키마를 참조하면서 파싱합니다.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parse()는 JSON 복구만이 아니라 스키마 기반 타입 교정도 동시에 수행합니다. 42라는 숫자여야 할 곳에 "42"라는 문자열이 오면, 스키마를 보고 숫자로 변환합니다. "true"를 boolean으로, 문자열화된 객체를 실제 객체로. 이 모든 판단은 Typia 컴파일러가 타입에서 자동 생성한 스키마에 기반합니다.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parse()와 coercion은 분리할 수 없는 재귀적 사이클입니다. 파싱이 스키마를 참조하고, 교정이 파싱을 다시 호출하고, 이것이 재귀적으로 이중, 삼중 문자열화를 자연스럽게 해제합니다. 이것이 Qwen 3.5의 0%를 100%로 바꾼 메커니즘입니다.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파싱과 교정을 거쳐도 값 자체가 틀릴 수 있습니다. 음수 가격, 이메일이 아닌 문자열, 정수여야 할 곳의 소수. Typia의 validate()는 스키마 위반을 감지하고 정확히 어디서 왜 틀렸는지 알려줍니다.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LlmJson.stringify()는 이 에러를 인라인 주석으로 렌더링합니다. LLM 자신의 JSON 위에 정확한 경로와 기대 타입이 표시됩니다. cardNumber는 string이어야 하는데 number, price는 0 이상이어야 하는데 -100, quantity는 uint32여야 하는데 2.5. LLM은 자기가 뭘 틀렸는지 정확히 보고, 표시된 필드만 수정하면 됩니다.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모든 것을 하나의 루프로 결합합니다. LLM이 호출하고, parse()가 깨진 JSON을 복구하며 타입을 교정하고, validate()가 스키마 위반을 잡고, LlmJson.stringify()가 LLM이 읽을 수 있는 피드백을 생성합니다. LLM이 자기 수정하고 재시도합니다. 이것이 6.75%를 100%로 만드는 완전한 루프입니다.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하네스의 개념이 완성되는 지점입니다. Typia 레이어는 function calling 수준에서 타입 자동 스키마 생성, 깨진 JSON 복구, 스키마 기반 타입 교정, 정밀 에러 피드백을 제공합니다. AutoBe 레이어는 시스템 수준에서 4개 AST 타입, 4단계 컴파일러 검증, 자기 수정 루프, 계층적 오케스트레이션을 제공합니다.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하나의 TypeScript 타입을 정의하면 Typia 컴파일러가 나머지를 모두 처리합니다. 컴파일 타임 소스코드 분석, typia.llm.application으로 스키마 생성, ILlmFunction.parse()로 파싱과 교정, ILlmFunction.validate()로 검증, LlmJson.stringify()로 피드백 생성. 타입이 곧 스키마이고, 밸리데이터이고, 프롬프트입니다.</a:t>
            </a:r>
          </a:p>
        </p:txBody>
      </p:sp>
      <p:sp>
        <p:nvSpPr>
          <p:cNvPr id="4" name="슬라이드 번호 개체 틀 3"/>
          <p:cNvSpPr>
            <a:spLocks noGrp="1"/>
          </p:cNvSpPr>
          <p:nvPr>
            <p:ph type="sldNum" sz="quarter" idx="5"/>
          </p:nvPr>
        </p:nvSpPr>
        <p:spPr/>
        <p:txBody>
          <a:bodyPr/>
          <a:lstStyle/>
          <a:p>
            <a:fld id="{2CCB9699-E895-4047-86EF-009608022D02}" type="slidenum">
              <a:rPr lang="ko-KR" altLang="en-US" smtClean="0"/>
              <a:t>33</a:t>
            </a:fld>
            <a:endParaRPr lang="ko-KR" altLang="en-US"/>
          </a:p>
        </p:txBody>
      </p:sp>
    </p:spTree>
    <p:extLst>
      <p:ext uri="{BB962C8B-B14F-4D97-AF65-F5344CB8AC3E}">
        <p14:creationId xmlns:p14="http://schemas.microsoft.com/office/powerpoint/2010/main" val="5280498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타입이 곧 스키마이고, 밸리데이터이고, 프롬프트입니다. 하네스는 그 주변의 모든 것입니다. 이 한 문장이 Typia 챕터의 핵심을 담고 있습니다.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Chapter 4. Function Calling을 칭찬합니다. 2장과 3장은 어떻게 작동하는지를 보여줬다면, 이제는 왜 function calling이 이렇게 강력한지, 그리고 널리 퍼진 회의론이 증상에는 정확하지만 근본 원인을 놓치고 있는지를 이야기합니다.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자연어는 모호하도록 진화했습니다. 은유, 뉘앙스, 공손함, 유머 — 모두 모호함 위에서 작동합니다. 프로그래밍 언어는 모호함을 제거하도록 설계되었습니다. 사람이 자연어로 소통하면 오해가 생기고, 타입으로 소통하면 오해가 없습니다.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구체적으로 비교해봅시다. 프롬프트로 '나이는 18보다 큰 양의 정수여야 한다'고 쓰면, &gt;18인지 ≥18인지 알 수 없고, LLM이 따랐는지 확인하려면 출력을 수동으로 검사해야 합니다. 타입으로 ExclusiveMinimum&lt;18&gt;이라고 쓰면 &gt;18이고, 정수이고, 필수입니다. 모호함이 없고, 기계적으로 검증 가능합니다.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프롬프트 기반 에이전트를 만들어본 분이라면, 금지 규칙을 써보셨을 겁니다. 'utility 함수를 만들지 마라', 'any 타입을 쓰지 마라'. 분홍 코끼리를 생각하지 마세요. 첫 번째로 떠오르는 것이 분홍 코끼리입니다. LLM에게 'X를 하지 마라'고 하면, X가 주의의 중심에 놓이면서 역설적으로 생성 확률이 올라갑니다.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스키마에서는 이 문제가 사라집니다. 'any 타입을 쓰지 마라'고 말할 필요가 없습니다. any가 스키마에 존재하지 않으면 LLM이 물리적으로 생성할 수 없습니다. 금지가 아니라 부재. 프롬프트는 원하지 않는 것을 금지하고, 스키마는 원하는 것만 허용합니다.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프롬프트 엔지니어링은 본질적으로 모델 의존적입니다. GPT에 최적화된 프롬프트는 Claude에서 다르게 동작합니다. Function calling 기반 접근은 모델 중립적입니다. JSON Schema는 어떤 모델이 읽어도 같은 의미입니다. 강한 모델은 1-2번, 약한 모델은 3-4번 시도하지만 둘 다 100%에 도달합니다.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핵심 공식입니다. 타입 스키마, 결정론적 밸리데이터, 구조화된 피드백. 이 세 가지가 확률적 모델을 감싸는 결정론적 루프를 형성합니다.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LLM이 정확할 필요는 없습니다. 하네스로 감싸지면 됩니다. 프롬프트 엔지니어링은 확률적 부분을 신뢰할 수 있게 만들려 합니다. Function calling은 결정론적 부분을 완벽하게 만듭니다. 정밀도가 요구되는 도메인에서는 후자가 이깁니다.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하나의 실이 모든 것을 관통합니다. Function calling의 근본적 장점은 LLM 출력을 소프트웨어 엔지니어링의 영역으로 가져온다는 것입니다. 자유형 텍스트 출력은 정확성을 AI 문제로 만듭니다. 구조적 출력은 정확성을 엔지니어링 문제로 만듭니다. 검증은 결정론적이고, 피드백은 정밀하고, 수정은 수렴합니다.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반도체입니다. 칩 설계의 물리적 규칙은 협상 불가능합니다. IBlock 인터페이스가 재귀적으로 sub_blocks를 포함합니다. DRC는 빠르고, LVS는 중간, SPICE 시뮬레이션은 깊은 검증입니다. 모두 결정론적입니다. AutoBe의 IJsonSchema와 같은 재귀적 유니온 + 트리 구조입니다.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화학 공정입니다. 보존 법칙은 절대적인 밸리데이터입니다. 입구 흐름의 합은 출구 흐름의 합과 같아야 합니다. 질량 보존, 에너지 균형, 열역학적 일관성. 이것은 의견이 아니라 물리 법칙입니다. ASPEN과 HYSYS가 40년 넘게 결정론적 검증을 제공하고 있습니다.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인테리어 디자인입니다. 미학 아래에 단단한 제약이 있습니다. 최소 통로 폭 800mm, 접근성을 위한 문 폭 900mm 이상, 방화 구획 규정, 비상 대피 거리. BIM 도구인 Revit이 수십 년째 충돌 검출을 제공합니다.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제어 시스템입니다. 안정성은 수학적으로 증명 가능합니다. PID, MPC, LQR 등의 제어 루프, 전달함수, 샘플링 레이트, 제약 조건. Bode plot, Nyquist plot, 극점 배치. 60년 넘는 분석 도구의 역사가 있습니다.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네 도메인을 관통하는 공통 구조입니다. 모두 type 필드에 열거형 변형을 갖고, 여럿이 재귀적으로 중첩됩니다. AutoBe의 IJsonSchema, IExpression과 같은 유니온 + 트리 구조입니다. 이것은 우연이 아니라 엔지니어링 데이터의 본질입니다.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하네스 패턴이 적용되지 않는 영역도 있습니다. 창작, 감정 지능, 전략적 의사결정처럼 결정론적 밸리데이터가 존재하지 않는 도메인입니다. 구조를 만드는 비용이 불확실성을 감수하는 비용보다 클 때도 마찬가지입니다. 이것은 범용 솔루션이 아니라, 정확성이 타협 불가능하고 기계적으로 검증 가능한 도메인을 위한 패턴입니다.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이 패턴은 코드 생성에만 적용되는 것이 아닙니다. 출력이 기계적으로 검증 가능한 모든 도메인에 적용됩니다. 소프트웨어는 타입 체크, 컴파일, 테스트 실행. 반도체는 DRC, LVS, SPICE. 화학 공정은 질량 균형, 에너지 균형, 공정 시뮬레이션. 가장 싼 밸리데이터를 먼저 실행하고, 에러를 수정하고, 다음 단계로 가는 것이 자연스러운 전략입니다.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Chapter 5. Qwen과 QA 엔지니어링입니다. 이 이야기가 왜 Qwen Meetup에 속하는지 답합니다. 소형 모델은 약점이 아닙니다. 하네스 시스템의 최고의 QA 엔지니어입니다.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AutoBe의 전체 파이프라인은 function calling입니다. 모델이 좋은 산문을 쓰는지, 자연스러운 대화를 하는지는 무관합니다. 유일한 기준은 복잡한 JSON Schema를 얼마나 정확하게 채우는가입니다. 소형/중형 스케일에서 이 수준의 복잡도를 처리할 수 있는 것은 Qwen뿐이었습니다.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AutoBe를 사용하는 고객에게 모델 비용은 문제가 안 됩니다. 가장 비싼 모델도 백엔드 개발자 한 명 고용비보다 쌉니다. AutoBe를 개발하는 우리에게는 다릅니다. 새 타입 설계나 검증 규칙을 추가할 때마다 전체 파이프라인을 처음부터 끝까지 돌려야 합니다. 로컬 모델이 무한한 실험을 가능하게 합니다.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상용 API 가격, 모델 폐기, 요청 제한은 벤더의 재량입니다. AutoBe의 function calling 스키마는 모델 중립적입니다. 모델별 프롬프트 트릭이 없습니다. JSON Schema와 타입 기반 검증은 업계 표준이므로 모델이 바뀌어도 시스템은 변하지 않습니다.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AutoBe는 오픈소스, Qwen은 오픈 웨이트. 둘 다 오픈 생태계의 일부입니다. 이 조합이 수천 번의 실험, 엣지 케이스 발견, 시스템 강화를 가능하게 했습니다. 상용 모델로는 재정적으로 불가능했을 규모입니다. AutoBe가 Qwen으로 시스템을 강화하고, 강화된 시스템이 Qwen의 프로덕션 활용 가능성을 증명합니다.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현재 function calling 성공률 데이터입니다. qwen3.5-122b-a22b가 87.4%로 가장 높고, qwen3-coder-next가 26.8%, qwen3.5-32b-a8b가 64.9%입니다. qwen2.5-32b와 qwen3.5-7b는 0%입니다. 이 수치들은 모두 하네스가 100%로 끌어올리는 출발점일 뿐입니다.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큰 모델은 실수를 덜 합니다. 그것이 장점인 동시에 사각지대입니다. 시스템에 미처 생각지 못한 취약점이 있어도 큰 모델은 그 실패를 거의 유발하지 않습니다. 작은 모델로 바꾸면 이야기가 달라집니다. 10% 성공률이 가장 가치 있는 결과였습니다. 모든 실패가 시스템 취약점을 가리켰고, 각 수정이 모든 모델을 위한 파이프라인을 강화했습니다.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Chapter 6. 결론입니다.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6.75%에서 시작했습니다. 업계는 복잡한 function calling이 안 된다고 했고, 우리 결과도 동의했습니다. 하지만 대안이 없었기에 하네스를 만들었습니다. JSON이 깨지니까 lenient parsing, 타입이 틀리니까 type coercion, 값이 틀리니까 validation feedback, 시스템 일관성이 필요하니까 compiler pipeline. 하나의 실패 모드에 대한 최소한의 대응의 축적이었습니다.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세 가지 원칙. 첫째, 출력을 제약하는 타입 스키마. 둘째, 결과를 검증하는 컴파일러. 셋째, 에러를 수정하는 구조화된 피드백. 이 세 가지가 확률적 모델을 감싸는 결정론적 루프를 형성합니다.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6.75%는 실패가 아닙니다. 루프의 첫 입력입니다. 검증할 수 있으면 수렴합니다. 이것이 오늘 발표의 핵심 메시지입니다.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2026-03-21</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927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3300284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8408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6937128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310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41613988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5120069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3160694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90179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988991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3325528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2026-03-21</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354577364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itle"/>
          <p:cNvSpPr/>
          <p:nvPr/>
        </p:nvSpPr>
        <p:spPr>
          <a:xfrm>
            <a:off x="1016000" y="1778000"/>
            <a:ext cx="10160000" cy="1016000"/>
          </a:xfrm>
          <a:prstGeom prst="rect">
            <a:avLst/>
          </a:prstGeom>
          <a:noFill/>
          <a:ln>
            <a:noFill/>
          </a:ln>
        </p:spPr>
        <p:txBody>
          <a:bodyPr wrap="square" lIns="0" tIns="0" rIns="0" bIns="0" anchor="b"/>
          <a:lstStyle/>
          <a:p>
            <a:pPr algn="l"/>
            <a:r>
              <a:rPr lang="en-US" sz="4400" b="1" dirty="0">
                <a:solidFill>
                  <a:srgbClr val="00D4AA"/>
                </a:solidFill>
                <a:latin typeface="Segoe UI Semibold"/>
              </a:rPr>
              <a:t>Function Calling Harness</a:t>
            </a:r>
          </a:p>
        </p:txBody>
      </p:sp>
      <p:sp>
        <p:nvSpPr>
          <p:cNvPr id="11" name="Subtitle"/>
          <p:cNvSpPr/>
          <p:nvPr/>
        </p:nvSpPr>
        <p:spPr>
          <a:xfrm>
            <a:off x="1016000" y="2895600"/>
            <a:ext cx="10160000" cy="698500"/>
          </a:xfrm>
          <a:prstGeom prst="rect">
            <a:avLst/>
          </a:prstGeom>
          <a:noFill/>
          <a:ln>
            <a:noFill/>
          </a:ln>
        </p:spPr>
        <p:txBody>
          <a:bodyPr wrap="square" lIns="0" tIns="0" rIns="0" bIns="0" anchor="t"/>
          <a:lstStyle/>
          <a:p>
            <a:pPr algn="l"/>
            <a:r>
              <a:rPr lang="en-US" sz="2200" dirty="0">
                <a:solidFill>
                  <a:srgbClr val="B0B0B0"/>
                </a:solidFill>
                <a:latin typeface="Segoe UI"/>
              </a:rPr>
              <a:t>How AutoBe Achieved 100% Compilation Success with Qwen</a:t>
            </a:r>
          </a:p>
        </p:txBody>
      </p:sp>
      <p:sp>
        <p:nvSpPr>
          <p:cNvPr id="12" name="AccentLine"/>
          <p:cNvSpPr/>
          <p:nvPr/>
        </p:nvSpPr>
        <p:spPr>
          <a:xfrm>
            <a:off x="1016000" y="3746500"/>
            <a:ext cx="2540000" cy="38100"/>
          </a:xfrm>
          <a:prstGeom prst="rect">
            <a:avLst/>
          </a:prstGeom>
          <a:solidFill>
            <a:srgbClr val="00D4AA"/>
          </a:solidFill>
          <a:ln>
            <a:noFill/>
          </a:ln>
        </p:spPr>
        <p:txBody>
          <a:bodyPr/>
          <a:lstStyle/>
          <a:p>
            <a:endParaRPr lang="en-US"/>
          </a:p>
        </p:txBody>
      </p:sp>
      <p:sp>
        <p:nvSpPr>
          <p:cNvPr id="13" name="EventName"/>
          <p:cNvSpPr/>
          <p:nvPr/>
        </p:nvSpPr>
        <p:spPr>
          <a:xfrm>
            <a:off x="1016000" y="3937000"/>
            <a:ext cx="6350000" cy="508000"/>
          </a:xfrm>
          <a:prstGeom prst="rect">
            <a:avLst/>
          </a:prstGeom>
          <a:noFill/>
          <a:ln>
            <a:noFill/>
          </a:ln>
        </p:spPr>
        <p:txBody>
          <a:bodyPr wrap="square" lIns="0" tIns="0" rIns="0" bIns="0" anchor="t"/>
          <a:lstStyle/>
          <a:p>
            <a:pPr algn="l"/>
            <a:r>
              <a:rPr lang="en-US" sz="2000" dirty="0">
                <a:solidFill>
                  <a:srgbClr val="F0F0F0"/>
                </a:solidFill>
                <a:latin typeface="Segoe UI"/>
              </a:rPr>
              <a:t>Qwen Meetup Korea</a:t>
            </a:r>
          </a:p>
        </p:txBody>
      </p:sp>
      <p:sp>
        <p:nvSpPr>
          <p:cNvPr id="14" name="Footer"/>
          <p:cNvSpPr/>
          <p:nvPr/>
        </p:nvSpPr>
        <p:spPr>
          <a:xfrm>
            <a:off x="1016000" y="6096000"/>
            <a:ext cx="10160000" cy="381000"/>
          </a:xfrm>
          <a:prstGeom prst="rect">
            <a:avLst/>
          </a:prstGeom>
          <a:noFill/>
          <a:ln>
            <a:noFill/>
          </a:ln>
        </p:spPr>
        <p:txBody>
          <a:bodyPr wrap="square" lIns="0" tIns="0" rIns="0" bIns="0" anchor="b"/>
          <a:lstStyle/>
          <a:p>
            <a:pPr algn="l"/>
            <a:r>
              <a:rPr lang="en-US" sz="1800" dirty="0">
                <a:solidFill>
                  <a:srgbClr val="808080"/>
                </a:solidFill>
                <a:latin typeface="Segoe UI"/>
              </a:rPr>
              <a:t>AutoBe  ·  Typia  ·  Wrtn Technologies</a:t>
            </a:r>
          </a:p>
        </p:txBody>
      </p:sp>
    </p:spTree>
    <p:extLst>
      <p:ext uri="{BB962C8B-B14F-4D97-AF65-F5344CB8AC3E}">
        <p14:creationId xmlns:p14="http://schemas.microsoft.com/office/powerpoint/2010/main" val="25483738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
            <a:extLst>
              <a:ext uri="{FF2B5EF4-FFF2-40B4-BE49-F238E27FC236}">
                <a16:creationId xmlns:a16="http://schemas.microsoft.com/office/drawing/2014/main" id="{EE43A0A4-6484-4F20-99EB-29A05364FC4B}"/>
              </a:ext>
            </a:extLst>
          </p:cNvPr>
          <p:cNvSpPr txBox="1"/>
          <p:nvPr/>
        </p:nvSpPr>
        <p:spPr>
          <a:xfrm>
            <a:off x="1016000" y="381000"/>
            <a:ext cx="10160000" cy="698500"/>
          </a:xfrm>
          <a:prstGeom prst="rect">
            <a:avLst/>
          </a:prstGeom>
          <a:noFill/>
        </p:spPr>
        <p:txBody>
          <a:bodyPr vertOverflow="overflow" vert="horz" wrap="square" rtlCol="0" anchor="t">
            <a:spAutoFit/>
          </a:bodyPr>
          <a:lstStyle/>
          <a:p>
            <a:pPr algn="l"/>
            <a:r>
              <a:rPr lang="en-US" sz="3200" b="1">
                <a:solidFill>
                  <a:srgbClr val="F0F0F0"/>
                </a:solidFill>
                <a:latin typeface="Segoe UI Semibold"/>
                <a:cs typeface="Segoe UI Semibold"/>
              </a:rPr>
              <a:t>TL;DR</a:t>
            </a:r>
          </a:p>
        </p:txBody>
      </p:sp>
      <p:sp>
        <p:nvSpPr>
          <p:cNvPr id="3" name="AL">
            <a:extLst>
              <a:ext uri="{FF2B5EF4-FFF2-40B4-BE49-F238E27FC236}">
                <a16:creationId xmlns:a16="http://schemas.microsoft.com/office/drawing/2014/main" id="{D3645806-CFC9-4554-9FE7-D26507BF8E1F}"/>
              </a:ext>
            </a:extLst>
          </p:cNvPr>
          <p:cNvSpPr/>
          <p:nvPr/>
        </p:nvSpPr>
        <p:spPr>
          <a:xfrm>
            <a:off x="1016000" y="11049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H1">
            <a:extLst>
              <a:ext uri="{FF2B5EF4-FFF2-40B4-BE49-F238E27FC236}">
                <a16:creationId xmlns:a16="http://schemas.microsoft.com/office/drawing/2014/main" id="{BD3C30B7-DBEC-4370-AF68-6534A4D612F0}"/>
              </a:ext>
            </a:extLst>
          </p:cNvPr>
          <p:cNvSpPr txBox="1"/>
          <p:nvPr/>
        </p:nvSpPr>
        <p:spPr>
          <a:xfrm>
            <a:off x="1016000" y="1270000"/>
            <a:ext cx="10160000" cy="482600"/>
          </a:xfrm>
          <a:prstGeom prst="rect">
            <a:avLst/>
          </a:prstGeom>
          <a:noFill/>
        </p:spPr>
        <p:txBody>
          <a:bodyPr vertOverflow="overflow" vert="horz" wrap="square" rtlCol="0" anchor="t">
            <a:spAutoFit/>
          </a:bodyPr>
          <a:lstStyle/>
          <a:p>
            <a:pPr algn="l"/>
            <a:r>
              <a:rPr lang="en-US" sz="2000" b="1" dirty="0">
                <a:solidFill>
                  <a:srgbClr val="00D4AA"/>
                </a:solidFill>
                <a:latin typeface="Segoe UI Semibold"/>
              </a:rPr>
              <a:t>① AutoBe — AI backend auto-generation agent</a:t>
            </a:r>
          </a:p>
        </p:txBody>
      </p:sp>
      <p:sp>
        <p:nvSpPr>
          <p:cNvPr id="5" name="B1">
            <a:extLst>
              <a:ext uri="{FF2B5EF4-FFF2-40B4-BE49-F238E27FC236}">
                <a16:creationId xmlns:a16="http://schemas.microsoft.com/office/drawing/2014/main" id="{F57B3EBF-9817-48BE-87C6-953041318EF8}"/>
              </a:ext>
            </a:extLst>
          </p:cNvPr>
          <p:cNvSpPr txBox="1"/>
          <p:nvPr/>
        </p:nvSpPr>
        <p:spPr>
          <a:xfrm>
            <a:off x="1270000" y="1714500"/>
            <a:ext cx="9906000" cy="1016000"/>
          </a:xfrm>
          <a:prstGeom prst="rect">
            <a:avLst/>
          </a:prstGeom>
          <a:noFill/>
        </p:spPr>
        <p:txBody>
          <a:bodyPr vertOverflow="overflow" vert="horz" wrap="square" rtlCol="0" anchor="t">
            <a:spAutoFit/>
          </a:bodyPr>
          <a:lstStyle/>
          <a:p>
            <a:pPr algn="l"/>
            <a:r>
              <a:rPr lang="en-US" sz="1800" dirty="0">
                <a:solidFill>
                  <a:srgbClr val="D0D0D0"/>
                </a:solidFill>
                <a:latin typeface="Segoe UI"/>
              </a:rPr>
              <a:t>▸ Production-grade backend from natural language conversation</a:t>
            </a:r>
          </a:p>
          <a:p>
            <a:pPr algn="l"/>
            <a:r>
              <a:rPr lang="en-US" sz="1800" dirty="0">
                <a:solidFill>
                  <a:srgbClr val="D0D0D0"/>
                </a:solidFill>
                <a:latin typeface="Segoe UI"/>
              </a:rPr>
              <a:t>▸ 4 AST types + 4-tier compiler validation + self-healing loops</a:t>
            </a:r>
          </a:p>
          <a:p>
            <a:pPr algn="l"/>
            <a:r>
              <a:rPr lang="en-US" sz="1800" dirty="0">
                <a:solidFill>
                  <a:srgbClr val="D0D0D0"/>
                </a:solidFill>
                <a:latin typeface="Segoe UI"/>
              </a:rPr>
              <a:t>▸ Schema specs are the new prompts</a:t>
            </a:r>
          </a:p>
        </p:txBody>
      </p:sp>
      <p:sp>
        <p:nvSpPr>
          <p:cNvPr id="6" name="H2">
            <a:extLst>
              <a:ext uri="{FF2B5EF4-FFF2-40B4-BE49-F238E27FC236}">
                <a16:creationId xmlns:a16="http://schemas.microsoft.com/office/drawing/2014/main" id="{3DD18949-C442-4E18-B2A3-7ED0F968B71A}"/>
              </a:ext>
            </a:extLst>
          </p:cNvPr>
          <p:cNvSpPr txBox="1"/>
          <p:nvPr/>
        </p:nvSpPr>
        <p:spPr>
          <a:xfrm>
            <a:off x="1016000" y="2730500"/>
            <a:ext cx="10160000" cy="482600"/>
          </a:xfrm>
          <a:prstGeom prst="rect">
            <a:avLst/>
          </a:prstGeom>
          <a:noFill/>
        </p:spPr>
        <p:txBody>
          <a:bodyPr vertOverflow="overflow" vert="horz" wrap="square" rtlCol="0" anchor="t">
            <a:spAutoFit/>
          </a:bodyPr>
          <a:lstStyle/>
          <a:p>
            <a:pPr algn="l"/>
            <a:r>
              <a:rPr lang="en-US" sz="2000" b="1" dirty="0">
                <a:solidFill>
                  <a:srgbClr val="00D4AA"/>
                </a:solidFill>
                <a:latin typeface="Segoe UI Semibold"/>
              </a:rPr>
              <a:t>② Typia — The infrastructure that turns 0% into 100%</a:t>
            </a:r>
          </a:p>
        </p:txBody>
      </p:sp>
      <p:sp>
        <p:nvSpPr>
          <p:cNvPr id="7" name="B2">
            <a:extLst>
              <a:ext uri="{FF2B5EF4-FFF2-40B4-BE49-F238E27FC236}">
                <a16:creationId xmlns:a16="http://schemas.microsoft.com/office/drawing/2014/main" id="{AA587A00-00EA-4CD2-8E3D-3A6ECB212178}"/>
              </a:ext>
            </a:extLst>
          </p:cNvPr>
          <p:cNvSpPr txBox="1"/>
          <p:nvPr/>
        </p:nvSpPr>
        <p:spPr>
          <a:xfrm>
            <a:off x="1270000" y="3175000"/>
            <a:ext cx="9906000" cy="1016000"/>
          </a:xfrm>
          <a:prstGeom prst="rect">
            <a:avLst/>
          </a:prstGeom>
          <a:noFill/>
        </p:spPr>
        <p:txBody>
          <a:bodyPr vertOverflow="overflow" vert="horz" wrap="square" rtlCol="0" anchor="t">
            <a:spAutoFit/>
          </a:bodyPr>
          <a:lstStyle/>
          <a:p>
            <a:pPr algn="l"/>
            <a:r>
              <a:rPr lang="en-US" sz="1800" dirty="0">
                <a:solidFill>
                  <a:srgbClr val="D0D0D0"/>
                </a:solidFill>
                <a:latin typeface="Segoe UI"/>
              </a:rPr>
              <a:t>▸ A single type automates schema, parser, validator, and feedback generator</a:t>
            </a:r>
          </a:p>
          <a:p>
            <a:pPr algn="l"/>
            <a:r>
              <a:rPr lang="en-US" sz="1800" dirty="0">
                <a:solidFill>
                  <a:srgbClr val="D0D0D0"/>
                </a:solidFill>
                <a:latin typeface="Segoe UI"/>
              </a:rPr>
              <a:t>▸ Lenient JSON parsing + schema-based type coercion + precise validation feedback</a:t>
            </a:r>
          </a:p>
          <a:p>
            <a:pPr algn="l"/>
            <a:r>
              <a:rPr lang="en-US" sz="1800" dirty="0">
                <a:solidFill>
                  <a:srgbClr val="D0D0D0"/>
                </a:solidFill>
                <a:latin typeface="Segoe UI"/>
              </a:rPr>
              <a:t>▸ Combined with AutoBe to complete harness engineering</a:t>
            </a:r>
          </a:p>
        </p:txBody>
      </p:sp>
      <p:sp>
        <p:nvSpPr>
          <p:cNvPr id="8" name="H3">
            <a:extLst>
              <a:ext uri="{FF2B5EF4-FFF2-40B4-BE49-F238E27FC236}">
                <a16:creationId xmlns:a16="http://schemas.microsoft.com/office/drawing/2014/main" id="{9FB9B11E-9A6D-4F58-A38B-9412989F2B5C}"/>
              </a:ext>
            </a:extLst>
          </p:cNvPr>
          <p:cNvSpPr txBox="1"/>
          <p:nvPr/>
        </p:nvSpPr>
        <p:spPr>
          <a:xfrm>
            <a:off x="1016000" y="4318000"/>
            <a:ext cx="10160000" cy="482600"/>
          </a:xfrm>
          <a:prstGeom prst="rect">
            <a:avLst/>
          </a:prstGeom>
          <a:noFill/>
        </p:spPr>
        <p:txBody>
          <a:bodyPr vertOverflow="overflow" vert="horz" wrap="square" rtlCol="0" anchor="t">
            <a:spAutoFit/>
          </a:bodyPr>
          <a:lstStyle/>
          <a:p>
            <a:pPr algn="l"/>
            <a:r>
              <a:rPr lang="en-US" sz="2000" b="1" dirty="0">
                <a:solidFill>
                  <a:srgbClr val="00D4AA"/>
                </a:solidFill>
                <a:latin typeface="Segoe UI Semibold"/>
              </a:rPr>
              <a:t>③ In Praise of Function Calling</a:t>
            </a:r>
          </a:p>
        </p:txBody>
      </p:sp>
      <p:sp>
        <p:nvSpPr>
          <p:cNvPr id="9" name="B3">
            <a:extLst>
              <a:ext uri="{FF2B5EF4-FFF2-40B4-BE49-F238E27FC236}">
                <a16:creationId xmlns:a16="http://schemas.microsoft.com/office/drawing/2014/main" id="{87F4F553-2AB2-4CE3-B72D-18B41151172B}"/>
              </a:ext>
            </a:extLst>
          </p:cNvPr>
          <p:cNvSpPr txBox="1"/>
          <p:nvPr/>
        </p:nvSpPr>
        <p:spPr>
          <a:xfrm>
            <a:off x="1270000" y="4762500"/>
            <a:ext cx="9906000" cy="762000"/>
          </a:xfrm>
          <a:prstGeom prst="rect">
            <a:avLst/>
          </a:prstGeom>
          <a:noFill/>
        </p:spPr>
        <p:txBody>
          <a:bodyPr vertOverflow="overflow" vert="horz" wrap="square" rtlCol="0" anchor="t">
            <a:spAutoFit/>
          </a:bodyPr>
          <a:lstStyle/>
          <a:p>
            <a:pPr algn="l"/>
            <a:r>
              <a:rPr lang="en-US" sz="1800" dirty="0">
                <a:solidFill>
                  <a:srgbClr val="D0D0D0"/>
                </a:solidFill>
                <a:latin typeface="Segoe UI"/>
              </a:rPr>
              <a:t>▸ Types eliminate ambiguity; schemas constrain through absence</a:t>
            </a:r>
          </a:p>
          <a:p>
            <a:pPr algn="l"/>
            <a:r>
              <a:rPr lang="en-US" sz="1800" dirty="0">
                <a:solidFill>
                  <a:srgbClr val="D0D0D0"/>
                </a:solidFill>
                <a:latin typeface="Segoe UI"/>
              </a:rPr>
              <a:t>▸ Model-neutral, mechanically verifiable, deterministically convergent</a:t>
            </a:r>
          </a:p>
          <a:p>
            <a:pPr algn="l"/>
            <a:r>
              <a:rPr lang="en-US" sz="1800" dirty="0">
                <a:solidFill>
                  <a:srgbClr val="D0D0D0"/>
                </a:solidFill>
                <a:latin typeface="Segoe UI"/>
              </a:rPr>
              <a:t>▸ Applicable to all engineering domains with validators — semiconductors, chemical processes, control systems, etc.</a:t>
            </a:r>
          </a:p>
        </p:txBody>
      </p:sp>
    </p:spTree>
    <p:extLst>
      <p:ext uri="{BB962C8B-B14F-4D97-AF65-F5344CB8AC3E}">
        <p14:creationId xmlns:p14="http://schemas.microsoft.com/office/powerpoint/2010/main" val="1463768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E30777-A304-4AD3-B106-A7085C1544CD}"/>
              </a:ext>
            </a:extLst>
          </p:cNvPr>
          <p:cNvSpPr txBox="1"/>
          <p:nvPr/>
        </p:nvSpPr>
        <p:spPr>
          <a:xfrm>
            <a:off x="1016000" y="381000"/>
            <a:ext cx="10160000" cy="698500"/>
          </a:xfrm>
          <a:prstGeom prst="rect">
            <a:avLst/>
          </a:prstGeom>
          <a:noFill/>
        </p:spPr>
        <p:txBody>
          <a:bodyPr vertOverflow="overflow" vert="horz" wrap="square" rtlCol="0" anchor="t">
            <a:spAutoFit/>
          </a:bodyPr>
          <a:lstStyle/>
          <a:p>
            <a:pPr algn="l"/>
            <a:r>
              <a:rPr lang="en-US" sz="3200" b="1">
                <a:solidFill>
                  <a:srgbClr val="F0F0F0"/>
                </a:solidFill>
                <a:latin typeface="Segoe UI Semibold"/>
                <a:cs typeface="Segoe UI Semibold"/>
              </a:rPr>
              <a:t>TL;DR (cont.)</a:t>
            </a:r>
          </a:p>
        </p:txBody>
      </p:sp>
      <p:sp>
        <p:nvSpPr>
          <p:cNvPr id="3" name="직사각형 2">
            <a:extLst>
              <a:ext uri="{FF2B5EF4-FFF2-40B4-BE49-F238E27FC236}">
                <a16:creationId xmlns:a16="http://schemas.microsoft.com/office/drawing/2014/main" id="{78659500-0537-4806-BA90-3377DECE7FAE}"/>
              </a:ext>
            </a:extLst>
          </p:cNvPr>
          <p:cNvSpPr/>
          <p:nvPr/>
        </p:nvSpPr>
        <p:spPr>
          <a:xfrm>
            <a:off x="1016000" y="11049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C481313F-E1C7-439E-9DBB-273AA15115D3}"/>
              </a:ext>
            </a:extLst>
          </p:cNvPr>
          <p:cNvSpPr txBox="1"/>
          <p:nvPr/>
        </p:nvSpPr>
        <p:spPr>
          <a:xfrm>
            <a:off x="1016000" y="1371600"/>
            <a:ext cx="10160000" cy="482600"/>
          </a:xfrm>
          <a:prstGeom prst="rect">
            <a:avLst/>
          </a:prstGeom>
          <a:noFill/>
        </p:spPr>
        <p:txBody>
          <a:bodyPr vertOverflow="overflow" vert="horz" wrap="square" rtlCol="0" anchor="t">
            <a:spAutoFit/>
          </a:bodyPr>
          <a:lstStyle/>
          <a:p>
            <a:pPr algn="l"/>
            <a:r>
              <a:rPr lang="en-US" sz="2000" b="1" dirty="0">
                <a:solidFill>
                  <a:srgbClr val="00D4AA"/>
                </a:solidFill>
                <a:latin typeface="Segoe UI Semibold"/>
              </a:rPr>
              <a:t>④ Qwen — Why small models are the best QA engineers</a:t>
            </a:r>
          </a:p>
        </p:txBody>
      </p:sp>
      <p:sp>
        <p:nvSpPr>
          <p:cNvPr id="5" name="TextBox 4">
            <a:extLst>
              <a:ext uri="{FF2B5EF4-FFF2-40B4-BE49-F238E27FC236}">
                <a16:creationId xmlns:a16="http://schemas.microsoft.com/office/drawing/2014/main" id="{B500DAD2-1F0B-4F01-83C6-87FEB1C458FC}"/>
              </a:ext>
            </a:extLst>
          </p:cNvPr>
          <p:cNvSpPr txBox="1"/>
          <p:nvPr/>
        </p:nvSpPr>
        <p:spPr>
          <a:xfrm>
            <a:off x="1270000" y="1879600"/>
            <a:ext cx="9906000" cy="762000"/>
          </a:xfrm>
          <a:prstGeom prst="rect">
            <a:avLst/>
          </a:prstGeom>
          <a:noFill/>
        </p:spPr>
        <p:txBody>
          <a:bodyPr vertOverflow="overflow" vert="horz" wrap="square" rtlCol="0" anchor="t">
            <a:spAutoFit/>
          </a:bodyPr>
          <a:lstStyle/>
          <a:p>
            <a:pPr algn="l"/>
            <a:r>
              <a:rPr lang="en-US" sz="1800" dirty="0">
                <a:solidFill>
                  <a:srgbClr val="D0D0D0"/>
                </a:solidFill>
                <a:latin typeface="Segoe UI"/>
              </a:rPr>
              <a:t>▸ Smaller models are better at exposing system vulnerabilities</a:t>
            </a:r>
          </a:p>
          <a:p>
            <a:pPr algn="l"/>
            <a:r>
              <a:rPr lang="en-US" sz="1800" dirty="0">
                <a:solidFill>
                  <a:srgbClr val="D0D0D0"/>
                </a:solidFill>
                <a:latin typeface="Segoe UI"/>
              </a:rPr>
              <a:t>▸ R&amp;D cost reduction, vendor independence, open ecosystem virtuous cycle</a:t>
            </a:r>
          </a:p>
        </p:txBody>
      </p:sp>
      <p:sp>
        <p:nvSpPr>
          <p:cNvPr id="6" name="TextBox 5">
            <a:extLst>
              <a:ext uri="{FF2B5EF4-FFF2-40B4-BE49-F238E27FC236}">
                <a16:creationId xmlns:a16="http://schemas.microsoft.com/office/drawing/2014/main" id="{ED02AC3C-4643-4719-BD3E-FA039FC82D14}"/>
              </a:ext>
            </a:extLst>
          </p:cNvPr>
          <p:cNvSpPr txBox="1"/>
          <p:nvPr/>
        </p:nvSpPr>
        <p:spPr>
          <a:xfrm>
            <a:off x="1016000" y="2870200"/>
            <a:ext cx="10160000" cy="482600"/>
          </a:xfrm>
          <a:prstGeom prst="rect">
            <a:avLst/>
          </a:prstGeom>
          <a:noFill/>
        </p:spPr>
        <p:txBody>
          <a:bodyPr vertOverflow="overflow" vert="horz" wrap="square" rtlCol="0" anchor="t">
            <a:spAutoFit/>
          </a:bodyPr>
          <a:lstStyle/>
          <a:p>
            <a:pPr algn="l"/>
            <a:r>
              <a:rPr lang="en-US" sz="2000" b="1" dirty="0">
                <a:solidFill>
                  <a:srgbClr val="00D4AA"/>
                </a:solidFill>
                <a:latin typeface="Segoe UI Semibold"/>
              </a:rPr>
              <a:t>⑤ 6.75% is not failure — it's the first input to the loop</a:t>
            </a:r>
          </a:p>
        </p:txBody>
      </p:sp>
      <p:sp>
        <p:nvSpPr>
          <p:cNvPr id="7" name="TextBox 6">
            <a:extLst>
              <a:ext uri="{FF2B5EF4-FFF2-40B4-BE49-F238E27FC236}">
                <a16:creationId xmlns:a16="http://schemas.microsoft.com/office/drawing/2014/main" id="{F2A72091-D6C0-4621-8960-C52D9130C107}"/>
              </a:ext>
            </a:extLst>
          </p:cNvPr>
          <p:cNvSpPr txBox="1"/>
          <p:nvPr/>
        </p:nvSpPr>
        <p:spPr>
          <a:xfrm>
            <a:off x="1270000" y="3378200"/>
            <a:ext cx="9906000" cy="1016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 qwen3-coder-next scores 6.75% on first-try tool calling
▸ AutoBe's self-healing harness turns that into 100% compilation success
▸ If you can verify, you converge</a:t>
            </a:r>
          </a:p>
        </p:txBody>
      </p:sp>
      <p:sp>
        <p:nvSpPr>
          <p:cNvPr id="8" name="직사각형 7">
            <a:extLst>
              <a:ext uri="{FF2B5EF4-FFF2-40B4-BE49-F238E27FC236}">
                <a16:creationId xmlns:a16="http://schemas.microsoft.com/office/drawing/2014/main" id="{EF3C13D5-AF08-42D5-9C52-83E6ED9BC4F9}"/>
              </a:ext>
            </a:extLst>
          </p:cNvPr>
          <p:cNvSpPr/>
          <p:nvPr/>
        </p:nvSpPr>
        <p:spPr>
          <a:xfrm>
            <a:off x="4826000" y="48260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D3613B04-D9CF-42E8-8C00-7D866BCB59F0}"/>
              </a:ext>
            </a:extLst>
          </p:cNvPr>
          <p:cNvSpPr txBox="1"/>
          <p:nvPr/>
        </p:nvSpPr>
        <p:spPr>
          <a:xfrm>
            <a:off x="1016000" y="5080000"/>
            <a:ext cx="10160000" cy="1016000"/>
          </a:xfrm>
          <a:prstGeom prst="rect">
            <a:avLst/>
          </a:prstGeom>
          <a:noFill/>
        </p:spPr>
        <p:txBody>
          <a:bodyPr vertOverflow="overflow" vert="horz" wrap="square" rtlCol="0" anchor="t">
            <a:spAutoFit/>
          </a:bodyPr>
          <a:lstStyle/>
          <a:p>
            <a:pPr algn="l"/>
            <a:r>
              <a:rPr lang="en-US" sz="2400" b="1">
                <a:solidFill>
                  <a:srgbClr val="FFD93D"/>
                </a:solidFill>
                <a:latin typeface="Segoe UI Semibold"/>
                <a:cs typeface="Segoe UI Semibold"/>
              </a:rPr>
              <a:t>— it just needs to be harnessed.</a:t>
            </a:r>
          </a:p>
        </p:txBody>
      </p:sp>
    </p:spTree>
    <p:extLst>
      <p:ext uri="{BB962C8B-B14F-4D97-AF65-F5344CB8AC3E}">
        <p14:creationId xmlns:p14="http://schemas.microsoft.com/office/powerpoint/2010/main" val="2804833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BigNum"/>
          <p:cNvSpPr/>
          <p:nvPr/>
        </p:nvSpPr>
        <p:spPr>
          <a:xfrm>
            <a:off x="1016000" y="1016000"/>
            <a:ext cx="10160000" cy="2286000"/>
          </a:xfrm>
          <a:prstGeom prst="rect">
            <a:avLst/>
          </a:prstGeom>
          <a:noFill/>
          <a:ln>
            <a:noFill/>
          </a:ln>
        </p:spPr>
        <p:txBody>
          <a:bodyPr wrap="square" lIns="0" tIns="0" rIns="0" bIns="0" anchor="b"/>
          <a:lstStyle/>
          <a:p>
            <a:pPr algn="l"/>
            <a:r>
              <a:rPr lang="en-US" sz="11000" b="1" dirty="0">
                <a:solidFill>
                  <a:srgbClr val="FF6B6B"/>
                </a:solidFill>
                <a:latin typeface="Segoe UI Semibold"/>
              </a:rPr>
              <a:t>6.75%</a:t>
            </a:r>
          </a:p>
        </p:txBody>
      </p:sp>
      <p:sp>
        <p:nvSpPr>
          <p:cNvPr id="11" name="Sub1"/>
          <p:cNvSpPr/>
          <p:nvPr/>
        </p:nvSpPr>
        <p:spPr>
          <a:xfrm>
            <a:off x="1016000" y="3492500"/>
            <a:ext cx="10160000" cy="508000"/>
          </a:xfrm>
          <a:prstGeom prst="rect">
            <a:avLst/>
          </a:prstGeom>
          <a:noFill/>
          <a:ln>
            <a:noFill/>
          </a:ln>
        </p:spPr>
        <p:txBody>
          <a:bodyPr wrap="square" lIns="0" tIns="0" rIns="0" bIns="0" anchor="t"/>
          <a:lstStyle/>
          <a:p>
            <a:pPr algn="l"/>
            <a:r>
              <a:rPr lang="en-US" sz="2200" dirty="0">
                <a:solidFill>
                  <a:srgbClr val="D0D0D0"/>
                </a:solidFill>
                <a:latin typeface="Segoe UI"/>
              </a:rPr>
              <a:t>First-try function calling success rate</a:t>
            </a:r>
          </a:p>
        </p:txBody>
      </p:sp>
      <p:sp>
        <p:nvSpPr>
          <p:cNvPr id="12" name="Model"/>
          <p:cNvSpPr/>
          <p:nvPr/>
        </p:nvSpPr>
        <p:spPr>
          <a:xfrm>
            <a:off x="1016000" y="4038600"/>
            <a:ext cx="10160000" cy="444500"/>
          </a:xfrm>
          <a:prstGeom prst="rect">
            <a:avLst/>
          </a:prstGeom>
          <a:noFill/>
          <a:ln>
            <a:noFill/>
          </a:ln>
        </p:spPr>
        <p:txBody>
          <a:bodyPr wrap="square" lIns="0" tIns="0" rIns="0" bIns="0" anchor="t"/>
          <a:lstStyle/>
          <a:p>
            <a:pPr algn="l"/>
            <a:r>
              <a:rPr lang="en-US" sz="1800" dirty="0">
                <a:solidFill>
                  <a:srgbClr val="00D4AA"/>
                </a:solidFill>
                <a:latin typeface="Consolas"/>
              </a:rPr>
              <a:t>qwen3-coder-next</a:t>
            </a:r>
            <a:r>
              <a:rPr lang="en-US" sz="1800" dirty="0">
                <a:solidFill>
                  <a:srgbClr val="808080"/>
                </a:solidFill>
                <a:latin typeface="Segoe UI"/>
              </a:rPr>
              <a:t>  ·  DTO schema generation  ·  first attempt</a:t>
            </a:r>
          </a:p>
        </p:txBody>
      </p:sp>
      <p:sp>
        <p:nvSpPr>
          <p:cNvPr id="13" name="Line"/>
          <p:cNvSpPr/>
          <p:nvPr/>
        </p:nvSpPr>
        <p:spPr>
          <a:xfrm>
            <a:off x="1016000" y="4699000"/>
            <a:ext cx="1524000" cy="38100"/>
          </a:xfrm>
          <a:prstGeom prst="rect">
            <a:avLst/>
          </a:prstGeom>
          <a:solidFill>
            <a:srgbClr val="FF6B6B"/>
          </a:solidFill>
          <a:ln>
            <a:noFill/>
          </a:ln>
        </p:spPr>
        <p:txBody>
          <a:bodyPr/>
          <a:lstStyle/>
          <a:p>
            <a:endParaRPr lang="en-US"/>
          </a:p>
        </p:txBody>
      </p:sp>
      <p:sp>
        <p:nvSpPr>
          <p:cNvPr id="14" name="Impact"/>
          <p:cNvSpPr/>
          <p:nvPr/>
        </p:nvSpPr>
        <p:spPr>
          <a:xfrm>
            <a:off x="1016000" y="4953000"/>
            <a:ext cx="10160000" cy="1016000"/>
          </a:xfrm>
          <a:prstGeom prst="rect">
            <a:avLst/>
          </a:prstGeom>
          <a:noFill/>
          <a:ln>
            <a:noFill/>
          </a:ln>
        </p:spPr>
        <p:txBody>
          <a:bodyPr wrap="square" lIns="0" tIns="0" rIns="0" bIns="0" anchor="t"/>
          <a:lstStyle/>
          <a:p>
            <a:pPr algn="l"/>
            <a:r>
              <a:rPr lang="en-US" sz="2400" b="1" dirty="0">
                <a:solidFill>
                  <a:srgbClr val="F0F0F0"/>
                </a:solidFill>
                <a:latin typeface="Segoe UI Semibold"/>
              </a:rPr>
              <a:t>Out of 100 tries, 93 fail.</a:t>
            </a:r>
          </a:p>
        </p:txBody>
      </p:sp>
    </p:spTree>
    <p:extLst>
      <p:ext uri="{BB962C8B-B14F-4D97-AF65-F5344CB8AC3E}">
        <p14:creationId xmlns:p14="http://schemas.microsoft.com/office/powerpoint/2010/main" val="2622503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The Industry Consensus</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Card0"/>
          <p:cNvSpPr/>
          <p:nvPr/>
        </p:nvSpPr>
        <p:spPr>
          <a:xfrm>
            <a:off x="762000" y="1333500"/>
            <a:ext cx="10668000" cy="1397000"/>
          </a:xfrm>
          <a:prstGeom prst="roundRect">
            <a:avLst>
              <a:gd name="adj" fmla="val 8000"/>
            </a:avLst>
          </a:prstGeom>
          <a:solidFill>
            <a:srgbClr val="161B22"/>
          </a:solidFill>
          <a:ln w="12700">
            <a:solidFill>
              <a:srgbClr val="FF6B6B">
                <a:alpha val="50000"/>
              </a:srgbClr>
            </a:solidFill>
          </a:ln>
        </p:spPr>
        <p:txBody>
          <a:bodyPr wrap="square" lIns="190500" tIns="152400" rIns="190500" bIns="152400" anchor="ctr">
            <a:noAutofit/>
          </a:bodyPr>
          <a:lstStyle/>
          <a:p>
            <a:pPr algn="l">
              <a:buNone/>
            </a:pPr>
            <a:r>
              <a:rPr lang="en-US" sz="2000" b="1" dirty="0">
                <a:solidFill>
                  <a:srgbClr val="FF6B6B"/>
                </a:solidFill>
                <a:latin typeface="Segoe UI Semibold"/>
              </a:rPr>
              <a:t>NESTFUL</a:t>
            </a:r>
            <a:r>
              <a:rPr lang="en-US" sz="1800" dirty="0">
                <a:solidFill>
                  <a:srgbClr val="808080"/>
                </a:solidFill>
                <a:latin typeface="Segoe UI"/>
              </a:rPr>
              <a:t>  EMNLP 2025</a:t>
            </a:r>
          </a:p>
          <a:p>
            <a:pPr algn="l">
              <a:buNone/>
            </a:pPr>
            <a:r>
              <a:rPr lang="en-US" sz="2000" dirty="0">
                <a:solidFill>
                  <a:srgbClr val="D0D0D0"/>
                </a:solidFill>
                <a:latin typeface="Segoe UI"/>
              </a:rPr>
              <a:t>GPT-4o: 28% accuracy on nested tool call sequences</a:t>
            </a:r>
          </a:p>
          <a:p>
            <a:pPr algn="l">
              <a:buNone/>
            </a:pPr>
            <a:r>
              <a:rPr lang="en-US" sz="1400" u="sng" dirty="0">
                <a:solidFill>
                  <a:srgbClr val="6C9CDB"/>
                </a:solidFill>
                <a:latin typeface="Segoe UI"/>
              </a:rPr>
              <a:t>arxiv.org/abs/2409.03797</a:t>
            </a:r>
          </a:p>
        </p:txBody>
      </p:sp>
      <p:sp>
        <p:nvSpPr>
          <p:cNvPr id="21" name="Card1"/>
          <p:cNvSpPr/>
          <p:nvPr/>
        </p:nvSpPr>
        <p:spPr>
          <a:xfrm>
            <a:off x="762000" y="2857500"/>
            <a:ext cx="10668000" cy="1397000"/>
          </a:xfrm>
          <a:prstGeom prst="roundRect">
            <a:avLst>
              <a:gd name="adj" fmla="val 8000"/>
            </a:avLst>
          </a:prstGeom>
          <a:solidFill>
            <a:srgbClr val="161B22"/>
          </a:solidFill>
          <a:ln w="12700">
            <a:solidFill>
              <a:srgbClr val="FFD93D">
                <a:alpha val="50000"/>
              </a:srgbClr>
            </a:solidFill>
          </a:ln>
        </p:spPr>
        <p:txBody>
          <a:bodyPr wrap="square" lIns="190500" tIns="152400" rIns="190500" bIns="152400" anchor="ctr">
            <a:noAutofit/>
          </a:bodyPr>
          <a:lstStyle/>
          <a:p>
            <a:pPr algn="l">
              <a:buNone/>
            </a:pPr>
            <a:r>
              <a:rPr lang="en-US" sz="2000" b="1" dirty="0">
                <a:solidFill>
                  <a:srgbClr val="FFD93D"/>
                </a:solidFill>
                <a:latin typeface="Segoe UI Semibold"/>
              </a:rPr>
              <a:t>JSONSchemaBench</a:t>
            </a:r>
            <a:r>
              <a:rPr lang="en-US" sz="1800" dirty="0">
                <a:solidFill>
                  <a:srgbClr val="808080"/>
                </a:solidFill>
                <a:latin typeface="Segoe UI"/>
              </a:rPr>
              <a:t>  ICLR 2025</a:t>
            </a:r>
          </a:p>
          <a:p>
            <a:pPr algn="l">
              <a:buNone/>
            </a:pPr>
            <a:r>
              <a:rPr lang="en-US" sz="2000" dirty="0">
                <a:solidFill>
                  <a:srgbClr val="D0D0D0"/>
                </a:solidFill>
                <a:latin typeface="Segoe UI"/>
              </a:rPr>
              <a:t>3–41% coverage on 10,000 real-world schemas (hardest tier)</a:t>
            </a:r>
          </a:p>
          <a:p>
            <a:pPr algn="l">
              <a:buNone/>
            </a:pPr>
            <a:r>
              <a:rPr lang="en-US" sz="1400" u="sng" dirty="0">
                <a:solidFill>
                  <a:srgbClr val="6C9CDB"/>
                </a:solidFill>
                <a:latin typeface="Segoe UI"/>
              </a:rPr>
              <a:t>arxiv.org/abs/2501.10868</a:t>
            </a:r>
          </a:p>
        </p:txBody>
      </p:sp>
      <p:sp>
        <p:nvSpPr>
          <p:cNvPr id="22" name="Card2"/>
          <p:cNvSpPr/>
          <p:nvPr/>
        </p:nvSpPr>
        <p:spPr>
          <a:xfrm>
            <a:off x="762000" y="4381500"/>
            <a:ext cx="10668000" cy="1397000"/>
          </a:xfrm>
          <a:prstGeom prst="roundRect">
            <a:avLst>
              <a:gd name="adj" fmla="val 8000"/>
            </a:avLst>
          </a:prstGeom>
          <a:solidFill>
            <a:srgbClr val="161B22"/>
          </a:solidFill>
          <a:ln w="12700">
            <a:solidFill>
              <a:srgbClr val="6C5CE7">
                <a:alpha val="50000"/>
              </a:srgbClr>
            </a:solidFill>
          </a:ln>
        </p:spPr>
        <p:txBody>
          <a:bodyPr wrap="square" lIns="190500" tIns="152400" rIns="190500" bIns="152400" anchor="ctr">
            <a:noAutofit/>
          </a:bodyPr>
          <a:lstStyle/>
          <a:p>
            <a:pPr algn="l">
              <a:buNone/>
            </a:pPr>
            <a:r>
              <a:rPr lang="en-US" sz="2000" b="1" dirty="0">
                <a:solidFill>
                  <a:srgbClr val="6C5CE7"/>
                </a:solidFill>
                <a:latin typeface="Segoe UI Semibold"/>
              </a:rPr>
              <a:t>BoundaryML</a:t>
            </a:r>
            <a:r>
              <a:rPr lang="en-US" sz="1800" dirty="0">
                <a:solidFill>
                  <a:srgbClr val="808080"/>
                </a:solidFill>
                <a:latin typeface="Segoe UI"/>
              </a:rPr>
              <a:t>  Blog</a:t>
            </a:r>
          </a:p>
          <a:p>
            <a:pPr algn="l">
              <a:buNone/>
            </a:pPr>
            <a:r>
              <a:rPr lang="en-US" sz="2000" dirty="0">
                <a:solidFill>
                  <a:srgbClr val="D0D0D0"/>
                </a:solidFill>
                <a:latin typeface="Segoe UI"/>
              </a:rPr>
              <a:t>Structured outputs actively degrade model reasoning</a:t>
            </a:r>
          </a:p>
          <a:p>
            <a:pPr algn="l">
              <a:buNone/>
            </a:pPr>
            <a:r>
              <a:rPr lang="en-US" sz="1400" u="sng" dirty="0">
                <a:solidFill>
                  <a:srgbClr val="6C9CDB"/>
                </a:solidFill>
                <a:latin typeface="Segoe UI"/>
              </a:rPr>
              <a:t>boundaryml.com/blog/structured-outputs-create-false-confidence</a:t>
            </a:r>
          </a:p>
        </p:txBody>
      </p:sp>
    </p:spTree>
    <p:extLst>
      <p:ext uri="{BB962C8B-B14F-4D97-AF65-F5344CB8AC3E}">
        <p14:creationId xmlns:p14="http://schemas.microsoft.com/office/powerpoint/2010/main" val="353369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But There Is No Alternative</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P0"/>
          <p:cNvSpPr/>
          <p:nvPr/>
        </p:nvSpPr>
        <p:spPr>
          <a:xfrm>
            <a:off x="1270000" y="1397000"/>
            <a:ext cx="9652000" cy="1016000"/>
          </a:xfrm>
          <a:prstGeom prst="roundRect">
            <a:avLst>
              <a:gd name="adj" fmla="val 10000"/>
            </a:avLst>
          </a:prstGeom>
          <a:solidFill>
            <a:srgbClr val="161B22"/>
          </a:solidFill>
          <a:ln w="12700">
            <a:solidFill>
              <a:srgbClr val="FF6B6B">
                <a:alpha val="40000"/>
              </a:srgbClr>
            </a:solidFill>
          </a:ln>
        </p:spPr>
        <p:txBody>
          <a:bodyPr wrap="square" lIns="190500" tIns="127000" rIns="190500" bIns="127000" anchor="ctr"/>
          <a:lstStyle/>
          <a:p>
            <a:pPr algn="l">
              <a:buNone/>
            </a:pPr>
            <a:r>
              <a:rPr lang="en-US" sz="2200" dirty="0">
                <a:solidFill>
                  <a:srgbClr val="FF6B6B"/>
                </a:solidFill>
                <a:latin typeface="Segoe UI"/>
              </a:rPr>
              <a:t>✖  </a:t>
            </a:r>
            <a:r>
              <a:rPr lang="en-US" sz="2200" dirty="0">
                <a:solidFill>
                  <a:srgbClr val="D0D0D0"/>
                </a:solidFill>
                <a:latin typeface="Segoe UI"/>
              </a:rPr>
              <a:t>Free-form text cannot be mechanically verified</a:t>
            </a:r>
          </a:p>
        </p:txBody>
      </p:sp>
      <p:sp>
        <p:nvSpPr>
          <p:cNvPr id="30" name="Arr0"/>
          <p:cNvSpPr/>
          <p:nvPr/>
        </p:nvSpPr>
        <p:spPr>
          <a:xfrm>
            <a:off x="5905500" y="2476500"/>
            <a:ext cx="381000" cy="444500"/>
          </a:xfrm>
          <a:prstGeom prst="downArrow">
            <a:avLst/>
          </a:prstGeom>
          <a:solidFill>
            <a:srgbClr val="FF6B6B">
              <a:alpha val="60000"/>
            </a:srgbClr>
          </a:solidFill>
          <a:ln>
            <a:noFill/>
          </a:ln>
        </p:spPr>
        <p:txBody>
          <a:bodyPr/>
          <a:lstStyle/>
          <a:p>
            <a:endParaRPr lang="en-US"/>
          </a:p>
        </p:txBody>
      </p:sp>
      <p:sp>
        <p:nvSpPr>
          <p:cNvPr id="21" name="P1"/>
          <p:cNvSpPr/>
          <p:nvPr/>
        </p:nvSpPr>
        <p:spPr>
          <a:xfrm>
            <a:off x="1270000" y="2921000"/>
            <a:ext cx="9652000" cy="1016000"/>
          </a:xfrm>
          <a:prstGeom prst="roundRect">
            <a:avLst>
              <a:gd name="adj" fmla="val 10000"/>
            </a:avLst>
          </a:prstGeom>
          <a:solidFill>
            <a:srgbClr val="161B22"/>
          </a:solidFill>
          <a:ln w="12700">
            <a:solidFill>
              <a:srgbClr val="FF6B6B">
                <a:alpha val="40000"/>
              </a:srgbClr>
            </a:solidFill>
          </a:ln>
        </p:spPr>
        <p:txBody>
          <a:bodyPr wrap="square" lIns="190500" tIns="127000" rIns="190500" bIns="127000" anchor="ctr"/>
          <a:lstStyle/>
          <a:p>
            <a:pPr algn="l">
              <a:buNone/>
            </a:pPr>
            <a:r>
              <a:rPr lang="en-US" sz="2200" dirty="0">
                <a:solidFill>
                  <a:srgbClr val="FF6B6B"/>
                </a:solidFill>
                <a:latin typeface="Segoe UI"/>
              </a:rPr>
              <a:t>✖  </a:t>
            </a:r>
            <a:r>
              <a:rPr lang="en-US" sz="2200" dirty="0">
                <a:solidFill>
                  <a:srgbClr val="D0D0D0"/>
                </a:solidFill>
                <a:latin typeface="Segoe UI"/>
              </a:rPr>
              <a:t>Without structure, there is no feedback loop</a:t>
            </a:r>
          </a:p>
        </p:txBody>
      </p:sp>
      <p:sp>
        <p:nvSpPr>
          <p:cNvPr id="31" name="Arr1"/>
          <p:cNvSpPr/>
          <p:nvPr/>
        </p:nvSpPr>
        <p:spPr>
          <a:xfrm>
            <a:off x="5905500" y="4000500"/>
            <a:ext cx="381000" cy="444500"/>
          </a:xfrm>
          <a:prstGeom prst="downArrow">
            <a:avLst/>
          </a:prstGeom>
          <a:solidFill>
            <a:srgbClr val="FF6B6B">
              <a:alpha val="60000"/>
            </a:srgbClr>
          </a:solidFill>
          <a:ln>
            <a:noFill/>
          </a:ln>
        </p:spPr>
        <p:txBody>
          <a:bodyPr/>
          <a:lstStyle/>
          <a:p>
            <a:endParaRPr lang="en-US"/>
          </a:p>
        </p:txBody>
      </p:sp>
      <p:sp>
        <p:nvSpPr>
          <p:cNvPr id="22" name="P2"/>
          <p:cNvSpPr/>
          <p:nvPr/>
        </p:nvSpPr>
        <p:spPr>
          <a:xfrm>
            <a:off x="1270000" y="4445000"/>
            <a:ext cx="9652000" cy="1016000"/>
          </a:xfrm>
          <a:prstGeom prst="roundRect">
            <a:avLst>
              <a:gd name="adj" fmla="val 10000"/>
            </a:avLst>
          </a:prstGeom>
          <a:solidFill>
            <a:srgbClr val="161B22"/>
          </a:solidFill>
          <a:ln w="12700">
            <a:solidFill>
              <a:srgbClr val="FF6B6B">
                <a:alpha val="40000"/>
              </a:srgbClr>
            </a:solidFill>
          </a:ln>
        </p:spPr>
        <p:txBody>
          <a:bodyPr wrap="square" lIns="190500" tIns="127000" rIns="190500" bIns="127000" anchor="ctr"/>
          <a:lstStyle/>
          <a:p>
            <a:pPr algn="l">
              <a:buNone/>
            </a:pPr>
            <a:r>
              <a:rPr lang="en-US" sz="2200" dirty="0">
                <a:solidFill>
                  <a:srgbClr val="FF6B6B"/>
                </a:solidFill>
                <a:latin typeface="Segoe UI"/>
              </a:rPr>
              <a:t>✖  </a:t>
            </a:r>
            <a:r>
              <a:rPr lang="en-US" sz="2200" dirty="0">
                <a:solidFill>
                  <a:srgbClr val="D0D0D0"/>
                </a:solidFill>
                <a:latin typeface="Segoe UI"/>
              </a:rPr>
              <a:t>Without a feedback loop, there is no guarantee</a:t>
            </a:r>
          </a:p>
        </p:txBody>
      </p:sp>
      <p:sp>
        <p:nvSpPr>
          <p:cNvPr id="40" name="Conclusion"/>
          <p:cNvSpPr/>
          <p:nvPr/>
        </p:nvSpPr>
        <p:spPr>
          <a:xfrm>
            <a:off x="1270000" y="5778500"/>
            <a:ext cx="9652000" cy="508000"/>
          </a:xfrm>
          <a:prstGeom prst="rect">
            <a:avLst/>
          </a:prstGeom>
          <a:noFill/>
          <a:ln>
            <a:noFill/>
          </a:ln>
        </p:spPr>
        <p:txBody>
          <a:bodyPr wrap="square" lIns="0" tIns="0" rIns="0" bIns="0" anchor="ctr"/>
          <a:lstStyle/>
          <a:p>
            <a:pPr algn="ctr"/>
            <a:r>
              <a:rPr lang="en-US" sz="2000" b="1" dirty="0">
                <a:solidFill>
                  <a:srgbClr val="FFD93D"/>
                </a:solidFill>
                <a:latin typeface="Segoe UI Semibold"/>
              </a:rPr>
              <a:t>We had to make function calling work. No other path.</a:t>
            </a:r>
          </a:p>
        </p:txBody>
      </p:sp>
    </p:spTree>
    <p:extLst>
      <p:ext uri="{BB962C8B-B14F-4D97-AF65-F5344CB8AC3E}">
        <p14:creationId xmlns:p14="http://schemas.microsoft.com/office/powerpoint/2010/main" val="38759110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Big100"/>
          <p:cNvSpPr/>
          <p:nvPr/>
        </p:nvSpPr>
        <p:spPr>
          <a:xfrm>
            <a:off x="1016000" y="508000"/>
            <a:ext cx="6350000" cy="2032000"/>
          </a:xfrm>
          <a:prstGeom prst="rect">
            <a:avLst/>
          </a:prstGeom>
          <a:noFill/>
          <a:ln>
            <a:noFill/>
          </a:ln>
        </p:spPr>
        <p:txBody>
          <a:bodyPr wrap="square" lIns="0" tIns="0" rIns="0" bIns="0" anchor="b"/>
          <a:lstStyle/>
          <a:p>
            <a:pPr algn="l"/>
            <a:r>
              <a:rPr lang="en-US" sz="10000" b="1" dirty="0">
                <a:solidFill>
                  <a:srgbClr val="00D4AA"/>
                </a:solidFill>
                <a:latin typeface="Segoe UI Semibold"/>
              </a:rPr>
              <a:t>100%</a:t>
            </a:r>
          </a:p>
        </p:txBody>
      </p:sp>
      <p:sp>
        <p:nvSpPr>
          <p:cNvPr id="11" name="Sub"/>
          <p:cNvSpPr/>
          <p:nvPr/>
        </p:nvSpPr>
        <p:spPr>
          <a:xfrm>
            <a:off x="1016000" y="2667000"/>
            <a:ext cx="10160000" cy="508000"/>
          </a:xfrm>
          <a:prstGeom prst="rect">
            <a:avLst/>
          </a:prstGeom>
          <a:noFill/>
          <a:ln>
            <a:noFill/>
          </a:ln>
        </p:spPr>
        <p:txBody>
          <a:bodyPr wrap="square" lIns="0" tIns="0" rIns="0" bIns="0" anchor="t"/>
          <a:lstStyle/>
          <a:p>
            <a:pPr algn="l"/>
            <a:r>
              <a:rPr lang="en-US" sz="2200" dirty="0">
                <a:solidFill>
                  <a:srgbClr val="D0D0D0"/>
                </a:solidFill>
                <a:latin typeface="Segoe UI"/>
              </a:rPr>
              <a:t>Compilation success — all four Qwen models</a:t>
            </a:r>
          </a:p>
        </p:txBody>
      </p:sp>
      <p:sp>
        <p:nvSpPr>
          <p:cNvPr id="12" name="AL"/>
          <p:cNvSpPr/>
          <p:nvPr/>
        </p:nvSpPr>
        <p:spPr>
          <a:xfrm>
            <a:off x="1016000" y="3429000"/>
            <a:ext cx="1524000" cy="38100"/>
          </a:xfrm>
          <a:prstGeom prst="rect">
            <a:avLst/>
          </a:prstGeom>
          <a:solidFill>
            <a:srgbClr val="00D4AA"/>
          </a:solidFill>
          <a:ln>
            <a:noFill/>
          </a:ln>
        </p:spPr>
        <p:txBody>
          <a:bodyPr/>
          <a:lstStyle/>
          <a:p>
            <a:endParaRPr lang="en-US"/>
          </a:p>
        </p:txBody>
      </p:sp>
      <p:sp>
        <p:nvSpPr>
          <p:cNvPr id="13" name="KeyMsg"/>
          <p:cNvSpPr/>
          <p:nvPr/>
        </p:nvSpPr>
        <p:spPr>
          <a:xfrm>
            <a:off x="1016000" y="3683000"/>
            <a:ext cx="10160000" cy="1143000"/>
          </a:xfrm>
          <a:prstGeom prst="rect">
            <a:avLst/>
          </a:prstGeom>
          <a:noFill/>
          <a:ln>
            <a:noFill/>
          </a:ln>
        </p:spPr>
        <p:txBody>
          <a:bodyPr wrap="square" lIns="0" tIns="0" rIns="0" bIns="0" anchor="t"/>
          <a:lstStyle/>
          <a:p>
            <a:pPr algn="l">
              <a:lnSpc>
                <a:spcPts val="3200"/>
              </a:lnSpc>
            </a:pPr>
            <a:r>
              <a:rPr lang="en-US" sz="2200" dirty="0">
                <a:solidFill>
                  <a:srgbClr val="D0D0D0"/>
                </a:solidFill>
                <a:latin typeface="Segoe UI"/>
              </a:rPr>
              <a:t>The answer was not a better model or a smarter prompt.</a:t>
            </a:r>
          </a:p>
          <a:p>
            <a:pPr algn="l">
              <a:lnSpc>
                <a:spcPts val="3200"/>
              </a:lnSpc>
            </a:pPr>
            <a:r>
              <a:rPr lang="en-US" sz="2200" dirty="0">
                <a:solidFill>
                  <a:srgbClr val="D0D0D0"/>
                </a:solidFill>
                <a:latin typeface="Segoe UI"/>
              </a:rPr>
              <a:t>It was a </a:t>
            </a:r>
            <a:r>
              <a:rPr lang="en-US" sz="2400" b="1" dirty="0">
                <a:solidFill>
                  <a:srgbClr val="00D4AA"/>
                </a:solidFill>
                <a:latin typeface="Segoe UI Semibold"/>
              </a:rPr>
              <a:t>harness</a:t>
            </a:r>
            <a:r>
              <a:rPr lang="en-US" sz="2200" dirty="0">
                <a:solidFill>
                  <a:srgbClr val="D0D0D0"/>
                </a:solidFill>
                <a:latin typeface="Segoe UI"/>
              </a:rPr>
              <a:t>.</a:t>
            </a:r>
          </a:p>
        </p:txBody>
      </p:sp>
      <p:sp>
        <p:nvSpPr>
          <p:cNvPr id="14" name="Def"/>
          <p:cNvSpPr/>
          <p:nvPr/>
        </p:nvSpPr>
        <p:spPr>
          <a:xfrm>
            <a:off x="1016000" y="5207000"/>
            <a:ext cx="10160000" cy="889000"/>
          </a:xfrm>
          <a:prstGeom prst="roundRect">
            <a:avLst>
              <a:gd name="adj" fmla="val 10000"/>
            </a:avLst>
          </a:prstGeom>
          <a:solidFill>
            <a:srgbClr val="161B22"/>
          </a:solidFill>
          <a:ln w="12700">
            <a:solidFill>
              <a:srgbClr val="00D4AA">
                <a:alpha val="40000"/>
              </a:srgbClr>
            </a:solidFill>
          </a:ln>
        </p:spPr>
        <p:txBody>
          <a:bodyPr wrap="square" lIns="190500" tIns="101600" rIns="190500" bIns="101600" anchor="ctr"/>
          <a:lstStyle/>
          <a:p>
            <a:pPr algn="ctr"/>
            <a:r>
              <a:rPr lang="en-US" sz="1800" dirty="0">
                <a:solidFill>
                  <a:srgbClr val="00D4AA"/>
                </a:solidFill>
                <a:latin typeface="Segoe UI"/>
              </a:rPr>
              <a:t>Type schemas</a:t>
            </a:r>
            <a:r>
              <a:rPr lang="en-US" sz="1800" dirty="0">
                <a:solidFill>
                  <a:srgbClr val="808080"/>
                </a:solidFill>
                <a:latin typeface="Segoe UI"/>
              </a:rPr>
              <a:t> that constrain  +  </a:t>
            </a:r>
            <a:r>
              <a:rPr lang="en-US" sz="1800" dirty="0">
                <a:solidFill>
                  <a:srgbClr val="FFD93D"/>
                </a:solidFill>
                <a:latin typeface="Segoe UI"/>
              </a:rPr>
              <a:t>compilers</a:t>
            </a:r>
            <a:r>
              <a:rPr lang="en-US" sz="1800" dirty="0">
                <a:solidFill>
                  <a:srgbClr val="808080"/>
                </a:solidFill>
                <a:latin typeface="Segoe UI"/>
              </a:rPr>
              <a:t> that verify  +  </a:t>
            </a:r>
            <a:r>
              <a:rPr lang="en-US" sz="1800" dirty="0">
                <a:solidFill>
                  <a:srgbClr val="FF6B6B"/>
                </a:solidFill>
                <a:latin typeface="Segoe UI"/>
              </a:rPr>
              <a:t>feedback</a:t>
            </a:r>
            <a:r>
              <a:rPr lang="en-US" sz="1800" dirty="0">
                <a:solidFill>
                  <a:srgbClr val="808080"/>
                </a:solidFill>
                <a:latin typeface="Segoe UI"/>
              </a:rPr>
              <a:t> that corrects</a:t>
            </a:r>
          </a:p>
        </p:txBody>
      </p:sp>
    </p:spTree>
    <p:extLst>
      <p:ext uri="{BB962C8B-B14F-4D97-AF65-F5344CB8AC3E}">
        <p14:creationId xmlns:p14="http://schemas.microsoft.com/office/powerpoint/2010/main" val="40572437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ChNum"/>
          <p:cNvSpPr/>
          <p:nvPr/>
        </p:nvSpPr>
        <p:spPr>
          <a:xfrm>
            <a:off x="1016000" y="1524000"/>
            <a:ext cx="2540000" cy="1524000"/>
          </a:xfrm>
          <a:prstGeom prst="rect">
            <a:avLst/>
          </a:prstGeom>
          <a:noFill/>
          <a:ln>
            <a:noFill/>
          </a:ln>
        </p:spPr>
        <p:txBody>
          <a:bodyPr wrap="square" lIns="0" tIns="0" rIns="0" bIns="0" anchor="b"/>
          <a:lstStyle/>
          <a:p>
            <a:pPr algn="l"/>
            <a:r>
              <a:rPr lang="en-US" sz="8000" b="1" dirty="0">
                <a:solidFill>
                  <a:srgbClr val="00D4AA">
                    <a:alpha val="30000"/>
                  </a:srgbClr>
                </a:solidFill>
                <a:latin typeface="Segoe UI Semibold"/>
              </a:rPr>
              <a:t>02</a:t>
            </a:r>
          </a:p>
        </p:txBody>
      </p:sp>
      <p:sp>
        <p:nvSpPr>
          <p:cNvPr id="11" name="ChTitle"/>
          <p:cNvSpPr/>
          <p:nvPr/>
        </p:nvSpPr>
        <p:spPr>
          <a:xfrm>
            <a:off x="1016000" y="3175000"/>
            <a:ext cx="10160000" cy="698500"/>
          </a:xfrm>
          <a:prstGeom prst="rect">
            <a:avLst/>
          </a:prstGeom>
          <a:noFill/>
          <a:ln>
            <a:noFill/>
          </a:ln>
        </p:spPr>
        <p:txBody>
          <a:bodyPr wrap="square" lIns="0" tIns="0" rIns="0" bIns="0" anchor="t"/>
          <a:lstStyle/>
          <a:p>
            <a:pPr algn="l"/>
            <a:r>
              <a:rPr lang="en-US" sz="3600" b="1" dirty="0">
                <a:solidFill>
                  <a:srgbClr val="F0F0F0"/>
                </a:solidFill>
                <a:latin typeface="Segoe UI Semibold"/>
              </a:rPr>
              <a:t>AutoBe</a:t>
            </a:r>
          </a:p>
        </p:txBody>
      </p:sp>
      <p:sp>
        <p:nvSpPr>
          <p:cNvPr id="12" name="ChSub"/>
          <p:cNvSpPr/>
          <p:nvPr/>
        </p:nvSpPr>
        <p:spPr>
          <a:xfrm>
            <a:off x="1016000" y="3937000"/>
            <a:ext cx="10160000" cy="508000"/>
          </a:xfrm>
          <a:prstGeom prst="rect">
            <a:avLst/>
          </a:prstGeom>
          <a:noFill/>
          <a:ln>
            <a:noFill/>
          </a:ln>
        </p:spPr>
        <p:txBody>
          <a:bodyPr wrap="square" lIns="0" tIns="0" rIns="0" bIns="0" anchor="t"/>
          <a:lstStyle/>
          <a:p>
            <a:pPr algn="l"/>
            <a:r>
              <a:rPr lang="en-US" sz="2200" dirty="0">
                <a:solidFill>
                  <a:srgbClr val="808080"/>
                </a:solidFill>
                <a:latin typeface="Segoe UI"/>
              </a:rPr>
              <a:t>AI Backend Auto-Generation Agent</a:t>
            </a:r>
          </a:p>
        </p:txBody>
      </p:sp>
      <p:sp>
        <p:nvSpPr>
          <p:cNvPr id="13" name="AL"/>
          <p:cNvSpPr/>
          <p:nvPr/>
        </p:nvSpPr>
        <p:spPr>
          <a:xfrm>
            <a:off x="1016000" y="3048000"/>
            <a:ext cx="1524000" cy="38100"/>
          </a:xfrm>
          <a:prstGeom prst="rect">
            <a:avLst/>
          </a:prstGeom>
          <a:solidFill>
            <a:srgbClr val="00D4AA"/>
          </a:solidFill>
          <a:ln>
            <a:noFill/>
          </a:ln>
        </p:spPr>
        <p:txBody>
          <a:bodyPr/>
          <a:lstStyle/>
          <a:p>
            <a:endParaRPr lang="en-US"/>
          </a:p>
        </p:txBody>
      </p:sp>
    </p:spTree>
    <p:extLst>
      <p:ext uri="{BB962C8B-B14F-4D97-AF65-F5344CB8AC3E}">
        <p14:creationId xmlns:p14="http://schemas.microsoft.com/office/powerpoint/2010/main" val="1907404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What AutoBe Does</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12" name="Quote"/>
          <p:cNvSpPr/>
          <p:nvPr/>
        </p:nvSpPr>
        <p:spPr>
          <a:xfrm>
            <a:off x="1016000" y="1270000"/>
            <a:ext cx="10160000" cy="698500"/>
          </a:xfrm>
          <a:prstGeom prst="roundRect">
            <a:avLst>
              <a:gd name="adj" fmla="val 10000"/>
            </a:avLst>
          </a:prstGeom>
          <a:solidFill>
            <a:srgbClr val="161B22"/>
          </a:solidFill>
          <a:ln w="12700">
            <a:solidFill>
              <a:srgbClr val="00D4AA">
                <a:alpha val="40000"/>
              </a:srgbClr>
            </a:solidFill>
          </a:ln>
        </p:spPr>
        <p:txBody>
          <a:bodyPr wrap="square" lIns="190500" tIns="101600" rIns="190500" bIns="101600" anchor="ctr"/>
          <a:lstStyle/>
          <a:p>
            <a:pPr algn="l"/>
            <a:r>
              <a:rPr lang="en-US" sz="1800" i="1" dirty="0">
                <a:solidFill>
                  <a:srgbClr val="00D4AA"/>
                </a:solidFill>
                <a:latin typeface="Segoe UI"/>
              </a:rPr>
              <a:t>"Build me a shopping mall backend with products, cart, orders, payments."</a:t>
            </a:r>
          </a:p>
        </p:txBody>
      </p:sp>
      <p:sp>
        <p:nvSpPr>
          <p:cNvPr id="13" name="Arr"/>
          <p:cNvSpPr/>
          <p:nvPr/>
        </p:nvSpPr>
        <p:spPr>
          <a:xfrm>
            <a:off x="5905500" y="2057400"/>
            <a:ext cx="381000" cy="381000"/>
          </a:xfrm>
          <a:prstGeom prst="downArrow">
            <a:avLst/>
          </a:prstGeom>
          <a:solidFill>
            <a:srgbClr val="00D4AA"/>
          </a:solidFill>
          <a:ln>
            <a:noFill/>
          </a:ln>
        </p:spPr>
        <p:txBody>
          <a:bodyPr/>
          <a:lstStyle/>
          <a:p>
            <a:endParaRPr lang="en-US"/>
          </a:p>
        </p:txBody>
      </p:sp>
      <p:sp>
        <p:nvSpPr>
          <p:cNvPr id="20" name="Item0"/>
          <p:cNvSpPr/>
          <p:nvPr/>
        </p:nvSpPr>
        <p:spPr>
          <a:xfrm>
            <a:off x="1270000" y="2540000"/>
            <a:ext cx="9652000" cy="482600"/>
          </a:xfrm>
          <a:prstGeom prst="rect">
            <a:avLst/>
          </a:prstGeom>
          <a:noFill/>
          <a:ln>
            <a:noFill/>
          </a:ln>
        </p:spPr>
        <p:txBody>
          <a:bodyPr wrap="square" lIns="0" tIns="0" rIns="0" bIns="0" anchor="ctr"/>
          <a:lstStyle/>
          <a:p>
            <a:pPr algn="l"/>
            <a:r>
              <a:rPr lang="en-US" sz="1800" dirty="0">
                <a:solidFill>
                  <a:srgbClr val="00D4AA"/>
                </a:solidFill>
                <a:latin typeface="Segoe UI"/>
              </a:rPr>
              <a:t>✓  </a:t>
            </a:r>
            <a:r>
              <a:rPr lang="en-US" sz="2000" dirty="0">
                <a:solidFill>
                  <a:srgbClr val="D0D0D0"/>
                </a:solidFill>
                <a:latin typeface="Segoe UI"/>
              </a:rPr>
              <a:t>Requirements analysis (SRS)</a:t>
            </a:r>
          </a:p>
        </p:txBody>
      </p:sp>
      <p:sp>
        <p:nvSpPr>
          <p:cNvPr id="21" name="Item1"/>
          <p:cNvSpPr/>
          <p:nvPr/>
        </p:nvSpPr>
        <p:spPr>
          <a:xfrm>
            <a:off x="1270000" y="3111500"/>
            <a:ext cx="9652000" cy="482600"/>
          </a:xfrm>
          <a:prstGeom prst="rect">
            <a:avLst/>
          </a:prstGeom>
          <a:noFill/>
          <a:ln>
            <a:noFill/>
          </a:ln>
        </p:spPr>
        <p:txBody>
          <a:bodyPr wrap="square" lIns="0" tIns="0" rIns="0" bIns="0" anchor="ctr"/>
          <a:lstStyle/>
          <a:p>
            <a:pPr algn="l"/>
            <a:r>
              <a:rPr lang="en-US" sz="1800" dirty="0">
                <a:solidFill>
                  <a:srgbClr val="00D4AA"/>
                </a:solidFill>
                <a:latin typeface="Segoe UI"/>
              </a:rPr>
              <a:t>✓  </a:t>
            </a:r>
            <a:r>
              <a:rPr lang="en-US" sz="2000" dirty="0">
                <a:solidFill>
                  <a:srgbClr val="D0D0D0"/>
                </a:solidFill>
                <a:latin typeface="Segoe UI"/>
              </a:rPr>
              <a:t>Database schema (ERD)</a:t>
            </a:r>
          </a:p>
        </p:txBody>
      </p:sp>
      <p:sp>
        <p:nvSpPr>
          <p:cNvPr id="22" name="Item2"/>
          <p:cNvSpPr/>
          <p:nvPr/>
        </p:nvSpPr>
        <p:spPr>
          <a:xfrm>
            <a:off x="1270000" y="3683000"/>
            <a:ext cx="9652000" cy="482600"/>
          </a:xfrm>
          <a:prstGeom prst="rect">
            <a:avLst/>
          </a:prstGeom>
          <a:noFill/>
          <a:ln>
            <a:noFill/>
          </a:ln>
        </p:spPr>
        <p:txBody>
          <a:bodyPr wrap="square" lIns="0" tIns="0" rIns="0" bIns="0" anchor="ctr"/>
          <a:lstStyle/>
          <a:p>
            <a:pPr algn="l"/>
            <a:r>
              <a:rPr lang="en-US" sz="1800" dirty="0">
                <a:solidFill>
                  <a:srgbClr val="00D4AA"/>
                </a:solidFill>
                <a:latin typeface="Segoe UI"/>
              </a:rPr>
              <a:t>✓  </a:t>
            </a:r>
            <a:r>
              <a:rPr lang="en-US" sz="2000" dirty="0">
                <a:solidFill>
                  <a:srgbClr val="D0D0D0"/>
                </a:solidFill>
                <a:latin typeface="Segoe UI"/>
              </a:rPr>
              <a:t>API specification (OpenAPI v3.2)</a:t>
            </a:r>
          </a:p>
        </p:txBody>
      </p:sp>
      <p:sp>
        <p:nvSpPr>
          <p:cNvPr id="23" name="Item3"/>
          <p:cNvSpPr/>
          <p:nvPr/>
        </p:nvSpPr>
        <p:spPr>
          <a:xfrm>
            <a:off x="1270000" y="4254500"/>
            <a:ext cx="9652000" cy="482600"/>
          </a:xfrm>
          <a:prstGeom prst="rect">
            <a:avLst/>
          </a:prstGeom>
          <a:noFill/>
          <a:ln>
            <a:noFill/>
          </a:ln>
        </p:spPr>
        <p:txBody>
          <a:bodyPr wrap="square" lIns="0" tIns="0" rIns="0" bIns="0" anchor="ctr"/>
          <a:lstStyle/>
          <a:p>
            <a:pPr algn="l"/>
            <a:r>
              <a:rPr lang="en-US" sz="1800" dirty="0">
                <a:solidFill>
                  <a:srgbClr val="00D4AA"/>
                </a:solidFill>
                <a:latin typeface="Segoe UI"/>
              </a:rPr>
              <a:t>✓  </a:t>
            </a:r>
            <a:r>
              <a:rPr lang="en-US" sz="2000" dirty="0">
                <a:solidFill>
                  <a:srgbClr val="D0D0D0"/>
                </a:solidFill>
                <a:latin typeface="Segoe UI"/>
              </a:rPr>
              <a:t>E2E test code</a:t>
            </a:r>
          </a:p>
        </p:txBody>
      </p:sp>
      <p:sp>
        <p:nvSpPr>
          <p:cNvPr id="24" name="Item4"/>
          <p:cNvSpPr/>
          <p:nvPr/>
        </p:nvSpPr>
        <p:spPr>
          <a:xfrm>
            <a:off x="1270000" y="4826000"/>
            <a:ext cx="9652000" cy="482600"/>
          </a:xfrm>
          <a:prstGeom prst="rect">
            <a:avLst/>
          </a:prstGeom>
          <a:noFill/>
          <a:ln>
            <a:noFill/>
          </a:ln>
        </p:spPr>
        <p:txBody>
          <a:bodyPr wrap="square" lIns="0" tIns="0" rIns="0" bIns="0" anchor="ctr"/>
          <a:lstStyle/>
          <a:p>
            <a:pPr algn="l"/>
            <a:r>
              <a:rPr lang="en-US" sz="1800" dirty="0">
                <a:solidFill>
                  <a:srgbClr val="00D4AA"/>
                </a:solidFill>
                <a:latin typeface="Segoe UI"/>
              </a:rPr>
              <a:t>✓  </a:t>
            </a:r>
            <a:r>
              <a:rPr lang="en-US" sz="2000" dirty="0">
                <a:solidFill>
                  <a:srgbClr val="D0D0D0"/>
                </a:solidFill>
                <a:latin typeface="Segoe UI"/>
              </a:rPr>
              <a:t>Complete implementation code</a:t>
            </a:r>
          </a:p>
        </p:txBody>
      </p:sp>
      <p:sp>
        <p:nvSpPr>
          <p:cNvPr id="25" name="Item5"/>
          <p:cNvSpPr/>
          <p:nvPr/>
        </p:nvSpPr>
        <p:spPr>
          <a:xfrm>
            <a:off x="1270000" y="5397500"/>
            <a:ext cx="9652000" cy="482600"/>
          </a:xfrm>
          <a:prstGeom prst="rect">
            <a:avLst/>
          </a:prstGeom>
          <a:noFill/>
          <a:ln>
            <a:noFill/>
          </a:ln>
        </p:spPr>
        <p:txBody>
          <a:bodyPr wrap="square" lIns="0" tIns="0" rIns="0" bIns="0" anchor="ctr"/>
          <a:lstStyle/>
          <a:p>
            <a:pPr algn="l"/>
            <a:r>
              <a:rPr lang="en-US" sz="1800" dirty="0">
                <a:solidFill>
                  <a:srgbClr val="00D4AA"/>
                </a:solidFill>
                <a:latin typeface="Segoe UI"/>
              </a:rPr>
              <a:t>✓  </a:t>
            </a:r>
            <a:r>
              <a:rPr lang="en-US" sz="2000" dirty="0">
                <a:solidFill>
                  <a:srgbClr val="D0D0D0"/>
                </a:solidFill>
                <a:latin typeface="Segoe UI"/>
              </a:rPr>
              <a:t>Type-safe SDK</a:t>
            </a:r>
          </a:p>
        </p:txBody>
      </p:sp>
      <p:sp>
        <p:nvSpPr>
          <p:cNvPr id="30" name="Note"/>
          <p:cNvSpPr/>
          <p:nvPr/>
        </p:nvSpPr>
        <p:spPr>
          <a:xfrm>
            <a:off x="1270000" y="6032500"/>
            <a:ext cx="9652000" cy="381000"/>
          </a:xfrm>
          <a:prstGeom prst="rect">
            <a:avLst/>
          </a:prstGeom>
          <a:noFill/>
          <a:ln>
            <a:noFill/>
          </a:ln>
        </p:spPr>
        <p:txBody>
          <a:bodyPr wrap="square" lIns="0" tIns="0" rIns="0" bIns="0" anchor="ctr"/>
          <a:lstStyle/>
          <a:p>
            <a:pPr algn="ctr"/>
            <a:r>
              <a:rPr lang="en-US" sz="1800" dirty="0">
                <a:solidFill>
                  <a:srgbClr val="808080"/>
                </a:solidFill>
                <a:latin typeface="Segoe UI"/>
              </a:rPr>
              <a:t>Every line compiles. TypeScript + NestJS. Open source (AGPL 3.0).</a:t>
            </a:r>
          </a:p>
        </p:txBody>
      </p:sp>
    </p:spTree>
    <p:extLst>
      <p:ext uri="{BB962C8B-B14F-4D97-AF65-F5344CB8AC3E}">
        <p14:creationId xmlns:p14="http://schemas.microsoft.com/office/powerpoint/2010/main" val="10523137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LLMs Don't Write Code</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F0"/>
          <p:cNvSpPr/>
          <p:nvPr/>
        </p:nvSpPr>
        <p:spPr>
          <a:xfrm>
            <a:off x="762000" y="1778000"/>
            <a:ext cx="2286000" cy="889000"/>
          </a:xfrm>
          <a:prstGeom prst="roundRect">
            <a:avLst>
              <a:gd name="adj" fmla="val 12000"/>
            </a:avLst>
          </a:prstGeom>
          <a:solidFill>
            <a:srgbClr val="161B22"/>
          </a:solidFill>
          <a:ln w="15875">
            <a:solidFill>
              <a:srgbClr val="6C5CE7"/>
            </a:solidFill>
          </a:ln>
        </p:spPr>
        <p:txBody>
          <a:bodyPr wrap="square" lIns="127000" tIns="76200" rIns="127000" bIns="76200" anchor="ctr"/>
          <a:lstStyle/>
          <a:p>
            <a:pPr algn="ctr"/>
            <a:r>
              <a:rPr lang="en-US" sz="2000" b="1" dirty="0">
                <a:solidFill>
                  <a:srgbClr val="6C5CE7"/>
                </a:solidFill>
                <a:latin typeface="Segoe UI Semibold"/>
              </a:rPr>
              <a:t>LLM</a:t>
            </a:r>
          </a:p>
          <a:p>
            <a:pPr algn="ctr"/>
            <a:r>
              <a:rPr lang="en-US" sz="1800" dirty="0">
                <a:solidFill>
                  <a:srgbClr val="A0A0A0"/>
                </a:solidFill>
                <a:latin typeface="Segoe UI"/>
              </a:rPr>
              <a:t>fills structure</a:t>
            </a:r>
          </a:p>
        </p:txBody>
      </p:sp>
      <p:sp>
        <p:nvSpPr>
          <p:cNvPr id="21" name="F1"/>
          <p:cNvSpPr/>
          <p:nvPr/>
        </p:nvSpPr>
        <p:spPr>
          <a:xfrm>
            <a:off x="3683000" y="1778000"/>
            <a:ext cx="317500" cy="889000"/>
          </a:xfrm>
          <a:prstGeom prst="rect">
            <a:avLst/>
          </a:prstGeom>
          <a:noFill/>
          <a:ln>
            <a:noFill/>
          </a:ln>
        </p:spPr>
        <p:txBody>
          <a:bodyPr wrap="square" anchor="ctr"/>
          <a:lstStyle/>
          <a:p>
            <a:pPr algn="ctr"/>
            <a:r>
              <a:rPr lang="en-US" sz="2400" dirty="0">
                <a:solidFill>
                  <a:srgbClr val="808080"/>
                </a:solidFill>
                <a:latin typeface="Segoe UI"/>
              </a:rPr>
              <a:t>➜</a:t>
            </a:r>
          </a:p>
        </p:txBody>
      </p:sp>
      <p:sp>
        <p:nvSpPr>
          <p:cNvPr id="22" name="F2"/>
          <p:cNvSpPr/>
          <p:nvPr/>
        </p:nvSpPr>
        <p:spPr>
          <a:xfrm>
            <a:off x="4191000" y="1778000"/>
            <a:ext cx="3175000" cy="889000"/>
          </a:xfrm>
          <a:prstGeom prst="roundRect">
            <a:avLst>
              <a:gd name="adj" fmla="val 12000"/>
            </a:avLst>
          </a:prstGeom>
          <a:solidFill>
            <a:srgbClr val="161B22"/>
          </a:solidFill>
          <a:ln w="15875">
            <a:solidFill>
              <a:srgbClr val="FFD93D"/>
            </a:solidFill>
          </a:ln>
        </p:spPr>
        <p:txBody>
          <a:bodyPr wrap="square" lIns="127000" tIns="76200" rIns="127000" bIns="76200" anchor="ctr"/>
          <a:lstStyle/>
          <a:p>
            <a:pPr algn="ctr"/>
            <a:r>
              <a:rPr lang="en-US" sz="2000" b="1" dirty="0">
                <a:solidFill>
                  <a:srgbClr val="FFD93D"/>
                </a:solidFill>
                <a:latin typeface="Segoe UI Semibold"/>
              </a:rPr>
              <a:t>JSON Schema</a:t>
            </a:r>
          </a:p>
          <a:p>
            <a:pPr algn="ctr"/>
            <a:r>
              <a:rPr lang="en-US" sz="1800" dirty="0">
                <a:solidFill>
                  <a:srgbClr val="A0A0A0"/>
                </a:solidFill>
                <a:latin typeface="Segoe UI"/>
              </a:rPr>
              <a:t>typed form</a:t>
            </a:r>
          </a:p>
        </p:txBody>
      </p:sp>
      <p:sp>
        <p:nvSpPr>
          <p:cNvPr id="23" name="F3"/>
          <p:cNvSpPr/>
          <p:nvPr/>
        </p:nvSpPr>
        <p:spPr>
          <a:xfrm>
            <a:off x="7747000" y="1778000"/>
            <a:ext cx="317500" cy="889000"/>
          </a:xfrm>
          <a:prstGeom prst="rect">
            <a:avLst/>
          </a:prstGeom>
          <a:noFill/>
          <a:ln>
            <a:noFill/>
          </a:ln>
        </p:spPr>
        <p:txBody>
          <a:bodyPr wrap="square" anchor="ctr"/>
          <a:lstStyle/>
          <a:p>
            <a:pPr algn="ctr"/>
            <a:r>
              <a:rPr lang="en-US" sz="2400" dirty="0">
                <a:solidFill>
                  <a:srgbClr val="808080"/>
                </a:solidFill>
                <a:latin typeface="Segoe UI"/>
              </a:rPr>
              <a:t>➜</a:t>
            </a:r>
          </a:p>
        </p:txBody>
      </p:sp>
      <p:sp>
        <p:nvSpPr>
          <p:cNvPr id="24" name="F4"/>
          <p:cNvSpPr/>
          <p:nvPr/>
        </p:nvSpPr>
        <p:spPr>
          <a:xfrm>
            <a:off x="8255000" y="1778000"/>
            <a:ext cx="3175000" cy="889000"/>
          </a:xfrm>
          <a:prstGeom prst="roundRect">
            <a:avLst>
              <a:gd name="adj" fmla="val 12000"/>
            </a:avLst>
          </a:prstGeom>
          <a:solidFill>
            <a:srgbClr val="161B22"/>
          </a:solidFill>
          <a:ln w="15875">
            <a:solidFill>
              <a:srgbClr val="00D4AA"/>
            </a:solidFill>
          </a:ln>
        </p:spPr>
        <p:txBody>
          <a:bodyPr wrap="square" lIns="127000" tIns="76200" rIns="127000" bIns="76200" anchor="ctr"/>
          <a:lstStyle/>
          <a:p>
            <a:pPr algn="ctr"/>
            <a:r>
              <a:rPr lang="en-US" sz="2000" b="1" dirty="0">
                <a:solidFill>
                  <a:srgbClr val="00D4AA"/>
                </a:solidFill>
                <a:latin typeface="Segoe UI Semibold"/>
              </a:rPr>
              <a:t>Compiler</a:t>
            </a:r>
          </a:p>
          <a:p>
            <a:pPr algn="ctr"/>
            <a:r>
              <a:rPr lang="en-US" sz="1800" dirty="0">
                <a:solidFill>
                  <a:srgbClr val="A0A0A0"/>
                </a:solidFill>
                <a:latin typeface="Segoe UI"/>
              </a:rPr>
              <a:t>writes code</a:t>
            </a:r>
          </a:p>
        </p:txBody>
      </p:sp>
      <p:sp>
        <p:nvSpPr>
          <p:cNvPr id="30" name="Insight"/>
          <p:cNvSpPr/>
          <p:nvPr/>
        </p:nvSpPr>
        <p:spPr>
          <a:xfrm>
            <a:off x="1270000" y="3048000"/>
            <a:ext cx="9652000" cy="635000"/>
          </a:xfrm>
          <a:prstGeom prst="roundRect">
            <a:avLst>
              <a:gd name="adj" fmla="val 10000"/>
            </a:avLst>
          </a:prstGeom>
          <a:solidFill>
            <a:srgbClr val="00D4AA">
              <a:alpha val="15000"/>
            </a:srgbClr>
          </a:solidFill>
          <a:ln>
            <a:noFill/>
          </a:ln>
        </p:spPr>
        <p:txBody>
          <a:bodyPr wrap="square" lIns="190500" tIns="101600" rIns="190500" bIns="101600" anchor="ctr"/>
          <a:lstStyle/>
          <a:p>
            <a:pPr algn="ctr"/>
            <a:r>
              <a:rPr lang="en-US" sz="2200" b="1" dirty="0">
                <a:solidFill>
                  <a:srgbClr val="00D4AA"/>
                </a:solidFill>
                <a:latin typeface="Segoe UI Semibold"/>
              </a:rPr>
              <a:t>The LLM fills structures. Compilers write code.</a:t>
            </a:r>
          </a:p>
        </p:txBody>
      </p:sp>
      <p:sp>
        <p:nvSpPr>
          <p:cNvPr id="31" name="Expl"/>
          <p:cNvSpPr/>
          <p:nvPr/>
        </p:nvSpPr>
        <p:spPr>
          <a:xfrm>
            <a:off x="1016000" y="3937000"/>
            <a:ext cx="10160000" cy="1778000"/>
          </a:xfrm>
          <a:prstGeom prst="rect">
            <a:avLst/>
          </a:prstGeom>
          <a:noFill/>
          <a:ln>
            <a:noFill/>
          </a:ln>
        </p:spPr>
        <p:txBody>
          <a:bodyPr wrap="square" lIns="0" tIns="0" rIns="0" bIns="0" anchor="t"/>
          <a:lstStyle/>
          <a:p>
            <a:pPr algn="l">
              <a:lnSpc>
                <a:spcPts val="3200"/>
              </a:lnSpc>
              <a:buNone/>
            </a:pPr>
            <a:r>
              <a:rPr lang="en-US" sz="2000" dirty="0">
                <a:solidFill>
                  <a:srgbClr val="D0D0D0"/>
                </a:solidFill>
                <a:latin typeface="Segoe UI"/>
              </a:rPr>
              <a:t>Instead of "write this code," the LLM fills predefined JSON Schema forms. Like filling out a form, not writing on a blank page.</a:t>
            </a:r>
          </a:p>
          <a:p>
            <a:pPr algn="l">
              <a:lnSpc>
                <a:spcPts val="3200"/>
              </a:lnSpc>
              <a:buNone/>
            </a:pPr>
            <a:r>
              <a:rPr lang="en-US" sz="2000" dirty="0">
                <a:solidFill>
                  <a:srgbClr val="D0D0D0"/>
                </a:solidFill>
                <a:latin typeface="Segoe UI"/>
              </a:rPr>
              <a:t>Once filled, compilers validate and transform into actual code.</a:t>
            </a:r>
          </a:p>
        </p:txBody>
      </p:sp>
    </p:spTree>
    <p:extLst>
      <p:ext uri="{BB962C8B-B14F-4D97-AF65-F5344CB8AC3E}">
        <p14:creationId xmlns:p14="http://schemas.microsoft.com/office/powerpoint/2010/main" val="3110609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The 5-Phase Waterfall Pipeline</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Phase0"/>
          <p:cNvSpPr/>
          <p:nvPr/>
        </p:nvSpPr>
        <p:spPr>
          <a:xfrm>
            <a:off x="762000" y="1270000"/>
            <a:ext cx="1905000" cy="635000"/>
          </a:xfrm>
          <a:prstGeom prst="roundRect">
            <a:avLst>
              <a:gd name="adj" fmla="val 15000"/>
            </a:avLst>
          </a:prstGeom>
          <a:solidFill>
            <a:srgbClr val="00D4AA">
              <a:alpha val="20000"/>
            </a:srgbClr>
          </a:solidFill>
          <a:ln w="12700">
            <a:solidFill>
              <a:srgbClr val="00D4AA"/>
            </a:solidFill>
          </a:ln>
        </p:spPr>
        <p:txBody>
          <a:bodyPr wrap="square" anchor="ctr"/>
          <a:lstStyle/>
          <a:p>
            <a:pPr algn="ctr"/>
            <a:r>
              <a:rPr lang="en-US" sz="1800" b="1" dirty="0">
                <a:solidFill>
                  <a:srgbClr val="00D4AA"/>
                </a:solidFill>
                <a:latin typeface="Segoe UI Semibold"/>
              </a:rPr>
              <a:t>Analyze</a:t>
            </a:r>
          </a:p>
        </p:txBody>
      </p:sp>
      <p:sp>
        <p:nvSpPr>
          <p:cNvPr id="30" name="Arr0"/>
          <p:cNvSpPr/>
          <p:nvPr/>
        </p:nvSpPr>
        <p:spPr>
          <a:xfrm>
            <a:off x="2692400" y="1498600"/>
            <a:ext cx="177800" cy="177800"/>
          </a:xfrm>
          <a:prstGeom prst="rightArrow">
            <a:avLst/>
          </a:prstGeom>
          <a:solidFill>
            <a:srgbClr val="808080"/>
          </a:solidFill>
          <a:ln>
            <a:noFill/>
          </a:ln>
        </p:spPr>
        <p:txBody>
          <a:bodyPr/>
          <a:lstStyle/>
          <a:p>
            <a:endParaRPr lang="en-US"/>
          </a:p>
        </p:txBody>
      </p:sp>
      <p:sp>
        <p:nvSpPr>
          <p:cNvPr id="21" name="Phase1"/>
          <p:cNvSpPr/>
          <p:nvPr/>
        </p:nvSpPr>
        <p:spPr>
          <a:xfrm>
            <a:off x="2895600" y="1270000"/>
            <a:ext cx="1905000" cy="635000"/>
          </a:xfrm>
          <a:prstGeom prst="roundRect">
            <a:avLst>
              <a:gd name="adj" fmla="val 15000"/>
            </a:avLst>
          </a:prstGeom>
          <a:solidFill>
            <a:srgbClr val="74B9FF">
              <a:alpha val="20000"/>
            </a:srgbClr>
          </a:solidFill>
          <a:ln w="12700">
            <a:solidFill>
              <a:srgbClr val="74B9FF"/>
            </a:solidFill>
          </a:ln>
        </p:spPr>
        <p:txBody>
          <a:bodyPr wrap="square" anchor="ctr"/>
          <a:lstStyle/>
          <a:p>
            <a:pPr algn="ctr"/>
            <a:r>
              <a:rPr lang="en-US" sz="1800" b="1" dirty="0">
                <a:solidFill>
                  <a:srgbClr val="74B9FF"/>
                </a:solidFill>
                <a:latin typeface="Segoe UI Semibold"/>
              </a:rPr>
              <a:t>Database</a:t>
            </a:r>
          </a:p>
        </p:txBody>
      </p:sp>
      <p:sp>
        <p:nvSpPr>
          <p:cNvPr id="31" name="Arr1"/>
          <p:cNvSpPr/>
          <p:nvPr/>
        </p:nvSpPr>
        <p:spPr>
          <a:xfrm>
            <a:off x="4826000" y="1498600"/>
            <a:ext cx="177800" cy="177800"/>
          </a:xfrm>
          <a:prstGeom prst="rightArrow">
            <a:avLst/>
          </a:prstGeom>
          <a:solidFill>
            <a:srgbClr val="808080"/>
          </a:solidFill>
          <a:ln>
            <a:noFill/>
          </a:ln>
        </p:spPr>
        <p:txBody>
          <a:bodyPr/>
          <a:lstStyle/>
          <a:p>
            <a:endParaRPr lang="en-US"/>
          </a:p>
        </p:txBody>
      </p:sp>
      <p:sp>
        <p:nvSpPr>
          <p:cNvPr id="22" name="Phase2"/>
          <p:cNvSpPr/>
          <p:nvPr/>
        </p:nvSpPr>
        <p:spPr>
          <a:xfrm>
            <a:off x="5029200" y="1270000"/>
            <a:ext cx="1905000" cy="635000"/>
          </a:xfrm>
          <a:prstGeom prst="roundRect">
            <a:avLst>
              <a:gd name="adj" fmla="val 15000"/>
            </a:avLst>
          </a:prstGeom>
          <a:solidFill>
            <a:srgbClr val="FFD93D">
              <a:alpha val="20000"/>
            </a:srgbClr>
          </a:solidFill>
          <a:ln w="12700">
            <a:solidFill>
              <a:srgbClr val="FFD93D"/>
            </a:solidFill>
          </a:ln>
        </p:spPr>
        <p:txBody>
          <a:bodyPr wrap="square" anchor="ctr"/>
          <a:lstStyle/>
          <a:p>
            <a:pPr algn="ctr"/>
            <a:r>
              <a:rPr lang="en-US" sz="1800" b="1" dirty="0">
                <a:solidFill>
                  <a:srgbClr val="FFD93D"/>
                </a:solidFill>
                <a:latin typeface="Segoe UI Semibold"/>
              </a:rPr>
              <a:t>API Design</a:t>
            </a:r>
          </a:p>
        </p:txBody>
      </p:sp>
      <p:sp>
        <p:nvSpPr>
          <p:cNvPr id="32" name="Arr2"/>
          <p:cNvSpPr/>
          <p:nvPr/>
        </p:nvSpPr>
        <p:spPr>
          <a:xfrm>
            <a:off x="6959600" y="1498600"/>
            <a:ext cx="177800" cy="177800"/>
          </a:xfrm>
          <a:prstGeom prst="rightArrow">
            <a:avLst/>
          </a:prstGeom>
          <a:solidFill>
            <a:srgbClr val="808080"/>
          </a:solidFill>
          <a:ln>
            <a:noFill/>
          </a:ln>
        </p:spPr>
        <p:txBody>
          <a:bodyPr/>
          <a:lstStyle/>
          <a:p>
            <a:endParaRPr lang="en-US"/>
          </a:p>
        </p:txBody>
      </p:sp>
      <p:sp>
        <p:nvSpPr>
          <p:cNvPr id="23" name="Phase3"/>
          <p:cNvSpPr/>
          <p:nvPr/>
        </p:nvSpPr>
        <p:spPr>
          <a:xfrm>
            <a:off x="7162800" y="1270000"/>
            <a:ext cx="1905000" cy="635000"/>
          </a:xfrm>
          <a:prstGeom prst="roundRect">
            <a:avLst>
              <a:gd name="adj" fmla="val 15000"/>
            </a:avLst>
          </a:prstGeom>
          <a:solidFill>
            <a:srgbClr val="6C5CE7">
              <a:alpha val="20000"/>
            </a:srgbClr>
          </a:solidFill>
          <a:ln w="12700">
            <a:solidFill>
              <a:srgbClr val="6C5CE7"/>
            </a:solidFill>
          </a:ln>
        </p:spPr>
        <p:txBody>
          <a:bodyPr wrap="square" anchor="ctr"/>
          <a:lstStyle/>
          <a:p>
            <a:pPr algn="ctr"/>
            <a:r>
              <a:rPr lang="en-US" sz="1800" b="1" dirty="0">
                <a:solidFill>
                  <a:srgbClr val="6C5CE7"/>
                </a:solidFill>
                <a:latin typeface="Segoe UI Semibold"/>
              </a:rPr>
              <a:t>Test</a:t>
            </a:r>
          </a:p>
        </p:txBody>
      </p:sp>
      <p:sp>
        <p:nvSpPr>
          <p:cNvPr id="33" name="Arr3"/>
          <p:cNvSpPr/>
          <p:nvPr/>
        </p:nvSpPr>
        <p:spPr>
          <a:xfrm>
            <a:off x="9093200" y="1498600"/>
            <a:ext cx="177800" cy="177800"/>
          </a:xfrm>
          <a:prstGeom prst="rightArrow">
            <a:avLst/>
          </a:prstGeom>
          <a:solidFill>
            <a:srgbClr val="808080"/>
          </a:solidFill>
          <a:ln>
            <a:noFill/>
          </a:ln>
        </p:spPr>
        <p:txBody>
          <a:bodyPr/>
          <a:lstStyle/>
          <a:p>
            <a:endParaRPr lang="en-US"/>
          </a:p>
        </p:txBody>
      </p:sp>
      <p:sp>
        <p:nvSpPr>
          <p:cNvPr id="24" name="Phase4"/>
          <p:cNvSpPr/>
          <p:nvPr/>
        </p:nvSpPr>
        <p:spPr>
          <a:xfrm>
            <a:off x="9296400" y="1270000"/>
            <a:ext cx="1905000" cy="635000"/>
          </a:xfrm>
          <a:prstGeom prst="roundRect">
            <a:avLst>
              <a:gd name="adj" fmla="val 15000"/>
            </a:avLst>
          </a:prstGeom>
          <a:solidFill>
            <a:srgbClr val="FF6B6B">
              <a:alpha val="20000"/>
            </a:srgbClr>
          </a:solidFill>
          <a:ln w="12700">
            <a:solidFill>
              <a:srgbClr val="FF6B6B"/>
            </a:solidFill>
          </a:ln>
        </p:spPr>
        <p:txBody>
          <a:bodyPr wrap="square" anchor="ctr"/>
          <a:lstStyle/>
          <a:p>
            <a:pPr algn="ctr"/>
            <a:r>
              <a:rPr lang="en-US" sz="1800" b="1" dirty="0">
                <a:solidFill>
                  <a:srgbClr val="FF6B6B"/>
                </a:solidFill>
                <a:latin typeface="Segoe UI Semibold"/>
              </a:rPr>
              <a:t>Implement</a:t>
            </a:r>
          </a:p>
        </p:txBody>
      </p:sp>
      <p:sp>
        <p:nvSpPr>
          <p:cNvPr id="40" name="RL0"/>
          <p:cNvSpPr/>
          <p:nvPr/>
        </p:nvSpPr>
        <p:spPr>
          <a:xfrm>
            <a:off x="762000" y="2159000"/>
            <a:ext cx="1905000" cy="609600"/>
          </a:xfrm>
          <a:prstGeom prst="roundRect">
            <a:avLst>
              <a:gd name="adj" fmla="val 15000"/>
            </a:avLst>
          </a:prstGeom>
          <a:solidFill>
            <a:srgbClr val="00D4AA">
              <a:alpha val="15000"/>
            </a:srgbClr>
          </a:solidFill>
          <a:ln w="9525">
            <a:solidFill>
              <a:srgbClr val="00D4AA">
                <a:alpha val="50000"/>
              </a:srgbClr>
            </a:solidFill>
          </a:ln>
        </p:spPr>
        <p:txBody>
          <a:bodyPr wrap="square" anchor="ctr"/>
          <a:lstStyle/>
          <a:p>
            <a:pPr algn="ctr"/>
            <a:r>
              <a:rPr lang="en-US" sz="1800" dirty="0">
                <a:solidFill>
                  <a:srgbClr val="00D4AA"/>
                </a:solidFill>
                <a:latin typeface="Segoe UI"/>
              </a:rPr>
              <a:t>Requirements</a:t>
            </a:r>
          </a:p>
        </p:txBody>
      </p:sp>
      <p:sp>
        <p:nvSpPr>
          <p:cNvPr id="41" name="RS0"/>
          <p:cNvSpPr/>
          <p:nvPr/>
        </p:nvSpPr>
        <p:spPr>
          <a:xfrm>
            <a:off x="2921000" y="2159000"/>
            <a:ext cx="4826000" cy="609600"/>
          </a:xfrm>
          <a:prstGeom prst="rect">
            <a:avLst/>
          </a:prstGeom>
          <a:noFill/>
          <a:ln>
            <a:noFill/>
          </a:ln>
        </p:spPr>
        <p:txBody>
          <a:bodyPr wrap="square" lIns="0" tIns="0" rIns="0" bIns="0" anchor="ctr"/>
          <a:lstStyle/>
          <a:p>
            <a:pPr algn="l"/>
            <a:r>
              <a:rPr lang="en-US" sz="1800" u="sng" dirty="0">
                <a:solidFill>
                  <a:srgbClr val="00D4AA"/>
                </a:solidFill>
                <a:latin typeface="Consolas"/>
              </a:rPr>
              <a:t>AutoBeAnalyze</a:t>
            </a:r>
            <a:r>
              <a:rPr lang="en-US" sz="1800" dirty="0">
                <a:solidFill>
                  <a:srgbClr val="808080"/>
                </a:solidFill>
                <a:latin typeface="Segoe UI"/>
              </a:rPr>
              <a:t>  Structured SRS</a:t>
            </a:r>
          </a:p>
        </p:txBody>
      </p:sp>
      <p:sp>
        <p:nvSpPr>
          <p:cNvPr id="42" name="RC0"/>
          <p:cNvSpPr/>
          <p:nvPr/>
        </p:nvSpPr>
        <p:spPr>
          <a:xfrm>
            <a:off x="8128000" y="2159000"/>
            <a:ext cx="3302000" cy="609600"/>
          </a:xfrm>
          <a:prstGeom prst="rect">
            <a:avLst/>
          </a:prstGeom>
          <a:noFill/>
          <a:ln>
            <a:noFill/>
          </a:ln>
        </p:spPr>
        <p:txBody>
          <a:bodyPr wrap="square" lIns="0" tIns="0" rIns="0" bIns="0" anchor="ctr"/>
          <a:lstStyle/>
          <a:p>
            <a:pPr algn="l"/>
            <a:r>
              <a:rPr lang="en-US" sz="1800" dirty="0">
                <a:solidFill>
                  <a:srgbClr val="A0A0A0"/>
                </a:solidFill>
                <a:latin typeface="Segoe UI"/>
              </a:rPr>
              <a:t>SRS Structure Check</a:t>
            </a:r>
          </a:p>
        </p:txBody>
      </p:sp>
      <p:sp>
        <p:nvSpPr>
          <p:cNvPr id="43" name="RL1"/>
          <p:cNvSpPr/>
          <p:nvPr/>
        </p:nvSpPr>
        <p:spPr>
          <a:xfrm>
            <a:off x="762000" y="2895600"/>
            <a:ext cx="1905000" cy="609600"/>
          </a:xfrm>
          <a:prstGeom prst="roundRect">
            <a:avLst>
              <a:gd name="adj" fmla="val 15000"/>
            </a:avLst>
          </a:prstGeom>
          <a:solidFill>
            <a:srgbClr val="74B9FF">
              <a:alpha val="15000"/>
            </a:srgbClr>
          </a:solidFill>
          <a:ln w="9525">
            <a:solidFill>
              <a:srgbClr val="74B9FF">
                <a:alpha val="50000"/>
              </a:srgbClr>
            </a:solidFill>
          </a:ln>
        </p:spPr>
        <p:txBody>
          <a:bodyPr wrap="square" anchor="ctr"/>
          <a:lstStyle/>
          <a:p>
            <a:pPr algn="ctr"/>
            <a:r>
              <a:rPr lang="en-US" sz="1800" dirty="0">
                <a:solidFill>
                  <a:srgbClr val="74B9FF"/>
                </a:solidFill>
                <a:latin typeface="Segoe UI"/>
              </a:rPr>
              <a:t>Database</a:t>
            </a:r>
          </a:p>
        </p:txBody>
      </p:sp>
      <p:sp>
        <p:nvSpPr>
          <p:cNvPr id="44" name="RS1"/>
          <p:cNvSpPr/>
          <p:nvPr/>
        </p:nvSpPr>
        <p:spPr>
          <a:xfrm>
            <a:off x="2921000" y="2895600"/>
            <a:ext cx="4826000" cy="609600"/>
          </a:xfrm>
          <a:prstGeom prst="rect">
            <a:avLst/>
          </a:prstGeom>
          <a:noFill/>
          <a:ln>
            <a:noFill/>
          </a:ln>
        </p:spPr>
        <p:txBody>
          <a:bodyPr wrap="square" lIns="0" tIns="0" rIns="0" bIns="0" anchor="ctr"/>
          <a:lstStyle/>
          <a:p>
            <a:pPr algn="l"/>
            <a:r>
              <a:rPr lang="en-US" sz="1800" u="sng" dirty="0">
                <a:solidFill>
                  <a:srgbClr val="00D4AA"/>
                </a:solidFill>
                <a:latin typeface="Consolas"/>
              </a:rPr>
              <a:t>AutoBeDatabase</a:t>
            </a:r>
            <a:r>
              <a:rPr lang="en-US" sz="1800" dirty="0">
                <a:solidFill>
                  <a:srgbClr val="808080"/>
                </a:solidFill>
                <a:latin typeface="Segoe UI"/>
              </a:rPr>
              <a:t>  DB schema AST</a:t>
            </a:r>
          </a:p>
        </p:txBody>
      </p:sp>
      <p:sp>
        <p:nvSpPr>
          <p:cNvPr id="45" name="RC1"/>
          <p:cNvSpPr/>
          <p:nvPr/>
        </p:nvSpPr>
        <p:spPr>
          <a:xfrm>
            <a:off x="8128000" y="2895600"/>
            <a:ext cx="3302000" cy="609600"/>
          </a:xfrm>
          <a:prstGeom prst="rect">
            <a:avLst/>
          </a:prstGeom>
          <a:noFill/>
          <a:ln>
            <a:noFill/>
          </a:ln>
        </p:spPr>
        <p:txBody>
          <a:bodyPr wrap="square" lIns="0" tIns="0" rIns="0" bIns="0" anchor="ctr"/>
          <a:lstStyle/>
          <a:p>
            <a:pPr algn="l"/>
            <a:r>
              <a:rPr lang="en-US" sz="1800" dirty="0">
                <a:solidFill>
                  <a:srgbClr val="A0A0A0"/>
                </a:solidFill>
                <a:latin typeface="Segoe UI"/>
              </a:rPr>
              <a:t>Database </a:t>
            </a:r>
            <a:r>
              <a:rPr lang="en-US" dirty="0">
                <a:solidFill>
                  <a:srgbClr val="A0A0A0"/>
                </a:solidFill>
                <a:latin typeface="Segoe UI"/>
              </a:rPr>
              <a:t>C</a:t>
            </a:r>
            <a:r>
              <a:rPr lang="en-US" sz="1800" dirty="0">
                <a:solidFill>
                  <a:srgbClr val="A0A0A0"/>
                </a:solidFill>
                <a:latin typeface="Segoe UI"/>
              </a:rPr>
              <a:t>ompiler</a:t>
            </a:r>
          </a:p>
        </p:txBody>
      </p:sp>
      <p:sp>
        <p:nvSpPr>
          <p:cNvPr id="46" name="RL2"/>
          <p:cNvSpPr/>
          <p:nvPr/>
        </p:nvSpPr>
        <p:spPr>
          <a:xfrm>
            <a:off x="762000" y="3632200"/>
            <a:ext cx="1905000" cy="609600"/>
          </a:xfrm>
          <a:prstGeom prst="roundRect">
            <a:avLst>
              <a:gd name="adj" fmla="val 15000"/>
            </a:avLst>
          </a:prstGeom>
          <a:solidFill>
            <a:srgbClr val="FFD93D">
              <a:alpha val="15000"/>
            </a:srgbClr>
          </a:solidFill>
          <a:ln w="9525">
            <a:solidFill>
              <a:srgbClr val="FFD93D">
                <a:alpha val="50000"/>
              </a:srgbClr>
            </a:solidFill>
          </a:ln>
        </p:spPr>
        <p:txBody>
          <a:bodyPr wrap="square" anchor="ctr"/>
          <a:lstStyle/>
          <a:p>
            <a:pPr algn="ctr"/>
            <a:r>
              <a:rPr lang="en-US" sz="1800" dirty="0">
                <a:solidFill>
                  <a:srgbClr val="FFD93D"/>
                </a:solidFill>
                <a:latin typeface="Segoe UI"/>
              </a:rPr>
              <a:t>API Design</a:t>
            </a:r>
          </a:p>
        </p:txBody>
      </p:sp>
      <p:sp>
        <p:nvSpPr>
          <p:cNvPr id="47" name="RS2"/>
          <p:cNvSpPr/>
          <p:nvPr/>
        </p:nvSpPr>
        <p:spPr>
          <a:xfrm>
            <a:off x="2921000" y="3632200"/>
            <a:ext cx="4826000" cy="609600"/>
          </a:xfrm>
          <a:prstGeom prst="rect">
            <a:avLst/>
          </a:prstGeom>
          <a:noFill/>
          <a:ln>
            <a:noFill/>
          </a:ln>
        </p:spPr>
        <p:txBody>
          <a:bodyPr wrap="square" lIns="0" tIns="0" rIns="0" bIns="0" anchor="ctr"/>
          <a:lstStyle/>
          <a:p>
            <a:pPr algn="l"/>
            <a:r>
              <a:rPr lang="en-US" sz="1800" u="sng" dirty="0">
                <a:solidFill>
                  <a:srgbClr val="00D4AA"/>
                </a:solidFill>
                <a:latin typeface="Consolas"/>
              </a:rPr>
              <a:t>AutoBeOpenApi</a:t>
            </a:r>
            <a:r>
              <a:rPr lang="en-US" sz="1800" dirty="0">
                <a:solidFill>
                  <a:srgbClr val="808080"/>
                </a:solidFill>
                <a:latin typeface="Segoe UI"/>
              </a:rPr>
              <a:t>  OpenAPI v3.2 spec</a:t>
            </a:r>
          </a:p>
        </p:txBody>
      </p:sp>
      <p:sp>
        <p:nvSpPr>
          <p:cNvPr id="48" name="RC2"/>
          <p:cNvSpPr/>
          <p:nvPr/>
        </p:nvSpPr>
        <p:spPr>
          <a:xfrm>
            <a:off x="8128000" y="3632200"/>
            <a:ext cx="3302000" cy="609600"/>
          </a:xfrm>
          <a:prstGeom prst="rect">
            <a:avLst/>
          </a:prstGeom>
          <a:noFill/>
          <a:ln>
            <a:noFill/>
          </a:ln>
        </p:spPr>
        <p:txBody>
          <a:bodyPr wrap="square" lIns="0" tIns="0" rIns="0" bIns="0" anchor="ctr"/>
          <a:lstStyle/>
          <a:p>
            <a:pPr algn="l"/>
            <a:r>
              <a:rPr lang="en-US" sz="1800" dirty="0">
                <a:solidFill>
                  <a:srgbClr val="A0A0A0"/>
                </a:solidFill>
                <a:latin typeface="Segoe UI"/>
              </a:rPr>
              <a:t>OpenAPI </a:t>
            </a:r>
            <a:r>
              <a:rPr lang="en-US" dirty="0">
                <a:solidFill>
                  <a:srgbClr val="A0A0A0"/>
                </a:solidFill>
                <a:latin typeface="Segoe UI"/>
              </a:rPr>
              <a:t>C</a:t>
            </a:r>
            <a:r>
              <a:rPr lang="en-US" sz="1800" dirty="0">
                <a:solidFill>
                  <a:srgbClr val="A0A0A0"/>
                </a:solidFill>
                <a:latin typeface="Segoe UI"/>
              </a:rPr>
              <a:t>ompiler</a:t>
            </a:r>
          </a:p>
        </p:txBody>
      </p:sp>
      <p:sp>
        <p:nvSpPr>
          <p:cNvPr id="49" name="RL3"/>
          <p:cNvSpPr/>
          <p:nvPr/>
        </p:nvSpPr>
        <p:spPr>
          <a:xfrm>
            <a:off x="762000" y="4368800"/>
            <a:ext cx="1905000" cy="609600"/>
          </a:xfrm>
          <a:prstGeom prst="roundRect">
            <a:avLst>
              <a:gd name="adj" fmla="val 15000"/>
            </a:avLst>
          </a:prstGeom>
          <a:solidFill>
            <a:srgbClr val="6C5CE7">
              <a:alpha val="15000"/>
            </a:srgbClr>
          </a:solidFill>
          <a:ln w="9525">
            <a:solidFill>
              <a:srgbClr val="6C5CE7">
                <a:alpha val="50000"/>
              </a:srgbClr>
            </a:solidFill>
          </a:ln>
        </p:spPr>
        <p:txBody>
          <a:bodyPr wrap="square" anchor="ctr"/>
          <a:lstStyle/>
          <a:p>
            <a:pPr algn="ctr"/>
            <a:r>
              <a:rPr lang="en-US" sz="1800" dirty="0">
                <a:solidFill>
                  <a:srgbClr val="6C5CE7"/>
                </a:solidFill>
                <a:latin typeface="Segoe UI"/>
              </a:rPr>
              <a:t>Testing</a:t>
            </a:r>
          </a:p>
        </p:txBody>
      </p:sp>
      <p:sp>
        <p:nvSpPr>
          <p:cNvPr id="50" name="RS3"/>
          <p:cNvSpPr/>
          <p:nvPr/>
        </p:nvSpPr>
        <p:spPr>
          <a:xfrm>
            <a:off x="2921000" y="4368800"/>
            <a:ext cx="4826000" cy="609600"/>
          </a:xfrm>
          <a:prstGeom prst="rect">
            <a:avLst/>
          </a:prstGeom>
          <a:noFill/>
          <a:ln>
            <a:noFill/>
          </a:ln>
        </p:spPr>
        <p:txBody>
          <a:bodyPr wrap="square" lIns="0" tIns="0" rIns="0" bIns="0" anchor="ctr"/>
          <a:lstStyle/>
          <a:p>
            <a:pPr algn="l"/>
            <a:r>
              <a:rPr lang="en-US" sz="1800" u="sng" dirty="0">
                <a:solidFill>
                  <a:srgbClr val="00D4AA"/>
                </a:solidFill>
                <a:latin typeface="Consolas"/>
              </a:rPr>
              <a:t>AutoBeTest</a:t>
            </a:r>
            <a:r>
              <a:rPr lang="en-US" sz="1800" dirty="0">
                <a:solidFill>
                  <a:srgbClr val="808080"/>
                </a:solidFill>
                <a:latin typeface="Segoe UI"/>
              </a:rPr>
              <a:t>  30+ expression types</a:t>
            </a:r>
          </a:p>
        </p:txBody>
      </p:sp>
      <p:sp>
        <p:nvSpPr>
          <p:cNvPr id="51" name="RC3"/>
          <p:cNvSpPr/>
          <p:nvPr/>
        </p:nvSpPr>
        <p:spPr>
          <a:xfrm>
            <a:off x="8128000" y="4368800"/>
            <a:ext cx="3302000" cy="609600"/>
          </a:xfrm>
          <a:prstGeom prst="rect">
            <a:avLst/>
          </a:prstGeom>
          <a:noFill/>
          <a:ln>
            <a:noFill/>
          </a:ln>
        </p:spPr>
        <p:txBody>
          <a:bodyPr wrap="square" lIns="0" tIns="0" rIns="0" bIns="0" anchor="ctr"/>
          <a:lstStyle/>
          <a:p>
            <a:pPr algn="l"/>
            <a:r>
              <a:rPr lang="en-US" sz="1800" dirty="0">
                <a:solidFill>
                  <a:srgbClr val="A0A0A0"/>
                </a:solidFill>
                <a:latin typeface="Segoe UI"/>
              </a:rPr>
              <a:t>Test </a:t>
            </a:r>
            <a:r>
              <a:rPr lang="en-US" dirty="0">
                <a:solidFill>
                  <a:srgbClr val="A0A0A0"/>
                </a:solidFill>
                <a:latin typeface="Segoe UI"/>
              </a:rPr>
              <a:t>C</a:t>
            </a:r>
            <a:r>
              <a:rPr lang="en-US" sz="1800" dirty="0">
                <a:solidFill>
                  <a:srgbClr val="A0A0A0"/>
                </a:solidFill>
                <a:latin typeface="Segoe UI"/>
              </a:rPr>
              <a:t>ompiler</a:t>
            </a:r>
          </a:p>
        </p:txBody>
      </p:sp>
      <p:sp>
        <p:nvSpPr>
          <p:cNvPr id="52" name="RL4"/>
          <p:cNvSpPr/>
          <p:nvPr/>
        </p:nvSpPr>
        <p:spPr>
          <a:xfrm>
            <a:off x="762000" y="5105400"/>
            <a:ext cx="1905000" cy="609600"/>
          </a:xfrm>
          <a:prstGeom prst="roundRect">
            <a:avLst>
              <a:gd name="adj" fmla="val 15000"/>
            </a:avLst>
          </a:prstGeom>
          <a:solidFill>
            <a:srgbClr val="FF6B6B">
              <a:alpha val="15000"/>
            </a:srgbClr>
          </a:solidFill>
          <a:ln w="9525">
            <a:solidFill>
              <a:srgbClr val="FF6B6B">
                <a:alpha val="50000"/>
              </a:srgbClr>
            </a:solidFill>
          </a:ln>
        </p:spPr>
        <p:txBody>
          <a:bodyPr wrap="square" anchor="ctr"/>
          <a:lstStyle/>
          <a:p>
            <a:pPr algn="ctr"/>
            <a:r>
              <a:rPr lang="en-US" sz="1800" dirty="0">
                <a:solidFill>
                  <a:srgbClr val="FF6B6B"/>
                </a:solidFill>
                <a:latin typeface="Segoe UI"/>
              </a:rPr>
              <a:t>Implementation</a:t>
            </a:r>
          </a:p>
        </p:txBody>
      </p:sp>
      <p:sp>
        <p:nvSpPr>
          <p:cNvPr id="53" name="RS4"/>
          <p:cNvSpPr/>
          <p:nvPr/>
        </p:nvSpPr>
        <p:spPr>
          <a:xfrm>
            <a:off x="2921000" y="5105400"/>
            <a:ext cx="4826000" cy="609600"/>
          </a:xfrm>
          <a:prstGeom prst="rect">
            <a:avLst/>
          </a:prstGeom>
          <a:noFill/>
          <a:ln>
            <a:noFill/>
          </a:ln>
        </p:spPr>
        <p:txBody>
          <a:bodyPr wrap="square" lIns="0" tIns="0" rIns="0" bIns="0" anchor="ctr"/>
          <a:lstStyle/>
          <a:p>
            <a:pPr algn="l"/>
            <a:r>
              <a:rPr lang="en-US" sz="1800" dirty="0">
                <a:solidFill>
                  <a:srgbClr val="00D4AA"/>
                </a:solidFill>
                <a:latin typeface="Consolas"/>
              </a:rPr>
              <a:t>Modular Code</a:t>
            </a:r>
            <a:r>
              <a:rPr lang="en-US" sz="1800" dirty="0">
                <a:solidFill>
                  <a:srgbClr val="808080"/>
                </a:solidFill>
                <a:latin typeface="Segoe UI"/>
              </a:rPr>
              <a:t>  Collector/Transformer</a:t>
            </a:r>
          </a:p>
        </p:txBody>
      </p:sp>
      <p:sp>
        <p:nvSpPr>
          <p:cNvPr id="54" name="RC4"/>
          <p:cNvSpPr/>
          <p:nvPr/>
        </p:nvSpPr>
        <p:spPr>
          <a:xfrm>
            <a:off x="8128000" y="5105400"/>
            <a:ext cx="3302000" cy="609600"/>
          </a:xfrm>
          <a:prstGeom prst="rect">
            <a:avLst/>
          </a:prstGeom>
          <a:noFill/>
          <a:ln>
            <a:noFill/>
          </a:ln>
        </p:spPr>
        <p:txBody>
          <a:bodyPr wrap="square" lIns="0" tIns="0" rIns="0" bIns="0" anchor="ctr"/>
          <a:lstStyle/>
          <a:p>
            <a:pPr algn="l"/>
            <a:r>
              <a:rPr lang="en-US" sz="1800" dirty="0">
                <a:solidFill>
                  <a:srgbClr val="A0A0A0"/>
                </a:solidFill>
                <a:latin typeface="Segoe UI"/>
              </a:rPr>
              <a:t>TypeScript Compiler</a:t>
            </a:r>
          </a:p>
        </p:txBody>
      </p:sp>
      <p:sp>
        <p:nvSpPr>
          <p:cNvPr id="60" name="H0"/>
          <p:cNvSpPr/>
          <p:nvPr/>
        </p:nvSpPr>
        <p:spPr>
          <a:xfrm>
            <a:off x="762000" y="5842000"/>
            <a:ext cx="1905000" cy="381000"/>
          </a:xfrm>
          <a:prstGeom prst="rect">
            <a:avLst/>
          </a:prstGeom>
          <a:noFill/>
          <a:ln>
            <a:noFill/>
          </a:ln>
        </p:spPr>
        <p:txBody>
          <a:bodyPr wrap="square" lIns="0" tIns="0" rIns="0" bIns="0" anchor="ctr"/>
          <a:lstStyle/>
          <a:p>
            <a:pPr algn="ctr"/>
            <a:r>
              <a:rPr lang="en-US" sz="1800" dirty="0">
                <a:solidFill>
                  <a:srgbClr val="606060"/>
                </a:solidFill>
                <a:latin typeface="Segoe UI"/>
              </a:rPr>
              <a:t>Phase</a:t>
            </a:r>
          </a:p>
        </p:txBody>
      </p:sp>
      <p:sp>
        <p:nvSpPr>
          <p:cNvPr id="61" name="H1"/>
          <p:cNvSpPr/>
          <p:nvPr/>
        </p:nvSpPr>
        <p:spPr>
          <a:xfrm>
            <a:off x="2921000" y="5842000"/>
            <a:ext cx="4826000" cy="381000"/>
          </a:xfrm>
          <a:prstGeom prst="rect">
            <a:avLst/>
          </a:prstGeom>
          <a:noFill/>
          <a:ln>
            <a:noFill/>
          </a:ln>
        </p:spPr>
        <p:txBody>
          <a:bodyPr wrap="square" lIns="0" tIns="0" rIns="0" bIns="0" anchor="ctr"/>
          <a:lstStyle/>
          <a:p>
            <a:pPr algn="l"/>
            <a:r>
              <a:rPr lang="en-US" sz="1800" dirty="0">
                <a:solidFill>
                  <a:srgbClr val="606060"/>
                </a:solidFill>
                <a:latin typeface="Segoe UI"/>
              </a:rPr>
              <a:t>LLM Fills</a:t>
            </a:r>
          </a:p>
        </p:txBody>
      </p:sp>
      <p:sp>
        <p:nvSpPr>
          <p:cNvPr id="62" name="H2"/>
          <p:cNvSpPr/>
          <p:nvPr/>
        </p:nvSpPr>
        <p:spPr>
          <a:xfrm>
            <a:off x="8128000" y="5842000"/>
            <a:ext cx="3302000" cy="381000"/>
          </a:xfrm>
          <a:prstGeom prst="rect">
            <a:avLst/>
          </a:prstGeom>
          <a:noFill/>
          <a:ln>
            <a:noFill/>
          </a:ln>
        </p:spPr>
        <p:txBody>
          <a:bodyPr wrap="square" lIns="0" tIns="0" rIns="0" bIns="0" anchor="ctr"/>
          <a:lstStyle/>
          <a:p>
            <a:pPr algn="l"/>
            <a:r>
              <a:rPr lang="en-US" sz="1800" dirty="0">
                <a:solidFill>
                  <a:srgbClr val="606060"/>
                </a:solidFill>
                <a:latin typeface="Segoe UI"/>
              </a:rPr>
              <a:t>Compiler Validates</a:t>
            </a:r>
          </a:p>
        </p:txBody>
      </p:sp>
    </p:spTree>
    <p:extLst>
      <p:ext uri="{BB962C8B-B14F-4D97-AF65-F5344CB8AC3E}">
        <p14:creationId xmlns:p14="http://schemas.microsoft.com/office/powerpoint/2010/main" val="37729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Self-Healing Loops</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S0"/>
          <p:cNvSpPr/>
          <p:nvPr/>
        </p:nvSpPr>
        <p:spPr>
          <a:xfrm>
            <a:off x="1016000" y="1397000"/>
            <a:ext cx="2032000" cy="762000"/>
          </a:xfrm>
          <a:prstGeom prst="roundRect">
            <a:avLst>
              <a:gd name="adj" fmla="val 15000"/>
            </a:avLst>
          </a:prstGeom>
          <a:solidFill>
            <a:srgbClr val="6C5CE7">
              <a:alpha val="20000"/>
            </a:srgbClr>
          </a:solidFill>
          <a:ln w="15875">
            <a:solidFill>
              <a:srgbClr val="6C5CE7"/>
            </a:solidFill>
          </a:ln>
        </p:spPr>
        <p:txBody>
          <a:bodyPr wrap="square" anchor="ctr"/>
          <a:lstStyle/>
          <a:p>
            <a:pPr algn="ctr"/>
            <a:r>
              <a:rPr lang="en-US" sz="2000" b="1" dirty="0">
                <a:solidFill>
                  <a:srgbClr val="6C5CE7"/>
                </a:solidFill>
                <a:latin typeface="Segoe UI Semibold"/>
              </a:rPr>
              <a:t>Generate</a:t>
            </a:r>
          </a:p>
        </p:txBody>
      </p:sp>
      <p:sp>
        <p:nvSpPr>
          <p:cNvPr id="30" name="A0"/>
          <p:cNvSpPr/>
          <p:nvPr/>
        </p:nvSpPr>
        <p:spPr>
          <a:xfrm>
            <a:off x="3098800" y="1676400"/>
            <a:ext cx="203200" cy="203200"/>
          </a:xfrm>
          <a:prstGeom prst="rightArrow">
            <a:avLst/>
          </a:prstGeom>
          <a:solidFill>
            <a:srgbClr val="808080"/>
          </a:solidFill>
          <a:ln>
            <a:noFill/>
          </a:ln>
        </p:spPr>
        <p:txBody>
          <a:bodyPr/>
          <a:lstStyle/>
          <a:p>
            <a:endParaRPr lang="en-US"/>
          </a:p>
        </p:txBody>
      </p:sp>
      <p:sp>
        <p:nvSpPr>
          <p:cNvPr id="21" name="S1"/>
          <p:cNvSpPr/>
          <p:nvPr/>
        </p:nvSpPr>
        <p:spPr>
          <a:xfrm>
            <a:off x="3302000" y="1397000"/>
            <a:ext cx="2032000" cy="762000"/>
          </a:xfrm>
          <a:prstGeom prst="roundRect">
            <a:avLst>
              <a:gd name="adj" fmla="val 15000"/>
            </a:avLst>
          </a:prstGeom>
          <a:solidFill>
            <a:srgbClr val="00D4AA">
              <a:alpha val="20000"/>
            </a:srgbClr>
          </a:solidFill>
          <a:ln w="15875">
            <a:solidFill>
              <a:srgbClr val="00D4AA"/>
            </a:solidFill>
          </a:ln>
        </p:spPr>
        <p:txBody>
          <a:bodyPr wrap="square" anchor="ctr"/>
          <a:lstStyle/>
          <a:p>
            <a:pPr algn="ctr"/>
            <a:r>
              <a:rPr lang="en-US" sz="2000" b="1" dirty="0">
                <a:solidFill>
                  <a:srgbClr val="00D4AA"/>
                </a:solidFill>
                <a:latin typeface="Segoe UI Semibold"/>
              </a:rPr>
              <a:t>Compile</a:t>
            </a:r>
          </a:p>
        </p:txBody>
      </p:sp>
      <p:sp>
        <p:nvSpPr>
          <p:cNvPr id="31" name="A1"/>
          <p:cNvSpPr/>
          <p:nvPr/>
        </p:nvSpPr>
        <p:spPr>
          <a:xfrm>
            <a:off x="5384800" y="1676400"/>
            <a:ext cx="203200" cy="203200"/>
          </a:xfrm>
          <a:prstGeom prst="rightArrow">
            <a:avLst/>
          </a:prstGeom>
          <a:solidFill>
            <a:srgbClr val="808080"/>
          </a:solidFill>
          <a:ln>
            <a:noFill/>
          </a:ln>
        </p:spPr>
        <p:txBody>
          <a:bodyPr/>
          <a:lstStyle/>
          <a:p>
            <a:endParaRPr lang="en-US"/>
          </a:p>
        </p:txBody>
      </p:sp>
      <p:sp>
        <p:nvSpPr>
          <p:cNvPr id="22" name="S2"/>
          <p:cNvSpPr/>
          <p:nvPr/>
        </p:nvSpPr>
        <p:spPr>
          <a:xfrm>
            <a:off x="5588000" y="1397000"/>
            <a:ext cx="2032000" cy="762000"/>
          </a:xfrm>
          <a:prstGeom prst="roundRect">
            <a:avLst>
              <a:gd name="adj" fmla="val 15000"/>
            </a:avLst>
          </a:prstGeom>
          <a:solidFill>
            <a:srgbClr val="FFD93D">
              <a:alpha val="20000"/>
            </a:srgbClr>
          </a:solidFill>
          <a:ln w="15875">
            <a:solidFill>
              <a:srgbClr val="FFD93D"/>
            </a:solidFill>
          </a:ln>
        </p:spPr>
        <p:txBody>
          <a:bodyPr wrap="square" anchor="ctr"/>
          <a:lstStyle/>
          <a:p>
            <a:pPr algn="ctr"/>
            <a:r>
              <a:rPr lang="en-US" sz="2000" b="1" dirty="0">
                <a:solidFill>
                  <a:srgbClr val="FFD93D"/>
                </a:solidFill>
                <a:latin typeface="Segoe UI Semibold"/>
              </a:rPr>
              <a:t>Diagnose</a:t>
            </a:r>
          </a:p>
        </p:txBody>
      </p:sp>
      <p:sp>
        <p:nvSpPr>
          <p:cNvPr id="32" name="A2"/>
          <p:cNvSpPr/>
          <p:nvPr/>
        </p:nvSpPr>
        <p:spPr>
          <a:xfrm>
            <a:off x="7670800" y="1676400"/>
            <a:ext cx="203200" cy="203200"/>
          </a:xfrm>
          <a:prstGeom prst="rightArrow">
            <a:avLst/>
          </a:prstGeom>
          <a:solidFill>
            <a:srgbClr val="808080"/>
          </a:solidFill>
          <a:ln>
            <a:noFill/>
          </a:ln>
        </p:spPr>
        <p:txBody>
          <a:bodyPr/>
          <a:lstStyle/>
          <a:p>
            <a:endParaRPr lang="en-US"/>
          </a:p>
        </p:txBody>
      </p:sp>
      <p:sp>
        <p:nvSpPr>
          <p:cNvPr id="23" name="S3"/>
          <p:cNvSpPr/>
          <p:nvPr/>
        </p:nvSpPr>
        <p:spPr>
          <a:xfrm>
            <a:off x="7874000" y="1397000"/>
            <a:ext cx="2032000" cy="762000"/>
          </a:xfrm>
          <a:prstGeom prst="roundRect">
            <a:avLst>
              <a:gd name="adj" fmla="val 15000"/>
            </a:avLst>
          </a:prstGeom>
          <a:solidFill>
            <a:srgbClr val="FF6B6B">
              <a:alpha val="20000"/>
            </a:srgbClr>
          </a:solidFill>
          <a:ln w="15875">
            <a:solidFill>
              <a:srgbClr val="FF6B6B"/>
            </a:solidFill>
          </a:ln>
        </p:spPr>
        <p:txBody>
          <a:bodyPr wrap="square" anchor="ctr"/>
          <a:lstStyle/>
          <a:p>
            <a:pPr algn="ctr"/>
            <a:r>
              <a:rPr lang="en-US" sz="2000" b="1" dirty="0">
                <a:solidFill>
                  <a:srgbClr val="FF6B6B"/>
                </a:solidFill>
                <a:latin typeface="Segoe UI Semibold"/>
              </a:rPr>
              <a:t>Correct</a:t>
            </a:r>
          </a:p>
        </p:txBody>
      </p:sp>
      <p:sp>
        <p:nvSpPr>
          <p:cNvPr id="35" name="LoopBack"/>
          <p:cNvSpPr/>
          <p:nvPr/>
        </p:nvSpPr>
        <p:spPr>
          <a:xfrm>
            <a:off x="3810000" y="2222500"/>
            <a:ext cx="4572000" cy="444500"/>
          </a:xfrm>
          <a:prstGeom prst="curvedUpArrow">
            <a:avLst/>
          </a:prstGeom>
          <a:solidFill>
            <a:srgbClr val="FF6B6B">
              <a:alpha val="40000"/>
            </a:srgbClr>
          </a:solidFill>
          <a:ln>
            <a:noFill/>
          </a:ln>
        </p:spPr>
        <p:txBody>
          <a:bodyPr/>
          <a:lstStyle/>
          <a:p>
            <a:endParaRPr lang="en-US"/>
          </a:p>
        </p:txBody>
      </p:sp>
      <p:sp>
        <p:nvSpPr>
          <p:cNvPr id="36" name="Label"/>
          <p:cNvSpPr/>
          <p:nvPr/>
        </p:nvSpPr>
        <p:spPr>
          <a:xfrm>
            <a:off x="3810000" y="2705100"/>
            <a:ext cx="4572000" cy="381000"/>
          </a:xfrm>
          <a:prstGeom prst="rect">
            <a:avLst/>
          </a:prstGeom>
          <a:noFill/>
          <a:ln>
            <a:noFill/>
          </a:ln>
        </p:spPr>
        <p:txBody>
          <a:bodyPr wrap="square" anchor="ctr"/>
          <a:lstStyle/>
          <a:p>
            <a:pPr algn="ctr"/>
            <a:r>
              <a:rPr lang="en-US" sz="1800" i="1" dirty="0">
                <a:solidFill>
                  <a:srgbClr val="808080"/>
                </a:solidFill>
                <a:latin typeface="Segoe UI"/>
              </a:rPr>
              <a:t>repeat until success</a:t>
            </a:r>
          </a:p>
        </p:txBody>
      </p:sp>
      <p:sp>
        <p:nvSpPr>
          <p:cNvPr id="40" name="R0"/>
          <p:cNvSpPr/>
          <p:nvPr/>
        </p:nvSpPr>
        <p:spPr>
          <a:xfrm>
            <a:off x="1016000" y="3365500"/>
            <a:ext cx="10160000" cy="533400"/>
          </a:xfrm>
          <a:prstGeom prst="rect">
            <a:avLst/>
          </a:prstGeom>
          <a:noFill/>
          <a:ln>
            <a:noFill/>
          </a:ln>
        </p:spPr>
        <p:txBody>
          <a:bodyPr wrap="square" lIns="127000" tIns="0" rIns="0" bIns="0" anchor="ctr"/>
          <a:lstStyle/>
          <a:p>
            <a:pPr algn="l"/>
            <a:r>
              <a:rPr lang="en-US" sz="1800" b="1" dirty="0">
                <a:solidFill>
                  <a:srgbClr val="00D4AA"/>
                </a:solidFill>
                <a:latin typeface="Segoe UI Semibold"/>
              </a:rPr>
              <a:t>1. Inline retry</a:t>
            </a:r>
            <a:r>
              <a:rPr lang="en-US" sz="1800" dirty="0">
                <a:solidFill>
                  <a:srgbClr val="A0A0A0"/>
                </a:solidFill>
                <a:latin typeface="Segoe UI"/>
              </a:rPr>
              <a:t>  —  Immediate single retry after generation</a:t>
            </a:r>
          </a:p>
        </p:txBody>
      </p:sp>
      <p:sp>
        <p:nvSpPr>
          <p:cNvPr id="41" name="R1"/>
          <p:cNvSpPr/>
          <p:nvPr/>
        </p:nvSpPr>
        <p:spPr>
          <a:xfrm>
            <a:off x="1016000" y="4000500"/>
            <a:ext cx="10160000" cy="533400"/>
          </a:xfrm>
          <a:prstGeom prst="rect">
            <a:avLst/>
          </a:prstGeom>
          <a:noFill/>
          <a:ln>
            <a:noFill/>
          </a:ln>
        </p:spPr>
        <p:txBody>
          <a:bodyPr wrap="square" lIns="127000" tIns="0" rIns="0" bIns="0" anchor="ctr"/>
          <a:lstStyle/>
          <a:p>
            <a:pPr algn="l"/>
            <a:r>
              <a:rPr lang="en-US" sz="1800" b="1" dirty="0">
                <a:solidFill>
                  <a:srgbClr val="FFD93D"/>
                </a:solidFill>
                <a:latin typeface="Segoe UI Semibold"/>
              </a:rPr>
              <a:t>2. Correction loop</a:t>
            </a:r>
            <a:r>
              <a:rPr lang="en-US" sz="1800" dirty="0">
                <a:solidFill>
                  <a:srgbClr val="A0A0A0"/>
                </a:solidFill>
                <a:latin typeface="Segoe UI"/>
              </a:rPr>
              <a:t>  —  Recursive correction from compilation diagnostics</a:t>
            </a:r>
          </a:p>
        </p:txBody>
      </p:sp>
      <p:sp>
        <p:nvSpPr>
          <p:cNvPr id="42" name="R2"/>
          <p:cNvSpPr/>
          <p:nvPr/>
        </p:nvSpPr>
        <p:spPr>
          <a:xfrm>
            <a:off x="1016000" y="4635500"/>
            <a:ext cx="10160000" cy="533400"/>
          </a:xfrm>
          <a:prstGeom prst="rect">
            <a:avLst/>
          </a:prstGeom>
          <a:noFill/>
          <a:ln>
            <a:noFill/>
          </a:ln>
        </p:spPr>
        <p:txBody>
          <a:bodyPr wrap="square" lIns="127000" tIns="0" rIns="0" bIns="0" anchor="ctr"/>
          <a:lstStyle/>
          <a:p>
            <a:pPr algn="l"/>
            <a:r>
              <a:rPr lang="en-US" sz="1800" b="1" dirty="0">
                <a:solidFill>
                  <a:srgbClr val="FF6B6B"/>
                </a:solidFill>
                <a:latin typeface="Segoe UI Semibold"/>
              </a:rPr>
              <a:t>3. Outer retry</a:t>
            </a:r>
            <a:r>
              <a:rPr lang="en-US" sz="1800" dirty="0">
                <a:solidFill>
                  <a:srgbClr val="A0A0A0"/>
                </a:solidFill>
                <a:latin typeface="Segoe UI"/>
              </a:rPr>
              <a:t>  —  Reprocesses failed operations up to 2×</a:t>
            </a:r>
          </a:p>
        </p:txBody>
      </p:sp>
      <p:sp>
        <p:nvSpPr>
          <p:cNvPr id="43" name="R3"/>
          <p:cNvSpPr/>
          <p:nvPr/>
        </p:nvSpPr>
        <p:spPr>
          <a:xfrm>
            <a:off x="1016000" y="5270500"/>
            <a:ext cx="10160000" cy="533400"/>
          </a:xfrm>
          <a:prstGeom prst="rect">
            <a:avLst/>
          </a:prstGeom>
          <a:noFill/>
          <a:ln>
            <a:noFill/>
          </a:ln>
        </p:spPr>
        <p:txBody>
          <a:bodyPr wrap="square" lIns="127000" tIns="0" rIns="0" bIns="0" anchor="ctr"/>
          <a:lstStyle/>
          <a:p>
            <a:pPr algn="l"/>
            <a:r>
              <a:rPr lang="en-US" sz="1800" b="1" dirty="0">
                <a:solidFill>
                  <a:srgbClr val="6C5CE7"/>
                </a:solidFill>
                <a:latin typeface="Segoe UI Semibold"/>
              </a:rPr>
              <a:t>4. Selective reprocessing</a:t>
            </a:r>
            <a:r>
              <a:rPr lang="en-US" sz="1800" dirty="0">
                <a:solidFill>
                  <a:srgbClr val="A0A0A0"/>
                </a:solidFill>
                <a:latin typeface="Segoe UI"/>
              </a:rPr>
              <a:t>  —  38/40 APIs pass? Only reprocess the 2 failures</a:t>
            </a:r>
          </a:p>
        </p:txBody>
      </p:sp>
      <p:sp>
        <p:nvSpPr>
          <p:cNvPr id="50" name="Note"/>
          <p:cNvSpPr/>
          <p:nvPr/>
        </p:nvSpPr>
        <p:spPr>
          <a:xfrm>
            <a:off x="1270000" y="6032500"/>
            <a:ext cx="9652000" cy="381000"/>
          </a:xfrm>
          <a:prstGeom prst="rect">
            <a:avLst/>
          </a:prstGeom>
          <a:noFill/>
          <a:ln>
            <a:noFill/>
          </a:ln>
        </p:spPr>
        <p:txBody>
          <a:bodyPr wrap="square" lIns="0" tIns="0" rIns="0" bIns="0" anchor="ctr"/>
          <a:lstStyle/>
          <a:p>
            <a:pPr algn="ctr"/>
            <a:r>
              <a:rPr lang="en-US" sz="1800" b="1" dirty="0">
                <a:solidFill>
                  <a:srgbClr val="00D4AA"/>
                </a:solidFill>
                <a:latin typeface="Segoe UI"/>
              </a:rPr>
              <a:t>Successful code is preserved. Only failures are corrected.</a:t>
            </a:r>
          </a:p>
        </p:txBody>
      </p:sp>
    </p:spTree>
    <p:extLst>
      <p:ext uri="{BB962C8B-B14F-4D97-AF65-F5344CB8AC3E}">
        <p14:creationId xmlns:p14="http://schemas.microsoft.com/office/powerpoint/2010/main" val="7402932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r>
              <a:rPr lang="en-US" sz="2800" b="1" dirty="0">
                <a:solidFill>
                  <a:srgbClr val="F0F0F0"/>
                </a:solidFill>
                <a:latin typeface="Segoe UI Semibold"/>
              </a:rPr>
              <a:t>4-Tier Compiler Validation</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T1Bg"/>
          <p:cNvSpPr/>
          <p:nvPr/>
        </p:nvSpPr>
        <p:spPr>
          <a:xfrm>
            <a:off x="762000" y="1270000"/>
            <a:ext cx="10668000" cy="1079500"/>
          </a:xfrm>
          <a:prstGeom prst="rect">
            <a:avLst/>
          </a:prstGeom>
          <a:solidFill>
            <a:srgbClr val="1E2A3A"/>
          </a:solidFill>
          <a:ln>
            <a:noFill/>
          </a:ln>
        </p:spPr>
        <p:txBody>
          <a:bodyPr/>
          <a:lstStyle/>
          <a:p>
            <a:endParaRPr lang="en-US"/>
          </a:p>
        </p:txBody>
      </p:sp>
      <p:sp>
        <p:nvSpPr>
          <p:cNvPr id="21" name="T1"/>
          <p:cNvSpPr/>
          <p:nvPr/>
        </p:nvSpPr>
        <p:spPr>
          <a:xfrm>
            <a:off x="889000" y="1295400"/>
            <a:ext cx="10414000" cy="1041400"/>
          </a:xfrm>
          <a:prstGeom prst="rect">
            <a:avLst/>
          </a:prstGeom>
          <a:noFill/>
          <a:ln>
            <a:noFill/>
          </a:ln>
        </p:spPr>
        <p:txBody>
          <a:bodyPr wrap="square" lIns="36000" tIns="36000" rIns="36000" bIns="36000"/>
          <a:lstStyle/>
          <a:p>
            <a:r>
              <a:rPr lang="en-US" sz="1800" b="1" dirty="0">
                <a:solidFill>
                  <a:srgbClr val="00D4AA"/>
                </a:solidFill>
                <a:latin typeface="Segoe UI Semibold"/>
              </a:rPr>
              <a:t>Tier 1: AutoBeDatabase Compiler</a:t>
            </a:r>
          </a:p>
          <a:p>
            <a:r>
              <a:rPr lang="en-US" sz="1600" dirty="0">
                <a:solidFill>
                  <a:srgbClr val="D0D0D0"/>
                </a:solidFill>
                <a:latin typeface="Segoe UI"/>
              </a:rPr>
              <a:t>Duplicate model/field detection, referential integrity, naming conventions, index validity</a:t>
            </a:r>
          </a:p>
        </p:txBody>
      </p:sp>
      <p:sp>
        <p:nvSpPr>
          <p:cNvPr id="22" name="T2Bg"/>
          <p:cNvSpPr/>
          <p:nvPr/>
        </p:nvSpPr>
        <p:spPr>
          <a:xfrm>
            <a:off x="762000" y="2476500"/>
            <a:ext cx="10668000" cy="1079500"/>
          </a:xfrm>
          <a:prstGeom prst="rect">
            <a:avLst/>
          </a:prstGeom>
          <a:solidFill>
            <a:srgbClr val="1E2A3A"/>
          </a:solidFill>
          <a:ln>
            <a:noFill/>
          </a:ln>
        </p:spPr>
        <p:txBody>
          <a:bodyPr/>
          <a:lstStyle/>
          <a:p>
            <a:endParaRPr lang="en-US"/>
          </a:p>
        </p:txBody>
      </p:sp>
      <p:sp>
        <p:nvSpPr>
          <p:cNvPr id="23" name="T2"/>
          <p:cNvSpPr/>
          <p:nvPr/>
        </p:nvSpPr>
        <p:spPr>
          <a:xfrm>
            <a:off x="889000" y="2501900"/>
            <a:ext cx="10414000" cy="1041400"/>
          </a:xfrm>
          <a:prstGeom prst="rect">
            <a:avLst/>
          </a:prstGeom>
          <a:noFill/>
          <a:ln>
            <a:noFill/>
          </a:ln>
        </p:spPr>
        <p:txBody>
          <a:bodyPr wrap="square" lIns="36000" tIns="36000" rIns="36000" bIns="36000"/>
          <a:lstStyle/>
          <a:p>
            <a:r>
              <a:rPr lang="en-US" sz="1800" b="1" dirty="0">
                <a:solidFill>
                  <a:srgbClr val="00D4AA"/>
                </a:solidFill>
                <a:latin typeface="Segoe UI Semibold"/>
              </a:rPr>
              <a:t>Tier 2: AutoBeOpenApi Compiler</a:t>
            </a:r>
          </a:p>
          <a:p>
            <a:r>
              <a:rPr lang="en-US" sz="1600" dirty="0">
                <a:solidFill>
                  <a:srgbClr val="D0D0D0"/>
                </a:solidFill>
                <a:latin typeface="Segoe UI"/>
              </a:rPr>
              <a:t>DB-API consistency, path uniqueness, schema reference validity → generates NestJS templates</a:t>
            </a:r>
          </a:p>
        </p:txBody>
      </p:sp>
      <p:sp>
        <p:nvSpPr>
          <p:cNvPr id="24" name="T3Bg"/>
          <p:cNvSpPr/>
          <p:nvPr/>
        </p:nvSpPr>
        <p:spPr>
          <a:xfrm>
            <a:off x="762000" y="3683000"/>
            <a:ext cx="10668000" cy="1079500"/>
          </a:xfrm>
          <a:prstGeom prst="rect">
            <a:avLst/>
          </a:prstGeom>
          <a:solidFill>
            <a:srgbClr val="1E2A3A"/>
          </a:solidFill>
          <a:ln>
            <a:noFill/>
          </a:ln>
        </p:spPr>
        <p:txBody>
          <a:bodyPr/>
          <a:lstStyle/>
          <a:p>
            <a:endParaRPr lang="en-US"/>
          </a:p>
        </p:txBody>
      </p:sp>
      <p:sp>
        <p:nvSpPr>
          <p:cNvPr id="25" name="T3"/>
          <p:cNvSpPr/>
          <p:nvPr/>
        </p:nvSpPr>
        <p:spPr>
          <a:xfrm>
            <a:off x="889000" y="3708400"/>
            <a:ext cx="10414000" cy="1041400"/>
          </a:xfrm>
          <a:prstGeom prst="rect">
            <a:avLst/>
          </a:prstGeom>
          <a:noFill/>
          <a:ln>
            <a:noFill/>
          </a:ln>
        </p:spPr>
        <p:txBody>
          <a:bodyPr wrap="square" lIns="36000" tIns="36000" rIns="36000" bIns="36000"/>
          <a:lstStyle/>
          <a:p>
            <a:r>
              <a:rPr lang="en-US" sz="1800" b="1" dirty="0">
                <a:solidFill>
                  <a:srgbClr val="00D4AA"/>
                </a:solidFill>
                <a:latin typeface="Segoe UI Semibold"/>
              </a:rPr>
              <a:t>Tier 3: AutoBeTest Compiler</a:t>
            </a:r>
          </a:p>
          <a:p>
            <a:r>
              <a:rPr lang="en-US" sz="1600" dirty="0">
                <a:solidFill>
                  <a:srgbClr val="D0D0D0"/>
                </a:solidFill>
                <a:latin typeface="Segoe UI"/>
              </a:rPr>
              <a:t>E2E test AST validation (30+ IExpression variants), API spec consistency → TypeScript test code</a:t>
            </a:r>
          </a:p>
        </p:txBody>
      </p:sp>
      <p:sp>
        <p:nvSpPr>
          <p:cNvPr id="26" name="T4Bg"/>
          <p:cNvSpPr/>
          <p:nvPr/>
        </p:nvSpPr>
        <p:spPr>
          <a:xfrm>
            <a:off x="762000" y="4889500"/>
            <a:ext cx="10668000" cy="1079500"/>
          </a:xfrm>
          <a:prstGeom prst="rect">
            <a:avLst/>
          </a:prstGeom>
          <a:solidFill>
            <a:srgbClr val="1E2A3A"/>
          </a:solidFill>
          <a:ln>
            <a:noFill/>
          </a:ln>
        </p:spPr>
        <p:txBody>
          <a:bodyPr/>
          <a:lstStyle/>
          <a:p>
            <a:endParaRPr lang="en-US"/>
          </a:p>
        </p:txBody>
      </p:sp>
      <p:sp>
        <p:nvSpPr>
          <p:cNvPr id="27" name="T4"/>
          <p:cNvSpPr/>
          <p:nvPr/>
        </p:nvSpPr>
        <p:spPr>
          <a:xfrm>
            <a:off x="889000" y="4914900"/>
            <a:ext cx="10414000" cy="1041400"/>
          </a:xfrm>
          <a:prstGeom prst="rect">
            <a:avLst/>
          </a:prstGeom>
          <a:noFill/>
          <a:ln>
            <a:noFill/>
          </a:ln>
        </p:spPr>
        <p:txBody>
          <a:bodyPr wrap="square" lIns="36000" tIns="36000" rIns="36000" bIns="36000"/>
          <a:lstStyle/>
          <a:p>
            <a:r>
              <a:rPr lang="en-US" sz="1800" b="1" dirty="0">
                <a:solidFill>
                  <a:srgbClr val="00D4AA"/>
                </a:solidFill>
                <a:latin typeface="Segoe UI Semibold"/>
              </a:rPr>
              <a:t>Tier 4: TypeScript Compiler</a:t>
            </a:r>
          </a:p>
          <a:p>
            <a:r>
              <a:rPr lang="en-US" sz="1600" dirty="0">
                <a:solidFill>
                  <a:srgbClr val="D0D0D0"/>
                </a:solidFill>
                <a:latin typeface="Segoe UI"/>
              </a:rPr>
              <a:t>Strict mode (strict null checks, no implicit any). Incremental compilation → 15x speedup</a:t>
            </a:r>
          </a:p>
        </p:txBody>
      </p:sp>
      <p:sp>
        <p:nvSpPr>
          <p:cNvPr id="30" name="Note"/>
          <p:cNvSpPr/>
          <p:nvPr/>
        </p:nvSpPr>
        <p:spPr>
          <a:xfrm>
            <a:off x="1016000" y="6159500"/>
            <a:ext cx="10160000" cy="381000"/>
          </a:xfrm>
          <a:prstGeom prst="rect">
            <a:avLst/>
          </a:prstGeom>
          <a:noFill/>
          <a:ln>
            <a:noFill/>
          </a:ln>
        </p:spPr>
        <p:txBody>
          <a:bodyPr wrap="square" lIns="36000" tIns="36000" rIns="36000" bIns="36000"/>
          <a:lstStyle/>
          <a:p>
            <a:pPr algn="ctr"/>
            <a:r>
              <a:rPr lang="en-US" sz="1600" dirty="0">
                <a:solidFill>
                  <a:srgbClr val="FFD93D"/>
                </a:solidFill>
                <a:latin typeface="Segoe UI"/>
              </a:rPr>
              <a:t>All 4 tiers return structured diagnostics: where, what, and why went wrong</a:t>
            </a:r>
          </a:p>
        </p:txBody>
      </p:sp>
    </p:spTree>
    <p:extLst>
      <p:ext uri="{BB962C8B-B14F-4D97-AF65-F5344CB8AC3E}">
        <p14:creationId xmlns:p14="http://schemas.microsoft.com/office/powerpoint/2010/main" val="11788261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algn="l"/>
            <a:r>
              <a:rPr lang="en-US" sz="2400" b="1" dirty="0">
                <a:solidFill>
                  <a:srgbClr val="F0F0F0"/>
                </a:solidFill>
                <a:latin typeface="Segoe UI Semibold"/>
              </a:rPr>
              <a:t>The Forms Are Not Simple</a:t>
            </a:r>
          </a:p>
        </p:txBody>
      </p:sp>
      <p:sp>
        <p:nvSpPr>
          <p:cNvPr id="11" name="Sub"/>
          <p:cNvSpPr/>
          <p:nvPr/>
        </p:nvSpPr>
        <p:spPr>
          <a:xfrm>
            <a:off x="762000" y="863600"/>
            <a:ext cx="10668000" cy="317500"/>
          </a:xfrm>
          <a:prstGeom prst="rect">
            <a:avLst/>
          </a:prstGeom>
          <a:noFill/>
          <a:ln>
            <a:noFill/>
          </a:ln>
        </p:spPr>
        <p:txBody>
          <a:bodyPr wrap="square" lIns="0" tIns="0" rIns="0" bIns="0" anchor="t"/>
          <a:lstStyle/>
          <a:p>
            <a:pPr algn="l"/>
            <a:r>
              <a:rPr lang="en-US" sz="1800" dirty="0">
                <a:solidFill>
                  <a:srgbClr val="808080"/>
                </a:solidFill>
                <a:latin typeface="Segoe UI"/>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endParaRPr lang="en-US"/>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algn="l">
              <a:lnSpc>
                <a:spcPts val="2800"/>
              </a:lnSpc>
              <a:buNone/>
            </a:pPr>
            <a:r>
              <a:rPr lang="en-US" sz="1800" dirty="0">
                <a:solidFill>
                  <a:srgbClr val="C586C0"/>
                </a:solidFill>
                <a:latin typeface="Consolas"/>
              </a:rPr>
              <a:t>export type </a:t>
            </a:r>
            <a:r>
              <a:rPr lang="en-US" sz="1800" dirty="0">
                <a:solidFill>
                  <a:srgbClr val="4EC9B0"/>
                </a:solidFill>
                <a:latin typeface="Consolas"/>
              </a:rPr>
              <a:t>IJsonSchema</a:t>
            </a:r>
            <a:r>
              <a:rPr lang="en-US" sz="1800" dirty="0">
                <a:solidFill>
                  <a:srgbClr val="D4D4D4"/>
                </a:solidFill>
                <a:latin typeface="Consolas"/>
              </a:rPr>
              <a:t> =</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IJsonSchema.IConstant</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IJsonSchema.IBoolean</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IJsonSchema.IInteger</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IJsonSchema.INumber</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IJsonSchema.IString</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IJsonSchema.IArray</a:t>
            </a:r>
            <a:r>
              <a:rPr lang="en-US" sz="1800" dirty="0">
                <a:solidFill>
                  <a:srgbClr val="D4D4D4"/>
                </a:solidFill>
                <a:latin typeface="Consolas"/>
              </a:rPr>
              <a:t>      </a:t>
            </a:r>
            <a:r>
              <a:rPr lang="en-US" sz="1800" dirty="0">
                <a:solidFill>
                  <a:srgbClr val="6A9955"/>
                </a:solidFill>
                <a:latin typeface="Consolas"/>
              </a:rPr>
              <a:t>// items: IJsonSchema ← recursive</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IJsonSchema.IObject</a:t>
            </a:r>
            <a:r>
              <a:rPr lang="en-US" sz="1800" dirty="0">
                <a:solidFill>
                  <a:srgbClr val="D4D4D4"/>
                </a:solidFill>
                <a:latin typeface="Consolas"/>
              </a:rPr>
              <a:t>     </a:t>
            </a:r>
            <a:r>
              <a:rPr lang="en-US" sz="1800" dirty="0">
                <a:solidFill>
                  <a:srgbClr val="6A9955"/>
                </a:solidFill>
                <a:latin typeface="Consolas"/>
              </a:rPr>
              <a:t>// properties: Record&lt;...&gt; ← recursive</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IJsonSchema.IReference</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IJsonSchema.IOneOf</a:t>
            </a:r>
            <a:r>
              <a:rPr lang="en-US" sz="1800" dirty="0">
                <a:solidFill>
                  <a:srgbClr val="D4D4D4"/>
                </a:solidFill>
                <a:latin typeface="Consolas"/>
              </a:rPr>
              <a:t>      </a:t>
            </a:r>
            <a:r>
              <a:rPr lang="en-US" sz="1800" dirty="0">
                <a:solidFill>
                  <a:srgbClr val="6A9955"/>
                </a:solidFill>
                <a:latin typeface="Consolas"/>
              </a:rPr>
              <a:t>// oneOf: IJsonSchema[] ← recursive</a:t>
            </a:r>
          </a:p>
          <a:p>
            <a:pPr algn="l">
              <a:lnSpc>
                <a:spcPts val="2800"/>
              </a:lnSpc>
              <a:buNone/>
            </a:pPr>
            <a:r>
              <a:rPr lang="en-US" sz="1800" dirty="0">
                <a:solidFill>
                  <a:srgbClr val="D4D4D4"/>
                </a:solidFill>
                <a:latin typeface="Consolas"/>
              </a:rPr>
              <a:t>  </a:t>
            </a:r>
            <a:r>
              <a:rPr lang="en-US" sz="1800" dirty="0">
                <a:solidFill>
                  <a:srgbClr val="C586C0"/>
                </a:solidFill>
                <a:latin typeface="Consolas"/>
              </a:rPr>
              <a:t>| </a:t>
            </a:r>
            <a:r>
              <a:rPr lang="en-US" sz="1800" dirty="0">
                <a:solidFill>
                  <a:srgbClr val="4EC9B0"/>
                </a:solidFill>
                <a:latin typeface="Consolas"/>
              </a:rPr>
              <a:t>IJsonSchema.INull</a:t>
            </a:r>
            <a:r>
              <a:rPr lang="en-US" sz="1800" dirty="0">
                <a:solidFill>
                  <a:srgbClr val="D4D4D4"/>
                </a:solidFill>
                <a:latin typeface="Consola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algn="ctr"/>
            <a:r>
              <a:rPr lang="en-US" sz="1800" b="1" dirty="0">
                <a:solidFill>
                  <a:srgbClr val="FF6B6B"/>
                </a:solidFill>
                <a:latin typeface="Segoe UI Semibold"/>
              </a:rPr>
              <a:t>First-try success rate: 6.75%</a:t>
            </a:r>
            <a:r>
              <a:rPr lang="en-US" sz="1800" dirty="0">
                <a:solidFill>
                  <a:srgbClr val="A0A0A0"/>
                </a:solidFill>
                <a:latin typeface="Segoe UI"/>
              </a:rPr>
              <a:t>  —  10 variants × recursive nesting = combinatorial explosion</a:t>
            </a:r>
          </a:p>
        </p:txBody>
      </p:sp>
    </p:spTree>
    <p:extLst>
      <p:ext uri="{BB962C8B-B14F-4D97-AF65-F5344CB8AC3E}">
        <p14:creationId xmlns:p14="http://schemas.microsoft.com/office/powerpoint/2010/main" val="1064911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algn="l"/>
            <a:r>
              <a:rPr lang="en-US" sz="2400" b="1" dirty="0">
                <a:solidFill>
                  <a:srgbClr val="F0F0F0"/>
                </a:solidFill>
                <a:latin typeface="Segoe UI Semibold"/>
              </a:rPr>
              <a:t>IExpression — 30+ Variants, Recursive</a:t>
            </a: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algn="l"/>
            <a:r>
              <a:rPr lang="en-US" sz="1600" dirty="0">
                <a:solidFill>
                  <a:srgbClr val="808080"/>
                </a:solidFill>
                <a:latin typeface="Segoe UI"/>
              </a:rPr>
              <a:t>Test expression type — programming-language-level complexity in a single function call</a:t>
            </a:r>
          </a:p>
        </p:txBody>
      </p:sp>
      <p:sp>
        <p:nvSpPr>
          <p:cNvPr id="12" name="CodeBg"/>
          <p:cNvSpPr/>
          <p:nvPr/>
        </p:nvSpPr>
        <p:spPr>
          <a:xfrm>
            <a:off x="508000" y="1270000"/>
            <a:ext cx="11176000" cy="4445000"/>
          </a:xfrm>
          <a:prstGeom prst="rect">
            <a:avLst/>
          </a:prstGeom>
          <a:solidFill>
            <a:srgbClr val="0D1117"/>
          </a:solidFill>
          <a:ln>
            <a:noFill/>
          </a:ln>
        </p:spPr>
        <p:txBody>
          <a:bodyPr/>
          <a:lstStyle/>
          <a:p>
            <a:endParaRPr lang="en-US"/>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r>
              <a:rPr lang="en-US" sz="1400" dirty="0">
                <a:solidFill>
                  <a:srgbClr val="C586C0"/>
                </a:solidFill>
                <a:latin typeface="Consolas"/>
              </a:rPr>
              <a:t>export type </a:t>
            </a:r>
            <a:r>
              <a:rPr lang="en-US" sz="1400" dirty="0">
                <a:solidFill>
                  <a:srgbClr val="4EC9B0"/>
                </a:solidFill>
                <a:latin typeface="Consolas"/>
              </a:rPr>
              <a:t>IExpression</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IBooleanLiteral</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INumericLiteral</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IStringLiteral</a:t>
            </a:r>
            <a:r>
              <a:rPr lang="en-US" sz="1400" dirty="0">
                <a:solidFill>
                  <a:srgbClr val="D4D4D4"/>
                </a:solidFill>
                <a:latin typeface="Consolas"/>
              </a:rPr>
              <a:t>     </a:t>
            </a:r>
            <a:r>
              <a:rPr lang="en-US" sz="1400" dirty="0">
                <a:solidFill>
                  <a:srgbClr val="6A9955"/>
                </a:solidFill>
                <a:latin typeface="Consolas"/>
              </a:rPr>
              <a:t>// literals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IArrayLiteralExpression</a:t>
            </a:r>
            <a:r>
              <a:rPr lang="en-US" sz="1400" dirty="0">
                <a:solidFill>
                  <a:srgbClr val="D4D4D4"/>
                </a:solidFill>
                <a:latin typeface="Consolas"/>
              </a:rPr>
              <a:t>  </a:t>
            </a:r>
            <a:r>
              <a:rPr lang="en-US" sz="1400" dirty="0">
                <a:solidFill>
                  <a:srgbClr val="C586C0"/>
                </a:solidFill>
                <a:latin typeface="Consolas"/>
              </a:rPr>
              <a:t>| </a:t>
            </a:r>
            <a:r>
              <a:rPr lang="en-US" sz="1400" dirty="0" err="1">
                <a:solidFill>
                  <a:srgbClr val="4EC9B0"/>
                </a:solidFill>
                <a:latin typeface="Consolas"/>
              </a:rPr>
              <a:t>IObjectLiteralExpression</a:t>
            </a:r>
            <a:r>
              <a:rPr lang="en-US" sz="1400" dirty="0">
                <a:solidFill>
                  <a:srgbClr val="D4D4D4"/>
                </a:solidFill>
                <a:latin typeface="Consolas"/>
              </a:rPr>
              <a:t>         </a:t>
            </a:r>
            <a:r>
              <a:rPr lang="en-US" sz="1400" dirty="0">
                <a:solidFill>
                  <a:srgbClr val="6A9955"/>
                </a:solidFill>
                <a:latin typeface="Consolas"/>
              </a:rPr>
              <a:t>// compound literals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INullLiteral</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IUndefinedKeyword</a:t>
            </a:r>
            <a:r>
              <a:rPr lang="en-US" sz="1400" dirty="0">
                <a:solidFill>
                  <a:srgbClr val="D4D4D4"/>
                </a:solidFill>
                <a:latin typeface="Consolas"/>
              </a:rPr>
              <a:t>                       </a:t>
            </a:r>
            <a:r>
              <a:rPr lang="en-US" sz="1400" dirty="0">
                <a:solidFill>
                  <a:srgbClr val="6A9955"/>
                </a:solidFill>
                <a:latin typeface="Consolas"/>
              </a:rPr>
              <a:t>// null/undefined</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IIdentifier</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IPropertyAccessExpression</a:t>
            </a:r>
            <a:r>
              <a:rPr lang="en-US" sz="1400" dirty="0">
                <a:solidFill>
                  <a:srgbClr val="D4D4D4"/>
                </a:solidFill>
                <a:latin typeface="Consolas"/>
              </a:rPr>
              <a:t>               </a:t>
            </a:r>
            <a:r>
              <a:rPr lang="en-US" sz="1400" dirty="0">
                <a:solidFill>
                  <a:srgbClr val="6A9955"/>
                </a:solidFill>
                <a:latin typeface="Consolas"/>
              </a:rPr>
              <a:t>// accessors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IElementAccessExpression</a:t>
            </a:r>
            <a:r>
              <a:rPr lang="en-US" sz="1400" dirty="0">
                <a:solidFill>
                  <a:srgbClr val="D4D4D4"/>
                </a:solidFill>
                <a:latin typeface="Consolas"/>
              </a:rPr>
              <a:t> </a:t>
            </a:r>
            <a:r>
              <a:rPr lang="en-US" sz="1400" dirty="0">
                <a:solidFill>
                  <a:srgbClr val="C586C0"/>
                </a:solidFill>
                <a:latin typeface="Consolas"/>
              </a:rPr>
              <a:t>| </a:t>
            </a:r>
            <a:r>
              <a:rPr lang="en-US" sz="1400" dirty="0" err="1">
                <a:solidFill>
                  <a:srgbClr val="4EC9B0"/>
                </a:solidFill>
                <a:latin typeface="Consolas"/>
              </a:rPr>
              <a:t>ITypeOfExpression</a:t>
            </a:r>
            <a:r>
              <a:rPr lang="en-US" sz="1400" dirty="0">
                <a:solidFill>
                  <a:srgbClr val="D4D4D4"/>
                </a:solidFill>
                <a:latin typeface="Consolas"/>
              </a:rPr>
              <a:t>                </a:t>
            </a:r>
            <a:r>
              <a:rPr lang="en-US" sz="1400" dirty="0">
                <a:solidFill>
                  <a:srgbClr val="6A9955"/>
                </a:solidFill>
                <a:latin typeface="Consolas"/>
              </a:rPr>
              <a:t>// access/operations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IPrefixUnaryExpression</a:t>
            </a:r>
            <a:r>
              <a:rPr lang="en-US" sz="1400" dirty="0">
                <a:solidFill>
                  <a:srgbClr val="D4D4D4"/>
                </a:solidFill>
                <a:latin typeface="Consolas"/>
              </a:rPr>
              <a:t>   </a:t>
            </a:r>
            <a:r>
              <a:rPr lang="en-US" sz="1400" dirty="0">
                <a:solidFill>
                  <a:srgbClr val="C586C0"/>
                </a:solidFill>
                <a:latin typeface="Consolas"/>
              </a:rPr>
              <a:t>| </a:t>
            </a:r>
            <a:r>
              <a:rPr lang="en-US" sz="1400" dirty="0" err="1">
                <a:solidFill>
                  <a:srgbClr val="4EC9B0"/>
                </a:solidFill>
                <a:latin typeface="Consolas"/>
              </a:rPr>
              <a:t>IPostfixUnaryExpression</a:t>
            </a:r>
            <a:r>
              <a:rPr lang="en-US" sz="1400" dirty="0">
                <a:solidFill>
                  <a:srgbClr val="D4D4D4"/>
                </a:solidFill>
                <a:latin typeface="Consolas"/>
              </a:rPr>
              <a:t>          </a:t>
            </a:r>
            <a:r>
              <a:rPr lang="en-US" sz="1400" dirty="0">
                <a:solidFill>
                  <a:srgbClr val="6A9955"/>
                </a:solidFill>
                <a:latin typeface="Consolas"/>
              </a:rPr>
              <a:t>// unary operations</a:t>
            </a:r>
          </a:p>
          <a:p>
            <a:r>
              <a:rPr lang="en-US" sz="1400" dirty="0">
                <a:solidFill>
                  <a:srgbClr val="D4D4D4"/>
                </a:solidFill>
                <a:latin typeface="Consolas"/>
              </a:rPr>
              <a:t>  </a:t>
            </a:r>
            <a:r>
              <a:rPr lang="en-US" sz="1400" dirty="0">
                <a:solidFill>
                  <a:srgbClr val="C586C0"/>
                </a:solidFill>
                <a:latin typeface="Consolas"/>
              </a:rPr>
              <a:t>| </a:t>
            </a:r>
            <a:r>
              <a:rPr lang="en-US" sz="1400" dirty="0" err="1">
                <a:solidFill>
                  <a:srgbClr val="4EC9B0"/>
                </a:solidFill>
                <a:latin typeface="Consolas"/>
              </a:rPr>
              <a:t>IBinaryExpression</a:t>
            </a:r>
            <a:r>
              <a:rPr lang="en-US" sz="1400" dirty="0">
                <a:solidFill>
                  <a:srgbClr val="D4D4D4"/>
                </a:solidFill>
                <a:latin typeface="Consolas"/>
              </a:rPr>
              <a:t>                                           </a:t>
            </a:r>
            <a:r>
              <a:rPr lang="en-US" sz="1400" dirty="0">
                <a:solidFill>
                  <a:srgbClr val="6A9955"/>
                </a:solidFill>
                <a:latin typeface="Consolas"/>
              </a:rPr>
              <a:t>// binary operations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IArrowFunction</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ICallExpression</a:t>
            </a:r>
            <a:r>
              <a:rPr lang="en-US" sz="1400" dirty="0">
                <a:solidFill>
                  <a:srgbClr val="D4D4D4"/>
                </a:solidFill>
                <a:latin typeface="Consolas"/>
              </a:rPr>
              <a:t>    </a:t>
            </a:r>
            <a:r>
              <a:rPr lang="en-US" sz="1400" dirty="0">
                <a:solidFill>
                  <a:srgbClr val="C586C0"/>
                </a:solidFill>
                <a:latin typeface="Consolas"/>
              </a:rPr>
              <a:t>| </a:t>
            </a:r>
            <a:r>
              <a:rPr lang="en-US" sz="1400" dirty="0" err="1">
                <a:solidFill>
                  <a:srgbClr val="4EC9B0"/>
                </a:solidFill>
                <a:latin typeface="Consolas"/>
              </a:rPr>
              <a:t>INewExpression</a:t>
            </a:r>
            <a:r>
              <a:rPr lang="en-US" sz="1400" dirty="0">
                <a:solidFill>
                  <a:srgbClr val="D4D4D4"/>
                </a:solidFill>
                <a:latin typeface="Consolas"/>
              </a:rPr>
              <a:t>     </a:t>
            </a:r>
            <a:r>
              <a:rPr lang="en-US" sz="1400" dirty="0">
                <a:solidFill>
                  <a:srgbClr val="6A9955"/>
                </a:solidFill>
                <a:latin typeface="Consolas"/>
              </a:rPr>
              <a:t>// functions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IArrayFilterExpression</a:t>
            </a:r>
            <a:r>
              <a:rPr lang="en-US" sz="1400" dirty="0">
                <a:solidFill>
                  <a:srgbClr val="D4D4D4"/>
                </a:solidFill>
                <a:latin typeface="Consolas"/>
              </a:rPr>
              <a:t>   </a:t>
            </a:r>
            <a:r>
              <a:rPr lang="en-US" sz="1400" dirty="0">
                <a:solidFill>
                  <a:srgbClr val="C586C0"/>
                </a:solidFill>
                <a:latin typeface="Consolas"/>
              </a:rPr>
              <a:t>| </a:t>
            </a:r>
            <a:r>
              <a:rPr lang="en-US" sz="1400" dirty="0" err="1">
                <a:solidFill>
                  <a:srgbClr val="4EC9B0"/>
                </a:solidFill>
                <a:latin typeface="Consolas"/>
              </a:rPr>
              <a:t>IArrayForEachExpression</a:t>
            </a:r>
            <a:r>
              <a:rPr lang="en-US" sz="1400" dirty="0">
                <a:solidFill>
                  <a:srgbClr val="D4D4D4"/>
                </a:solidFill>
                <a:latin typeface="Consolas"/>
              </a:rPr>
              <a:t>          </a:t>
            </a:r>
            <a:r>
              <a:rPr lang="en-US" sz="1400" dirty="0">
                <a:solidFill>
                  <a:srgbClr val="6A9955"/>
                </a:solidFill>
                <a:latin typeface="Consolas"/>
              </a:rPr>
              <a:t>// array operations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IArrayMapExpression</a:t>
            </a:r>
            <a:r>
              <a:rPr lang="en-US" sz="1400" dirty="0">
                <a:solidFill>
                  <a:srgbClr val="D4D4D4"/>
                </a:solidFill>
                <a:latin typeface="Consolas"/>
              </a:rPr>
              <a:t>      </a:t>
            </a:r>
            <a:r>
              <a:rPr lang="en-US" sz="1400" dirty="0">
                <a:solidFill>
                  <a:srgbClr val="C586C0"/>
                </a:solidFill>
                <a:latin typeface="Consolas"/>
              </a:rPr>
              <a:t>| </a:t>
            </a:r>
            <a:r>
              <a:rPr lang="en-US" sz="1400" dirty="0" err="1">
                <a:solidFill>
                  <a:srgbClr val="4EC9B0"/>
                </a:solidFill>
                <a:latin typeface="Consolas"/>
              </a:rPr>
              <a:t>IArrayRepeatExpression</a:t>
            </a:r>
            <a:r>
              <a:rPr lang="en-US" sz="1400" dirty="0">
                <a:solidFill>
                  <a:srgbClr val="D4D4D4"/>
                </a:solidFill>
                <a:latin typeface="Consolas"/>
              </a:rPr>
              <a:t>           </a:t>
            </a:r>
            <a:r>
              <a:rPr lang="en-US" sz="1400" dirty="0">
                <a:solidFill>
                  <a:srgbClr val="6A9955"/>
                </a:solidFill>
                <a:latin typeface="Consolas"/>
              </a:rPr>
              <a:t>// array operations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IPickRandom</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ISampleRandom</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IBooleanRandom</a:t>
            </a:r>
            <a:r>
              <a:rPr lang="en-US" sz="1400" dirty="0">
                <a:solidFill>
                  <a:srgbClr val="D4D4D4"/>
                </a:solidFill>
                <a:latin typeface="Consolas"/>
              </a:rPr>
              <a:t>     </a:t>
            </a:r>
            <a:r>
              <a:rPr lang="en-US" sz="1400" dirty="0">
                <a:solidFill>
                  <a:srgbClr val="6A9955"/>
                </a:solidFill>
                <a:latin typeface="Consolas"/>
              </a:rPr>
              <a:t>// random generation</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IIntegerRandom</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INumberRandom</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IStringRandom</a:t>
            </a:r>
            <a:r>
              <a:rPr lang="en-US" sz="1400" dirty="0">
                <a:solidFill>
                  <a:srgbClr val="D4D4D4"/>
                </a:solidFill>
                <a:latin typeface="Consolas"/>
              </a:rPr>
              <a:t>      </a:t>
            </a:r>
            <a:r>
              <a:rPr lang="en-US" sz="1400" dirty="0">
                <a:solidFill>
                  <a:srgbClr val="6A9955"/>
                </a:solidFill>
                <a:latin typeface="Consolas"/>
              </a:rPr>
              <a:t>// random generation</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IPatternRandom</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IFormatRandom</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IKeywordRandom</a:t>
            </a:r>
            <a:r>
              <a:rPr lang="en-US" sz="1400" dirty="0">
                <a:solidFill>
                  <a:srgbClr val="D4D4D4"/>
                </a:solidFill>
                <a:latin typeface="Consolas"/>
              </a:rPr>
              <a:t>     </a:t>
            </a:r>
            <a:r>
              <a:rPr lang="en-US" sz="1400" dirty="0">
                <a:solidFill>
                  <a:srgbClr val="6A9955"/>
                </a:solidFill>
                <a:latin typeface="Consolas"/>
              </a:rPr>
              <a:t>// random generation</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IEqualPredicate</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INotEqualPredicate</a:t>
            </a:r>
            <a:r>
              <a:rPr lang="en-US" sz="1400" dirty="0">
                <a:solidFill>
                  <a:srgbClr val="D4D4D4"/>
                </a:solidFill>
                <a:latin typeface="Consolas"/>
              </a:rPr>
              <a:t>                      </a:t>
            </a:r>
            <a:r>
              <a:rPr lang="en-US" sz="1400" dirty="0">
                <a:solidFill>
                  <a:srgbClr val="6A9955"/>
                </a:solidFill>
                <a:latin typeface="Consolas"/>
              </a:rPr>
              <a:t>// assertions</a:t>
            </a:r>
          </a:p>
          <a:p>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IConditionalPredicate</a:t>
            </a:r>
            <a:r>
              <a:rPr lang="en-US" sz="1400" dirty="0">
                <a:solidFill>
                  <a:srgbClr val="D4D4D4"/>
                </a:solidFill>
                <a:latin typeface="Consolas"/>
              </a:rPr>
              <a:t>    </a:t>
            </a:r>
            <a:r>
              <a:rPr lang="en-US" sz="1400" dirty="0">
                <a:solidFill>
                  <a:srgbClr val="C586C0"/>
                </a:solidFill>
                <a:latin typeface="Consolas"/>
              </a:rPr>
              <a:t>| </a:t>
            </a:r>
            <a:r>
              <a:rPr lang="en-US" sz="1400" dirty="0">
                <a:solidFill>
                  <a:srgbClr val="4EC9B0"/>
                </a:solidFill>
                <a:latin typeface="Consolas"/>
              </a:rPr>
              <a:t>IErrorPredicate</a:t>
            </a:r>
            <a:r>
              <a:rPr lang="en-US" sz="1400" dirty="0">
                <a:solidFill>
                  <a:srgbClr val="D4D4D4"/>
                </a:solidFill>
                <a:latin typeface="Consolas"/>
              </a:rPr>
              <a:t>;                 </a:t>
            </a:r>
            <a:r>
              <a:rPr lang="en-US" sz="1400" dirty="0">
                <a:solidFill>
                  <a:srgbClr val="6A9955"/>
                </a:solidFill>
                <a:latin typeface="Consola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algn="ctr"/>
            <a:r>
              <a:rPr lang="en-US" sz="1800" b="1" dirty="0">
                <a:solidFill>
                  <a:srgbClr val="FFD93D"/>
                </a:solidFill>
                <a:latin typeface="Segoe UI Semibold"/>
              </a:rPr>
              <a:t>30+ variants with recursive nesting</a:t>
            </a:r>
            <a:br>
              <a:rPr lang="en-US" sz="1800" b="1" dirty="0">
                <a:solidFill>
                  <a:srgbClr val="FFD93D"/>
                </a:solidFill>
                <a:latin typeface="Segoe UI Semibold"/>
              </a:rPr>
            </a:br>
            <a:r>
              <a:rPr lang="en-US" sz="1800" b="1" dirty="0">
                <a:solidFill>
                  <a:srgbClr val="FFD93D"/>
                </a:solidFill>
                <a:latin typeface="Segoe UI Semibold"/>
              </a:rPr>
              <a:t>programming-language complexity in one function call</a:t>
            </a:r>
          </a:p>
        </p:txBody>
      </p:sp>
    </p:spTree>
    <p:extLst>
      <p:ext uri="{BB962C8B-B14F-4D97-AF65-F5344CB8AC3E}">
        <p14:creationId xmlns:p14="http://schemas.microsoft.com/office/powerpoint/2010/main" val="7005088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Schema Specs Are the New Prompts</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Left"/>
          <p:cNvSpPr/>
          <p:nvPr/>
        </p:nvSpPr>
        <p:spPr>
          <a:xfrm>
            <a:off x="762000" y="1270000"/>
            <a:ext cx="5207000" cy="2540000"/>
          </a:xfrm>
          <a:prstGeom prst="roundRect">
            <a:avLst>
              <a:gd name="adj" fmla="val 6000"/>
            </a:avLst>
          </a:prstGeom>
          <a:solidFill>
            <a:srgbClr val="161B22"/>
          </a:solidFill>
          <a:ln w="12700">
            <a:solidFill>
              <a:srgbClr val="FF6B6B">
                <a:alpha val="60000"/>
              </a:srgbClr>
            </a:solidFill>
          </a:ln>
        </p:spPr>
        <p:txBody>
          <a:bodyPr wrap="square" lIns="190500" tIns="152400" rIns="190500" bIns="152400" anchor="t"/>
          <a:lstStyle/>
          <a:p>
            <a:pPr algn="l">
              <a:buNone/>
            </a:pPr>
            <a:r>
              <a:rPr lang="en-US" sz="2000" b="1" dirty="0">
                <a:solidFill>
                  <a:srgbClr val="FF6B6B"/>
                </a:solidFill>
                <a:latin typeface="Segoe UI Semibold"/>
              </a:rPr>
              <a:t>Natural Language Prompts</a:t>
            </a:r>
          </a:p>
          <a:p>
            <a:pPr algn="l">
              <a:lnSpc>
                <a:spcPts val="2800"/>
              </a:lnSpc>
              <a:buNone/>
            </a:pPr>
            <a:r>
              <a:rPr lang="en-US" sz="1800" dirty="0">
                <a:solidFill>
                  <a:srgbClr val="A0A0A0"/>
                </a:solidFill>
                <a:latin typeface="Segoe UI"/>
              </a:rPr>
              <a:t>✖ Ambiguous</a:t>
            </a:r>
          </a:p>
          <a:p>
            <a:pPr algn="l">
              <a:lnSpc>
                <a:spcPts val="2800"/>
              </a:lnSpc>
              <a:buNone/>
            </a:pPr>
            <a:r>
              <a:rPr lang="en-US" sz="1800" dirty="0">
                <a:solidFill>
                  <a:srgbClr val="A0A0A0"/>
                </a:solidFill>
                <a:latin typeface="Segoe UI"/>
              </a:rPr>
              <a:t>✖ Model-dependent</a:t>
            </a:r>
          </a:p>
          <a:p>
            <a:pPr algn="l">
              <a:lnSpc>
                <a:spcPts val="2800"/>
              </a:lnSpc>
              <a:buNone/>
            </a:pPr>
            <a:r>
              <a:rPr lang="en-US" sz="1800" dirty="0">
                <a:solidFill>
                  <a:srgbClr val="A0A0A0"/>
                </a:solidFill>
                <a:latin typeface="Segoe UI"/>
              </a:rPr>
              <a:t>✖ Impossible to verify compliance</a:t>
            </a:r>
          </a:p>
        </p:txBody>
      </p:sp>
      <p:sp>
        <p:nvSpPr>
          <p:cNvPr id="21" name="Right"/>
          <p:cNvSpPr/>
          <p:nvPr/>
        </p:nvSpPr>
        <p:spPr>
          <a:xfrm>
            <a:off x="6223000" y="1270000"/>
            <a:ext cx="5207000" cy="2540000"/>
          </a:xfrm>
          <a:prstGeom prst="roundRect">
            <a:avLst>
              <a:gd name="adj" fmla="val 6000"/>
            </a:avLst>
          </a:prstGeom>
          <a:solidFill>
            <a:srgbClr val="161B22"/>
          </a:solidFill>
          <a:ln w="12700">
            <a:solidFill>
              <a:srgbClr val="00D4AA">
                <a:alpha val="60000"/>
              </a:srgbClr>
            </a:solidFill>
          </a:ln>
        </p:spPr>
        <p:txBody>
          <a:bodyPr wrap="square" lIns="190500" tIns="152400" rIns="190500" bIns="152400" anchor="t"/>
          <a:lstStyle/>
          <a:p>
            <a:pPr algn="l">
              <a:buNone/>
            </a:pPr>
            <a:r>
              <a:rPr lang="en-US" sz="2000" b="1" dirty="0">
                <a:solidFill>
                  <a:srgbClr val="00D4AA"/>
                </a:solidFill>
                <a:latin typeface="Segoe UI Semibold"/>
              </a:rPr>
              <a:t>Schema Specs</a:t>
            </a:r>
          </a:p>
          <a:p>
            <a:pPr algn="l">
              <a:lnSpc>
                <a:spcPts val="2800"/>
              </a:lnSpc>
              <a:buNone/>
            </a:pPr>
            <a:r>
              <a:rPr lang="en-US" sz="1800" dirty="0">
                <a:solidFill>
                  <a:srgbClr val="D0D0D0"/>
                </a:solidFill>
                <a:latin typeface="Segoe UI"/>
              </a:rPr>
              <a:t>✓ Unambiguous</a:t>
            </a:r>
          </a:p>
          <a:p>
            <a:pPr algn="l">
              <a:lnSpc>
                <a:spcPts val="2800"/>
              </a:lnSpc>
              <a:buNone/>
            </a:pPr>
            <a:r>
              <a:rPr lang="en-US" sz="1800" dirty="0">
                <a:solidFill>
                  <a:srgbClr val="D0D0D0"/>
                </a:solidFill>
                <a:latin typeface="Segoe UI"/>
              </a:rPr>
              <a:t>✓ Model-independent</a:t>
            </a:r>
          </a:p>
          <a:p>
            <a:pPr algn="l">
              <a:lnSpc>
                <a:spcPts val="2800"/>
              </a:lnSpc>
              <a:buNone/>
            </a:pPr>
            <a:r>
              <a:rPr lang="en-US" sz="1800" dirty="0">
                <a:solidFill>
                  <a:srgbClr val="D0D0D0"/>
                </a:solidFill>
                <a:latin typeface="Segoe UI"/>
              </a:rPr>
              <a:t>✓ Mechanically verifiable</a:t>
            </a:r>
          </a:p>
        </p:txBody>
      </p:sp>
      <p:sp>
        <p:nvSpPr>
          <p:cNvPr id="22" name="VS"/>
          <p:cNvSpPr/>
          <p:nvPr/>
        </p:nvSpPr>
        <p:spPr>
          <a:xfrm>
            <a:off x="5842000" y="2222500"/>
            <a:ext cx="508000" cy="381000"/>
          </a:xfrm>
          <a:prstGeom prst="rect">
            <a:avLst/>
          </a:prstGeom>
          <a:noFill/>
          <a:ln>
            <a:noFill/>
          </a:ln>
        </p:spPr>
        <p:txBody>
          <a:bodyPr wrap="square" anchor="ctr"/>
          <a:lstStyle/>
          <a:p>
            <a:pPr algn="ctr"/>
            <a:r>
              <a:rPr lang="en-US" sz="1800" b="1" dirty="0">
                <a:solidFill>
                  <a:srgbClr val="808080"/>
                </a:solidFill>
                <a:latin typeface="Segoe UI"/>
              </a:rPr>
              <a:t>vs</a:t>
            </a:r>
          </a:p>
        </p:txBody>
      </p:sp>
      <p:sp>
        <p:nvSpPr>
          <p:cNvPr id="30" name="Quote"/>
          <p:cNvSpPr/>
          <p:nvPr/>
        </p:nvSpPr>
        <p:spPr>
          <a:xfrm>
            <a:off x="1270000" y="4318000"/>
            <a:ext cx="9652000" cy="1651000"/>
          </a:xfrm>
          <a:prstGeom prst="rect">
            <a:avLst/>
          </a:prstGeom>
          <a:noFill/>
          <a:ln>
            <a:noFill/>
          </a:ln>
        </p:spPr>
        <p:txBody>
          <a:bodyPr wrap="square" lIns="0" tIns="0" rIns="0" bIns="0" anchor="t"/>
          <a:lstStyle/>
          <a:p>
            <a:pPr algn="l">
              <a:lnSpc>
                <a:spcPts val="3400"/>
              </a:lnSpc>
            </a:pPr>
            <a:r>
              <a:rPr lang="en-US" sz="2000" dirty="0">
                <a:solidFill>
                  <a:srgbClr val="D0D0D0"/>
                </a:solidFill>
                <a:latin typeface="Segoe UI"/>
              </a:rPr>
              <a:t>AutoBe's </a:t>
            </a:r>
            <a:r>
              <a:rPr lang="en-US" sz="2000" dirty="0">
                <a:solidFill>
                  <a:srgbClr val="00D4AA"/>
                </a:solidFill>
                <a:latin typeface="Consolas"/>
              </a:rPr>
              <a:t>stance</a:t>
            </a:r>
            <a:r>
              <a:rPr lang="en-US" sz="2000" dirty="0">
                <a:solidFill>
                  <a:srgbClr val="D0D0D0"/>
                </a:solidFill>
                <a:latin typeface="Segoe UI"/>
              </a:rPr>
              <a:t> enum tells the model what tables to create.</a:t>
            </a:r>
          </a:p>
          <a:p>
            <a:pPr algn="l">
              <a:lnSpc>
                <a:spcPts val="3400"/>
              </a:lnSpc>
            </a:pPr>
            <a:r>
              <a:rPr lang="en-US" sz="2000" dirty="0">
                <a:solidFill>
                  <a:srgbClr val="00D4AA"/>
                </a:solidFill>
                <a:latin typeface="Consolas"/>
              </a:rPr>
              <a:t>IJsonSchema</a:t>
            </a:r>
            <a:r>
              <a:rPr lang="en-US" sz="2000" dirty="0">
                <a:solidFill>
                  <a:srgbClr val="D0D0D0"/>
                </a:solidFill>
                <a:latin typeface="Segoe UI"/>
              </a:rPr>
              <a:t>'s 10 variants define how DTOs are structured.</a:t>
            </a:r>
          </a:p>
          <a:p>
            <a:pPr algn="l">
              <a:lnSpc>
                <a:spcPts val="3400"/>
              </a:lnSpc>
            </a:pPr>
            <a:r>
              <a:rPr lang="en-US" sz="2000" dirty="0">
                <a:solidFill>
                  <a:srgbClr val="00D4AA"/>
                </a:solidFill>
                <a:latin typeface="Consolas"/>
              </a:rPr>
              <a:t>IExpression</a:t>
            </a:r>
            <a:r>
              <a:rPr lang="en-US" sz="2000" dirty="0">
                <a:solidFill>
                  <a:srgbClr val="D0D0D0"/>
                </a:solidFill>
                <a:latin typeface="Segoe UI"/>
              </a:rPr>
              <a:t>'s 30+ variants specify test code grammar.</a:t>
            </a:r>
          </a:p>
        </p:txBody>
      </p:sp>
    </p:spTree>
    <p:extLst>
      <p:ext uri="{BB962C8B-B14F-4D97-AF65-F5344CB8AC3E}">
        <p14:creationId xmlns:p14="http://schemas.microsoft.com/office/powerpoint/2010/main" val="2692668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Four Qwen Models, All 100%</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M0"/>
          <p:cNvSpPr/>
          <p:nvPr/>
        </p:nvSpPr>
        <p:spPr>
          <a:xfrm>
            <a:off x="762000" y="1333500"/>
            <a:ext cx="9398000" cy="863600"/>
          </a:xfrm>
          <a:prstGeom prst="roundRect">
            <a:avLst>
              <a:gd name="adj" fmla="val 8000"/>
            </a:avLst>
          </a:prstGeom>
          <a:solidFill>
            <a:srgbClr val="161B22"/>
          </a:solidFill>
          <a:ln w="12700">
            <a:solidFill>
              <a:srgbClr val="FF6B6B">
                <a:alpha val="40000"/>
              </a:srgbClr>
            </a:solidFill>
          </a:ln>
        </p:spPr>
        <p:txBody>
          <a:bodyPr wrap="square" lIns="190500" tIns="76200" rIns="190500" bIns="76200" anchor="ctr"/>
          <a:lstStyle/>
          <a:p>
            <a:pPr algn="l">
              <a:buNone/>
            </a:pPr>
            <a:r>
              <a:rPr lang="en-US" sz="2000" dirty="0">
                <a:solidFill>
                  <a:srgbClr val="FF6B6B"/>
                </a:solidFill>
                <a:latin typeface="Consolas"/>
              </a:rPr>
              <a:t>qwen3-coder-next</a:t>
            </a:r>
          </a:p>
          <a:p>
            <a:pPr algn="l">
              <a:buNone/>
            </a:pPr>
            <a:r>
              <a:rPr lang="en-US" sz="1800" dirty="0">
                <a:solidFill>
                  <a:srgbClr val="A0A0A0"/>
                </a:solidFill>
                <a:latin typeface="Segoe UI"/>
              </a:rPr>
              <a:t>3B / 80B  —  Coding-specialized</a:t>
            </a:r>
          </a:p>
        </p:txBody>
      </p:sp>
      <p:sp>
        <p:nvSpPr>
          <p:cNvPr id="30" name="B0"/>
          <p:cNvSpPr/>
          <p:nvPr/>
        </p:nvSpPr>
        <p:spPr>
          <a:xfrm>
            <a:off x="10414000" y="1485900"/>
            <a:ext cx="1016000" cy="558800"/>
          </a:xfrm>
          <a:prstGeom prst="roundRect">
            <a:avLst>
              <a:gd name="adj" fmla="val 20000"/>
            </a:avLst>
          </a:prstGeom>
          <a:solidFill>
            <a:srgbClr val="00D4AA">
              <a:alpha val="20000"/>
            </a:srgbClr>
          </a:solidFill>
          <a:ln w="9525">
            <a:solidFill>
              <a:srgbClr val="00D4AA"/>
            </a:solidFill>
          </a:ln>
        </p:spPr>
        <p:txBody>
          <a:bodyPr wrap="square" anchor="ctr"/>
          <a:lstStyle/>
          <a:p>
            <a:pPr algn="ctr"/>
            <a:r>
              <a:rPr lang="en-US" sz="1800" b="1" dirty="0">
                <a:solidFill>
                  <a:srgbClr val="00D4AA"/>
                </a:solidFill>
                <a:latin typeface="Segoe UI Semibold"/>
              </a:rPr>
              <a:t>100%</a:t>
            </a:r>
          </a:p>
        </p:txBody>
      </p:sp>
      <p:sp>
        <p:nvSpPr>
          <p:cNvPr id="21" name="M1"/>
          <p:cNvSpPr/>
          <p:nvPr/>
        </p:nvSpPr>
        <p:spPr>
          <a:xfrm>
            <a:off x="762000" y="2374900"/>
            <a:ext cx="9398000" cy="863600"/>
          </a:xfrm>
          <a:prstGeom prst="roundRect">
            <a:avLst>
              <a:gd name="adj" fmla="val 8000"/>
            </a:avLst>
          </a:prstGeom>
          <a:solidFill>
            <a:srgbClr val="161B22"/>
          </a:solidFill>
          <a:ln w="12700">
            <a:solidFill>
              <a:srgbClr val="FFD93D">
                <a:alpha val="40000"/>
              </a:srgbClr>
            </a:solidFill>
          </a:ln>
        </p:spPr>
        <p:txBody>
          <a:bodyPr wrap="square" lIns="190500" tIns="76200" rIns="190500" bIns="76200" anchor="ctr"/>
          <a:lstStyle/>
          <a:p>
            <a:pPr algn="l">
              <a:buNone/>
            </a:pPr>
            <a:r>
              <a:rPr lang="en-US" sz="2000" dirty="0">
                <a:solidFill>
                  <a:srgbClr val="FFD93D"/>
                </a:solidFill>
                <a:latin typeface="Consolas"/>
              </a:rPr>
              <a:t>qwen3.5-397b-a17b</a:t>
            </a:r>
          </a:p>
          <a:p>
            <a:pPr algn="l">
              <a:buNone/>
            </a:pPr>
            <a:r>
              <a:rPr lang="en-US" sz="1800" dirty="0">
                <a:solidFill>
                  <a:srgbClr val="A0A0A0"/>
                </a:solidFill>
                <a:latin typeface="Segoe UI"/>
              </a:rPr>
              <a:t>17B / 397B  —  Largest MoE</a:t>
            </a:r>
          </a:p>
        </p:txBody>
      </p:sp>
      <p:sp>
        <p:nvSpPr>
          <p:cNvPr id="31" name="B1"/>
          <p:cNvSpPr/>
          <p:nvPr/>
        </p:nvSpPr>
        <p:spPr>
          <a:xfrm>
            <a:off x="10414000" y="2527300"/>
            <a:ext cx="1016000" cy="558800"/>
          </a:xfrm>
          <a:prstGeom prst="roundRect">
            <a:avLst>
              <a:gd name="adj" fmla="val 20000"/>
            </a:avLst>
          </a:prstGeom>
          <a:solidFill>
            <a:srgbClr val="00D4AA">
              <a:alpha val="20000"/>
            </a:srgbClr>
          </a:solidFill>
          <a:ln w="9525">
            <a:solidFill>
              <a:srgbClr val="00D4AA"/>
            </a:solidFill>
          </a:ln>
        </p:spPr>
        <p:txBody>
          <a:bodyPr wrap="square" anchor="ctr"/>
          <a:lstStyle/>
          <a:p>
            <a:pPr algn="ctr"/>
            <a:r>
              <a:rPr lang="en-US" sz="1800" b="1" dirty="0">
                <a:solidFill>
                  <a:srgbClr val="00D4AA"/>
                </a:solidFill>
                <a:latin typeface="Segoe UI Semibold"/>
              </a:rPr>
              <a:t>100%</a:t>
            </a:r>
          </a:p>
        </p:txBody>
      </p:sp>
      <p:sp>
        <p:nvSpPr>
          <p:cNvPr id="22" name="M2"/>
          <p:cNvSpPr/>
          <p:nvPr/>
        </p:nvSpPr>
        <p:spPr>
          <a:xfrm>
            <a:off x="762000" y="3416300"/>
            <a:ext cx="9398000" cy="863600"/>
          </a:xfrm>
          <a:prstGeom prst="roundRect">
            <a:avLst>
              <a:gd name="adj" fmla="val 8000"/>
            </a:avLst>
          </a:prstGeom>
          <a:solidFill>
            <a:srgbClr val="161B22"/>
          </a:solidFill>
          <a:ln w="12700">
            <a:solidFill>
              <a:srgbClr val="74B9FF">
                <a:alpha val="40000"/>
              </a:srgbClr>
            </a:solidFill>
          </a:ln>
        </p:spPr>
        <p:txBody>
          <a:bodyPr wrap="square" lIns="190500" tIns="76200" rIns="190500" bIns="76200" anchor="ctr"/>
          <a:lstStyle/>
          <a:p>
            <a:pPr algn="l">
              <a:buNone/>
            </a:pPr>
            <a:r>
              <a:rPr lang="en-US" sz="2000" dirty="0">
                <a:solidFill>
                  <a:srgbClr val="74B9FF"/>
                </a:solidFill>
                <a:latin typeface="Consolas"/>
              </a:rPr>
              <a:t>qwen3.5-122b-a10b</a:t>
            </a:r>
          </a:p>
          <a:p>
            <a:pPr algn="l">
              <a:buNone/>
            </a:pPr>
            <a:r>
              <a:rPr lang="en-US" sz="1800" dirty="0">
                <a:solidFill>
                  <a:srgbClr val="A0A0A0"/>
                </a:solidFill>
                <a:latin typeface="Segoe UI"/>
              </a:rPr>
              <a:t>10B / 122B  —  Medium MoE</a:t>
            </a:r>
          </a:p>
        </p:txBody>
      </p:sp>
      <p:sp>
        <p:nvSpPr>
          <p:cNvPr id="32" name="B2"/>
          <p:cNvSpPr/>
          <p:nvPr/>
        </p:nvSpPr>
        <p:spPr>
          <a:xfrm>
            <a:off x="10414000" y="3568700"/>
            <a:ext cx="1016000" cy="558800"/>
          </a:xfrm>
          <a:prstGeom prst="roundRect">
            <a:avLst>
              <a:gd name="adj" fmla="val 20000"/>
            </a:avLst>
          </a:prstGeom>
          <a:solidFill>
            <a:srgbClr val="00D4AA">
              <a:alpha val="20000"/>
            </a:srgbClr>
          </a:solidFill>
          <a:ln w="9525">
            <a:solidFill>
              <a:srgbClr val="00D4AA"/>
            </a:solidFill>
          </a:ln>
        </p:spPr>
        <p:txBody>
          <a:bodyPr wrap="square" anchor="ctr"/>
          <a:lstStyle/>
          <a:p>
            <a:pPr algn="ctr"/>
            <a:r>
              <a:rPr lang="en-US" sz="1800" b="1" dirty="0">
                <a:solidFill>
                  <a:srgbClr val="00D4AA"/>
                </a:solidFill>
                <a:latin typeface="Segoe UI Semibold"/>
              </a:rPr>
              <a:t>100%</a:t>
            </a:r>
          </a:p>
        </p:txBody>
      </p:sp>
      <p:sp>
        <p:nvSpPr>
          <p:cNvPr id="23" name="M3"/>
          <p:cNvSpPr/>
          <p:nvPr/>
        </p:nvSpPr>
        <p:spPr>
          <a:xfrm>
            <a:off x="762000" y="4457700"/>
            <a:ext cx="9398000" cy="863600"/>
          </a:xfrm>
          <a:prstGeom prst="roundRect">
            <a:avLst>
              <a:gd name="adj" fmla="val 8000"/>
            </a:avLst>
          </a:prstGeom>
          <a:solidFill>
            <a:srgbClr val="161B22"/>
          </a:solidFill>
          <a:ln w="12700">
            <a:solidFill>
              <a:srgbClr val="6C5CE7">
                <a:alpha val="40000"/>
              </a:srgbClr>
            </a:solidFill>
          </a:ln>
        </p:spPr>
        <p:txBody>
          <a:bodyPr wrap="square" lIns="190500" tIns="76200" rIns="190500" bIns="76200" anchor="ctr"/>
          <a:lstStyle/>
          <a:p>
            <a:pPr algn="l">
              <a:buNone/>
            </a:pPr>
            <a:r>
              <a:rPr lang="en-US" sz="2000" dirty="0">
                <a:solidFill>
                  <a:srgbClr val="6C5CE7"/>
                </a:solidFill>
                <a:latin typeface="Consolas"/>
              </a:rPr>
              <a:t>qwen3.5-35b-a3b</a:t>
            </a:r>
          </a:p>
          <a:p>
            <a:pPr algn="l">
              <a:buNone/>
            </a:pPr>
            <a:r>
              <a:rPr lang="en-US" sz="1800" dirty="0">
                <a:solidFill>
                  <a:srgbClr val="A0A0A0"/>
                </a:solidFill>
                <a:latin typeface="Segoe UI"/>
              </a:rPr>
              <a:t>3B / 35B  —  Small MoE</a:t>
            </a:r>
          </a:p>
        </p:txBody>
      </p:sp>
      <p:sp>
        <p:nvSpPr>
          <p:cNvPr id="33" name="B3"/>
          <p:cNvSpPr/>
          <p:nvPr/>
        </p:nvSpPr>
        <p:spPr>
          <a:xfrm>
            <a:off x="10414000" y="4610100"/>
            <a:ext cx="1016000" cy="558800"/>
          </a:xfrm>
          <a:prstGeom prst="roundRect">
            <a:avLst>
              <a:gd name="adj" fmla="val 20000"/>
            </a:avLst>
          </a:prstGeom>
          <a:solidFill>
            <a:srgbClr val="00D4AA">
              <a:alpha val="20000"/>
            </a:srgbClr>
          </a:solidFill>
          <a:ln w="9525">
            <a:solidFill>
              <a:srgbClr val="00D4AA"/>
            </a:solidFill>
          </a:ln>
        </p:spPr>
        <p:txBody>
          <a:bodyPr wrap="square" anchor="ctr"/>
          <a:lstStyle/>
          <a:p>
            <a:pPr algn="ctr"/>
            <a:r>
              <a:rPr lang="en-US" sz="1800" b="1" dirty="0">
                <a:solidFill>
                  <a:srgbClr val="00D4AA"/>
                </a:solidFill>
                <a:latin typeface="Segoe UI Semibold"/>
              </a:rPr>
              <a:t>100%</a:t>
            </a:r>
          </a:p>
        </p:txBody>
      </p:sp>
      <p:sp>
        <p:nvSpPr>
          <p:cNvPr id="40" name="Insight"/>
          <p:cNvSpPr/>
          <p:nvPr/>
        </p:nvSpPr>
        <p:spPr>
          <a:xfrm>
            <a:off x="1270000" y="5715000"/>
            <a:ext cx="9652000" cy="635000"/>
          </a:xfrm>
          <a:prstGeom prst="rect">
            <a:avLst/>
          </a:prstGeom>
          <a:noFill/>
          <a:ln>
            <a:noFill/>
          </a:ln>
        </p:spPr>
        <p:txBody>
          <a:bodyPr wrap="square" lIns="0" tIns="0" rIns="0" bIns="0" anchor="ctr"/>
          <a:lstStyle/>
          <a:p>
            <a:pPr algn="ctr"/>
            <a:r>
              <a:rPr lang="en-US" sz="2000" dirty="0">
                <a:solidFill>
                  <a:srgbClr val="D0D0D0"/>
                </a:solidFill>
                <a:latin typeface="Segoe UI"/>
              </a:rPr>
              <a:t>From 397B to 35B. Same schema, same pipeline, same result.</a:t>
            </a:r>
          </a:p>
        </p:txBody>
      </p:sp>
    </p:spTree>
    <p:extLst>
      <p:ext uri="{BB962C8B-B14F-4D97-AF65-F5344CB8AC3E}">
        <p14:creationId xmlns:p14="http://schemas.microsoft.com/office/powerpoint/2010/main" val="24034331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ChNum"/>
          <p:cNvSpPr/>
          <p:nvPr/>
        </p:nvSpPr>
        <p:spPr>
          <a:xfrm>
            <a:off x="1016000" y="1524000"/>
            <a:ext cx="2540000" cy="1524000"/>
          </a:xfrm>
          <a:prstGeom prst="rect">
            <a:avLst/>
          </a:prstGeom>
          <a:noFill/>
          <a:ln>
            <a:noFill/>
          </a:ln>
        </p:spPr>
        <p:txBody>
          <a:bodyPr wrap="square" lIns="0" tIns="0" rIns="0" bIns="0" anchor="b"/>
          <a:lstStyle/>
          <a:p>
            <a:pPr algn="l"/>
            <a:r>
              <a:rPr lang="en-US" sz="8000" b="1" dirty="0">
                <a:solidFill>
                  <a:srgbClr val="FFD93D">
                    <a:alpha val="30000"/>
                  </a:srgbClr>
                </a:solidFill>
                <a:latin typeface="Segoe UI Semibold"/>
              </a:rPr>
              <a:t>03</a:t>
            </a:r>
          </a:p>
        </p:txBody>
      </p:sp>
      <p:sp>
        <p:nvSpPr>
          <p:cNvPr id="13" name="AL"/>
          <p:cNvSpPr/>
          <p:nvPr/>
        </p:nvSpPr>
        <p:spPr>
          <a:xfrm>
            <a:off x="1016000" y="3048000"/>
            <a:ext cx="1524000" cy="38100"/>
          </a:xfrm>
          <a:prstGeom prst="rect">
            <a:avLst/>
          </a:prstGeom>
          <a:solidFill>
            <a:srgbClr val="FFD93D"/>
          </a:solidFill>
          <a:ln>
            <a:noFill/>
          </a:ln>
        </p:spPr>
        <p:txBody>
          <a:bodyPr/>
          <a:lstStyle/>
          <a:p>
            <a:endParaRPr lang="en-US"/>
          </a:p>
        </p:txBody>
      </p:sp>
      <p:sp>
        <p:nvSpPr>
          <p:cNvPr id="11" name="ChTitle"/>
          <p:cNvSpPr/>
          <p:nvPr/>
        </p:nvSpPr>
        <p:spPr>
          <a:xfrm>
            <a:off x="1016000" y="3175000"/>
            <a:ext cx="10160000" cy="698500"/>
          </a:xfrm>
          <a:prstGeom prst="rect">
            <a:avLst/>
          </a:prstGeom>
          <a:noFill/>
          <a:ln>
            <a:noFill/>
          </a:ln>
        </p:spPr>
        <p:txBody>
          <a:bodyPr wrap="square" lIns="0" tIns="0" rIns="0" bIns="0" anchor="t"/>
          <a:lstStyle/>
          <a:p>
            <a:pPr algn="l"/>
            <a:r>
              <a:rPr lang="en-US" sz="3600" b="1" dirty="0">
                <a:solidFill>
                  <a:srgbClr val="F0F0F0"/>
                </a:solidFill>
                <a:latin typeface="Segoe UI Semibold"/>
              </a:rPr>
              <a:t>Typia</a:t>
            </a:r>
          </a:p>
        </p:txBody>
      </p:sp>
      <p:sp>
        <p:nvSpPr>
          <p:cNvPr id="12" name="ChSub"/>
          <p:cNvSpPr/>
          <p:nvPr/>
        </p:nvSpPr>
        <p:spPr>
          <a:xfrm>
            <a:off x="1016000" y="3937000"/>
            <a:ext cx="10160000" cy="508000"/>
          </a:xfrm>
          <a:prstGeom prst="rect">
            <a:avLst/>
          </a:prstGeom>
          <a:noFill/>
          <a:ln>
            <a:noFill/>
          </a:ln>
        </p:spPr>
        <p:txBody>
          <a:bodyPr wrap="square" lIns="0" tIns="0" rIns="0" bIns="0" anchor="t"/>
          <a:lstStyle/>
          <a:p>
            <a:pPr algn="l"/>
            <a:r>
              <a:rPr lang="en-US" sz="2200" dirty="0">
                <a:solidFill>
                  <a:srgbClr val="808080"/>
                </a:solidFill>
                <a:latin typeface="Segoe UI"/>
              </a:rPr>
              <a:t>The Infrastructure That Turns 0% into 100%</a:t>
            </a:r>
          </a:p>
        </p:txBody>
      </p:sp>
    </p:spTree>
    <p:extLst>
      <p:ext uri="{BB962C8B-B14F-4D97-AF65-F5344CB8AC3E}">
        <p14:creationId xmlns:p14="http://schemas.microsoft.com/office/powerpoint/2010/main" val="13406199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r>
              <a:rPr lang="en-US" sz="2800" b="1" dirty="0">
                <a:solidFill>
                  <a:srgbClr val="F0F0F0"/>
                </a:solidFill>
                <a:latin typeface="Segoe UI Semibold"/>
              </a:rPr>
              <a:t>What is Typia?</a:t>
            </a:r>
          </a:p>
        </p:txBody>
      </p:sp>
      <p:sp>
        <p:nvSpPr>
          <p:cNvPr id="11" name="AL"/>
          <p:cNvSpPr/>
          <p:nvPr/>
        </p:nvSpPr>
        <p:spPr>
          <a:xfrm>
            <a:off x="762000" y="1041400"/>
            <a:ext cx="1524000" cy="38100"/>
          </a:xfrm>
          <a:prstGeom prst="rect">
            <a:avLst/>
          </a:prstGeom>
          <a:solidFill>
            <a:srgbClr val="00D4AA"/>
          </a:solidFill>
          <a:ln>
            <a:noFill/>
          </a:ln>
        </p:spPr>
        <p:txBody>
          <a:bodyPr/>
          <a:lstStyle/>
          <a:p>
            <a:endParaRPr lang="en-US"/>
          </a:p>
        </p:txBody>
      </p:sp>
      <p:sp>
        <p:nvSpPr>
          <p:cNvPr id="20" name="P1"/>
          <p:cNvSpPr/>
          <p:nvPr/>
        </p:nvSpPr>
        <p:spPr>
          <a:xfrm>
            <a:off x="1016000" y="1270000"/>
            <a:ext cx="10160000" cy="635000"/>
          </a:xfrm>
          <a:prstGeom prst="rect">
            <a:avLst/>
          </a:prstGeom>
          <a:noFill/>
          <a:ln>
            <a:noFill/>
          </a:ln>
        </p:spPr>
        <p:txBody>
          <a:bodyPr wrap="square" lIns="36000" tIns="36000" rIns="36000" bIns="36000"/>
          <a:lstStyle/>
          <a:p>
            <a:r>
              <a:rPr lang="en-US" sz="2000" dirty="0">
                <a:solidFill>
                  <a:srgbClr val="D0D0D0"/>
                </a:solidFill>
                <a:latin typeface="Segoe UI"/>
              </a:rPr>
              <a:t>A </a:t>
            </a:r>
            <a:r>
              <a:rPr lang="en-US" sz="2000" b="1" dirty="0">
                <a:solidFill>
                  <a:srgbClr val="00D4AA"/>
                </a:solidFill>
                <a:latin typeface="Segoe UI Semibold"/>
              </a:rPr>
              <a:t>compiler library</a:t>
            </a:r>
            <a:r>
              <a:rPr lang="en-US" sz="2000" dirty="0">
                <a:solidFill>
                  <a:srgbClr val="D0D0D0"/>
                </a:solidFill>
                <a:latin typeface="Segoe UI"/>
              </a:rPr>
              <a:t> that directly leverages the TypeScript compiler's type analyzer</a:t>
            </a:r>
          </a:p>
        </p:txBody>
      </p:sp>
      <p:sp>
        <p:nvSpPr>
          <p:cNvPr id="21" name="P2"/>
          <p:cNvSpPr/>
          <p:nvPr/>
        </p:nvSpPr>
        <p:spPr>
          <a:xfrm>
            <a:off x="1270000" y="2095500"/>
            <a:ext cx="9652000" cy="3048000"/>
          </a:xfrm>
          <a:prstGeom prst="rect">
            <a:avLst/>
          </a:prstGeom>
          <a:noFill/>
          <a:ln>
            <a:noFill/>
          </a:ln>
        </p:spPr>
        <p:txBody>
          <a:bodyPr wrap="square" lIns="36000" tIns="36000" rIns="36000" bIns="36000"/>
          <a:lstStyle/>
          <a:p>
            <a:r>
              <a:rPr lang="en-US" sz="1800" dirty="0">
                <a:solidFill>
                  <a:srgbClr val="D0D0D0"/>
                </a:solidFill>
                <a:latin typeface="Segoe UI"/>
              </a:rPr>
              <a:t>▸ 20,000x faster than class-validator</a:t>
            </a:r>
          </a:p>
          <a:p>
            <a:r>
              <a:rPr lang="en-US" sz="1800" dirty="0">
                <a:solidFill>
                  <a:srgbClr val="D0D0D0"/>
                </a:solidFill>
                <a:latin typeface="Segoe UI"/>
              </a:rPr>
              <a:t>▸ One line of code — no extra schemas needed</a:t>
            </a:r>
          </a:p>
          <a:p>
            <a:r>
              <a:rPr lang="en-US" sz="1800" dirty="0">
                <a:solidFill>
                  <a:srgbClr val="D0D0D0"/>
                </a:solidFill>
                <a:latin typeface="Segoe UI"/>
              </a:rPr>
              <a:t>▸ Analyzes TypeScript types via the compiler at compile time</a:t>
            </a:r>
          </a:p>
          <a:p>
            <a:r>
              <a:rPr lang="en-US" sz="1800" dirty="0">
                <a:solidFill>
                  <a:srgbClr val="D0D0D0"/>
                </a:solidFill>
                <a:latin typeface="Segoe UI"/>
              </a:rPr>
              <a:t>▸ Generates optimal validation code (AOT — Ahead of Time)</a:t>
            </a:r>
          </a:p>
          <a:p>
            <a:r>
              <a:rPr lang="en-US" sz="1800" dirty="0">
                <a:solidFill>
                  <a:srgbClr val="D0D0D0"/>
                </a:solidFill>
                <a:latin typeface="Segoe UI"/>
              </a:rPr>
              <a:t>▸ Overcomes TypeScript's runtime type erasure via compiler plugin</a:t>
            </a:r>
          </a:p>
        </p:txBody>
      </p:sp>
      <p:sp>
        <p:nvSpPr>
          <p:cNvPr id="30" name="HighBg"/>
          <p:cNvSpPr/>
          <p:nvPr/>
        </p:nvSpPr>
        <p:spPr>
          <a:xfrm>
            <a:off x="1016000" y="5207000"/>
            <a:ext cx="10160000" cy="889000"/>
          </a:xfrm>
          <a:prstGeom prst="rect">
            <a:avLst/>
          </a:prstGeom>
          <a:solidFill>
            <a:srgbClr val="1E2A3A"/>
          </a:solidFill>
          <a:ln>
            <a:noFill/>
          </a:ln>
        </p:spPr>
        <p:txBody>
          <a:bodyPr/>
          <a:lstStyle/>
          <a:p>
            <a:endParaRPr lang="en-US"/>
          </a:p>
        </p:txBody>
      </p:sp>
      <p:sp>
        <p:nvSpPr>
          <p:cNvPr id="31" name="High"/>
          <p:cNvSpPr/>
          <p:nvPr/>
        </p:nvSpPr>
        <p:spPr>
          <a:xfrm>
            <a:off x="1143000" y="5270500"/>
            <a:ext cx="9906000" cy="762000"/>
          </a:xfrm>
          <a:prstGeom prst="rect">
            <a:avLst/>
          </a:prstGeom>
          <a:noFill/>
          <a:ln>
            <a:noFill/>
          </a:ln>
        </p:spPr>
        <p:txBody>
          <a:bodyPr wrap="square" lIns="36000" tIns="36000" rIns="36000" bIns="36000"/>
          <a:lstStyle/>
          <a:p>
            <a:pPr algn="ctr"/>
            <a:r>
              <a:rPr lang="en-US" sz="2200" b="1" dirty="0">
                <a:solidFill>
                  <a:srgbClr val="FFD93D"/>
                </a:solidFill>
                <a:latin typeface="Segoe UI Semibold"/>
              </a:rPr>
              <a:t>typia.validate&lt;T&gt;(input)</a:t>
            </a:r>
            <a:r>
              <a:rPr lang="en-US" sz="2200" dirty="0">
                <a:solidFill>
                  <a:srgbClr val="D0D0D0"/>
                </a:solidFill>
                <a:latin typeface="Segoe UI"/>
              </a:rPr>
              <a:t> — that's it</a:t>
            </a:r>
          </a:p>
        </p:txBody>
      </p:sp>
    </p:spTree>
    <p:extLst>
      <p:ext uri="{BB962C8B-B14F-4D97-AF65-F5344CB8AC3E}">
        <p14:creationId xmlns:p14="http://schemas.microsoft.com/office/powerpoint/2010/main" val="3785969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r>
              <a:rPr lang="en-US" sz="2400" b="1" dirty="0">
                <a:solidFill>
                  <a:srgbClr val="F0F0F0"/>
                </a:solidFill>
                <a:latin typeface="Segoe UI Semibold"/>
              </a:rPr>
              <a:t>Typia's Core: TS → JS Transform</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r>
              <a:rPr lang="en-US" sz="2000" b="1" dirty="0">
                <a:solidFill>
                  <a:srgbClr val="00D4AA"/>
                </a:solidFill>
                <a:latin typeface="Segoe UI Semibold"/>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endParaRPr lang="en-US"/>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r>
              <a:rPr lang="en-US" sz="1400" dirty="0">
                <a:solidFill>
                  <a:srgbClr val="C586C0"/>
                </a:solidFill>
                <a:latin typeface="Consolas"/>
              </a:rPr>
              <a:t>import </a:t>
            </a:r>
            <a:r>
              <a:rPr lang="en-US" sz="1400" dirty="0">
                <a:solidFill>
                  <a:srgbClr val="D4D4D4"/>
                </a:solidFill>
                <a:latin typeface="Consolas"/>
              </a:rPr>
              <a:t>typia, { tags } </a:t>
            </a:r>
            <a:r>
              <a:rPr lang="en-US" sz="1400" dirty="0">
                <a:solidFill>
                  <a:srgbClr val="C586C0"/>
                </a:solidFill>
                <a:latin typeface="Consolas"/>
              </a:rPr>
              <a:t>from </a:t>
            </a:r>
            <a:r>
              <a:rPr lang="en-US" sz="1400" dirty="0">
                <a:solidFill>
                  <a:srgbClr val="CE9178"/>
                </a:solidFill>
                <a:latin typeface="Consolas"/>
              </a:rPr>
              <a:t>"typia"</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C586C0"/>
                </a:solidFill>
                <a:latin typeface="Consolas"/>
              </a:rPr>
              <a:t>interface </a:t>
            </a:r>
            <a:r>
              <a:rPr lang="en-US" sz="1400" dirty="0">
                <a:solidFill>
                  <a:srgbClr val="4EC9B0"/>
                </a:solidFill>
                <a:latin typeface="Consolas"/>
              </a:rPr>
              <a:t>IMember</a:t>
            </a:r>
            <a:r>
              <a:rPr lang="en-US" sz="1400" dirty="0">
                <a:solidFill>
                  <a:srgbClr val="D4D4D4"/>
                </a:solidFill>
                <a:latin typeface="Consolas"/>
              </a:rPr>
              <a:t> {</a:t>
            </a:r>
          </a:p>
          <a:p>
            <a:r>
              <a:rPr lang="en-US" sz="1400" dirty="0">
                <a:solidFill>
                  <a:srgbClr val="D4D4D4"/>
                </a:solidFill>
                <a:latin typeface="Consolas"/>
              </a:rPr>
              <a:t>  id: </a:t>
            </a:r>
            <a:r>
              <a:rPr lang="en-US" sz="1400" dirty="0">
                <a:solidFill>
                  <a:srgbClr val="569CD6"/>
                </a:solidFill>
                <a:latin typeface="Consolas"/>
              </a:rPr>
              <a:t>string</a:t>
            </a:r>
            <a:r>
              <a:rPr lang="en-US" sz="1400" dirty="0">
                <a:solidFill>
                  <a:srgbClr val="D4D4D4"/>
                </a:solidFill>
                <a:latin typeface="Consolas"/>
              </a:rPr>
              <a:t> </a:t>
            </a:r>
            <a:r>
              <a:rPr lang="en-US" sz="1400" dirty="0">
                <a:solidFill>
                  <a:srgbClr val="C586C0"/>
                </a:solidFill>
                <a:latin typeface="Consolas"/>
              </a:rPr>
              <a:t>&amp;</a:t>
            </a:r>
            <a:r>
              <a:rPr lang="en-US" sz="1400" dirty="0">
                <a:solidFill>
                  <a:srgbClr val="D4D4D4"/>
                </a:solidFill>
                <a:latin typeface="Consolas"/>
              </a:rPr>
              <a:t> tags.</a:t>
            </a:r>
            <a:r>
              <a:rPr lang="en-US" sz="1400" dirty="0">
                <a:solidFill>
                  <a:srgbClr val="4EC9B0"/>
                </a:solidFill>
                <a:latin typeface="Consolas"/>
              </a:rPr>
              <a:t>Format</a:t>
            </a:r>
            <a:r>
              <a:rPr lang="en-US" sz="1400" dirty="0">
                <a:solidFill>
                  <a:srgbClr val="D4D4D4"/>
                </a:solidFill>
                <a:latin typeface="Consolas"/>
              </a:rPr>
              <a:t>&lt;</a:t>
            </a:r>
            <a:r>
              <a:rPr lang="en-US" sz="1400" dirty="0">
                <a:solidFill>
                  <a:srgbClr val="CE9178"/>
                </a:solidFill>
                <a:latin typeface="Consolas"/>
              </a:rPr>
              <a:t>"uuid"</a:t>
            </a:r>
            <a:r>
              <a:rPr lang="en-US" sz="1400" dirty="0">
                <a:solidFill>
                  <a:srgbClr val="D4D4D4"/>
                </a:solidFill>
                <a:latin typeface="Consolas"/>
              </a:rPr>
              <a:t>&gt;;</a:t>
            </a:r>
          </a:p>
          <a:p>
            <a:r>
              <a:rPr lang="en-US" sz="1400" dirty="0">
                <a:solidFill>
                  <a:srgbClr val="D4D4D4"/>
                </a:solidFill>
                <a:latin typeface="Consolas"/>
              </a:rPr>
              <a:t>  email: </a:t>
            </a:r>
            <a:r>
              <a:rPr lang="en-US" sz="1400" dirty="0">
                <a:solidFill>
                  <a:srgbClr val="569CD6"/>
                </a:solidFill>
                <a:latin typeface="Consolas"/>
              </a:rPr>
              <a:t>string</a:t>
            </a:r>
            <a:r>
              <a:rPr lang="en-US" sz="1400" dirty="0">
                <a:solidFill>
                  <a:srgbClr val="D4D4D4"/>
                </a:solidFill>
                <a:latin typeface="Consolas"/>
              </a:rPr>
              <a:t> </a:t>
            </a:r>
            <a:r>
              <a:rPr lang="en-US" sz="1400" dirty="0">
                <a:solidFill>
                  <a:srgbClr val="C586C0"/>
                </a:solidFill>
                <a:latin typeface="Consolas"/>
              </a:rPr>
              <a:t>&amp;</a:t>
            </a:r>
            <a:r>
              <a:rPr lang="en-US" sz="1400" dirty="0">
                <a:solidFill>
                  <a:srgbClr val="D4D4D4"/>
                </a:solidFill>
                <a:latin typeface="Consolas"/>
              </a:rPr>
              <a:t> tags.</a:t>
            </a:r>
            <a:r>
              <a:rPr lang="en-US" sz="1400" dirty="0">
                <a:solidFill>
                  <a:srgbClr val="4EC9B0"/>
                </a:solidFill>
                <a:latin typeface="Consolas"/>
              </a:rPr>
              <a:t>Format</a:t>
            </a:r>
            <a:r>
              <a:rPr lang="en-US" sz="1400" dirty="0">
                <a:solidFill>
                  <a:srgbClr val="D4D4D4"/>
                </a:solidFill>
                <a:latin typeface="Consolas"/>
              </a:rPr>
              <a:t>&lt;</a:t>
            </a:r>
            <a:r>
              <a:rPr lang="en-US" sz="1400" dirty="0">
                <a:solidFill>
                  <a:srgbClr val="CE9178"/>
                </a:solidFill>
                <a:latin typeface="Consolas"/>
              </a:rPr>
              <a:t>"email"</a:t>
            </a:r>
            <a:r>
              <a:rPr lang="en-US" sz="1400" dirty="0">
                <a:solidFill>
                  <a:srgbClr val="D4D4D4"/>
                </a:solidFill>
                <a:latin typeface="Consolas"/>
              </a:rPr>
              <a:t>&gt;;</a:t>
            </a:r>
          </a:p>
          <a:p>
            <a:r>
              <a:rPr lang="en-US" sz="1400" dirty="0">
                <a:solidFill>
                  <a:srgbClr val="D4D4D4"/>
                </a:solidFill>
                <a:latin typeface="Consolas"/>
              </a:rPr>
              <a:t>  age: </a:t>
            </a:r>
            <a:r>
              <a:rPr lang="en-US" sz="1400" dirty="0">
                <a:solidFill>
                  <a:srgbClr val="569CD6"/>
                </a:solidFill>
                <a:latin typeface="Consolas"/>
              </a:rPr>
              <a:t>number</a:t>
            </a:r>
            <a:r>
              <a:rPr lang="en-US" sz="1400" dirty="0">
                <a:solidFill>
                  <a:srgbClr val="D4D4D4"/>
                </a:solidFill>
                <a:latin typeface="Consolas"/>
              </a:rPr>
              <a:t> </a:t>
            </a:r>
            <a:r>
              <a:rPr lang="en-US" sz="1400" dirty="0">
                <a:solidFill>
                  <a:srgbClr val="C586C0"/>
                </a:solidFill>
                <a:latin typeface="Consolas"/>
              </a:rPr>
              <a:t>&amp;</a:t>
            </a:r>
          </a:p>
          <a:p>
            <a:r>
              <a:rPr lang="en-US" sz="1400" dirty="0">
                <a:solidFill>
                  <a:srgbClr val="D4D4D4"/>
                </a:solidFill>
                <a:latin typeface="Consolas"/>
              </a:rPr>
              <a:t>    tags.</a:t>
            </a:r>
            <a:r>
              <a:rPr lang="en-US" sz="1400" dirty="0">
                <a:solidFill>
                  <a:srgbClr val="4EC9B0"/>
                </a:solidFill>
                <a:latin typeface="Consolas"/>
              </a:rPr>
              <a:t>Type</a:t>
            </a:r>
            <a:r>
              <a:rPr lang="en-US" sz="1400" dirty="0">
                <a:solidFill>
                  <a:srgbClr val="D4D4D4"/>
                </a:solidFill>
                <a:latin typeface="Consolas"/>
              </a:rPr>
              <a:t>&lt;</a:t>
            </a:r>
            <a:r>
              <a:rPr lang="en-US" sz="1400" dirty="0">
                <a:solidFill>
                  <a:srgbClr val="CE9178"/>
                </a:solidFill>
                <a:latin typeface="Consolas"/>
              </a:rPr>
              <a:t>"uint32"</a:t>
            </a:r>
            <a:r>
              <a:rPr lang="en-US" sz="1400" dirty="0">
                <a:solidFill>
                  <a:srgbClr val="D4D4D4"/>
                </a:solidFill>
                <a:latin typeface="Consolas"/>
              </a:rPr>
              <a:t>&gt; </a:t>
            </a:r>
            <a:r>
              <a:rPr lang="en-US" sz="1400" dirty="0">
                <a:solidFill>
                  <a:srgbClr val="C586C0"/>
                </a:solidFill>
                <a:latin typeface="Consolas"/>
              </a:rPr>
              <a:t>&amp;</a:t>
            </a:r>
          </a:p>
          <a:p>
            <a:r>
              <a:rPr lang="en-US" sz="1400" dirty="0">
                <a:solidFill>
                  <a:srgbClr val="D4D4D4"/>
                </a:solidFill>
                <a:latin typeface="Consolas"/>
              </a:rPr>
              <a:t>    tags.</a:t>
            </a:r>
            <a:r>
              <a:rPr lang="en-US" sz="1400" dirty="0">
                <a:solidFill>
                  <a:srgbClr val="4EC9B0"/>
                </a:solidFill>
                <a:latin typeface="Consolas"/>
              </a:rPr>
              <a:t>ExclusiveMinimum</a:t>
            </a:r>
            <a:r>
              <a:rPr lang="en-US" sz="1400" dirty="0">
                <a:solidFill>
                  <a:srgbClr val="D4D4D4"/>
                </a:solidFill>
                <a:latin typeface="Consolas"/>
              </a:rPr>
              <a:t>&lt;</a:t>
            </a:r>
            <a:r>
              <a:rPr lang="en-US" sz="1400" dirty="0">
                <a:solidFill>
                  <a:srgbClr val="B5CEA8"/>
                </a:solidFill>
                <a:latin typeface="Consolas"/>
              </a:rPr>
              <a:t>19</a:t>
            </a:r>
            <a:r>
              <a:rPr lang="en-US" sz="1400" dirty="0">
                <a:solidFill>
                  <a:srgbClr val="D4D4D4"/>
                </a:solidFill>
                <a:latin typeface="Consolas"/>
              </a:rPr>
              <a:t>&gt; </a:t>
            </a:r>
            <a:r>
              <a:rPr lang="en-US" sz="1400" dirty="0">
                <a:solidFill>
                  <a:srgbClr val="C586C0"/>
                </a:solidFill>
                <a:latin typeface="Consolas"/>
              </a:rPr>
              <a:t>&amp;</a:t>
            </a:r>
          </a:p>
          <a:p>
            <a:r>
              <a:rPr lang="en-US" sz="1400" dirty="0">
                <a:solidFill>
                  <a:srgbClr val="D4D4D4"/>
                </a:solidFill>
                <a:latin typeface="Consolas"/>
              </a:rPr>
              <a:t>    tags.</a:t>
            </a:r>
            <a:r>
              <a:rPr lang="en-US" sz="1400" dirty="0">
                <a:solidFill>
                  <a:srgbClr val="4EC9B0"/>
                </a:solidFill>
                <a:latin typeface="Consolas"/>
              </a:rPr>
              <a:t>Maximum</a:t>
            </a:r>
            <a:r>
              <a:rPr lang="en-US" sz="1400" dirty="0">
                <a:solidFill>
                  <a:srgbClr val="D4D4D4"/>
                </a:solidFill>
                <a:latin typeface="Consolas"/>
              </a:rPr>
              <a:t>&lt;</a:t>
            </a:r>
            <a:r>
              <a:rPr lang="en-US" sz="1400" dirty="0">
                <a:solidFill>
                  <a:srgbClr val="B5CEA8"/>
                </a:solidFill>
                <a:latin typeface="Consolas"/>
              </a:rPr>
              <a:t>100</a:t>
            </a:r>
            <a:r>
              <a:rPr lang="en-US" sz="1400" dirty="0">
                <a:solidFill>
                  <a:srgbClr val="D4D4D4"/>
                </a:solidFill>
                <a:latin typeface="Consolas"/>
              </a:rPr>
              <a:t>&gt;;</a:t>
            </a:r>
          </a:p>
          <a:p>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C586C0"/>
                </a:solidFill>
                <a:latin typeface="Consolas"/>
              </a:rPr>
              <a:t>const </a:t>
            </a:r>
            <a:r>
              <a:rPr lang="en-US" sz="1400" dirty="0">
                <a:solidFill>
                  <a:srgbClr val="D4D4D4"/>
                </a:solidFill>
                <a:latin typeface="Consolas"/>
              </a:rPr>
              <a:t>check: </a:t>
            </a:r>
            <a:r>
              <a:rPr lang="en-US" sz="1400" dirty="0">
                <a:solidFill>
                  <a:srgbClr val="569CD6"/>
                </a:solidFill>
                <a:latin typeface="Consolas"/>
              </a:rPr>
              <a:t>boolean</a:t>
            </a:r>
            <a:r>
              <a:rPr lang="en-US" sz="1400" dirty="0">
                <a:solidFill>
                  <a:srgbClr val="D4D4D4"/>
                </a:solidFill>
                <a:latin typeface="Consolas"/>
              </a:rPr>
              <a:t> = typia.</a:t>
            </a:r>
            <a:r>
              <a:rPr lang="en-US" sz="1400" dirty="0">
                <a:solidFill>
                  <a:srgbClr val="4EC9B0"/>
                </a:solidFill>
                <a:latin typeface="Consolas"/>
              </a:rPr>
              <a:t>is</a:t>
            </a:r>
            <a:r>
              <a:rPr lang="en-US" sz="1400" dirty="0">
                <a:solidFill>
                  <a:srgbClr val="D4D4D4"/>
                </a:solidFill>
                <a:latin typeface="Consolas"/>
              </a:rPr>
              <a:t>&lt;</a:t>
            </a:r>
            <a:r>
              <a:rPr lang="en-US" sz="1400" dirty="0">
                <a:solidFill>
                  <a:srgbClr val="4EC9B0"/>
                </a:solidFill>
                <a:latin typeface="Consolas"/>
              </a:rPr>
              <a:t>IMember</a:t>
            </a:r>
            <a:r>
              <a:rPr lang="en-US" sz="1400" dirty="0">
                <a:solidFill>
                  <a:srgbClr val="D4D4D4"/>
                </a:solidFill>
                <a:latin typeface="Consola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r>
              <a:rPr lang="en-US" sz="2000" b="1" dirty="0">
                <a:solidFill>
                  <a:srgbClr val="FFD93D"/>
                </a:solidFill>
                <a:latin typeface="Segoe UI Semibold"/>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endParaRPr lang="en-US"/>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r>
              <a:rPr lang="en-US" sz="1400" dirty="0">
                <a:solidFill>
                  <a:srgbClr val="D4D4D4"/>
                </a:solidFill>
                <a:latin typeface="Consolas"/>
              </a:rPr>
              <a:t>((input) </a:t>
            </a:r>
            <a:r>
              <a:rPr lang="en-US" sz="1400" dirty="0">
                <a:solidFill>
                  <a:srgbClr val="C586C0"/>
                </a:solidFill>
                <a:latin typeface="Consolas"/>
              </a:rPr>
              <a:t>=&gt;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C586C0"/>
                </a:solidFill>
                <a:latin typeface="Consolas"/>
              </a:rPr>
              <a:t>return</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CE9178"/>
                </a:solidFill>
                <a:latin typeface="Consolas"/>
              </a:rPr>
              <a:t>"object"</a:t>
            </a:r>
            <a:r>
              <a:rPr lang="en-US" sz="1400" dirty="0">
                <a:solidFill>
                  <a:srgbClr val="D4D4D4"/>
                </a:solidFill>
                <a:latin typeface="Consolas"/>
              </a:rPr>
              <a:t> === </a:t>
            </a:r>
            <a:r>
              <a:rPr lang="en-US" sz="1400" dirty="0">
                <a:solidFill>
                  <a:srgbClr val="C586C0"/>
                </a:solidFill>
                <a:latin typeface="Consolas"/>
              </a:rPr>
              <a:t>typeof</a:t>
            </a:r>
            <a:r>
              <a:rPr lang="en-US" sz="1400" dirty="0">
                <a:solidFill>
                  <a:srgbClr val="D4D4D4"/>
                </a:solidFill>
                <a:latin typeface="Consolas"/>
              </a:rPr>
              <a:t> input </a:t>
            </a:r>
            <a:r>
              <a:rPr lang="en-US" sz="1400" dirty="0">
                <a:solidFill>
                  <a:srgbClr val="C586C0"/>
                </a:solidFill>
                <a:latin typeface="Consolas"/>
              </a:rPr>
              <a:t>&amp;&amp;</a:t>
            </a:r>
          </a:p>
          <a:p>
            <a:r>
              <a:rPr lang="en-US" sz="1400" dirty="0">
                <a:solidFill>
                  <a:srgbClr val="D4D4D4"/>
                </a:solidFill>
                <a:latin typeface="Consolas"/>
              </a:rPr>
              <a:t>    </a:t>
            </a:r>
            <a:r>
              <a:rPr lang="en-US" sz="1400" dirty="0">
                <a:solidFill>
                  <a:srgbClr val="569CD6"/>
                </a:solidFill>
                <a:latin typeface="Consolas"/>
              </a:rPr>
              <a:t>null</a:t>
            </a:r>
            <a:r>
              <a:rPr lang="en-US" sz="1400" dirty="0">
                <a:solidFill>
                  <a:srgbClr val="D4D4D4"/>
                </a:solidFill>
                <a:latin typeface="Consolas"/>
              </a:rPr>
              <a:t> !== input </a:t>
            </a:r>
            <a:r>
              <a:rPr lang="en-US" sz="1400" dirty="0">
                <a:solidFill>
                  <a:srgbClr val="C586C0"/>
                </a:solidFill>
                <a:latin typeface="Consolas"/>
              </a:rPr>
              <a:t>&amp;&amp;</a:t>
            </a:r>
          </a:p>
          <a:p>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 === </a:t>
            </a:r>
            <a:r>
              <a:rPr lang="en-US" sz="1400" dirty="0">
                <a:solidFill>
                  <a:srgbClr val="C586C0"/>
                </a:solidFill>
                <a:latin typeface="Consolas"/>
              </a:rPr>
              <a:t>typeof</a:t>
            </a:r>
            <a:r>
              <a:rPr lang="en-US" sz="1400" dirty="0">
                <a:solidFill>
                  <a:srgbClr val="D4D4D4"/>
                </a:solidFill>
                <a:latin typeface="Consolas"/>
              </a:rPr>
              <a:t> input.id </a:t>
            </a:r>
            <a:r>
              <a:rPr lang="en-US" sz="1400" dirty="0">
                <a:solidFill>
                  <a:srgbClr val="C586C0"/>
                </a:solidFill>
                <a:latin typeface="Consolas"/>
              </a:rPr>
              <a:t>&amp;&amp;</a:t>
            </a:r>
          </a:p>
          <a:p>
            <a:r>
              <a:rPr lang="en-US" sz="1400" dirty="0">
                <a:solidFill>
                  <a:srgbClr val="D4D4D4"/>
                </a:solidFill>
                <a:latin typeface="Consolas"/>
              </a:rPr>
              <a:t>    /^[0-9a-f]{8}-.../.</a:t>
            </a:r>
            <a:r>
              <a:rPr lang="en-US" sz="1400" dirty="0">
                <a:solidFill>
                  <a:srgbClr val="4EC9B0"/>
                </a:solidFill>
                <a:latin typeface="Consolas"/>
              </a:rPr>
              <a:t>test</a:t>
            </a:r>
            <a:r>
              <a:rPr lang="en-US" sz="1400" dirty="0">
                <a:solidFill>
                  <a:srgbClr val="D4D4D4"/>
                </a:solidFill>
                <a:latin typeface="Consolas"/>
              </a:rPr>
              <a:t>(input.id) </a:t>
            </a:r>
            <a:r>
              <a:rPr lang="en-US" sz="1400" dirty="0">
                <a:solidFill>
                  <a:srgbClr val="C586C0"/>
                </a:solidFill>
                <a:latin typeface="Consolas"/>
              </a:rPr>
              <a:t>&amp;&amp;</a:t>
            </a:r>
          </a:p>
          <a:p>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 === </a:t>
            </a:r>
            <a:r>
              <a:rPr lang="en-US" sz="1400" dirty="0">
                <a:solidFill>
                  <a:srgbClr val="C586C0"/>
                </a:solidFill>
                <a:latin typeface="Consolas"/>
              </a:rPr>
              <a:t>typeof</a:t>
            </a:r>
            <a:r>
              <a:rPr lang="en-US" sz="1400" dirty="0">
                <a:solidFill>
                  <a:srgbClr val="D4D4D4"/>
                </a:solidFill>
                <a:latin typeface="Consolas"/>
              </a:rPr>
              <a:t> input.email </a:t>
            </a:r>
            <a:r>
              <a:rPr lang="en-US" sz="1400" dirty="0">
                <a:solidFill>
                  <a:srgbClr val="C586C0"/>
                </a:solidFill>
                <a:latin typeface="Consolas"/>
              </a:rPr>
              <a:t>&amp;&amp;</a:t>
            </a:r>
          </a:p>
          <a:p>
            <a:r>
              <a:rPr lang="en-US" sz="1400" dirty="0">
                <a:solidFill>
                  <a:srgbClr val="D4D4D4"/>
                </a:solidFill>
                <a:latin typeface="Consolas"/>
              </a:rPr>
              <a:t>    /^[a-z0-9._%+-]+@.../.</a:t>
            </a:r>
            <a:r>
              <a:rPr lang="en-US" sz="1400" dirty="0">
                <a:solidFill>
                  <a:srgbClr val="4EC9B0"/>
                </a:solidFill>
                <a:latin typeface="Consolas"/>
              </a:rPr>
              <a:t>test</a:t>
            </a:r>
            <a:r>
              <a:rPr lang="en-US" sz="1400" dirty="0">
                <a:solidFill>
                  <a:srgbClr val="D4D4D4"/>
                </a:solidFill>
                <a:latin typeface="Consolas"/>
              </a:rPr>
              <a:t>(input.email) </a:t>
            </a:r>
            <a:r>
              <a:rPr lang="en-US" sz="1400" dirty="0">
                <a:solidFill>
                  <a:srgbClr val="C586C0"/>
                </a:solidFill>
                <a:latin typeface="Consolas"/>
              </a:rPr>
              <a:t>&amp;&amp;</a:t>
            </a:r>
          </a:p>
          <a:p>
            <a:r>
              <a:rPr lang="en-US" sz="1400" dirty="0">
                <a:solidFill>
                  <a:srgbClr val="D4D4D4"/>
                </a:solidFill>
                <a:latin typeface="Consolas"/>
              </a:rPr>
              <a:t>    </a:t>
            </a:r>
            <a:r>
              <a:rPr lang="en-US" sz="1400" dirty="0">
                <a:solidFill>
                  <a:srgbClr val="CE9178"/>
                </a:solidFill>
                <a:latin typeface="Consolas"/>
              </a:rPr>
              <a:t>"number"</a:t>
            </a:r>
            <a:r>
              <a:rPr lang="en-US" sz="1400" dirty="0">
                <a:solidFill>
                  <a:srgbClr val="D4D4D4"/>
                </a:solidFill>
                <a:latin typeface="Consolas"/>
              </a:rPr>
              <a:t> === </a:t>
            </a:r>
            <a:r>
              <a:rPr lang="en-US" sz="1400" dirty="0">
                <a:solidFill>
                  <a:srgbClr val="C586C0"/>
                </a:solidFill>
                <a:latin typeface="Consolas"/>
              </a:rPr>
              <a:t>typeof</a:t>
            </a:r>
            <a:r>
              <a:rPr lang="en-US" sz="1400" dirty="0">
                <a:solidFill>
                  <a:srgbClr val="D4D4D4"/>
                </a:solidFill>
                <a:latin typeface="Consolas"/>
              </a:rPr>
              <a:t> input.age </a:t>
            </a:r>
            <a:r>
              <a:rPr lang="en-US" sz="1400" dirty="0">
                <a:solidFill>
                  <a:srgbClr val="C586C0"/>
                </a:solidFill>
                <a:latin typeface="Consolas"/>
              </a:rPr>
              <a:t>&amp;&amp;</a:t>
            </a:r>
          </a:p>
          <a:p>
            <a:r>
              <a:rPr lang="en-US" sz="1400" dirty="0">
                <a:solidFill>
                  <a:srgbClr val="D4D4D4"/>
                </a:solidFill>
                <a:latin typeface="Consolas"/>
              </a:rPr>
              <a:t>    Number.</a:t>
            </a:r>
            <a:r>
              <a:rPr lang="en-US" sz="1400" dirty="0">
                <a:solidFill>
                  <a:srgbClr val="4EC9B0"/>
                </a:solidFill>
                <a:latin typeface="Consolas"/>
              </a:rPr>
              <a:t>isInteger</a:t>
            </a:r>
            <a:r>
              <a:rPr lang="en-US" sz="1400" dirty="0">
                <a:solidFill>
                  <a:srgbClr val="D4D4D4"/>
                </a:solidFill>
                <a:latin typeface="Consolas"/>
              </a:rPr>
              <a:t>(input.age) </a:t>
            </a:r>
            <a:r>
              <a:rPr lang="en-US" sz="1400" dirty="0">
                <a:solidFill>
                  <a:srgbClr val="C586C0"/>
                </a:solidFill>
                <a:latin typeface="Consolas"/>
              </a:rPr>
              <a:t>&amp;&amp;</a:t>
            </a:r>
          </a:p>
          <a:p>
            <a:r>
              <a:rPr lang="en-US" sz="1400" dirty="0">
                <a:solidFill>
                  <a:srgbClr val="D4D4D4"/>
                </a:solidFill>
                <a:latin typeface="Consolas"/>
              </a:rPr>
              <a:t>    input.age &gt;= </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C586C0"/>
                </a:solidFill>
                <a:latin typeface="Consolas"/>
              </a:rPr>
              <a:t>&amp;&amp;</a:t>
            </a:r>
          </a:p>
          <a:p>
            <a:r>
              <a:rPr lang="en-US" sz="1400" dirty="0">
                <a:solidFill>
                  <a:srgbClr val="D4D4D4"/>
                </a:solidFill>
                <a:latin typeface="Consolas"/>
              </a:rPr>
              <a:t>    </a:t>
            </a:r>
            <a:r>
              <a:rPr lang="en-US" sz="1400" dirty="0">
                <a:solidFill>
                  <a:srgbClr val="B5CEA8"/>
                </a:solidFill>
                <a:latin typeface="Consolas"/>
              </a:rPr>
              <a:t>19</a:t>
            </a:r>
            <a:r>
              <a:rPr lang="en-US" sz="1400" dirty="0">
                <a:solidFill>
                  <a:srgbClr val="D4D4D4"/>
                </a:solidFill>
                <a:latin typeface="Consolas"/>
              </a:rPr>
              <a:t> &lt; input.age </a:t>
            </a:r>
            <a:r>
              <a:rPr lang="en-US" sz="1400" dirty="0">
                <a:solidFill>
                  <a:srgbClr val="C586C0"/>
                </a:solidFill>
                <a:latin typeface="Consolas"/>
              </a:rPr>
              <a:t>&amp;&amp;</a:t>
            </a:r>
          </a:p>
          <a:p>
            <a:r>
              <a:rPr lang="en-US" sz="1400" dirty="0">
                <a:solidFill>
                  <a:srgbClr val="D4D4D4"/>
                </a:solidFill>
                <a:latin typeface="Consolas"/>
              </a:rPr>
              <a:t>    </a:t>
            </a:r>
            <a:r>
              <a:rPr lang="en-US" sz="1400" dirty="0">
                <a:solidFill>
                  <a:srgbClr val="B5CEA8"/>
                </a:solidFill>
                <a:latin typeface="Consolas"/>
              </a:rPr>
              <a:t>100</a:t>
            </a:r>
            <a:r>
              <a:rPr lang="en-US" sz="1400" dirty="0">
                <a:solidFill>
                  <a:srgbClr val="D4D4D4"/>
                </a:solidFill>
                <a:latin typeface="Consolas"/>
              </a:rPr>
              <a:t> &gt;= input.age</a:t>
            </a:r>
          </a:p>
          <a:p>
            <a:r>
              <a:rPr lang="en-US" sz="1400" dirty="0">
                <a:solidFill>
                  <a:srgbClr val="D4D4D4"/>
                </a:solidFill>
                <a:latin typeface="Consolas"/>
              </a:rPr>
              <a:t>  );</a:t>
            </a:r>
          </a:p>
          <a:p>
            <a:r>
              <a:rPr lang="en-US" sz="1400" dirty="0">
                <a:solidFill>
                  <a:srgbClr val="D4D4D4"/>
                </a:solidFill>
                <a:latin typeface="Consola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algn="ctr"/>
            <a:r>
              <a:rPr lang="en-US" sz="2400" b="1" dirty="0">
                <a:solidFill>
                  <a:srgbClr val="00D4AA"/>
                </a:solidFill>
                <a:latin typeface="Segoe UI"/>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algn="ctr">
              <a:buNone/>
            </a:pPr>
            <a:r>
              <a:rPr lang="en-US" sz="1800" dirty="0">
                <a:solidFill>
                  <a:srgbClr val="D0D0D0"/>
                </a:solidFill>
                <a:latin typeface="Segoe UI"/>
              </a:rPr>
              <a:t>A single line — </a:t>
            </a:r>
            <a:r>
              <a:rPr lang="en-US" sz="1800" b="1" dirty="0">
                <a:solidFill>
                  <a:srgbClr val="00D4AA"/>
                </a:solidFill>
                <a:latin typeface="Consolas"/>
              </a:rPr>
              <a:t>typia.is&lt;IMember&gt;(input)</a:t>
            </a:r>
            <a:br>
              <a:rPr lang="en-US" b="1" dirty="0">
                <a:solidFill>
                  <a:srgbClr val="D0D0D0"/>
                </a:solidFill>
                <a:latin typeface="Segoe UI"/>
              </a:rPr>
            </a:br>
            <a:r>
              <a:rPr lang="en-US" sz="1800" dirty="0">
                <a:solidFill>
                  <a:srgbClr val="D0D0D0"/>
                </a:solidFill>
                <a:latin typeface="Segoe UI"/>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3574585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r>
              <a:rPr lang="en-US" sz="2400" b="1" dirty="0">
                <a:solidFill>
                  <a:srgbClr val="F0F0F0"/>
                </a:solidFill>
                <a:latin typeface="Segoe UI Semibold"/>
              </a:rPr>
              <a:t>Type → Schema: Automatic Generation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r>
              <a:rPr lang="en-US" sz="2000" b="1" dirty="0">
                <a:solidFill>
                  <a:srgbClr val="00D4AA"/>
                </a:solidFill>
                <a:latin typeface="Segoe UI Semibold"/>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endParaRPr lang="en-US"/>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r>
              <a:rPr lang="en-US" sz="1400" dirty="0">
                <a:solidFill>
                  <a:srgbClr val="C586C0"/>
                </a:solidFill>
                <a:latin typeface="Consolas"/>
              </a:rPr>
              <a:t>import </a:t>
            </a:r>
            <a:r>
              <a:rPr lang="en-US" sz="1400" dirty="0">
                <a:solidFill>
                  <a:srgbClr val="D4D4D4"/>
                </a:solidFill>
                <a:latin typeface="Consolas"/>
              </a:rPr>
              <a:t>typia, { tags } </a:t>
            </a:r>
            <a:r>
              <a:rPr lang="en-US" sz="1400" dirty="0">
                <a:solidFill>
                  <a:srgbClr val="C586C0"/>
                </a:solidFill>
                <a:latin typeface="Consolas"/>
              </a:rPr>
              <a:t>from </a:t>
            </a:r>
            <a:r>
              <a:rPr lang="en-US" sz="1400" dirty="0">
                <a:solidFill>
                  <a:srgbClr val="CE9178"/>
                </a:solidFill>
                <a:latin typeface="Consolas"/>
              </a:rPr>
              <a:t>"typia"</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C586C0"/>
                </a:solidFill>
                <a:latin typeface="Consolas"/>
              </a:rPr>
              <a:t>interface </a:t>
            </a:r>
            <a:r>
              <a:rPr lang="en-US" sz="1400" dirty="0">
                <a:solidFill>
                  <a:srgbClr val="4EC9B0"/>
                </a:solidFill>
                <a:latin typeface="Consolas"/>
              </a:rPr>
              <a:t>IMember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6A9955"/>
                </a:solidFill>
                <a:latin typeface="Consolas"/>
              </a:rPr>
              <a:t>/**</a:t>
            </a:r>
          </a:p>
          <a:p>
            <a:r>
              <a:rPr lang="en-US" sz="1400" dirty="0">
                <a:solidFill>
                  <a:srgbClr val="D4D4D4"/>
                </a:solidFill>
                <a:latin typeface="Consolas"/>
              </a:rPr>
              <a:t>  </a:t>
            </a:r>
            <a:r>
              <a:rPr lang="en-US" sz="1400" dirty="0">
                <a:solidFill>
                  <a:srgbClr val="6A9955"/>
                </a:solidFill>
                <a:latin typeface="Consolas"/>
              </a:rPr>
              <a:t> * Member's age.</a:t>
            </a:r>
          </a:p>
          <a:p>
            <a:r>
              <a:rPr lang="en-US" sz="1400" dirty="0">
                <a:solidFill>
                  <a:srgbClr val="D4D4D4"/>
                </a:solidFill>
                <a:latin typeface="Consolas"/>
              </a:rPr>
              <a:t>  </a:t>
            </a:r>
            <a:r>
              <a:rPr lang="en-US" sz="1400" dirty="0">
                <a:solidFill>
                  <a:srgbClr val="6A9955"/>
                </a:solidFill>
                <a:latin typeface="Consolas"/>
              </a:rPr>
              <a:t> *</a:t>
            </a:r>
          </a:p>
          <a:p>
            <a:r>
              <a:rPr lang="en-US" sz="1400" dirty="0">
                <a:solidFill>
                  <a:srgbClr val="D4D4D4"/>
                </a:solidFill>
                <a:latin typeface="Consolas"/>
              </a:rPr>
              <a:t>  </a:t>
            </a:r>
            <a:r>
              <a:rPr lang="en-US" sz="1400" dirty="0">
                <a:solidFill>
                  <a:srgbClr val="6A9955"/>
                </a:solidFill>
                <a:latin typeface="Consolas"/>
              </a:rPr>
              <a:t> * Only adults aged 19 or older</a:t>
            </a:r>
          </a:p>
          <a:p>
            <a:r>
              <a:rPr lang="en-US" sz="1400" dirty="0">
                <a:solidFill>
                  <a:srgbClr val="D4D4D4"/>
                </a:solidFill>
                <a:latin typeface="Consolas"/>
              </a:rPr>
              <a:t>  </a:t>
            </a:r>
            <a:r>
              <a:rPr lang="en-US" sz="1400" dirty="0">
                <a:solidFill>
                  <a:srgbClr val="6A9955"/>
                </a:solidFill>
                <a:latin typeface="Consolas"/>
              </a:rPr>
              <a:t> * can register.</a:t>
            </a:r>
          </a:p>
          <a:p>
            <a:r>
              <a:rPr lang="en-US" sz="1400" dirty="0">
                <a:solidFill>
                  <a:srgbClr val="D4D4D4"/>
                </a:solidFill>
                <a:latin typeface="Consolas"/>
              </a:rPr>
              <a:t>  </a:t>
            </a:r>
            <a:r>
              <a:rPr lang="en-US" sz="1400" dirty="0">
                <a:solidFill>
                  <a:srgbClr val="6A9955"/>
                </a:solidFill>
                <a:latin typeface="Consolas"/>
              </a:rPr>
              <a:t> */</a:t>
            </a:r>
          </a:p>
          <a:p>
            <a:r>
              <a:rPr lang="en-US" sz="1400" dirty="0">
                <a:solidFill>
                  <a:srgbClr val="D4D4D4"/>
                </a:solidFill>
                <a:latin typeface="Consolas"/>
              </a:rPr>
              <a:t>  age: </a:t>
            </a:r>
            <a:r>
              <a:rPr lang="en-US" sz="1400" dirty="0">
                <a:solidFill>
                  <a:srgbClr val="569CD6"/>
                </a:solidFill>
                <a:latin typeface="Consolas"/>
              </a:rPr>
              <a:t>number</a:t>
            </a:r>
            <a:r>
              <a:rPr lang="en-US" sz="1400" dirty="0">
                <a:solidFill>
                  <a:srgbClr val="D4D4D4"/>
                </a:solidFill>
                <a:latin typeface="Consolas"/>
              </a:rPr>
              <a:t> </a:t>
            </a:r>
            <a:r>
              <a:rPr lang="en-US" sz="1400" dirty="0">
                <a:solidFill>
                  <a:srgbClr val="C586C0"/>
                </a:solidFill>
                <a:latin typeface="Consolas"/>
              </a:rPr>
              <a:t>&amp;</a:t>
            </a:r>
            <a:r>
              <a:rPr lang="en-US" sz="1400" dirty="0">
                <a:solidFill>
                  <a:srgbClr val="D4D4D4"/>
                </a:solidFill>
                <a:latin typeface="Consolas"/>
              </a:rPr>
              <a:t> tags.</a:t>
            </a:r>
            <a:r>
              <a:rPr lang="en-US" sz="1400" dirty="0">
                <a:solidFill>
                  <a:srgbClr val="4EC9B0"/>
                </a:solidFill>
                <a:latin typeface="Consolas"/>
              </a:rPr>
              <a:t>Type</a:t>
            </a:r>
            <a:r>
              <a:rPr lang="en-US" sz="1400" dirty="0">
                <a:solidFill>
                  <a:srgbClr val="D4D4D4"/>
                </a:solidFill>
                <a:latin typeface="Consolas"/>
              </a:rPr>
              <a:t>&lt;</a:t>
            </a:r>
            <a:r>
              <a:rPr lang="en-US" sz="1400" dirty="0">
                <a:solidFill>
                  <a:srgbClr val="CE9178"/>
                </a:solidFill>
                <a:latin typeface="Consolas"/>
              </a:rPr>
              <a:t>"uint32"</a:t>
            </a:r>
            <a:r>
              <a:rPr lang="en-US" sz="1400" dirty="0">
                <a:solidFill>
                  <a:srgbClr val="D4D4D4"/>
                </a:solidFill>
                <a:latin typeface="Consolas"/>
              </a:rPr>
              <a:t>&gt;</a:t>
            </a:r>
          </a:p>
          <a:p>
            <a:r>
              <a:rPr lang="en-US" sz="1400" dirty="0">
                <a:solidFill>
                  <a:srgbClr val="D4D4D4"/>
                </a:solidFill>
                <a:latin typeface="Consolas"/>
              </a:rPr>
              <a:t>    </a:t>
            </a:r>
            <a:r>
              <a:rPr lang="en-US" sz="1400" dirty="0">
                <a:solidFill>
                  <a:srgbClr val="C586C0"/>
                </a:solidFill>
                <a:latin typeface="Consolas"/>
              </a:rPr>
              <a:t>&amp;</a:t>
            </a:r>
            <a:r>
              <a:rPr lang="en-US" sz="1400" dirty="0">
                <a:solidFill>
                  <a:srgbClr val="D4D4D4"/>
                </a:solidFill>
                <a:latin typeface="Consolas"/>
              </a:rPr>
              <a:t> tags.</a:t>
            </a:r>
            <a:r>
              <a:rPr lang="en-US" sz="1400" dirty="0">
                <a:solidFill>
                  <a:srgbClr val="4EC9B0"/>
                </a:solidFill>
                <a:latin typeface="Consolas"/>
              </a:rPr>
              <a:t>ExclusiveMinimum</a:t>
            </a:r>
            <a:r>
              <a:rPr lang="en-US" sz="1400" dirty="0">
                <a:solidFill>
                  <a:srgbClr val="D4D4D4"/>
                </a:solidFill>
                <a:latin typeface="Consolas"/>
              </a:rPr>
              <a:t>&lt;</a:t>
            </a:r>
            <a:r>
              <a:rPr lang="en-US" sz="1400" dirty="0">
                <a:solidFill>
                  <a:srgbClr val="B5CEA8"/>
                </a:solidFill>
                <a:latin typeface="Consolas"/>
              </a:rPr>
              <a:t>18</a:t>
            </a:r>
            <a:r>
              <a:rPr lang="en-US" sz="1400" dirty="0">
                <a:solidFill>
                  <a:srgbClr val="D4D4D4"/>
                </a:solidFill>
                <a:latin typeface="Consolas"/>
              </a:rPr>
              <a:t>&gt;;</a:t>
            </a:r>
          </a:p>
          <a:p>
            <a:r>
              <a:rPr lang="en-US" sz="1400" dirty="0">
                <a:solidFill>
                  <a:srgbClr val="D4D4D4"/>
                </a:solidFill>
                <a:latin typeface="Consolas"/>
              </a:rPr>
              <a:t>  email: </a:t>
            </a:r>
            <a:r>
              <a:rPr lang="en-US" sz="1400" dirty="0">
                <a:solidFill>
                  <a:srgbClr val="569CD6"/>
                </a:solidFill>
                <a:latin typeface="Consolas"/>
              </a:rPr>
              <a:t>string</a:t>
            </a:r>
            <a:r>
              <a:rPr lang="en-US" sz="1400" dirty="0">
                <a:solidFill>
                  <a:srgbClr val="D4D4D4"/>
                </a:solidFill>
                <a:latin typeface="Consolas"/>
              </a:rPr>
              <a:t> </a:t>
            </a:r>
            <a:r>
              <a:rPr lang="en-US" sz="1400" dirty="0">
                <a:solidFill>
                  <a:srgbClr val="C586C0"/>
                </a:solidFill>
                <a:latin typeface="Consolas"/>
              </a:rPr>
              <a:t>&amp;</a:t>
            </a:r>
            <a:r>
              <a:rPr lang="en-US" sz="1400" dirty="0">
                <a:solidFill>
                  <a:srgbClr val="D4D4D4"/>
                </a:solidFill>
                <a:latin typeface="Consolas"/>
              </a:rPr>
              <a:t> tags.</a:t>
            </a:r>
            <a:r>
              <a:rPr lang="en-US" sz="1400" dirty="0">
                <a:solidFill>
                  <a:srgbClr val="4EC9B0"/>
                </a:solidFill>
                <a:latin typeface="Consolas"/>
              </a:rPr>
              <a:t>Format</a:t>
            </a:r>
            <a:r>
              <a:rPr lang="en-US" sz="1400" dirty="0">
                <a:solidFill>
                  <a:srgbClr val="D4D4D4"/>
                </a:solidFill>
                <a:latin typeface="Consolas"/>
              </a:rPr>
              <a:t>&lt;</a:t>
            </a:r>
            <a:r>
              <a:rPr lang="en-US" sz="1400" dirty="0">
                <a:solidFill>
                  <a:srgbClr val="CE9178"/>
                </a:solidFill>
                <a:latin typeface="Consolas"/>
              </a:rPr>
              <a:t>"email"</a:t>
            </a:r>
            <a:r>
              <a:rPr lang="en-US" sz="1400" dirty="0">
                <a:solidFill>
                  <a:srgbClr val="D4D4D4"/>
                </a:solidFill>
                <a:latin typeface="Consolas"/>
              </a:rPr>
              <a:t>&gt;;</a:t>
            </a:r>
          </a:p>
          <a:p>
            <a:r>
              <a:rPr lang="en-US" sz="1400" dirty="0">
                <a:solidFill>
                  <a:srgbClr val="D4D4D4"/>
                </a:solidFill>
                <a:latin typeface="Consolas"/>
              </a:rPr>
              <a:t>  name: </a:t>
            </a:r>
            <a:r>
              <a:rPr lang="en-US" sz="1400" dirty="0">
                <a:solidFill>
                  <a:srgbClr val="569CD6"/>
                </a:solidFill>
                <a:latin typeface="Consolas"/>
              </a:rPr>
              <a:t>string</a:t>
            </a:r>
            <a:r>
              <a:rPr lang="en-US" sz="1400" dirty="0">
                <a:solidFill>
                  <a:srgbClr val="D4D4D4"/>
                </a:solidFill>
                <a:latin typeface="Consolas"/>
              </a:rPr>
              <a:t> </a:t>
            </a:r>
            <a:r>
              <a:rPr lang="en-US" sz="1400" dirty="0">
                <a:solidFill>
                  <a:srgbClr val="C586C0"/>
                </a:solidFill>
                <a:latin typeface="Consolas"/>
              </a:rPr>
              <a:t>&amp;</a:t>
            </a:r>
            <a:r>
              <a:rPr lang="en-US" sz="1400" dirty="0">
                <a:solidFill>
                  <a:srgbClr val="D4D4D4"/>
                </a:solidFill>
                <a:latin typeface="Consolas"/>
              </a:rPr>
              <a:t> tags.</a:t>
            </a:r>
            <a:r>
              <a:rPr lang="en-US" sz="1400" dirty="0">
                <a:solidFill>
                  <a:srgbClr val="4EC9B0"/>
                </a:solidFill>
                <a:latin typeface="Consolas"/>
              </a:rPr>
              <a:t>MinLength</a:t>
            </a:r>
            <a:r>
              <a:rPr lang="en-US" sz="1400" dirty="0">
                <a:solidFill>
                  <a:srgbClr val="D4D4D4"/>
                </a:solidFill>
                <a:latin typeface="Consolas"/>
              </a:rPr>
              <a:t>&lt;</a:t>
            </a:r>
            <a:r>
              <a:rPr lang="en-US" sz="1400" dirty="0">
                <a:solidFill>
                  <a:srgbClr val="B5CEA8"/>
                </a:solidFill>
                <a:latin typeface="Consolas"/>
              </a:rPr>
              <a:t>1</a:t>
            </a:r>
            <a:r>
              <a:rPr lang="en-US" sz="1400" dirty="0">
                <a:solidFill>
                  <a:srgbClr val="D4D4D4"/>
                </a:solidFill>
                <a:latin typeface="Consolas"/>
              </a:rPr>
              <a:t>&gt;</a:t>
            </a:r>
          </a:p>
          <a:p>
            <a:r>
              <a:rPr lang="en-US" sz="1400" dirty="0">
                <a:solidFill>
                  <a:srgbClr val="D4D4D4"/>
                </a:solidFill>
                <a:latin typeface="Consolas"/>
              </a:rPr>
              <a:t>    </a:t>
            </a:r>
            <a:r>
              <a:rPr lang="en-US" sz="1400" dirty="0">
                <a:solidFill>
                  <a:srgbClr val="C586C0"/>
                </a:solidFill>
                <a:latin typeface="Consolas"/>
              </a:rPr>
              <a:t>&amp;</a:t>
            </a:r>
            <a:r>
              <a:rPr lang="en-US" sz="1400" dirty="0">
                <a:solidFill>
                  <a:srgbClr val="D4D4D4"/>
                </a:solidFill>
                <a:latin typeface="Consolas"/>
              </a:rPr>
              <a:t> tags.</a:t>
            </a:r>
            <a:r>
              <a:rPr lang="en-US" sz="1400" dirty="0">
                <a:solidFill>
                  <a:srgbClr val="4EC9B0"/>
                </a:solidFill>
                <a:latin typeface="Consolas"/>
              </a:rPr>
              <a:t>MaxLength</a:t>
            </a:r>
            <a:r>
              <a:rPr lang="en-US" sz="1400" dirty="0">
                <a:solidFill>
                  <a:srgbClr val="D4D4D4"/>
                </a:solidFill>
                <a:latin typeface="Consolas"/>
              </a:rPr>
              <a:t>&lt;</a:t>
            </a:r>
            <a:r>
              <a:rPr lang="en-US" sz="1400" dirty="0">
                <a:solidFill>
                  <a:srgbClr val="B5CEA8"/>
                </a:solidFill>
                <a:latin typeface="Consolas"/>
              </a:rPr>
              <a:t>100</a:t>
            </a:r>
            <a:r>
              <a:rPr lang="en-US" sz="1400" dirty="0">
                <a:solidFill>
                  <a:srgbClr val="D4D4D4"/>
                </a:solidFill>
                <a:latin typeface="Consolas"/>
              </a:rPr>
              <a:t>&gt;;</a:t>
            </a:r>
          </a:p>
          <a:p>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C586C0"/>
                </a:solidFill>
                <a:latin typeface="Consolas"/>
              </a:rPr>
              <a:t>const </a:t>
            </a:r>
            <a:r>
              <a:rPr lang="en-US" sz="1400" dirty="0">
                <a:solidFill>
                  <a:srgbClr val="D4D4D4"/>
                </a:solidFill>
                <a:latin typeface="Consolas"/>
              </a:rPr>
              <a:t>schema = typia.llm.</a:t>
            </a:r>
            <a:r>
              <a:rPr lang="en-US" sz="1400" dirty="0">
                <a:solidFill>
                  <a:srgbClr val="4EC9B0"/>
                </a:solidFill>
                <a:latin typeface="Consolas"/>
              </a:rPr>
              <a:t>parameters</a:t>
            </a:r>
            <a:r>
              <a:rPr lang="en-US" sz="1400" dirty="0">
                <a:solidFill>
                  <a:srgbClr val="D4D4D4"/>
                </a:solidFill>
                <a:latin typeface="Consolas"/>
              </a:rPr>
              <a:t>&lt;</a:t>
            </a:r>
            <a:r>
              <a:rPr lang="en-US" sz="1400" dirty="0">
                <a:solidFill>
                  <a:srgbClr val="4EC9B0"/>
                </a:solidFill>
                <a:latin typeface="Consolas"/>
              </a:rPr>
              <a:t>IMember</a:t>
            </a:r>
            <a:r>
              <a:rPr lang="en-US" sz="1400" dirty="0">
                <a:solidFill>
                  <a:srgbClr val="D4D4D4"/>
                </a:solidFill>
                <a:latin typeface="Consola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r>
              <a:rPr lang="en-US" sz="2000" b="1" dirty="0">
                <a:solidFill>
                  <a:srgbClr val="FFD93D"/>
                </a:solidFill>
                <a:latin typeface="Segoe UI Semibold"/>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endParaRPr lang="en-US"/>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"type"</a:t>
            </a:r>
            <a:r>
              <a:rPr lang="en-US" sz="1400" dirty="0">
                <a:solidFill>
                  <a:srgbClr val="D4D4D4"/>
                </a:solidFill>
                <a:latin typeface="Consolas"/>
              </a:rPr>
              <a:t>: </a:t>
            </a:r>
            <a:r>
              <a:rPr lang="en-US" sz="1400" dirty="0">
                <a:solidFill>
                  <a:srgbClr val="CE9178"/>
                </a:solidFill>
                <a:latin typeface="Consolas"/>
              </a:rPr>
              <a:t>"object"</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"properties"</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"age"</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"type"</a:t>
            </a:r>
            <a:r>
              <a:rPr lang="en-US" sz="1400" dirty="0">
                <a:solidFill>
                  <a:srgbClr val="D4D4D4"/>
                </a:solidFill>
                <a:latin typeface="Consolas"/>
              </a:rPr>
              <a:t>: </a:t>
            </a:r>
            <a:r>
              <a:rPr lang="en-US" sz="1400" dirty="0">
                <a:solidFill>
                  <a:srgbClr val="CE9178"/>
                </a:solidFill>
                <a:latin typeface="Consolas"/>
              </a:rPr>
              <a:t>"integer"</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"description"</a:t>
            </a:r>
            <a:r>
              <a:rPr lang="en-US" sz="1400" dirty="0">
                <a:solidFill>
                  <a:srgbClr val="D4D4D4"/>
                </a:solidFill>
                <a:latin typeface="Consolas"/>
              </a:rPr>
              <a:t>: </a:t>
            </a:r>
            <a:r>
              <a:rPr lang="en-US" sz="1400" dirty="0">
                <a:solidFill>
                  <a:srgbClr val="CE9178"/>
                </a:solidFill>
                <a:latin typeface="Consolas"/>
              </a:rPr>
              <a:t>"Member's age.\n...</a:t>
            </a:r>
          </a:p>
          <a:p>
            <a:r>
              <a:rPr lang="en-US" sz="1400" dirty="0">
                <a:solidFill>
                  <a:srgbClr val="D4D4D4"/>
                </a:solidFill>
                <a:latin typeface="Consolas"/>
              </a:rPr>
              <a:t>      </a:t>
            </a:r>
            <a:r>
              <a:rPr lang="en-US" sz="1400" dirty="0">
                <a:solidFill>
                  <a:srgbClr val="569CD6"/>
                </a:solidFill>
                <a:latin typeface="Consolas"/>
              </a:rPr>
              <a:t>"exclusiveMinimum"</a:t>
            </a:r>
            <a:r>
              <a:rPr lang="en-US" sz="1400" dirty="0">
                <a:solidFill>
                  <a:srgbClr val="D4D4D4"/>
                </a:solidFill>
                <a:latin typeface="Consolas"/>
              </a:rPr>
              <a:t>: </a:t>
            </a:r>
            <a:r>
              <a:rPr lang="en-US" sz="1400" dirty="0">
                <a:solidFill>
                  <a:srgbClr val="B5CEA8"/>
                </a:solidFill>
                <a:latin typeface="Consolas"/>
              </a:rPr>
              <a:t>18</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"email"</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"type"</a:t>
            </a:r>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 </a:t>
            </a:r>
            <a:r>
              <a:rPr lang="en-US" sz="1400" dirty="0">
                <a:solidFill>
                  <a:srgbClr val="569CD6"/>
                </a:solidFill>
                <a:latin typeface="Consolas"/>
              </a:rPr>
              <a:t>"format"</a:t>
            </a:r>
            <a:r>
              <a:rPr lang="en-US" sz="1400" dirty="0">
                <a:solidFill>
                  <a:srgbClr val="D4D4D4"/>
                </a:solidFill>
                <a:latin typeface="Consolas"/>
              </a:rPr>
              <a:t>: </a:t>
            </a:r>
            <a:r>
              <a:rPr lang="en-US" sz="1400" dirty="0">
                <a:solidFill>
                  <a:srgbClr val="CE9178"/>
                </a:solidFill>
                <a:latin typeface="Consolas"/>
              </a:rPr>
              <a:t>"email"</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"name"</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"type"</a:t>
            </a:r>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"minLength"</a:t>
            </a: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 </a:t>
            </a:r>
            <a:r>
              <a:rPr lang="en-US" sz="1400" dirty="0">
                <a:solidFill>
                  <a:srgbClr val="569CD6"/>
                </a:solidFill>
                <a:latin typeface="Consolas"/>
              </a:rPr>
              <a:t>"maxLength"</a:t>
            </a:r>
            <a:r>
              <a:rPr lang="en-US" sz="1400" dirty="0">
                <a:solidFill>
                  <a:srgbClr val="D4D4D4"/>
                </a:solidFill>
                <a:latin typeface="Consolas"/>
              </a:rPr>
              <a:t>: </a:t>
            </a:r>
            <a:r>
              <a:rPr lang="en-US" sz="1400" dirty="0">
                <a:solidFill>
                  <a:srgbClr val="B5CEA8"/>
                </a:solidFill>
                <a:latin typeface="Consolas"/>
              </a:rPr>
              <a:t>100</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"required"</a:t>
            </a:r>
            <a:r>
              <a:rPr lang="en-US" sz="1400" dirty="0">
                <a:solidFill>
                  <a:srgbClr val="D4D4D4"/>
                </a:solidFill>
                <a:latin typeface="Consolas"/>
              </a:rPr>
              <a:t>: [</a:t>
            </a:r>
            <a:r>
              <a:rPr lang="en-US" sz="1400" dirty="0">
                <a:solidFill>
                  <a:srgbClr val="CE9178"/>
                </a:solidFill>
                <a:latin typeface="Consolas"/>
              </a:rPr>
              <a:t>"age"</a:t>
            </a:r>
            <a:r>
              <a:rPr lang="en-US" sz="1400" dirty="0">
                <a:solidFill>
                  <a:srgbClr val="D4D4D4"/>
                </a:solidFill>
                <a:latin typeface="Consolas"/>
              </a:rPr>
              <a:t>,</a:t>
            </a:r>
            <a:r>
              <a:rPr lang="en-US" sz="1400" dirty="0">
                <a:solidFill>
                  <a:srgbClr val="CE9178"/>
                </a:solidFill>
                <a:latin typeface="Consolas"/>
              </a:rPr>
              <a:t>"email"</a:t>
            </a:r>
            <a:r>
              <a:rPr lang="en-US" sz="1400" dirty="0">
                <a:solidFill>
                  <a:srgbClr val="D4D4D4"/>
                </a:solidFill>
                <a:latin typeface="Consolas"/>
              </a:rPr>
              <a:t>,</a:t>
            </a:r>
            <a:r>
              <a:rPr lang="en-US" sz="1400" dirty="0">
                <a:solidFill>
                  <a:srgbClr val="CE9178"/>
                </a:solidFill>
                <a:latin typeface="Consolas"/>
              </a:rPr>
              <a:t>"name"</a:t>
            </a:r>
            <a:r>
              <a:rPr lang="en-US" sz="1400" dirty="0">
                <a:solidFill>
                  <a:srgbClr val="D4D4D4"/>
                </a:solidFill>
                <a:latin typeface="Consolas"/>
              </a:rPr>
              <a:t>]</a:t>
            </a:r>
          </a:p>
          <a:p>
            <a:r>
              <a:rPr lang="en-US" sz="1400" dirty="0">
                <a:solidFill>
                  <a:srgbClr val="D4D4D4"/>
                </a:solidFill>
                <a:latin typeface="Consola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algn="ctr"/>
            <a:r>
              <a:rPr lang="en-US" sz="2400" b="1" dirty="0">
                <a:solidFill>
                  <a:srgbClr val="00D4AA"/>
                </a:solidFill>
                <a:latin typeface="Segoe UI"/>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algn="ctr"/>
            <a:r>
              <a:rPr lang="en-US" sz="1800" dirty="0">
                <a:solidFill>
                  <a:srgbClr val="FFD93D"/>
                </a:solidFill>
                <a:latin typeface="Segoe UI Semibold"/>
              </a:rPr>
              <a:t>JSDoc comments → description fields  |  Type constraints → validation rules</a:t>
            </a:r>
          </a:p>
          <a:p>
            <a:pPr algn="ctr"/>
            <a:r>
              <a:rPr lang="en-US" sz="1600" dirty="0">
                <a:solidFill>
                  <a:srgbClr val="D0D0D0"/>
                </a:solidFill>
                <a:latin typeface="Segoe UI"/>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0815843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71026D8-C12B-4EF6-AF82-C2C35F90B8AA}"/>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JSDoc → LLM Description</a:t>
            </a:r>
          </a:p>
        </p:txBody>
      </p:sp>
      <p:sp>
        <p:nvSpPr>
          <p:cNvPr id="3" name="직사각형 2">
            <a:extLst>
              <a:ext uri="{FF2B5EF4-FFF2-40B4-BE49-F238E27FC236}">
                <a16:creationId xmlns:a16="http://schemas.microsoft.com/office/drawing/2014/main" id="{EEBEEEDF-FC31-4F4A-9A94-A5C5B912C752}"/>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3E6CAA2-B332-46E6-A46A-B88AF8F746F0}"/>
              </a:ext>
            </a:extLst>
          </p:cNvPr>
          <p:cNvSpPr txBox="1"/>
          <p:nvPr/>
        </p:nvSpPr>
        <p:spPr>
          <a:xfrm>
            <a:off x="1016000" y="1270000"/>
            <a:ext cx="10160000" cy="889000"/>
          </a:xfrm>
          <a:prstGeom prst="rect">
            <a:avLst/>
          </a:prstGeom>
          <a:noFill/>
        </p:spPr>
        <p:txBody>
          <a:bodyPr vertOverflow="overflow" vert="horz" wrap="square" rtlCol="0" anchor="t">
            <a:spAutoFit/>
          </a:bodyPr>
          <a:lstStyle/>
          <a:p>
            <a:pPr algn="l"/>
            <a:r>
              <a:rPr lang="en-US" sz="2000">
                <a:solidFill>
                  <a:srgbClr val="D0D0D0"/>
                </a:solidFill>
                <a:latin typeface="Segoe UI"/>
                <a:cs typeface="Segoe UI"/>
              </a:rPr>
              <a:t>JSDoc Comments → description fields
The LLM reads these descriptions to decide what values to generate</a:t>
            </a:r>
          </a:p>
        </p:txBody>
      </p:sp>
      <p:sp>
        <p:nvSpPr>
          <p:cNvPr id="5" name="TextBox 4">
            <a:extLst>
              <a:ext uri="{FF2B5EF4-FFF2-40B4-BE49-F238E27FC236}">
                <a16:creationId xmlns:a16="http://schemas.microsoft.com/office/drawing/2014/main" id="{CA484E2B-67B2-457E-AA41-3362B088E6B1}"/>
              </a:ext>
            </a:extLst>
          </p:cNvPr>
          <p:cNvSpPr txBox="1"/>
          <p:nvPr/>
        </p:nvSpPr>
        <p:spPr>
          <a:xfrm>
            <a:off x="1016000" y="2349500"/>
            <a:ext cx="10160000" cy="1016000"/>
          </a:xfrm>
          <a:prstGeom prst="rect">
            <a:avLst/>
          </a:prstGeom>
          <a:noFill/>
        </p:spPr>
        <p:txBody>
          <a:bodyPr vertOverflow="overflow" vert="horz" wrap="square" rtlCol="0" anchor="t">
            <a:spAutoFit/>
          </a:bodyPr>
          <a:lstStyle/>
          <a:p>
            <a:pPr algn="l"/>
            <a:r>
              <a:rPr lang="en-US" sz="2000">
                <a:solidFill>
                  <a:srgbClr val="D0D0D0"/>
                </a:solidFill>
                <a:latin typeface="Segoe UI"/>
                <a:cs typeface="Segoe UI"/>
              </a:rPr>
              <a:t>Type Constraints → validation rules
ExclusiveMinimum&lt;18&gt; becomes "&gt; 18" schema rule
Format&lt;"email"&gt; becomes an email format check</a:t>
            </a:r>
          </a:p>
        </p:txBody>
      </p:sp>
      <p:sp>
        <p:nvSpPr>
          <p:cNvPr id="6" name="TextBox 5">
            <a:extLst>
              <a:ext uri="{FF2B5EF4-FFF2-40B4-BE49-F238E27FC236}">
                <a16:creationId xmlns:a16="http://schemas.microsoft.com/office/drawing/2014/main" id="{A3D298EB-6A8B-4C4F-85D9-7F15FEBD10F5}"/>
              </a:ext>
            </a:extLst>
          </p:cNvPr>
          <p:cNvSpPr txBox="1"/>
          <p:nvPr/>
        </p:nvSpPr>
        <p:spPr>
          <a:xfrm>
            <a:off x="1016000" y="3683000"/>
            <a:ext cx="10160000" cy="635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One type definition simultaneously generates LLM guidance AND validation rules</a:t>
            </a:r>
          </a:p>
        </p:txBody>
      </p:sp>
      <p:sp>
        <p:nvSpPr>
          <p:cNvPr id="7" name="TextBox 6">
            <a:extLst>
              <a:ext uri="{FF2B5EF4-FFF2-40B4-BE49-F238E27FC236}">
                <a16:creationId xmlns:a16="http://schemas.microsoft.com/office/drawing/2014/main" id="{19EF2B67-4BEA-43D5-8205-6C89DAAB43D0}"/>
              </a:ext>
            </a:extLst>
          </p:cNvPr>
          <p:cNvSpPr txBox="1"/>
          <p:nvPr/>
        </p:nvSpPr>
        <p:spPr>
          <a:xfrm>
            <a:off x="1016000" y="4699000"/>
            <a:ext cx="10160000" cy="1016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typia.llm.parameters&lt;T&gt;() → single type schema
typia.llm.application&lt;T&gt;() → all methods as FC schemas with parse(), validate() auto-built</a:t>
            </a:r>
          </a:p>
        </p:txBody>
      </p:sp>
      <p:sp>
        <p:nvSpPr>
          <p:cNvPr id="8" name="TextBox 7">
            <a:extLst>
              <a:ext uri="{FF2B5EF4-FFF2-40B4-BE49-F238E27FC236}">
                <a16:creationId xmlns:a16="http://schemas.microsoft.com/office/drawing/2014/main" id="{0D435639-9C9A-4C53-B74D-7DB55752F5A7}"/>
              </a:ext>
            </a:extLst>
          </p:cNvPr>
          <p:cNvSpPr txBox="1"/>
          <p:nvPr/>
        </p:nvSpPr>
        <p:spPr>
          <a:xfrm>
            <a:off x="1016000" y="5969000"/>
            <a:ext cx="10160000" cy="381000"/>
          </a:xfrm>
          <a:prstGeom prst="rect">
            <a:avLst/>
          </a:prstGeom>
          <a:noFill/>
        </p:spPr>
        <p:txBody>
          <a:bodyPr vertOverflow="overflow" vert="horz" wrap="square" rtlCol="0" anchor="t">
            <a:spAutoFit/>
          </a:bodyPr>
          <a:lstStyle/>
          <a:p>
            <a:pPr algn="l"/>
            <a:r>
              <a:rPr lang="en-US" b="1">
                <a:solidFill>
                  <a:srgbClr val="00D4AA"/>
                </a:solidFill>
                <a:latin typeface="Segoe UI Semibold"/>
                <a:cs typeface="Segoe UI Semibold"/>
              </a:rPr>
              <a:t>The type is the schema. Constraints the LLM sees = constraints the validator applies.</a:t>
            </a:r>
          </a:p>
        </p:txBody>
      </p:sp>
    </p:spTree>
    <p:extLst>
      <p:ext uri="{BB962C8B-B14F-4D97-AF65-F5344CB8AC3E}">
        <p14:creationId xmlns:p14="http://schemas.microsoft.com/office/powerpoint/2010/main" val="24443323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B39D91C-D759-41BE-BCF0-151E92978C0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The Cause of 6.75%: Structural Complexity</a:t>
            </a:r>
          </a:p>
        </p:txBody>
      </p:sp>
      <p:sp>
        <p:nvSpPr>
          <p:cNvPr id="3" name="직사각형 2">
            <a:extLst>
              <a:ext uri="{FF2B5EF4-FFF2-40B4-BE49-F238E27FC236}">
                <a16:creationId xmlns:a16="http://schemas.microsoft.com/office/drawing/2014/main" id="{1BA7BFEF-A1B6-46BC-B87F-A9E8A0BF0911}"/>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142C348C-C72A-4501-89BE-BCF72D00DF5D}"/>
              </a:ext>
            </a:extLst>
          </p:cNvPr>
          <p:cNvSpPr txBox="1"/>
          <p:nvPr/>
        </p:nvSpPr>
        <p:spPr>
          <a:xfrm>
            <a:off x="1016000" y="1333500"/>
            <a:ext cx="10160000" cy="508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Recursive union types cause combinatorial explosion</a:t>
            </a:r>
          </a:p>
        </p:txBody>
      </p:sp>
      <p:sp>
        <p:nvSpPr>
          <p:cNvPr id="5" name="TextBox 4">
            <a:extLst>
              <a:ext uri="{FF2B5EF4-FFF2-40B4-BE49-F238E27FC236}">
                <a16:creationId xmlns:a16="http://schemas.microsoft.com/office/drawing/2014/main" id="{1ECAE151-606B-4717-8106-4D90AFF1FF08}"/>
              </a:ext>
            </a:extLst>
          </p:cNvPr>
          <p:cNvSpPr txBox="1"/>
          <p:nvPr/>
        </p:nvSpPr>
        <p:spPr>
          <a:xfrm>
            <a:off x="1270000" y="1968500"/>
            <a:ext cx="9652000" cy="1270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 10 variants nested 3 levels deep → 1,000 possible paths
▸ 30 variants nested 3 levels deep → 27,000 possible paths
▸ Probability of correct path on first try: structurally low</a:t>
            </a:r>
          </a:p>
        </p:txBody>
      </p:sp>
      <p:sp>
        <p:nvSpPr>
          <p:cNvPr id="6" name="TextBox 5">
            <a:extLst>
              <a:ext uri="{FF2B5EF4-FFF2-40B4-BE49-F238E27FC236}">
                <a16:creationId xmlns:a16="http://schemas.microsoft.com/office/drawing/2014/main" id="{6173DC36-2DE7-46A6-BB71-CADCC6E2EEB4}"/>
              </a:ext>
            </a:extLst>
          </p:cNvPr>
          <p:cNvSpPr txBox="1"/>
          <p:nvPr/>
        </p:nvSpPr>
        <p:spPr>
          <a:xfrm>
            <a:off x="1016000" y="3429000"/>
            <a:ext cx="10160000" cy="444500"/>
          </a:xfrm>
          <a:prstGeom prst="rect">
            <a:avLst/>
          </a:prstGeom>
          <a:noFill/>
        </p:spPr>
        <p:txBody>
          <a:bodyPr vertOverflow="overflow" vert="horz" wrap="square" rtlCol="0" anchor="t">
            <a:spAutoFit/>
          </a:bodyPr>
          <a:lstStyle/>
          <a:p>
            <a:pPr algn="l"/>
            <a:r>
              <a:rPr lang="en-US" sz="2000" b="1">
                <a:solidFill>
                  <a:srgbClr val="F0F0F0"/>
                </a:solidFill>
                <a:latin typeface="Segoe UI Semibold"/>
                <a:cs typeface="Segoe UI Semibold"/>
              </a:rPr>
              <a:t>Common error patterns in union types:</a:t>
            </a:r>
          </a:p>
        </p:txBody>
      </p:sp>
      <p:sp>
        <p:nvSpPr>
          <p:cNvPr id="7" name="TextBox 6">
            <a:extLst>
              <a:ext uri="{FF2B5EF4-FFF2-40B4-BE49-F238E27FC236}">
                <a16:creationId xmlns:a16="http://schemas.microsoft.com/office/drawing/2014/main" id="{F46FE135-D332-4AD8-A3DD-BC2AE2873F18}"/>
              </a:ext>
            </a:extLst>
          </p:cNvPr>
          <p:cNvSpPr txBox="1"/>
          <p:nvPr/>
        </p:nvSpPr>
        <p:spPr>
          <a:xfrm>
            <a:off x="1270000" y="3937000"/>
            <a:ext cx="9652000" cy="1397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 Correct variant but wrong sub-field type
▸ Confused variants at recursive depth
▸ Missing required fields
▸ Serialized objects as strings (double-stringify)</a:t>
            </a:r>
          </a:p>
        </p:txBody>
      </p:sp>
      <p:sp>
        <p:nvSpPr>
          <p:cNvPr id="8" name="TextBox 7">
            <a:extLst>
              <a:ext uri="{FF2B5EF4-FFF2-40B4-BE49-F238E27FC236}">
                <a16:creationId xmlns:a16="http://schemas.microsoft.com/office/drawing/2014/main" id="{F370C3FF-6AAC-45BD-BC8F-13F9D96914D7}"/>
              </a:ext>
            </a:extLst>
          </p:cNvPr>
          <p:cNvSpPr txBox="1"/>
          <p:nvPr/>
        </p:nvSpPr>
        <p:spPr>
          <a:xfrm>
            <a:off x="1016000" y="5588000"/>
            <a:ext cx="10160000" cy="762000"/>
          </a:xfrm>
          <a:prstGeom prst="rect">
            <a:avLst/>
          </a:prstGeom>
          <a:noFill/>
        </p:spPr>
        <p:txBody>
          <a:bodyPr vertOverflow="overflow" vert="horz" wrap="square" rtlCol="0" anchor="t">
            <a:spAutoFit/>
          </a:bodyPr>
          <a:lstStyle/>
          <a:p>
            <a:pPr algn="l"/>
            <a:r>
              <a:rPr lang="en-US" sz="2000" b="1">
                <a:solidFill>
                  <a:srgbClr val="FF6B6B"/>
                </a:solidFill>
                <a:latin typeface="Segoe UI Semibold"/>
                <a:cs typeface="Segoe UI Semibold"/>
              </a:rPr>
              <a:t>6.75% is the natural result. The issue isn't the first try —
it's what happens after failure.</a:t>
            </a:r>
          </a:p>
        </p:txBody>
      </p:sp>
    </p:spTree>
    <p:extLst>
      <p:ext uri="{BB962C8B-B14F-4D97-AF65-F5344CB8AC3E}">
        <p14:creationId xmlns:p14="http://schemas.microsoft.com/office/powerpoint/2010/main" val="1188149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The Double-Stringify Problem</a:t>
            </a:r>
          </a:p>
        </p:txBody>
      </p:sp>
      <p:sp>
        <p:nvSpPr>
          <p:cNvPr id="11" name="AL"/>
          <p:cNvSpPr/>
          <p:nvPr/>
        </p:nvSpPr>
        <p:spPr>
          <a:xfrm>
            <a:off x="762000" y="1041400"/>
            <a:ext cx="1524000" cy="38100"/>
          </a:xfrm>
          <a:prstGeom prst="rect">
            <a:avLst/>
          </a:prstGeom>
          <a:solidFill>
            <a:srgbClr val="FF6B6B"/>
          </a:solidFill>
          <a:ln>
            <a:noFill/>
          </a:ln>
        </p:spPr>
        <p:txBody>
          <a:bodyPr/>
          <a:lstStyle/>
          <a:p>
            <a:endParaRPr lang="en-US"/>
          </a:p>
        </p:txBody>
      </p:sp>
      <p:sp>
        <p:nvSpPr>
          <p:cNvPr id="20" name="Expected"/>
          <p:cNvSpPr/>
          <p:nvPr/>
        </p:nvSpPr>
        <p:spPr>
          <a:xfrm>
            <a:off x="762000" y="1270000"/>
            <a:ext cx="5207000" cy="1270000"/>
          </a:xfrm>
          <a:prstGeom prst="roundRect">
            <a:avLst>
              <a:gd name="adj" fmla="val 6000"/>
            </a:avLst>
          </a:prstGeom>
          <a:solidFill>
            <a:srgbClr val="161B22"/>
          </a:solidFill>
          <a:ln w="12700">
            <a:solidFill>
              <a:srgbClr val="00D4AA">
                <a:alpha val="50000"/>
              </a:srgbClr>
            </a:solidFill>
          </a:ln>
        </p:spPr>
        <p:txBody>
          <a:bodyPr wrap="square" lIns="152400" tIns="101600" rIns="152400" bIns="101600" anchor="t"/>
          <a:lstStyle/>
          <a:p>
            <a:pPr algn="l">
              <a:buNone/>
            </a:pPr>
            <a:r>
              <a:rPr lang="en-US" sz="1800" b="1" dirty="0">
                <a:solidFill>
                  <a:srgbClr val="00D4AA"/>
                </a:solidFill>
                <a:latin typeface="Segoe UI Semibold"/>
              </a:rPr>
              <a:t>✓ Expected (object)</a:t>
            </a:r>
          </a:p>
          <a:p>
            <a:pPr algn="l">
              <a:buNone/>
            </a:pPr>
            <a:r>
              <a:rPr lang="en-US" sz="1800" dirty="0">
                <a:solidFill>
                  <a:srgbClr val="D4D4D4"/>
                </a:solidFill>
                <a:latin typeface="Consolas"/>
              </a:rPr>
              <a:t>{</a:t>
            </a:r>
            <a:r>
              <a:rPr lang="en-US" sz="1800" dirty="0">
                <a:solidFill>
                  <a:srgbClr val="569CD6"/>
                </a:solidFill>
                <a:latin typeface="Consolas"/>
              </a:rPr>
              <a:t>"type"</a:t>
            </a:r>
            <a:r>
              <a:rPr lang="en-US" sz="1800" dirty="0">
                <a:solidFill>
                  <a:srgbClr val="D4D4D4"/>
                </a:solidFill>
                <a:latin typeface="Consolas"/>
              </a:rPr>
              <a:t>: </a:t>
            </a:r>
            <a:r>
              <a:rPr lang="en-US" sz="1800" dirty="0">
                <a:solidFill>
                  <a:srgbClr val="CE9178"/>
                </a:solidFill>
                <a:latin typeface="Consolas"/>
              </a:rPr>
              <a:t>"card"</a:t>
            </a:r>
            <a:r>
              <a:rPr lang="en-US" sz="1800" dirty="0">
                <a:solidFill>
                  <a:srgbClr val="D4D4D4"/>
                </a:solidFill>
                <a:latin typeface="Consolas"/>
              </a:rPr>
              <a:t>, ...}</a:t>
            </a:r>
          </a:p>
        </p:txBody>
      </p:sp>
      <p:sp>
        <p:nvSpPr>
          <p:cNvPr id="21" name="Actual"/>
          <p:cNvSpPr/>
          <p:nvPr/>
        </p:nvSpPr>
        <p:spPr>
          <a:xfrm>
            <a:off x="6223000" y="1270000"/>
            <a:ext cx="5207000" cy="1270000"/>
          </a:xfrm>
          <a:prstGeom prst="roundRect">
            <a:avLst>
              <a:gd name="adj" fmla="val 6000"/>
            </a:avLst>
          </a:prstGeom>
          <a:solidFill>
            <a:srgbClr val="161B22"/>
          </a:solidFill>
          <a:ln w="12700">
            <a:solidFill>
              <a:srgbClr val="FF6B6B">
                <a:alpha val="50000"/>
              </a:srgbClr>
            </a:solidFill>
          </a:ln>
        </p:spPr>
        <p:txBody>
          <a:bodyPr wrap="square" lIns="152400" tIns="101600" rIns="152400" bIns="101600" anchor="t"/>
          <a:lstStyle/>
          <a:p>
            <a:pPr algn="l">
              <a:buNone/>
            </a:pPr>
            <a:r>
              <a:rPr lang="en-US" sz="1800" b="1" dirty="0">
                <a:solidFill>
                  <a:srgbClr val="FF6B6B"/>
                </a:solidFill>
                <a:latin typeface="Segoe UI Semibold"/>
              </a:rPr>
              <a:t>✖ Actual (string)</a:t>
            </a:r>
          </a:p>
          <a:p>
            <a:pPr algn="l">
              <a:buNone/>
            </a:pPr>
            <a:r>
              <a:rPr lang="en-US" sz="1800" dirty="0">
                <a:solidFill>
                  <a:srgbClr val="CE9178"/>
                </a:solidFill>
                <a:latin typeface="Consolas"/>
              </a:rPr>
              <a:t>"{</a:t>
            </a:r>
            <a:r>
              <a:rPr lang="en-US" sz="1800" dirty="0">
                <a:solidFill>
                  <a:srgbClr val="D4D4D4"/>
                </a:solidFill>
                <a:latin typeface="Consolas"/>
              </a:rPr>
              <a:t>\"</a:t>
            </a:r>
            <a:r>
              <a:rPr lang="en-US" sz="1800" dirty="0">
                <a:solidFill>
                  <a:srgbClr val="569CD6"/>
                </a:solidFill>
                <a:latin typeface="Consolas"/>
              </a:rPr>
              <a:t>type</a:t>
            </a:r>
            <a:r>
              <a:rPr lang="en-US" sz="1800" dirty="0">
                <a:solidFill>
                  <a:srgbClr val="D4D4D4"/>
                </a:solidFill>
                <a:latin typeface="Consolas"/>
              </a:rPr>
              <a:t>\":\"</a:t>
            </a:r>
            <a:r>
              <a:rPr lang="en-US" sz="1800" dirty="0">
                <a:solidFill>
                  <a:srgbClr val="CE9178"/>
                </a:solidFill>
                <a:latin typeface="Consolas"/>
              </a:rPr>
              <a:t>card</a:t>
            </a:r>
            <a:r>
              <a:rPr lang="en-US" sz="1800" dirty="0">
                <a:solidFill>
                  <a:srgbClr val="D4D4D4"/>
                </a:solidFill>
                <a:latin typeface="Consolas"/>
              </a:rPr>
              <a:t>\", ...}</a:t>
            </a:r>
            <a:r>
              <a:rPr lang="en-US" sz="1800" dirty="0">
                <a:solidFill>
                  <a:srgbClr val="CE9178"/>
                </a:solidFill>
                <a:latin typeface="Consolas"/>
              </a:rPr>
              <a:t>"</a:t>
            </a:r>
          </a:p>
        </p:txBody>
      </p:sp>
      <p:sp>
        <p:nvSpPr>
          <p:cNvPr id="25" name="Impact"/>
          <p:cNvSpPr/>
          <p:nvPr/>
        </p:nvSpPr>
        <p:spPr>
          <a:xfrm>
            <a:off x="1016000" y="2794000"/>
            <a:ext cx="10160000" cy="1016000"/>
          </a:xfrm>
          <a:prstGeom prst="roundRect">
            <a:avLst>
              <a:gd name="adj" fmla="val 8000"/>
            </a:avLst>
          </a:prstGeom>
          <a:solidFill>
            <a:srgbClr val="FF6B6B">
              <a:alpha val="12000"/>
            </a:srgbClr>
          </a:solidFill>
          <a:ln w="12700">
            <a:solidFill>
              <a:srgbClr val="FF6B6B">
                <a:alpha val="40000"/>
              </a:srgbClr>
            </a:solidFill>
          </a:ln>
        </p:spPr>
        <p:txBody>
          <a:bodyPr wrap="square" lIns="190500" tIns="101600" rIns="190500" bIns="101600" anchor="ctr"/>
          <a:lstStyle/>
          <a:p>
            <a:pPr algn="ctr"/>
            <a:r>
              <a:rPr lang="en-US" sz="2200" b="1" dirty="0">
                <a:solidFill>
                  <a:srgbClr val="FF6B6B"/>
                </a:solidFill>
                <a:latin typeface="Segoe UI Semibold"/>
              </a:rPr>
              <a:t>0% success rate</a:t>
            </a:r>
            <a:r>
              <a:rPr lang="en-US" sz="2000" dirty="0">
                <a:solidFill>
                  <a:srgbClr val="D0D0D0"/>
                </a:solidFill>
                <a:latin typeface="Segoe UI"/>
              </a:rPr>
              <a:t>  —  every anyOf field, every time, 100% consistent</a:t>
            </a:r>
          </a:p>
          <a:p>
            <a:pPr algn="ctr"/>
            <a:r>
              <a:rPr lang="en-US" sz="1800" dirty="0">
                <a:solidFill>
                  <a:srgbClr val="A0A0A0"/>
                </a:solidFill>
                <a:latin typeface="Segoe UI"/>
              </a:rPr>
              <a:t>Not Qwen-only — Claude does the same with oneOf</a:t>
            </a:r>
          </a:p>
        </p:txBody>
      </p:sp>
      <p:sp>
        <p:nvSpPr>
          <p:cNvPr id="30" name="Sol"/>
          <p:cNvSpPr/>
          <p:nvPr/>
        </p:nvSpPr>
        <p:spPr>
          <a:xfrm>
            <a:off x="1016000" y="4064000"/>
            <a:ext cx="10160000" cy="1651000"/>
          </a:xfrm>
          <a:prstGeom prst="rect">
            <a:avLst/>
          </a:prstGeom>
          <a:noFill/>
          <a:ln>
            <a:noFill/>
          </a:ln>
        </p:spPr>
        <p:txBody>
          <a:bodyPr wrap="square" lIns="0" tIns="0" rIns="0" bIns="0" anchor="t"/>
          <a:lstStyle/>
          <a:p>
            <a:pPr algn="l">
              <a:lnSpc>
                <a:spcPts val="3200"/>
              </a:lnSpc>
            </a:pPr>
            <a:r>
              <a:rPr lang="en-US" sz="2000" dirty="0">
                <a:solidFill>
                  <a:srgbClr val="D0D0D0"/>
                </a:solidFill>
                <a:latin typeface="Segoe UI"/>
              </a:rPr>
              <a:t>Typia's </a:t>
            </a:r>
            <a:r>
              <a:rPr lang="en-US" sz="2000" dirty="0">
                <a:solidFill>
                  <a:srgbClr val="00D4AA"/>
                </a:solidFill>
                <a:latin typeface="Consolas"/>
              </a:rPr>
              <a:t>parse()</a:t>
            </a:r>
            <a:r>
              <a:rPr lang="en-US" sz="2000" dirty="0">
                <a:solidFill>
                  <a:srgbClr val="D0D0D0"/>
                </a:solidFill>
                <a:latin typeface="Segoe UI"/>
              </a:rPr>
              <a:t> references the schema — when it finds a string where the schema expects an object, it recursively parses that string.</a:t>
            </a:r>
          </a:p>
          <a:p>
            <a:pPr algn="l">
              <a:lnSpc>
                <a:spcPts val="3200"/>
              </a:lnSpc>
            </a:pPr>
            <a:r>
              <a:rPr lang="en-US" sz="2000" b="1" dirty="0">
                <a:solidFill>
                  <a:srgbClr val="00D4AA"/>
                </a:solidFill>
                <a:latin typeface="Segoe UI Semibold"/>
              </a:rPr>
              <a:t>Qwen 3.5: 0% → 100%. No model change. No prompt tuning.</a:t>
            </a:r>
          </a:p>
        </p:txBody>
      </p:sp>
    </p:spTree>
    <p:extLst>
      <p:ext uri="{BB962C8B-B14F-4D97-AF65-F5344CB8AC3E}">
        <p14:creationId xmlns:p14="http://schemas.microsoft.com/office/powerpoint/2010/main" val="3803657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434D371-B4D4-4A22-8594-AC8CC5EA3179}"/>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parse() in Action</a:t>
            </a:r>
          </a:p>
        </p:txBody>
      </p:sp>
      <p:sp>
        <p:nvSpPr>
          <p:cNvPr id="3" name="직사각형 2">
            <a:extLst>
              <a:ext uri="{FF2B5EF4-FFF2-40B4-BE49-F238E27FC236}">
                <a16:creationId xmlns:a16="http://schemas.microsoft.com/office/drawing/2014/main" id="{74ED64A0-7317-4B4B-B846-30AD46E42F80}"/>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E1A44CA3-3B75-498B-99B2-507F141A5CC2}"/>
              </a:ext>
            </a:extLst>
          </p:cNvPr>
          <p:cNvSpPr txBox="1"/>
          <p:nvPr/>
        </p:nvSpPr>
        <p:spPr>
          <a:xfrm>
            <a:off x="762000" y="1143000"/>
            <a:ext cx="10668000" cy="381000"/>
          </a:xfrm>
          <a:prstGeom prst="rect">
            <a:avLst/>
          </a:prstGeom>
          <a:noFill/>
        </p:spPr>
        <p:txBody>
          <a:bodyPr vertOverflow="overflow" vert="horz" wrap="square" rtlCol="0" anchor="t">
            <a:spAutoFit/>
          </a:bodyPr>
          <a:lstStyle/>
          <a:p>
            <a:pPr algn="l"/>
            <a:r>
              <a:rPr lang="en-US">
                <a:solidFill>
                  <a:srgbClr val="808080"/>
                </a:solidFill>
                <a:latin typeface="Segoe UI"/>
                <a:cs typeface="Segoe UI"/>
              </a:rPr>
              <a:t>8 problems at once — all handled by a single call</a:t>
            </a:r>
          </a:p>
        </p:txBody>
      </p:sp>
      <p:sp>
        <p:nvSpPr>
          <p:cNvPr id="5" name="직사각형 4">
            <a:extLst>
              <a:ext uri="{FF2B5EF4-FFF2-40B4-BE49-F238E27FC236}">
                <a16:creationId xmlns:a16="http://schemas.microsoft.com/office/drawing/2014/main" id="{85F6131D-A662-4E90-AE11-BC5954AE0DBE}"/>
              </a:ext>
            </a:extLst>
          </p:cNvPr>
          <p:cNvSpPr/>
          <p:nvPr/>
        </p:nvSpPr>
        <p:spPr>
          <a:xfrm>
            <a:off x="508000" y="1587500"/>
            <a:ext cx="11176000" cy="4318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9A6606FC-3DF2-4CE6-BB9D-8E8EB2534B46}"/>
              </a:ext>
            </a:extLst>
          </p:cNvPr>
          <p:cNvSpPr txBox="1"/>
          <p:nvPr/>
        </p:nvSpPr>
        <p:spPr>
          <a:xfrm>
            <a:off x="698500" y="1651000"/>
            <a:ext cx="10795000" cy="3970318"/>
          </a:xfrm>
          <a:prstGeom prst="rect">
            <a:avLst/>
          </a:prstGeom>
          <a:noFill/>
        </p:spPr>
        <p:txBody>
          <a:bodyPr vertOverflow="overflow" vert="horz" wrap="square" rtlCol="0" anchor="t">
            <a:spAutoFit/>
          </a:bodyPr>
          <a:lstStyle/>
          <a:p>
            <a:r>
              <a:rPr lang="en-US" sz="1400" dirty="0">
                <a:solidFill>
                  <a:srgbClr val="FF7B72"/>
                </a:solidFill>
                <a:latin typeface="Consolas"/>
              </a:rPr>
              <a:t>const </a:t>
            </a:r>
            <a:r>
              <a:rPr lang="en-US" sz="1400" dirty="0">
                <a:solidFill>
                  <a:srgbClr val="C9D1D9"/>
                </a:solidFill>
                <a:latin typeface="Consolas"/>
              </a:rPr>
              <a:t>llmOutput = </a:t>
            </a:r>
            <a:r>
              <a:rPr lang="en-US" sz="1400" dirty="0">
                <a:solidFill>
                  <a:srgbClr val="A5D6FF"/>
                </a:solidFill>
                <a:latin typeface="Consolas"/>
              </a:rPr>
              <a:t>`</a:t>
            </a:r>
          </a:p>
          <a:p>
            <a:r>
              <a:rPr lang="en-US" sz="1400" dirty="0">
                <a:solidFill>
                  <a:srgbClr val="8B949E"/>
                </a:solidFill>
                <a:latin typeface="Consolas"/>
              </a:rPr>
              <a:t>  &gt; LLM sometimes returns some prefix text with markdown JSON code block.</a:t>
            </a:r>
            <a:br>
              <a:rPr lang="en-US" sz="1400" dirty="0">
                <a:solidFill>
                  <a:srgbClr val="8B949E"/>
                </a:solidFill>
                <a:latin typeface="Consolas"/>
              </a:rPr>
            </a:br>
            <a:r>
              <a:rPr lang="en-US" sz="1400" dirty="0">
                <a:solidFill>
                  <a:srgbClr val="8B949E"/>
                </a:solidFill>
                <a:latin typeface="Consolas"/>
              </a:rPr>
              <a:t>  </a:t>
            </a:r>
            <a:br>
              <a:rPr lang="en-US" sz="1400" dirty="0">
                <a:solidFill>
                  <a:srgbClr val="8B949E"/>
                </a:solidFill>
                <a:latin typeface="Consolas"/>
              </a:rPr>
            </a:br>
            <a:r>
              <a:rPr lang="en-US" sz="1400" dirty="0">
                <a:solidFill>
                  <a:srgbClr val="8B949E"/>
                </a:solidFill>
                <a:latin typeface="Consolas"/>
              </a:rPr>
              <a:t>  &gt; I'd be happy to help! 😊</a:t>
            </a:r>
            <a:br>
              <a:rPr lang="en-US" sz="1400" dirty="0">
                <a:solidFill>
                  <a:srgbClr val="8B949E"/>
                </a:solidFill>
                <a:latin typeface="Consolas"/>
              </a:rPr>
            </a:br>
            <a:endParaRPr lang="en-US" sz="1400" dirty="0">
              <a:solidFill>
                <a:srgbClr val="8B949E"/>
              </a:solidFill>
              <a:latin typeface="Consolas"/>
            </a:endParaRPr>
          </a:p>
          <a:p>
            <a:r>
              <a:rPr lang="en-US" sz="1400" dirty="0">
                <a:solidFill>
                  <a:srgbClr val="8B949E"/>
                </a:solidFill>
                <a:latin typeface="Consolas"/>
              </a:rPr>
              <a:t>  ```json</a:t>
            </a:r>
          </a:p>
          <a:p>
            <a:r>
              <a:rPr lang="en-US" sz="1400" dirty="0">
                <a:solidFill>
                  <a:srgbClr val="C9D1D9"/>
                </a:solidFill>
                <a:latin typeface="Consolas"/>
              </a:rPr>
              <a:t>  {</a:t>
            </a:r>
          </a:p>
          <a:p>
            <a:r>
              <a:rPr lang="en-US" sz="1400" dirty="0">
                <a:solidFill>
                  <a:srgbClr val="C9D1D9"/>
                </a:solidFill>
                <a:latin typeface="Consolas"/>
              </a:rPr>
              <a:t>    </a:t>
            </a:r>
            <a:r>
              <a:rPr lang="en-US" sz="1400" dirty="0">
                <a:solidFill>
                  <a:srgbClr val="79C0FF"/>
                </a:solidFill>
                <a:latin typeface="Consolas"/>
              </a:rPr>
              <a:t>"order"</a:t>
            </a:r>
            <a:r>
              <a:rPr lang="en-US" sz="1400" dirty="0">
                <a:solidFill>
                  <a:srgbClr val="C9D1D9"/>
                </a:solidFill>
                <a:latin typeface="Consolas"/>
              </a:rPr>
              <a:t>: {</a:t>
            </a:r>
          </a:p>
          <a:p>
            <a:r>
              <a:rPr lang="en-US" sz="1400" dirty="0">
                <a:solidFill>
                  <a:srgbClr val="C9D1D9"/>
                </a:solidFill>
                <a:latin typeface="Consolas"/>
              </a:rPr>
              <a:t>      </a:t>
            </a:r>
            <a:r>
              <a:rPr lang="en-US" sz="1400" dirty="0">
                <a:solidFill>
                  <a:srgbClr val="79C0FF"/>
                </a:solidFill>
                <a:latin typeface="Consolas"/>
              </a:rPr>
              <a:t>"payment"</a:t>
            </a:r>
            <a:r>
              <a:rPr lang="en-US" sz="1400" dirty="0">
                <a:solidFill>
                  <a:srgbClr val="C9D1D9"/>
                </a:solidFill>
                <a:latin typeface="Consolas"/>
              </a:rPr>
              <a:t>: </a:t>
            </a:r>
            <a:r>
              <a:rPr lang="en-US" sz="1400" dirty="0">
                <a:solidFill>
                  <a:srgbClr val="A5D6FF"/>
                </a:solidFill>
                <a:latin typeface="Consolas"/>
              </a:rPr>
              <a:t>"{\"type\":\"card\", ..."</a:t>
            </a:r>
            <a:r>
              <a:rPr lang="en-US" sz="1400" dirty="0">
                <a:solidFill>
                  <a:srgbClr val="C9D1D9"/>
                </a:solidFill>
                <a:latin typeface="Consolas"/>
              </a:rPr>
              <a:t>,  </a:t>
            </a:r>
            <a:r>
              <a:rPr lang="en-US" sz="1400" dirty="0">
                <a:solidFill>
                  <a:srgbClr val="FF6B6B"/>
                </a:solidFill>
                <a:latin typeface="Consolas"/>
              </a:rPr>
              <a:t>← double-stringify</a:t>
            </a:r>
          </a:p>
          <a:p>
            <a:r>
              <a:rPr lang="en-US" sz="1400" dirty="0">
                <a:solidFill>
                  <a:srgbClr val="C9D1D9"/>
                </a:solidFill>
                <a:latin typeface="Consolas"/>
              </a:rPr>
              <a:t>      </a:t>
            </a:r>
            <a:r>
              <a:rPr lang="en-US" sz="1400" dirty="0">
                <a:solidFill>
                  <a:srgbClr val="79C0FF"/>
                </a:solidFill>
                <a:latin typeface="Consolas"/>
              </a:rPr>
              <a:t>"product"</a:t>
            </a:r>
            <a:r>
              <a:rPr lang="en-US" sz="1400" dirty="0">
                <a:solidFill>
                  <a:srgbClr val="C9D1D9"/>
                </a:solidFill>
                <a:latin typeface="Consolas"/>
              </a:rPr>
              <a:t>: {</a:t>
            </a:r>
          </a:p>
          <a:p>
            <a:r>
              <a:rPr lang="en-US" sz="1400" dirty="0">
                <a:solidFill>
                  <a:srgbClr val="C9D1D9"/>
                </a:solidFill>
                <a:latin typeface="Consolas"/>
              </a:rPr>
              <a:t>        name: </a:t>
            </a:r>
            <a:r>
              <a:rPr lang="en-US" sz="1400" dirty="0">
                <a:solidFill>
                  <a:srgbClr val="A5D6FF"/>
                </a:solidFill>
                <a:latin typeface="Consolas"/>
              </a:rPr>
              <a:t>"Laptop"</a:t>
            </a:r>
            <a:r>
              <a:rPr lang="en-US" sz="1400" dirty="0">
                <a:solidFill>
                  <a:srgbClr val="C9D1D9"/>
                </a:solidFill>
                <a:latin typeface="Consolas"/>
              </a:rPr>
              <a:t>,     </a:t>
            </a:r>
            <a:r>
              <a:rPr lang="en-US" sz="1400" dirty="0">
                <a:solidFill>
                  <a:srgbClr val="FF6B6B"/>
                </a:solidFill>
                <a:latin typeface="Consolas"/>
              </a:rPr>
              <a:t>← unquoted key</a:t>
            </a:r>
          </a:p>
          <a:p>
            <a:r>
              <a:rPr lang="en-US" sz="1400" dirty="0">
                <a:solidFill>
                  <a:srgbClr val="C9D1D9"/>
                </a:solidFill>
                <a:latin typeface="Consolas"/>
              </a:rPr>
              <a:t>        price: </a:t>
            </a:r>
            <a:r>
              <a:rPr lang="en-US" sz="1400" dirty="0">
                <a:solidFill>
                  <a:srgbClr val="A5D6FF"/>
                </a:solidFill>
                <a:latin typeface="Consolas"/>
              </a:rPr>
              <a:t>"1299.99"</a:t>
            </a:r>
            <a:r>
              <a:rPr lang="en-US" sz="1400" dirty="0">
                <a:solidFill>
                  <a:srgbClr val="C9D1D9"/>
                </a:solidFill>
                <a:latin typeface="Consolas"/>
              </a:rPr>
              <a:t>,   </a:t>
            </a:r>
            <a:r>
              <a:rPr lang="en-US" sz="1400" dirty="0">
                <a:solidFill>
                  <a:srgbClr val="FF6B6B"/>
                </a:solidFill>
                <a:latin typeface="Consolas"/>
              </a:rPr>
              <a:t>← wrong type (string)</a:t>
            </a:r>
          </a:p>
          <a:p>
            <a:r>
              <a:rPr lang="en-US" sz="1400" dirty="0">
                <a:solidFill>
                  <a:srgbClr val="C9D1D9"/>
                </a:solidFill>
                <a:latin typeface="Consolas"/>
              </a:rPr>
              <a:t>        quantity: </a:t>
            </a:r>
            <a:r>
              <a:rPr lang="en-US" sz="1400" dirty="0">
                <a:solidFill>
                  <a:srgbClr val="79C0FF"/>
                </a:solidFill>
                <a:latin typeface="Consolas"/>
              </a:rPr>
              <a:t>2</a:t>
            </a:r>
            <a:r>
              <a:rPr lang="en-US" sz="1400" dirty="0">
                <a:solidFill>
                  <a:srgbClr val="C9D1D9"/>
                </a:solidFill>
                <a:latin typeface="Consolas"/>
              </a:rPr>
              <a:t>,        </a:t>
            </a:r>
            <a:r>
              <a:rPr lang="en-US" sz="1400" dirty="0">
                <a:solidFill>
                  <a:srgbClr val="FF6B6B"/>
                </a:solidFill>
                <a:latin typeface="Consolas"/>
              </a:rPr>
              <a:t>← trailing comma</a:t>
            </a:r>
          </a:p>
          <a:p>
            <a:r>
              <a:rPr lang="en-US" sz="1400" dirty="0">
                <a:solidFill>
                  <a:srgbClr val="C9D1D9"/>
                </a:solidFill>
                <a:latin typeface="Consolas"/>
              </a:rPr>
              <a:t>      },</a:t>
            </a:r>
          </a:p>
          <a:p>
            <a:r>
              <a:rPr lang="en-US" sz="1400" dirty="0">
                <a:solidFill>
                  <a:srgbClr val="C9D1D9"/>
                </a:solidFill>
                <a:latin typeface="Consolas"/>
              </a:rPr>
              <a:t>      </a:t>
            </a:r>
            <a:r>
              <a:rPr lang="en-US" sz="1400" dirty="0">
                <a:solidFill>
                  <a:srgbClr val="79C0FF"/>
                </a:solidFill>
                <a:latin typeface="Consolas"/>
              </a:rPr>
              <a:t>"customer"</a:t>
            </a:r>
            <a:r>
              <a:rPr lang="en-US" sz="1400" dirty="0">
                <a:solidFill>
                  <a:srgbClr val="C9D1D9"/>
                </a:solidFill>
                <a:latin typeface="Consolas"/>
              </a:rPr>
              <a:t>: {</a:t>
            </a:r>
          </a:p>
          <a:p>
            <a:r>
              <a:rPr lang="en-US" sz="1400" dirty="0">
                <a:solidFill>
                  <a:srgbClr val="C9D1D9"/>
                </a:solidFill>
                <a:latin typeface="Consolas"/>
              </a:rPr>
              <a:t>        </a:t>
            </a:r>
            <a:r>
              <a:rPr lang="en-US" sz="1400" dirty="0">
                <a:solidFill>
                  <a:srgbClr val="79C0FF"/>
                </a:solidFill>
                <a:latin typeface="Consolas"/>
              </a:rPr>
              <a:t>"name"</a:t>
            </a:r>
            <a:r>
              <a:rPr lang="en-US" sz="1400" dirty="0">
                <a:solidFill>
                  <a:srgbClr val="C9D1D9"/>
                </a:solidFill>
                <a:latin typeface="Consolas"/>
              </a:rPr>
              <a:t>: </a:t>
            </a:r>
            <a:r>
              <a:rPr lang="en-US" sz="1400" dirty="0">
                <a:solidFill>
                  <a:srgbClr val="A5D6FF"/>
                </a:solidFill>
                <a:latin typeface="Consolas"/>
              </a:rPr>
              <a:t>"John Doe"</a:t>
            </a:r>
            <a:r>
              <a:rPr lang="en-US" sz="1400" dirty="0">
                <a:solidFill>
                  <a:srgbClr val="C9D1D9"/>
                </a:solidFill>
                <a:latin typeface="Consolas"/>
              </a:rPr>
              <a:t>,</a:t>
            </a:r>
          </a:p>
          <a:p>
            <a:r>
              <a:rPr lang="en-US" sz="1400" dirty="0">
                <a:solidFill>
                  <a:srgbClr val="C9D1D9"/>
                </a:solidFill>
                <a:latin typeface="Consolas"/>
              </a:rPr>
              <a:t>        vip: </a:t>
            </a:r>
            <a:r>
              <a:rPr lang="en-US" sz="1400" dirty="0">
                <a:solidFill>
                  <a:srgbClr val="FF7B72"/>
                </a:solidFill>
                <a:latin typeface="Consolas"/>
              </a:rPr>
              <a:t>tru</a:t>
            </a:r>
            <a:r>
              <a:rPr lang="en-US" sz="1400" dirty="0">
                <a:solidFill>
                  <a:srgbClr val="C9D1D9"/>
                </a:solidFill>
                <a:latin typeface="Consolas"/>
              </a:rPr>
              <a:t>             </a:t>
            </a:r>
            <a:r>
              <a:rPr lang="en-US" sz="1400" dirty="0">
                <a:solidFill>
                  <a:srgbClr val="FF6B6B"/>
                </a:solidFill>
                <a:latin typeface="Consolas"/>
              </a:rPr>
              <a:t>← incomplete keyword</a:t>
            </a:r>
          </a:p>
          <a:p>
            <a:r>
              <a:rPr lang="en-US" sz="1400" dirty="0">
                <a:solidFill>
                  <a:srgbClr val="FF6B6B"/>
                </a:solidFill>
                <a:latin typeface="Consolas"/>
              </a:rPr>
              <a:t>  ← unclosed brackets + markdown</a:t>
            </a:r>
          </a:p>
        </p:txBody>
      </p:sp>
      <p:sp>
        <p:nvSpPr>
          <p:cNvPr id="7" name="TextBox 6">
            <a:extLst>
              <a:ext uri="{FF2B5EF4-FFF2-40B4-BE49-F238E27FC236}">
                <a16:creationId xmlns:a16="http://schemas.microsoft.com/office/drawing/2014/main" id="{0D6B76FE-FD62-4C88-9187-2A7E41958425}"/>
              </a:ext>
            </a:extLst>
          </p:cNvPr>
          <p:cNvSpPr txBox="1"/>
          <p:nvPr/>
        </p:nvSpPr>
        <p:spPr>
          <a:xfrm>
            <a:off x="1270000" y="6032500"/>
            <a:ext cx="9652000" cy="381000"/>
          </a:xfrm>
          <a:prstGeom prst="rect">
            <a:avLst/>
          </a:prstGeom>
          <a:noFill/>
        </p:spPr>
        <p:txBody>
          <a:bodyPr vertOverflow="overflow" vert="horz" wrap="square" rtlCol="0" anchor="t">
            <a:spAutoFit/>
          </a:bodyPr>
          <a:lstStyle/>
          <a:p>
            <a:pPr algn="l"/>
            <a:r>
              <a:rPr lang="en-US" b="1">
                <a:solidFill>
                  <a:srgbClr val="00D4AA"/>
                </a:solidFill>
                <a:latin typeface="Consolas"/>
              </a:rPr>
              <a:t>const result = func.parse(llmOutput);  →  Success ✓</a:t>
            </a:r>
          </a:p>
        </p:txBody>
      </p:sp>
    </p:spTree>
    <p:extLst>
      <p:ext uri="{BB962C8B-B14F-4D97-AF65-F5344CB8AC3E}">
        <p14:creationId xmlns:p14="http://schemas.microsoft.com/office/powerpoint/2010/main" val="204350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270F6C-33B1-4F38-859A-0D409CB6510E}"/>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Why parse() Is Different</a:t>
            </a:r>
          </a:p>
        </p:txBody>
      </p:sp>
      <p:sp>
        <p:nvSpPr>
          <p:cNvPr id="3" name="직사각형 2">
            <a:extLst>
              <a:ext uri="{FF2B5EF4-FFF2-40B4-BE49-F238E27FC236}">
                <a16:creationId xmlns:a16="http://schemas.microsoft.com/office/drawing/2014/main" id="{267FE086-FA2A-45C1-B5E4-A5A865DF8259}"/>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2C77C44B-59D8-452B-8EDA-16917BBDB42D}"/>
              </a:ext>
            </a:extLst>
          </p:cNvPr>
          <p:cNvSpPr txBox="1"/>
          <p:nvPr/>
        </p:nvSpPr>
        <p:spPr>
          <a:xfrm>
            <a:off x="762000" y="1270000"/>
            <a:ext cx="5207000" cy="508000"/>
          </a:xfrm>
          <a:prstGeom prst="rect">
            <a:avLst/>
          </a:prstGeom>
          <a:noFill/>
        </p:spPr>
        <p:txBody>
          <a:bodyPr vertOverflow="overflow" vert="horz" wrap="square" rtlCol="0" anchor="t">
            <a:spAutoFit/>
          </a:bodyPr>
          <a:lstStyle/>
          <a:p>
            <a:pPr algn="l"/>
            <a:r>
              <a:rPr lang="en-US" sz="2200" b="1">
                <a:solidFill>
                  <a:srgbClr val="FF6B6B"/>
                </a:solidFill>
                <a:latin typeface="Segoe UI Semibold"/>
                <a:cs typeface="Segoe UI Semibold"/>
              </a:rPr>
              <a:t>String-Level Repair</a:t>
            </a:r>
          </a:p>
        </p:txBody>
      </p:sp>
      <p:sp>
        <p:nvSpPr>
          <p:cNvPr id="5" name="TextBox 4">
            <a:extLst>
              <a:ext uri="{FF2B5EF4-FFF2-40B4-BE49-F238E27FC236}">
                <a16:creationId xmlns:a16="http://schemas.microsoft.com/office/drawing/2014/main" id="{85862E4E-B096-4689-B0D2-977421D2DF12}"/>
              </a:ext>
            </a:extLst>
          </p:cNvPr>
          <p:cNvSpPr txBox="1"/>
          <p:nvPr/>
        </p:nvSpPr>
        <p:spPr>
          <a:xfrm>
            <a:off x="762000" y="1841500"/>
            <a:ext cx="5207000" cy="1905000"/>
          </a:xfrm>
          <a:prstGeom prst="rect">
            <a:avLst/>
          </a:prstGeom>
          <a:noFill/>
        </p:spPr>
        <p:txBody>
          <a:bodyPr vertOverflow="overflow" vert="horz" wrap="square" rtlCol="0" anchor="t">
            <a:spAutoFit/>
          </a:bodyPr>
          <a:lstStyle/>
          <a:p>
            <a:pPr algn="l"/>
            <a:r>
              <a:rPr lang="en-US" sz="1600">
                <a:solidFill>
                  <a:srgbClr val="D0D0D0"/>
                </a:solidFill>
                <a:latin typeface="Segoe UI"/>
                <a:cs typeface="Segoe UI"/>
              </a:rPr>
              <a:t>jsonrepair, dirty-json, LangChain, etc.
▸ Fix trailing commas, close brackets
▸ Strip Markdown, then JSON.parse()
▸ Output: syntactically valid JSON string
✗ Double-stringify passes through — it's already "valid JSON" (a string)</a:t>
            </a:r>
          </a:p>
        </p:txBody>
      </p:sp>
      <p:sp>
        <p:nvSpPr>
          <p:cNvPr id="6" name="TextBox 5">
            <a:extLst>
              <a:ext uri="{FF2B5EF4-FFF2-40B4-BE49-F238E27FC236}">
                <a16:creationId xmlns:a16="http://schemas.microsoft.com/office/drawing/2014/main" id="{DB0B7201-07FC-4E8E-8F18-BC930466B218}"/>
              </a:ext>
            </a:extLst>
          </p:cNvPr>
          <p:cNvSpPr txBox="1"/>
          <p:nvPr/>
        </p:nvSpPr>
        <p:spPr>
          <a:xfrm>
            <a:off x="6223000" y="1270000"/>
            <a:ext cx="5207000" cy="508000"/>
          </a:xfrm>
          <a:prstGeom prst="rect">
            <a:avLst/>
          </a:prstGeom>
          <a:noFill/>
        </p:spPr>
        <p:txBody>
          <a:bodyPr vertOverflow="overflow" vert="horz" wrap="square" rtlCol="0" anchor="t">
            <a:spAutoFit/>
          </a:bodyPr>
          <a:lstStyle/>
          <a:p>
            <a:pPr algn="l"/>
            <a:r>
              <a:rPr lang="en-US" sz="2200" b="1">
                <a:solidFill>
                  <a:srgbClr val="00D4AA"/>
                </a:solidFill>
                <a:latin typeface="Segoe UI Semibold"/>
                <a:cs typeface="Segoe UI Semibold"/>
              </a:rPr>
              <a:t>Typia's Schema-Driven parse()</a:t>
            </a:r>
          </a:p>
        </p:txBody>
      </p:sp>
      <p:sp>
        <p:nvSpPr>
          <p:cNvPr id="7" name="TextBox 6">
            <a:extLst>
              <a:ext uri="{FF2B5EF4-FFF2-40B4-BE49-F238E27FC236}">
                <a16:creationId xmlns:a16="http://schemas.microsoft.com/office/drawing/2014/main" id="{D9839AAA-7DA6-4C8F-BBA6-65DC14F72444}"/>
              </a:ext>
            </a:extLst>
          </p:cNvPr>
          <p:cNvSpPr txBox="1"/>
          <p:nvPr/>
        </p:nvSpPr>
        <p:spPr>
          <a:xfrm>
            <a:off x="6223000" y="1841500"/>
            <a:ext cx="5207000" cy="1905000"/>
          </a:xfrm>
          <a:prstGeom prst="rect">
            <a:avLst/>
          </a:prstGeom>
          <a:noFill/>
        </p:spPr>
        <p:txBody>
          <a:bodyPr vertOverflow="overflow" vert="horz" wrap="square" rtlCol="0" anchor="t">
            <a:spAutoFit/>
          </a:bodyPr>
          <a:lstStyle/>
          <a:p>
            <a:pPr algn="l"/>
            <a:r>
              <a:rPr lang="en-US" sz="1600">
                <a:solidFill>
                  <a:srgbClr val="D0D0D0"/>
                </a:solidFill>
                <a:latin typeface="Segoe UI"/>
                <a:cs typeface="Segoe UI"/>
              </a:rPr>
              <a:t>Parses greedily while consulting the schema
▸ String where object expected? → Re-enter parse()
▸ Result feeds into type coercion
▸ Coercion may find another layer
▸ Recursive schema-based cycle — unwraps double/triple stringify</a:t>
            </a:r>
          </a:p>
        </p:txBody>
      </p:sp>
      <p:sp>
        <p:nvSpPr>
          <p:cNvPr id="8" name="TextBox 7">
            <a:extLst>
              <a:ext uri="{FF2B5EF4-FFF2-40B4-BE49-F238E27FC236}">
                <a16:creationId xmlns:a16="http://schemas.microsoft.com/office/drawing/2014/main" id="{3E71EAA6-57F5-422B-A78D-D986854041A8}"/>
              </a:ext>
            </a:extLst>
          </p:cNvPr>
          <p:cNvSpPr txBox="1"/>
          <p:nvPr/>
        </p:nvSpPr>
        <p:spPr>
          <a:xfrm>
            <a:off x="1016000" y="4064000"/>
            <a:ext cx="10160000" cy="1016000"/>
          </a:xfrm>
          <a:prstGeom prst="rect">
            <a:avLst/>
          </a:prstGeom>
          <a:noFill/>
        </p:spPr>
        <p:txBody>
          <a:bodyPr vertOverflow="overflow" vert="horz" wrap="square" rtlCol="0" anchor="t">
            <a:spAutoFit/>
          </a:bodyPr>
          <a:lstStyle/>
          <a:p>
            <a:pPr algn="l"/>
            <a:r>
              <a:rPr lang="en-US" b="1">
                <a:solidFill>
                  <a:srgbClr val="FFD93D"/>
                </a:solidFill>
                <a:latin typeface="Segoe UI Semibold"/>
                <a:cs typeface="Segoe UI Semibold"/>
              </a:rPr>
              <a:t>Without a schema, there's no way to know "{\"type\":\"card\"}" should be an object.
With Typia's compiler-generated schema, parse() knows and recursively unwraps.</a:t>
            </a:r>
          </a:p>
        </p:txBody>
      </p:sp>
      <p:sp>
        <p:nvSpPr>
          <p:cNvPr id="9" name="TextBox 8">
            <a:extLst>
              <a:ext uri="{FF2B5EF4-FFF2-40B4-BE49-F238E27FC236}">
                <a16:creationId xmlns:a16="http://schemas.microsoft.com/office/drawing/2014/main" id="{0967132F-DA46-479A-8F5D-18ACB4533ED6}"/>
              </a:ext>
            </a:extLst>
          </p:cNvPr>
          <p:cNvSpPr txBox="1"/>
          <p:nvPr/>
        </p:nvSpPr>
        <p:spPr>
          <a:xfrm>
            <a:off x="1016000" y="5461000"/>
            <a:ext cx="10160000" cy="635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Schema-based recursive cycle vs. string-level repair — fundamentally different approaches</a:t>
            </a:r>
          </a:p>
        </p:txBody>
      </p:sp>
    </p:spTree>
    <p:extLst>
      <p:ext uri="{BB962C8B-B14F-4D97-AF65-F5344CB8AC3E}">
        <p14:creationId xmlns:p14="http://schemas.microsoft.com/office/powerpoint/2010/main" val="402247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899607-2154-4102-A81A-193DF0CA4A12}"/>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Schema-Based Type Coercion</a:t>
            </a:r>
          </a:p>
        </p:txBody>
      </p:sp>
      <p:sp>
        <p:nvSpPr>
          <p:cNvPr id="3" name="직사각형 2">
            <a:extLst>
              <a:ext uri="{FF2B5EF4-FFF2-40B4-BE49-F238E27FC236}">
                <a16:creationId xmlns:a16="http://schemas.microsoft.com/office/drawing/2014/main" id="{C43B306B-4FDE-4DAE-AC05-6A2EA2D6C84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895DD66-E7E2-48C8-9F6C-686670B99A1F}"/>
              </a:ext>
            </a:extLst>
          </p:cNvPr>
          <p:cNvSpPr txBox="1"/>
          <p:nvPr/>
        </p:nvSpPr>
        <p:spPr>
          <a:xfrm>
            <a:off x="762000" y="1206500"/>
            <a:ext cx="10668000" cy="381000"/>
          </a:xfrm>
          <a:prstGeom prst="rect">
            <a:avLst/>
          </a:prstGeom>
          <a:noFill/>
        </p:spPr>
        <p:txBody>
          <a:bodyPr vertOverflow="overflow" vert="horz" wrap="square" rtlCol="0" anchor="t">
            <a:spAutoFit/>
          </a:bodyPr>
          <a:lstStyle/>
          <a:p>
            <a:pPr algn="l"/>
            <a:r>
              <a:rPr lang="en-US">
                <a:solidFill>
                  <a:srgbClr val="808080"/>
                </a:solidFill>
                <a:latin typeface="Segoe UI"/>
                <a:cs typeface="Segoe UI"/>
              </a:rPr>
              <a:t>"42" as string or number? Depends on the schema.</a:t>
            </a:r>
          </a:p>
        </p:txBody>
      </p:sp>
      <p:sp>
        <p:nvSpPr>
          <p:cNvPr id="5" name="직사각형 4">
            <a:extLst>
              <a:ext uri="{FF2B5EF4-FFF2-40B4-BE49-F238E27FC236}">
                <a16:creationId xmlns:a16="http://schemas.microsoft.com/office/drawing/2014/main" id="{EE752AAE-99D5-401A-A942-139142B3CF17}"/>
              </a:ext>
            </a:extLst>
          </p:cNvPr>
          <p:cNvSpPr/>
          <p:nvPr/>
        </p:nvSpPr>
        <p:spPr>
          <a:xfrm>
            <a:off x="762000" y="1752600"/>
            <a:ext cx="10668000" cy="5334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200B6FFF-E4D2-420C-985D-9A4C0D48D2F7}"/>
              </a:ext>
            </a:extLst>
          </p:cNvPr>
          <p:cNvSpPr txBox="1"/>
          <p:nvPr/>
        </p:nvSpPr>
        <p:spPr>
          <a:xfrm>
            <a:off x="1016000" y="1778000"/>
            <a:ext cx="10160000" cy="482600"/>
          </a:xfrm>
          <a:prstGeom prst="rect">
            <a:avLst/>
          </a:prstGeom>
          <a:noFill/>
        </p:spPr>
        <p:txBody>
          <a:bodyPr vertOverflow="overflow" vert="horz" wrap="square" rtlCol="0" anchor="t">
            <a:spAutoFit/>
          </a:bodyPr>
          <a:lstStyle/>
          <a:p>
            <a:pPr algn="l"/>
            <a:r>
              <a:rPr lang="en-US" b="1">
                <a:solidFill>
                  <a:srgbClr val="00D4AA"/>
                </a:solidFill>
                <a:latin typeface="Consolas"/>
              </a:rPr>
              <a:t>LLM Output         Expected Type       Result</a:t>
            </a:r>
          </a:p>
        </p:txBody>
      </p:sp>
      <p:sp>
        <p:nvSpPr>
          <p:cNvPr id="7" name="TextBox 6">
            <a:extLst>
              <a:ext uri="{FF2B5EF4-FFF2-40B4-BE49-F238E27FC236}">
                <a16:creationId xmlns:a16="http://schemas.microsoft.com/office/drawing/2014/main" id="{897A4D56-21F2-4C39-9336-9C71CB90E4EC}"/>
              </a:ext>
            </a:extLst>
          </p:cNvPr>
          <p:cNvSpPr txBox="1"/>
          <p:nvPr/>
        </p:nvSpPr>
        <p:spPr>
          <a:xfrm>
            <a:off x="1016000" y="2413000"/>
            <a:ext cx="10160000" cy="2159000"/>
          </a:xfrm>
          <a:prstGeom prst="rect">
            <a:avLst/>
          </a:prstGeom>
          <a:noFill/>
        </p:spPr>
        <p:txBody>
          <a:bodyPr vertOverflow="overflow" vert="horz" wrap="square" rtlCol="0" anchor="t">
            <a:spAutoFit/>
          </a:bodyPr>
          <a:lstStyle/>
          <a:p>
            <a:r>
              <a:rPr lang="en-US" sz="1800" dirty="0">
                <a:solidFill>
                  <a:srgbClr val="8B949E"/>
                </a:solidFill>
                <a:latin typeface="Consolas"/>
              </a:rPr>
              <a:t>// Input           Schema Type      Result</a:t>
            </a:r>
          </a:p>
          <a:p>
            <a:r>
              <a:rPr lang="en-US" sz="1800" dirty="0">
                <a:solidFill>
                  <a:srgbClr val="A5D6FF"/>
                </a:solidFill>
                <a:latin typeface="Consolas"/>
              </a:rPr>
              <a:t>"42"</a:t>
            </a:r>
            <a:r>
              <a:rPr lang="en-US" sz="1800" dirty="0">
                <a:solidFill>
                  <a:srgbClr val="C9D1D9"/>
                </a:solidFill>
                <a:latin typeface="Consolas"/>
              </a:rPr>
              <a:t>               </a:t>
            </a:r>
            <a:r>
              <a:rPr lang="en-US" sz="1800" dirty="0">
                <a:solidFill>
                  <a:srgbClr val="FFA657"/>
                </a:solidFill>
                <a:latin typeface="Consolas"/>
              </a:rPr>
              <a:t>number</a:t>
            </a:r>
            <a:r>
              <a:rPr lang="en-US" sz="1800" dirty="0">
                <a:solidFill>
                  <a:srgbClr val="C9D1D9"/>
                </a:solidFill>
                <a:latin typeface="Consolas"/>
              </a:rPr>
              <a:t> / </a:t>
            </a:r>
            <a:r>
              <a:rPr lang="en-US" sz="1800" dirty="0">
                <a:solidFill>
                  <a:srgbClr val="FFA657"/>
                </a:solidFill>
                <a:latin typeface="Consolas"/>
              </a:rPr>
              <a:t>integer</a:t>
            </a:r>
            <a:r>
              <a:rPr lang="en-US" sz="1800" dirty="0">
                <a:solidFill>
                  <a:srgbClr val="C9D1D9"/>
                </a:solidFill>
                <a:latin typeface="Consolas"/>
              </a:rPr>
              <a:t>  </a:t>
            </a:r>
            <a:r>
              <a:rPr lang="en-US" sz="1800" dirty="0">
                <a:solidFill>
                  <a:srgbClr val="79C0FF"/>
                </a:solidFill>
                <a:latin typeface="Consolas"/>
              </a:rPr>
              <a:t>42</a:t>
            </a:r>
          </a:p>
          <a:p>
            <a:r>
              <a:rPr lang="en-US" sz="1800" dirty="0">
                <a:solidFill>
                  <a:srgbClr val="A5D6FF"/>
                </a:solidFill>
                <a:latin typeface="Consolas"/>
              </a:rPr>
              <a:t>"true"</a:t>
            </a:r>
            <a:r>
              <a:rPr lang="en-US" sz="1800" dirty="0">
                <a:solidFill>
                  <a:srgbClr val="C9D1D9"/>
                </a:solidFill>
                <a:latin typeface="Consolas"/>
              </a:rPr>
              <a:t> / </a:t>
            </a:r>
            <a:r>
              <a:rPr lang="en-US" sz="1800" dirty="0">
                <a:solidFill>
                  <a:srgbClr val="A5D6FF"/>
                </a:solidFill>
                <a:latin typeface="Consolas"/>
              </a:rPr>
              <a:t>"false"</a:t>
            </a:r>
            <a:r>
              <a:rPr lang="en-US" sz="1800" dirty="0">
                <a:solidFill>
                  <a:srgbClr val="C9D1D9"/>
                </a:solidFill>
                <a:latin typeface="Consolas"/>
              </a:rPr>
              <a:t>  </a:t>
            </a:r>
            <a:r>
              <a:rPr lang="en-US" sz="1800" dirty="0">
                <a:solidFill>
                  <a:srgbClr val="FFA657"/>
                </a:solidFill>
                <a:latin typeface="Consolas"/>
              </a:rPr>
              <a:t>boolean</a:t>
            </a:r>
            <a:r>
              <a:rPr lang="en-US" sz="1800" dirty="0">
                <a:solidFill>
                  <a:srgbClr val="C9D1D9"/>
                </a:solidFill>
                <a:latin typeface="Consolas"/>
              </a:rPr>
              <a:t>          </a:t>
            </a:r>
            <a:r>
              <a:rPr lang="en-US" sz="1800" dirty="0">
                <a:solidFill>
                  <a:srgbClr val="FF7B72"/>
                </a:solidFill>
                <a:latin typeface="Consolas"/>
              </a:rPr>
              <a:t>true</a:t>
            </a:r>
            <a:r>
              <a:rPr lang="en-US" sz="1800" dirty="0">
                <a:solidFill>
                  <a:srgbClr val="C9D1D9"/>
                </a:solidFill>
                <a:latin typeface="Consolas"/>
              </a:rPr>
              <a:t> / </a:t>
            </a:r>
            <a:r>
              <a:rPr lang="en-US" sz="1800" dirty="0">
                <a:solidFill>
                  <a:srgbClr val="FF7B72"/>
                </a:solidFill>
                <a:latin typeface="Consolas"/>
              </a:rPr>
              <a:t>false</a:t>
            </a:r>
          </a:p>
          <a:p>
            <a:r>
              <a:rPr lang="en-US" sz="1800" dirty="0">
                <a:solidFill>
                  <a:srgbClr val="A5D6FF"/>
                </a:solidFill>
                <a:latin typeface="Consolas"/>
              </a:rPr>
              <a:t>"hello"</a:t>
            </a:r>
            <a:r>
              <a:rPr lang="en-US" sz="1800" dirty="0">
                <a:solidFill>
                  <a:srgbClr val="C9D1D9"/>
                </a:solidFill>
                <a:latin typeface="Consolas"/>
              </a:rPr>
              <a:t>            </a:t>
            </a:r>
            <a:r>
              <a:rPr lang="en-US" sz="1800" dirty="0">
                <a:solidFill>
                  <a:srgbClr val="FFA657"/>
                </a:solidFill>
                <a:latin typeface="Consolas"/>
              </a:rPr>
              <a:t>number</a:t>
            </a:r>
            <a:r>
              <a:rPr lang="en-US" sz="1800" dirty="0">
                <a:solidFill>
                  <a:srgbClr val="C9D1D9"/>
                </a:solidFill>
                <a:latin typeface="Consolas"/>
              </a:rPr>
              <a:t>           </a:t>
            </a:r>
            <a:r>
              <a:rPr lang="en-US" sz="1800" dirty="0">
                <a:solidFill>
                  <a:srgbClr val="FF7B72"/>
                </a:solidFill>
                <a:latin typeface="Consolas"/>
              </a:rPr>
              <a:t>NaN</a:t>
            </a:r>
            <a:r>
              <a:rPr lang="en-US" sz="1800" dirty="0">
                <a:solidFill>
                  <a:srgbClr val="C9D1D9"/>
                </a:solidFill>
                <a:latin typeface="Consolas"/>
              </a:rPr>
              <a:t> </a:t>
            </a:r>
            <a:r>
              <a:rPr lang="en-US" sz="1800" dirty="0">
                <a:solidFill>
                  <a:srgbClr val="8B949E"/>
                </a:solidFill>
                <a:latin typeface="Consolas"/>
              </a:rPr>
              <a:t>→ reject</a:t>
            </a:r>
          </a:p>
          <a:p>
            <a:r>
              <a:rPr lang="en-US" sz="1800" dirty="0">
                <a:solidFill>
                  <a:srgbClr val="A5D6FF"/>
                </a:solidFill>
                <a:latin typeface="Consolas"/>
              </a:rPr>
              <a:t>"[1,2,3]"</a:t>
            </a:r>
            <a:r>
              <a:rPr lang="en-US" sz="1800" dirty="0">
                <a:solidFill>
                  <a:srgbClr val="C9D1D9"/>
                </a:solidFill>
                <a:latin typeface="Consolas"/>
              </a:rPr>
              <a:t>          </a:t>
            </a:r>
            <a:r>
              <a:rPr lang="en-US" sz="1800" dirty="0">
                <a:solidFill>
                  <a:srgbClr val="FFA657"/>
                </a:solidFill>
                <a:latin typeface="Consolas"/>
              </a:rPr>
              <a:t>array</a:t>
            </a:r>
            <a:r>
              <a:rPr lang="en-US" sz="1800" dirty="0">
                <a:solidFill>
                  <a:srgbClr val="C9D1D9"/>
                </a:solidFill>
                <a:latin typeface="Consolas"/>
              </a:rPr>
              <a:t>            [</a:t>
            </a:r>
            <a:r>
              <a:rPr lang="en-US" sz="1800" dirty="0">
                <a:solidFill>
                  <a:srgbClr val="79C0FF"/>
                </a:solidFill>
                <a:latin typeface="Consolas"/>
              </a:rPr>
              <a:t>1</a:t>
            </a:r>
            <a:r>
              <a:rPr lang="en-US" sz="1800" dirty="0">
                <a:solidFill>
                  <a:srgbClr val="C9D1D9"/>
                </a:solidFill>
                <a:latin typeface="Consolas"/>
              </a:rPr>
              <a:t>,</a:t>
            </a:r>
            <a:r>
              <a:rPr lang="en-US" sz="1800" dirty="0">
                <a:solidFill>
                  <a:srgbClr val="79C0FF"/>
                </a:solidFill>
                <a:latin typeface="Consolas"/>
              </a:rPr>
              <a:t>2</a:t>
            </a:r>
            <a:r>
              <a:rPr lang="en-US" sz="1800" dirty="0">
                <a:solidFill>
                  <a:srgbClr val="C9D1D9"/>
                </a:solidFill>
                <a:latin typeface="Consolas"/>
              </a:rPr>
              <a:t>,</a:t>
            </a:r>
            <a:r>
              <a:rPr lang="en-US" sz="1800" dirty="0">
                <a:solidFill>
                  <a:srgbClr val="79C0FF"/>
                </a:solidFill>
                <a:latin typeface="Consolas"/>
              </a:rPr>
              <a:t>3</a:t>
            </a:r>
            <a:r>
              <a:rPr lang="en-US" sz="1800" dirty="0">
                <a:solidFill>
                  <a:srgbClr val="C9D1D9"/>
                </a:solidFill>
                <a:latin typeface="Consolas"/>
              </a:rPr>
              <a:t>]</a:t>
            </a:r>
          </a:p>
          <a:p>
            <a:endParaRPr lang="en-US" sz="1800" dirty="0">
              <a:solidFill>
                <a:srgbClr val="C9D1D9"/>
              </a:solidFill>
              <a:latin typeface="Consolas"/>
            </a:endParaRPr>
          </a:p>
          <a:p>
            <a:r>
              <a:rPr lang="en-US" sz="1800" dirty="0">
                <a:solidFill>
                  <a:srgbClr val="8B949E"/>
                </a:solidFill>
                <a:latin typeface="Consolas"/>
              </a:rPr>
              <a:t>// Double-stringify: string containing JSON</a:t>
            </a:r>
          </a:p>
          <a:p>
            <a:r>
              <a:rPr lang="en-US" sz="1800" dirty="0">
                <a:solidFill>
                  <a:srgbClr val="A5D6FF"/>
                </a:solidFill>
                <a:latin typeface="Consolas"/>
              </a:rPr>
              <a:t>'{"type":"card"}'</a:t>
            </a:r>
            <a:r>
              <a:rPr lang="en-US" sz="1800" dirty="0">
                <a:solidFill>
                  <a:srgbClr val="C9D1D9"/>
                </a:solidFill>
                <a:latin typeface="Consolas"/>
              </a:rPr>
              <a:t> </a:t>
            </a:r>
            <a:r>
              <a:rPr lang="en-US" sz="1800" dirty="0">
                <a:solidFill>
                  <a:srgbClr val="FFA657"/>
                </a:solidFill>
                <a:latin typeface="Consolas"/>
              </a:rPr>
              <a:t>object</a:t>
            </a:r>
            <a:r>
              <a:rPr lang="en-US" sz="1800" dirty="0">
                <a:solidFill>
                  <a:srgbClr val="C9D1D9"/>
                </a:solidFill>
                <a:latin typeface="Consolas"/>
              </a:rPr>
              <a:t>  { type: </a:t>
            </a:r>
            <a:r>
              <a:rPr lang="en-US" sz="1800" dirty="0">
                <a:solidFill>
                  <a:srgbClr val="A5D6FF"/>
                </a:solidFill>
                <a:latin typeface="Consolas"/>
              </a:rPr>
              <a:t>"card"</a:t>
            </a:r>
            <a:r>
              <a:rPr lang="en-US" sz="1800" dirty="0">
                <a:solidFill>
                  <a:srgbClr val="C9D1D9"/>
                </a:solidFill>
                <a:latin typeface="Consolas"/>
              </a:rPr>
              <a:t> }</a:t>
            </a:r>
          </a:p>
        </p:txBody>
      </p:sp>
      <p:sp>
        <p:nvSpPr>
          <p:cNvPr id="8" name="TextBox 7">
            <a:extLst>
              <a:ext uri="{FF2B5EF4-FFF2-40B4-BE49-F238E27FC236}">
                <a16:creationId xmlns:a16="http://schemas.microsoft.com/office/drawing/2014/main" id="{B8FEB8D0-86C0-4382-BD35-83427FB7CB8A}"/>
              </a:ext>
            </a:extLst>
          </p:cNvPr>
          <p:cNvSpPr txBox="1"/>
          <p:nvPr/>
        </p:nvSpPr>
        <p:spPr>
          <a:xfrm>
            <a:off x="1016000" y="4953000"/>
            <a:ext cx="10160000" cy="508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This is the mechanism behind Qwen 3.5's 0% → 100%</a:t>
            </a:r>
          </a:p>
        </p:txBody>
      </p:sp>
      <p:sp>
        <p:nvSpPr>
          <p:cNvPr id="9" name="TextBox 8">
            <a:extLst>
              <a:ext uri="{FF2B5EF4-FFF2-40B4-BE49-F238E27FC236}">
                <a16:creationId xmlns:a16="http://schemas.microsoft.com/office/drawing/2014/main" id="{2B3E1888-E0FD-4B5B-AD82-C8F61F03789A}"/>
              </a:ext>
            </a:extLst>
          </p:cNvPr>
          <p:cNvSpPr txBox="1"/>
          <p:nvPr/>
        </p:nvSpPr>
        <p:spPr>
          <a:xfrm>
            <a:off x="1016000" y="5651500"/>
            <a:ext cx="10160000" cy="762000"/>
          </a:xfrm>
          <a:prstGeom prst="rect">
            <a:avLst/>
          </a:prstGeom>
          <a:noFill/>
        </p:spPr>
        <p:txBody>
          <a:bodyPr vertOverflow="overflow" vert="horz" wrap="square" rtlCol="0" anchor="t">
            <a:spAutoFit/>
          </a:bodyPr>
          <a:lstStyle/>
          <a:p>
            <a:pPr algn="l"/>
            <a:r>
              <a:rPr lang="en-US" sz="1600">
                <a:solidFill>
                  <a:srgbClr val="D0D0D0"/>
                </a:solidFill>
                <a:latin typeface="Segoe UI"/>
                <a:cs typeface="Segoe UI"/>
              </a:rPr>
              <a:t>Whether "42" should become a number or stay a string depends entirely on the field's schema,
which was automatically generated by the Typia compiler from TypeScript types.</a:t>
            </a:r>
          </a:p>
        </p:txBody>
      </p:sp>
    </p:spTree>
    <p:extLst>
      <p:ext uri="{BB962C8B-B14F-4D97-AF65-F5344CB8AC3E}">
        <p14:creationId xmlns:p14="http://schemas.microsoft.com/office/powerpoint/2010/main" val="3090088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0D777AE-2606-4A3B-8022-3DF57036EC5C}"/>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The parse() coerce() Recursive Cycle</a:t>
            </a:r>
          </a:p>
        </p:txBody>
      </p:sp>
      <p:sp>
        <p:nvSpPr>
          <p:cNvPr id="3" name="직사각형 2">
            <a:extLst>
              <a:ext uri="{FF2B5EF4-FFF2-40B4-BE49-F238E27FC236}">
                <a16:creationId xmlns:a16="http://schemas.microsoft.com/office/drawing/2014/main" id="{6B62C404-99F1-43EE-9075-1D61131F895F}"/>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3835D632-D3DD-4D2D-991A-AEB8FCED69D1}"/>
              </a:ext>
            </a:extLst>
          </p:cNvPr>
          <p:cNvSpPr txBox="1"/>
          <p:nvPr/>
        </p:nvSpPr>
        <p:spPr>
          <a:xfrm>
            <a:off x="762000" y="1206500"/>
            <a:ext cx="10668000" cy="381000"/>
          </a:xfrm>
          <a:prstGeom prst="rect">
            <a:avLst/>
          </a:prstGeom>
          <a:noFill/>
        </p:spPr>
        <p:txBody>
          <a:bodyPr vertOverflow="overflow" vert="horz" wrap="square" rtlCol="0" anchor="t">
            <a:spAutoFit/>
          </a:bodyPr>
          <a:lstStyle/>
          <a:p>
            <a:pPr algn="l"/>
            <a:r>
              <a:rPr lang="en-US">
                <a:solidFill>
                  <a:srgbClr val="808080"/>
                </a:solidFill>
                <a:latin typeface="Segoe UI"/>
                <a:cs typeface="Segoe UI"/>
              </a:rPr>
              <a:t>Schema-driven parsing and coercion are inseparable</a:t>
            </a:r>
          </a:p>
        </p:txBody>
      </p:sp>
      <p:sp>
        <p:nvSpPr>
          <p:cNvPr id="5" name="직사각형 4">
            <a:extLst>
              <a:ext uri="{FF2B5EF4-FFF2-40B4-BE49-F238E27FC236}">
                <a16:creationId xmlns:a16="http://schemas.microsoft.com/office/drawing/2014/main" id="{17B4D8F3-EDA6-4715-B91F-D4077CE61C45}"/>
              </a:ext>
            </a:extLst>
          </p:cNvPr>
          <p:cNvSpPr/>
          <p:nvPr/>
        </p:nvSpPr>
        <p:spPr>
          <a:xfrm>
            <a:off x="762000" y="1714500"/>
            <a:ext cx="5080000" cy="1143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97B2BE67-6A16-44B3-B0D1-F859898681B9}"/>
              </a:ext>
            </a:extLst>
          </p:cNvPr>
          <p:cNvSpPr txBox="1"/>
          <p:nvPr/>
        </p:nvSpPr>
        <p:spPr>
          <a:xfrm>
            <a:off x="1016000" y="1778000"/>
            <a:ext cx="4572000" cy="1016000"/>
          </a:xfrm>
          <a:prstGeom prst="rect">
            <a:avLst/>
          </a:prstGeom>
          <a:noFill/>
        </p:spPr>
        <p:txBody>
          <a:bodyPr vertOverflow="overflow" vert="horz" wrap="square" rtlCol="0" anchor="t">
            <a:spAutoFit/>
          </a:bodyPr>
          <a:lstStyle/>
          <a:p>
            <a:pPr algn="l"/>
            <a:r>
              <a:rPr lang="en-US" b="1">
                <a:solidFill>
                  <a:srgbClr val="00D4AA"/>
                </a:solidFill>
                <a:latin typeface="Segoe UI"/>
                <a:cs typeface="Segoe UI"/>
              </a:rPr>
              <a:t>parse()
LLM Raw Output → schema-aware
broken JSON greedy parsing</a:t>
            </a:r>
          </a:p>
        </p:txBody>
      </p:sp>
      <p:sp>
        <p:nvSpPr>
          <p:cNvPr id="7" name="TextBox 6">
            <a:extLst>
              <a:ext uri="{FF2B5EF4-FFF2-40B4-BE49-F238E27FC236}">
                <a16:creationId xmlns:a16="http://schemas.microsoft.com/office/drawing/2014/main" id="{CF486E02-6B77-494F-8E7C-CB090250C8C2}"/>
              </a:ext>
            </a:extLst>
          </p:cNvPr>
          <p:cNvSpPr txBox="1"/>
          <p:nvPr/>
        </p:nvSpPr>
        <p:spPr>
          <a:xfrm>
            <a:off x="5905500" y="1968500"/>
            <a:ext cx="381000" cy="508000"/>
          </a:xfrm>
          <a:prstGeom prst="rect">
            <a:avLst/>
          </a:prstGeom>
          <a:noFill/>
        </p:spPr>
        <p:txBody>
          <a:bodyPr vertOverflow="overflow" vert="horz" wrap="square" rtlCol="0" anchor="t">
            <a:spAutoFit/>
          </a:bodyPr>
          <a:lstStyle/>
          <a:p>
            <a:pPr algn="l"/>
            <a:r>
              <a:rPr lang="en-US" sz="2800" b="1">
                <a:solidFill>
                  <a:srgbClr val="FFD93D"/>
                </a:solidFill>
                <a:latin typeface="Segoe UI"/>
                <a:cs typeface="Segoe UI"/>
              </a:rPr>
              <a:t>→</a:t>
            </a:r>
          </a:p>
        </p:txBody>
      </p:sp>
      <p:sp>
        <p:nvSpPr>
          <p:cNvPr id="8" name="직사각형 7">
            <a:extLst>
              <a:ext uri="{FF2B5EF4-FFF2-40B4-BE49-F238E27FC236}">
                <a16:creationId xmlns:a16="http://schemas.microsoft.com/office/drawing/2014/main" id="{2E985243-0D51-456C-B75A-CE4F5C56685A}"/>
              </a:ext>
            </a:extLst>
          </p:cNvPr>
          <p:cNvSpPr/>
          <p:nvPr/>
        </p:nvSpPr>
        <p:spPr>
          <a:xfrm>
            <a:off x="6350000" y="1714500"/>
            <a:ext cx="5080000" cy="1143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6EC6948D-957D-4FF2-954F-DE9ADA5F3EBE}"/>
              </a:ext>
            </a:extLst>
          </p:cNvPr>
          <p:cNvSpPr txBox="1"/>
          <p:nvPr/>
        </p:nvSpPr>
        <p:spPr>
          <a:xfrm>
            <a:off x="6604000" y="1778000"/>
            <a:ext cx="4572000" cy="1016000"/>
          </a:xfrm>
          <a:prstGeom prst="rect">
            <a:avLst/>
          </a:prstGeom>
          <a:noFill/>
        </p:spPr>
        <p:txBody>
          <a:bodyPr vertOverflow="overflow" vert="horz" wrap="square" rtlCol="0" anchor="t">
            <a:spAutoFit/>
          </a:bodyPr>
          <a:lstStyle/>
          <a:p>
            <a:pPr algn="l"/>
            <a:r>
              <a:rPr lang="en-US" b="1">
                <a:solidFill>
                  <a:srgbClr val="FFD93D"/>
                </a:solidFill>
                <a:latin typeface="Segoe UI"/>
                <a:cs typeface="Segoe UI"/>
              </a:rPr>
              <a:t>coerce()
Typed Object → schema-based
correctly typed conversion</a:t>
            </a:r>
          </a:p>
        </p:txBody>
      </p:sp>
      <p:sp>
        <p:nvSpPr>
          <p:cNvPr id="10" name="TextBox 9">
            <a:extLst>
              <a:ext uri="{FF2B5EF4-FFF2-40B4-BE49-F238E27FC236}">
                <a16:creationId xmlns:a16="http://schemas.microsoft.com/office/drawing/2014/main" id="{71A65210-65CD-46F9-A170-29D2F59476F8}"/>
              </a:ext>
            </a:extLst>
          </p:cNvPr>
          <p:cNvSpPr txBox="1"/>
          <p:nvPr/>
        </p:nvSpPr>
        <p:spPr>
          <a:xfrm>
            <a:off x="1016000" y="3175000"/>
            <a:ext cx="10160000" cy="444500"/>
          </a:xfrm>
          <a:prstGeom prst="rect">
            <a:avLst/>
          </a:prstGeom>
          <a:noFill/>
        </p:spPr>
        <p:txBody>
          <a:bodyPr vertOverflow="overflow" vert="horz" wrap="square" rtlCol="0" anchor="t">
            <a:spAutoFit/>
          </a:bodyPr>
          <a:lstStyle/>
          <a:p>
            <a:pPr algn="l"/>
            <a:r>
              <a:rPr lang="en-US" sz="2200" b="1">
                <a:solidFill>
                  <a:srgbClr val="F0F0F0"/>
                </a:solidFill>
                <a:latin typeface="Segoe UI Semibold"/>
                <a:cs typeface="Segoe UI Semibold"/>
              </a:rPr>
              <a:t>The Cycle:</a:t>
            </a:r>
          </a:p>
        </p:txBody>
      </p:sp>
      <p:sp>
        <p:nvSpPr>
          <p:cNvPr id="11" name="TextBox 10">
            <a:extLst>
              <a:ext uri="{FF2B5EF4-FFF2-40B4-BE49-F238E27FC236}">
                <a16:creationId xmlns:a16="http://schemas.microsoft.com/office/drawing/2014/main" id="{5701077E-8C3F-49FA-BB73-D1F2ED936016}"/>
              </a:ext>
            </a:extLst>
          </p:cNvPr>
          <p:cNvSpPr txBox="1"/>
          <p:nvPr/>
        </p:nvSpPr>
        <p:spPr>
          <a:xfrm>
            <a:off x="1270000" y="3683000"/>
            <a:ext cx="9652000" cy="1905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1. parse() encounters string where schema expects object
2. Re-enters parse() on that string (lenient recovery)
3. Result feeds into coerce() for type conversion
4. coerce() finds another string-where-object → back to parse()
5. Repeat until all layers unwound</a:t>
            </a:r>
          </a:p>
        </p:txBody>
      </p:sp>
      <p:sp>
        <p:nvSpPr>
          <p:cNvPr id="12" name="TextBox 11">
            <a:extLst>
              <a:ext uri="{FF2B5EF4-FFF2-40B4-BE49-F238E27FC236}">
                <a16:creationId xmlns:a16="http://schemas.microsoft.com/office/drawing/2014/main" id="{E0C4783F-3577-4880-8B7C-AC26C0D5A7A2}"/>
              </a:ext>
            </a:extLst>
          </p:cNvPr>
          <p:cNvSpPr txBox="1"/>
          <p:nvPr/>
        </p:nvSpPr>
        <p:spPr>
          <a:xfrm>
            <a:off x="1016000" y="5842000"/>
            <a:ext cx="10160000" cy="508000"/>
          </a:xfrm>
          <a:prstGeom prst="rect">
            <a:avLst/>
          </a:prstGeom>
          <a:noFill/>
        </p:spPr>
        <p:txBody>
          <a:bodyPr vertOverflow="overflow" vert="horz" wrap="square" rtlCol="0" anchor="t">
            <a:spAutoFit/>
          </a:bodyPr>
          <a:lstStyle/>
          <a:p>
            <a:pPr algn="l"/>
            <a:r>
              <a:rPr lang="en-US" b="1">
                <a:solidFill>
                  <a:srgbClr val="FFD93D"/>
                </a:solidFill>
                <a:latin typeface="Segoe UI"/>
                <a:cs typeface="Segoe UI"/>
              </a:rPr>
              <a:t>string → object? re-enter! This is how double/triple-stringify gets unwound.</a:t>
            </a:r>
          </a:p>
        </p:txBody>
      </p:sp>
    </p:spTree>
    <p:extLst>
      <p:ext uri="{BB962C8B-B14F-4D97-AF65-F5344CB8AC3E}">
        <p14:creationId xmlns:p14="http://schemas.microsoft.com/office/powerpoint/2010/main" val="702722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221F78-9404-46B1-B3A2-DBDAA31C4F24}"/>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Validation &amp; Precise Feedback</a:t>
            </a:r>
          </a:p>
        </p:txBody>
      </p:sp>
      <p:sp>
        <p:nvSpPr>
          <p:cNvPr id="3" name="직사각형 2">
            <a:extLst>
              <a:ext uri="{FF2B5EF4-FFF2-40B4-BE49-F238E27FC236}">
                <a16:creationId xmlns:a16="http://schemas.microsoft.com/office/drawing/2014/main" id="{138D1C99-8412-43E1-93A8-1E4BCB894227}"/>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0207EA3A-1CC6-4BE5-A638-48B9CB5F5855}"/>
              </a:ext>
            </a:extLst>
          </p:cNvPr>
          <p:cNvSpPr txBox="1"/>
          <p:nvPr/>
        </p:nvSpPr>
        <p:spPr>
          <a:xfrm>
            <a:off x="762000" y="1206500"/>
            <a:ext cx="10668000" cy="381000"/>
          </a:xfrm>
          <a:prstGeom prst="rect">
            <a:avLst/>
          </a:prstGeom>
          <a:noFill/>
        </p:spPr>
        <p:txBody>
          <a:bodyPr vertOverflow="overflow" vert="horz" wrap="square" rtlCol="0" anchor="t">
            <a:spAutoFit/>
          </a:bodyPr>
          <a:lstStyle/>
          <a:p>
            <a:pPr algn="l"/>
            <a:r>
              <a:rPr lang="en-US">
                <a:solidFill>
                  <a:srgbClr val="808080"/>
                </a:solidFill>
                <a:latin typeface="Segoe UI"/>
                <a:cs typeface="Segoe UI"/>
              </a:rPr>
              <a:t>validate() detects schema violations with surgical precision</a:t>
            </a:r>
          </a:p>
        </p:txBody>
      </p:sp>
      <p:sp>
        <p:nvSpPr>
          <p:cNvPr id="5" name="직사각형 4">
            <a:extLst>
              <a:ext uri="{FF2B5EF4-FFF2-40B4-BE49-F238E27FC236}">
                <a16:creationId xmlns:a16="http://schemas.microsoft.com/office/drawing/2014/main" id="{011365DA-D548-47C6-9E12-B0BE9452C24F}"/>
              </a:ext>
            </a:extLst>
          </p:cNvPr>
          <p:cNvSpPr/>
          <p:nvPr/>
        </p:nvSpPr>
        <p:spPr>
          <a:xfrm>
            <a:off x="762000" y="1714500"/>
            <a:ext cx="10668000" cy="3175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D20670B-FFD2-46DF-9BFB-CFBBD91BD6E7}"/>
              </a:ext>
            </a:extLst>
          </p:cNvPr>
          <p:cNvSpPr txBox="1"/>
          <p:nvPr/>
        </p:nvSpPr>
        <p:spPr>
          <a:xfrm>
            <a:off x="1016000" y="1778000"/>
            <a:ext cx="10160000" cy="3048000"/>
          </a:xfrm>
          <a:prstGeom prst="rect">
            <a:avLst/>
          </a:prstGeom>
          <a:noFill/>
        </p:spPr>
        <p:txBody>
          <a:bodyPr vertOverflow="overflow" vert="horz" wrap="square" rtlCol="0" anchor="t">
            <a:spAutoFit/>
          </a:bodyPr>
          <a:lstStyle/>
          <a:p>
            <a:r>
              <a:rPr lang="en-US" sz="1800" dirty="0">
                <a:solidFill>
                  <a:srgbClr val="FF7B72"/>
                </a:solidFill>
                <a:latin typeface="Consolas"/>
              </a:rPr>
              <a:t>path</a:t>
            </a:r>
            <a:r>
              <a:rPr lang="en-US" sz="1800" dirty="0">
                <a:solidFill>
                  <a:srgbClr val="C9D1D9"/>
                </a:solidFill>
                <a:latin typeface="Consolas"/>
              </a:rPr>
              <a:t>: $input.order.product.</a:t>
            </a:r>
            <a:r>
              <a:rPr lang="en-US" sz="1800" dirty="0">
                <a:solidFill>
                  <a:srgbClr val="FF6B6B"/>
                </a:solidFill>
                <a:latin typeface="Consolas"/>
              </a:rPr>
              <a:t>price</a:t>
            </a:r>
          </a:p>
          <a:p>
            <a:r>
              <a:rPr lang="en-US" sz="1800" dirty="0">
                <a:solidFill>
                  <a:srgbClr val="FF7B72"/>
                </a:solidFill>
                <a:latin typeface="Consolas"/>
              </a:rPr>
              <a:t>expected</a:t>
            </a:r>
            <a:r>
              <a:rPr lang="en-US" sz="1800" dirty="0">
                <a:solidFill>
                  <a:srgbClr val="C9D1D9"/>
                </a:solidFill>
                <a:latin typeface="Consolas"/>
              </a:rPr>
              <a:t>: </a:t>
            </a:r>
            <a:r>
              <a:rPr lang="en-US" sz="1800" dirty="0">
                <a:solidFill>
                  <a:srgbClr val="A5D6FF"/>
                </a:solidFill>
                <a:latin typeface="Consolas"/>
              </a:rPr>
              <a:t>number &amp; Minimum&lt;0&gt;</a:t>
            </a:r>
          </a:p>
          <a:p>
            <a:r>
              <a:rPr lang="en-US" sz="1800" dirty="0">
                <a:solidFill>
                  <a:srgbClr val="FF7B72"/>
                </a:solidFill>
                <a:latin typeface="Consolas"/>
              </a:rPr>
              <a:t>value</a:t>
            </a:r>
            <a:r>
              <a:rPr lang="en-US" sz="1800" dirty="0">
                <a:solidFill>
                  <a:srgbClr val="C9D1D9"/>
                </a:solidFill>
                <a:latin typeface="Consolas"/>
              </a:rPr>
              <a:t>: </a:t>
            </a:r>
            <a:r>
              <a:rPr lang="en-US" sz="1800" dirty="0">
                <a:solidFill>
                  <a:srgbClr val="FF6B6B"/>
                </a:solidFill>
                <a:latin typeface="Consolas"/>
              </a:rPr>
              <a:t>-100</a:t>
            </a:r>
          </a:p>
          <a:p>
            <a:endParaRPr lang="en-US" sz="1800" dirty="0">
              <a:solidFill>
                <a:srgbClr val="FF6B6B"/>
              </a:solidFill>
              <a:latin typeface="Consolas"/>
            </a:endParaRPr>
          </a:p>
          <a:p>
            <a:r>
              <a:rPr lang="en-US" sz="1800" dirty="0">
                <a:solidFill>
                  <a:srgbClr val="FF7B72"/>
                </a:solidFill>
                <a:latin typeface="Consolas"/>
              </a:rPr>
              <a:t>path</a:t>
            </a:r>
            <a:r>
              <a:rPr lang="en-US" sz="1800" dirty="0">
                <a:solidFill>
                  <a:srgbClr val="C9D1D9"/>
                </a:solidFill>
                <a:latin typeface="Consolas"/>
              </a:rPr>
              <a:t>: $input.order.product.</a:t>
            </a:r>
            <a:r>
              <a:rPr lang="en-US" sz="1800" dirty="0">
                <a:solidFill>
                  <a:srgbClr val="FF6B6B"/>
                </a:solidFill>
                <a:latin typeface="Consolas"/>
              </a:rPr>
              <a:t>quantity</a:t>
            </a:r>
          </a:p>
          <a:p>
            <a:r>
              <a:rPr lang="en-US" sz="1800" dirty="0">
                <a:solidFill>
                  <a:srgbClr val="FF7B72"/>
                </a:solidFill>
                <a:latin typeface="Consolas"/>
              </a:rPr>
              <a:t>expected</a:t>
            </a:r>
            <a:r>
              <a:rPr lang="en-US" sz="1800" dirty="0">
                <a:solidFill>
                  <a:srgbClr val="C9D1D9"/>
                </a:solidFill>
                <a:latin typeface="Consolas"/>
              </a:rPr>
              <a:t>: </a:t>
            </a:r>
            <a:r>
              <a:rPr lang="en-US" sz="1800" dirty="0">
                <a:solidFill>
                  <a:srgbClr val="A5D6FF"/>
                </a:solidFill>
                <a:latin typeface="Consolas"/>
              </a:rPr>
              <a:t>number &amp; Type&lt;"uint32"&gt;</a:t>
            </a:r>
          </a:p>
          <a:p>
            <a:r>
              <a:rPr lang="en-US" sz="1800" dirty="0">
                <a:solidFill>
                  <a:srgbClr val="FF7B72"/>
                </a:solidFill>
                <a:latin typeface="Consolas"/>
              </a:rPr>
              <a:t>value</a:t>
            </a:r>
            <a:r>
              <a:rPr lang="en-US" sz="1800" dirty="0">
                <a:solidFill>
                  <a:srgbClr val="C9D1D9"/>
                </a:solidFill>
                <a:latin typeface="Consolas"/>
              </a:rPr>
              <a:t>: </a:t>
            </a:r>
            <a:r>
              <a:rPr lang="en-US" sz="1800" dirty="0">
                <a:solidFill>
                  <a:srgbClr val="FF6B6B"/>
                </a:solidFill>
                <a:latin typeface="Consolas"/>
              </a:rPr>
              <a:t>2.5</a:t>
            </a:r>
          </a:p>
          <a:p>
            <a:endParaRPr lang="en-US" sz="1800" dirty="0">
              <a:solidFill>
                <a:srgbClr val="FF6B6B"/>
              </a:solidFill>
              <a:latin typeface="Consolas"/>
            </a:endParaRPr>
          </a:p>
          <a:p>
            <a:r>
              <a:rPr lang="en-US" sz="1800" dirty="0">
                <a:solidFill>
                  <a:srgbClr val="FF7B72"/>
                </a:solidFill>
                <a:latin typeface="Consolas"/>
              </a:rPr>
              <a:t>path</a:t>
            </a:r>
            <a:r>
              <a:rPr lang="en-US" sz="1800" dirty="0">
                <a:solidFill>
                  <a:srgbClr val="C9D1D9"/>
                </a:solidFill>
                <a:latin typeface="Consolas"/>
              </a:rPr>
              <a:t>: $input.order.payment.</a:t>
            </a:r>
            <a:r>
              <a:rPr lang="en-US" sz="1800" dirty="0">
                <a:solidFill>
                  <a:srgbClr val="FF6B6B"/>
                </a:solidFill>
                <a:latin typeface="Consolas"/>
              </a:rPr>
              <a:t>cardNumber</a:t>
            </a:r>
          </a:p>
          <a:p>
            <a:r>
              <a:rPr lang="en-US" sz="1800" dirty="0">
                <a:solidFill>
                  <a:srgbClr val="FF7B72"/>
                </a:solidFill>
                <a:latin typeface="Consolas"/>
              </a:rPr>
              <a:t>expected</a:t>
            </a:r>
            <a:r>
              <a:rPr lang="en-US" sz="1800" dirty="0">
                <a:solidFill>
                  <a:srgbClr val="C9D1D9"/>
                </a:solidFill>
                <a:latin typeface="Consolas"/>
              </a:rPr>
              <a:t>: </a:t>
            </a:r>
            <a:r>
              <a:rPr lang="en-US" sz="1800" dirty="0">
                <a:solidFill>
                  <a:srgbClr val="A5D6FF"/>
                </a:solidFill>
                <a:latin typeface="Consolas"/>
              </a:rPr>
              <a:t>string</a:t>
            </a:r>
          </a:p>
          <a:p>
            <a:r>
              <a:rPr lang="en-US" sz="1800" dirty="0">
                <a:solidFill>
                  <a:srgbClr val="FF7B72"/>
                </a:solidFill>
                <a:latin typeface="Consolas"/>
              </a:rPr>
              <a:t>value</a:t>
            </a:r>
            <a:r>
              <a:rPr lang="en-US" sz="1800" dirty="0">
                <a:solidFill>
                  <a:srgbClr val="C9D1D9"/>
                </a:solidFill>
                <a:latin typeface="Consolas"/>
              </a:rPr>
              <a:t>: </a:t>
            </a:r>
            <a:r>
              <a:rPr lang="en-US" sz="1800" dirty="0">
                <a:solidFill>
                  <a:srgbClr val="FF6B6B"/>
                </a:solidFill>
                <a:latin typeface="Consolas"/>
              </a:rPr>
              <a:t>12345678</a:t>
            </a:r>
            <a:r>
              <a:rPr lang="en-US" sz="1800" dirty="0">
                <a:solidFill>
                  <a:srgbClr val="C9D1D9"/>
                </a:solidFill>
                <a:latin typeface="Consolas"/>
              </a:rPr>
              <a:t> </a:t>
            </a:r>
            <a:r>
              <a:rPr lang="en-US" sz="1800" dirty="0">
                <a:solidFill>
                  <a:srgbClr val="8B949E"/>
                </a:solidFill>
                <a:latin typeface="Consolas"/>
              </a:rPr>
              <a:t>(was: number)</a:t>
            </a:r>
          </a:p>
        </p:txBody>
      </p:sp>
      <p:sp>
        <p:nvSpPr>
          <p:cNvPr id="7" name="TextBox 6">
            <a:extLst>
              <a:ext uri="{FF2B5EF4-FFF2-40B4-BE49-F238E27FC236}">
                <a16:creationId xmlns:a16="http://schemas.microsoft.com/office/drawing/2014/main" id="{1A5D057A-841A-492E-9EFE-57ECEAE67037}"/>
              </a:ext>
            </a:extLst>
          </p:cNvPr>
          <p:cNvSpPr txBox="1"/>
          <p:nvPr/>
        </p:nvSpPr>
        <p:spPr>
          <a:xfrm>
            <a:off x="1016000" y="5080000"/>
            <a:ext cx="10160000" cy="508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Exact path + expected type + actual value = LLM can self-correct</a:t>
            </a:r>
          </a:p>
        </p:txBody>
      </p:sp>
      <p:sp>
        <p:nvSpPr>
          <p:cNvPr id="8" name="TextBox 7">
            <a:extLst>
              <a:ext uri="{FF2B5EF4-FFF2-40B4-BE49-F238E27FC236}">
                <a16:creationId xmlns:a16="http://schemas.microsoft.com/office/drawing/2014/main" id="{127862F2-281E-490D-AF9E-5E6191D5A99D}"/>
              </a:ext>
            </a:extLst>
          </p:cNvPr>
          <p:cNvSpPr txBox="1"/>
          <p:nvPr/>
        </p:nvSpPr>
        <p:spPr>
          <a:xfrm>
            <a:off x="1016000" y="5778500"/>
            <a:ext cx="10160000" cy="635000"/>
          </a:xfrm>
          <a:prstGeom prst="rect">
            <a:avLst/>
          </a:prstGeom>
          <a:noFill/>
        </p:spPr>
        <p:txBody>
          <a:bodyPr vertOverflow="overflow" vert="horz" wrap="square" rtlCol="0" anchor="t">
            <a:spAutoFit/>
          </a:bodyPr>
          <a:lstStyle/>
          <a:p>
            <a:pPr algn="l"/>
            <a:r>
              <a:rPr lang="en-US" sz="1600">
                <a:solidFill>
                  <a:srgbClr val="D0D0D0"/>
                </a:solidFill>
                <a:latin typeface="Segoe UI"/>
                <a:cs typeface="Segoe UI"/>
              </a:rPr>
              <a:t>Not "none of the 10 variants matched" — but "card variant's cardNumber should be string but you gave number"</a:t>
            </a:r>
          </a:p>
        </p:txBody>
      </p:sp>
    </p:spTree>
    <p:extLst>
      <p:ext uri="{BB962C8B-B14F-4D97-AF65-F5344CB8AC3E}">
        <p14:creationId xmlns:p14="http://schemas.microsoft.com/office/powerpoint/2010/main" val="19406191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21C388-4FAB-4C64-B09B-BEFADF3131B4}"/>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600" b="1">
                <a:solidFill>
                  <a:srgbClr val="F0F0F0"/>
                </a:solidFill>
                <a:latin typeface="Segoe UI Semibold"/>
                <a:cs typeface="Segoe UI Semibold"/>
              </a:rPr>
              <a:t>LlmJson.stringify() → // ❌ Inline Diagnostics</a:t>
            </a:r>
          </a:p>
        </p:txBody>
      </p:sp>
      <p:sp>
        <p:nvSpPr>
          <p:cNvPr id="3" name="직사각형 2">
            <a:extLst>
              <a:ext uri="{FF2B5EF4-FFF2-40B4-BE49-F238E27FC236}">
                <a16:creationId xmlns:a16="http://schemas.microsoft.com/office/drawing/2014/main" id="{6811024F-B4EB-446B-875C-CDD5A9534B12}"/>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CF4A560B-F02E-49DA-AA51-E2F2357CB355}"/>
              </a:ext>
            </a:extLst>
          </p:cNvPr>
          <p:cNvSpPr txBox="1"/>
          <p:nvPr/>
        </p:nvSpPr>
        <p:spPr>
          <a:xfrm>
            <a:off x="762000" y="1206500"/>
            <a:ext cx="10668000" cy="381000"/>
          </a:xfrm>
          <a:prstGeom prst="rect">
            <a:avLst/>
          </a:prstGeom>
          <a:noFill/>
        </p:spPr>
        <p:txBody>
          <a:bodyPr vertOverflow="overflow" vert="horz" wrap="square" rtlCol="0" anchor="t">
            <a:spAutoFit/>
          </a:bodyPr>
          <a:lstStyle/>
          <a:p>
            <a:pPr algn="l"/>
            <a:r>
              <a:rPr lang="en-US">
                <a:solidFill>
                  <a:srgbClr val="808080"/>
                </a:solidFill>
                <a:latin typeface="Segoe UI"/>
                <a:cs typeface="Segoe UI"/>
              </a:rPr>
              <a:t>Errors rendered directly on the LLM's original JSON output</a:t>
            </a:r>
          </a:p>
        </p:txBody>
      </p:sp>
      <p:sp>
        <p:nvSpPr>
          <p:cNvPr id="5" name="직사각형 4">
            <a:extLst>
              <a:ext uri="{FF2B5EF4-FFF2-40B4-BE49-F238E27FC236}">
                <a16:creationId xmlns:a16="http://schemas.microsoft.com/office/drawing/2014/main" id="{3BF17FB1-11EE-4DBE-A93E-2E2728ABAA30}"/>
              </a:ext>
            </a:extLst>
          </p:cNvPr>
          <p:cNvSpPr/>
          <p:nvPr/>
        </p:nvSpPr>
        <p:spPr>
          <a:xfrm>
            <a:off x="508000" y="1651000"/>
            <a:ext cx="11176000" cy="3556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C343DA8F-21F4-4EC8-8781-B67984ADA097}"/>
              </a:ext>
            </a:extLst>
          </p:cNvPr>
          <p:cNvSpPr txBox="1"/>
          <p:nvPr/>
        </p:nvSpPr>
        <p:spPr>
          <a:xfrm>
            <a:off x="698499" y="1714500"/>
            <a:ext cx="12604545" cy="3539430"/>
          </a:xfrm>
          <a:prstGeom prst="rect">
            <a:avLst/>
          </a:prstGeom>
          <a:noFill/>
        </p:spPr>
        <p:txBody>
          <a:bodyPr vertOverflow="overflow" vert="horz" wrap="square" rtlCol="0" anchor="t">
            <a:spAutoFit/>
          </a:bodyPr>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a:t>
            </a:r>
            <a:r>
              <a:rPr lang="en-US" sz="1400" dirty="0">
                <a:solidFill>
                  <a:srgbClr val="D4D4D4"/>
                </a:solidFill>
                <a:latin typeface="Consolas"/>
              </a:rPr>
              <a:t>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"price"</a:t>
            </a:r>
            <a:r>
              <a:rPr lang="en-US" sz="1400" dirty="0">
                <a:solidFill>
                  <a:srgbClr val="D4D4D4"/>
                </a:solidFill>
                <a:latin typeface="Consolas"/>
              </a:rPr>
              <a:t>: </a:t>
            </a:r>
            <a:r>
              <a:rPr lang="en-US" sz="1400" dirty="0">
                <a:solidFill>
                  <a:srgbClr val="B5CEA8"/>
                </a:solidFill>
                <a:latin typeface="Consolas"/>
              </a:rPr>
              <a:t>-100</a:t>
            </a:r>
            <a:r>
              <a:rPr lang="en-US" sz="1400" dirty="0">
                <a:solidFill>
                  <a:srgbClr val="D4D4D4"/>
                </a:solidFill>
                <a:latin typeface="Consolas"/>
              </a:rPr>
              <a:t>,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569CD6"/>
                </a:solidFill>
                <a:latin typeface="Consolas"/>
              </a:rPr>
              <a:t>"quantity"</a:t>
            </a:r>
            <a:r>
              <a:rPr lang="en-US" sz="1400" dirty="0">
                <a:solidFill>
                  <a:srgbClr val="D4D4D4"/>
                </a:solidFill>
                <a:latin typeface="Consolas"/>
              </a:rPr>
              <a:t>: </a:t>
            </a:r>
            <a:r>
              <a:rPr lang="en-US" sz="1400" dirty="0">
                <a:solidFill>
                  <a:srgbClr val="B5CEA8"/>
                </a:solidFill>
                <a:latin typeface="Consolas"/>
              </a:rPr>
              <a:t>2.5</a:t>
            </a:r>
            <a:r>
              <a:rPr lang="en-US" sz="1400" dirty="0">
                <a:solidFill>
                  <a:srgbClr val="D4D4D4"/>
                </a:solidFill>
                <a:latin typeface="Consolas"/>
              </a:rPr>
              <a:t>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569CD6"/>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569CD6"/>
                </a:solidFill>
                <a:latin typeface="Consolas"/>
              </a:rPr>
              <a:t>"email"</a:t>
            </a:r>
            <a:r>
              <a:rPr lang="en-US" sz="1400" dirty="0">
                <a:solidFill>
                  <a:srgbClr val="D4D4D4"/>
                </a:solidFill>
                <a:latin typeface="Consolas"/>
              </a:rPr>
              <a:t>: </a:t>
            </a:r>
            <a:r>
              <a:rPr lang="en-US" sz="1400" dirty="0">
                <a:solidFill>
                  <a:srgbClr val="CE9178"/>
                </a:solidFill>
                <a:latin typeface="Consolas"/>
              </a:rPr>
              <a:t>"invalid-email"</a:t>
            </a:r>
            <a:r>
              <a:rPr lang="en-US" sz="1400" dirty="0">
                <a:solidFill>
                  <a:srgbClr val="D4D4D4"/>
                </a:solidFill>
                <a:latin typeface="Consolas"/>
              </a:rPr>
              <a:t>,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569CD6"/>
                </a:solidFill>
                <a:latin typeface="Consolas"/>
              </a:rPr>
              <a:t>"vip"</a:t>
            </a:r>
            <a:r>
              <a:rPr lang="en-US" sz="1400" dirty="0">
                <a:solidFill>
                  <a:srgbClr val="D4D4D4"/>
                </a:solidFill>
                <a:latin typeface="Consolas"/>
              </a:rPr>
              <a:t>: </a:t>
            </a:r>
            <a:r>
              <a:rPr lang="en-US" sz="1400" dirty="0">
                <a:solidFill>
                  <a:srgbClr val="CE9178"/>
                </a:solidFill>
                <a:latin typeface="Consolas"/>
              </a:rPr>
              <a:t>"yes"</a:t>
            </a:r>
            <a:r>
              <a:rPr lang="en-US" sz="1400" dirty="0">
                <a:solidFill>
                  <a:srgbClr val="D4D4D4"/>
                </a:solidFill>
                <a:latin typeface="Consolas"/>
              </a:rPr>
              <a:t> </a:t>
            </a:r>
            <a:r>
              <a:rPr lang="en-US" sz="1400" dirty="0">
                <a:solidFill>
                  <a:srgbClr val="FF6B6B"/>
                </a:solidFill>
                <a:latin typeface="Consolas"/>
              </a:rPr>
              <a:t>// ❌ [{"path":"$input.order.customer.vip","expected":"boolean"}]</a:t>
            </a:r>
          </a:p>
          <a:p>
            <a:r>
              <a:rPr lang="en-US" sz="1400" dirty="0">
                <a:solidFill>
                  <a:srgbClr val="D4D4D4"/>
                </a:solidFill>
                <a:latin typeface="Consolas"/>
              </a:rPr>
              <a:t>    }</a:t>
            </a:r>
          </a:p>
        </p:txBody>
      </p:sp>
      <p:sp>
        <p:nvSpPr>
          <p:cNvPr id="7" name="TextBox 6">
            <a:extLst>
              <a:ext uri="{FF2B5EF4-FFF2-40B4-BE49-F238E27FC236}">
                <a16:creationId xmlns:a16="http://schemas.microsoft.com/office/drawing/2014/main" id="{C130E490-3AD5-4B63-9BAD-D9B600CA7658}"/>
              </a:ext>
            </a:extLst>
          </p:cNvPr>
          <p:cNvSpPr txBox="1"/>
          <p:nvPr/>
        </p:nvSpPr>
        <p:spPr>
          <a:xfrm>
            <a:off x="1016000" y="5397500"/>
            <a:ext cx="10160000" cy="889000"/>
          </a:xfrm>
          <a:prstGeom prst="rect">
            <a:avLst/>
          </a:prstGeom>
          <a:noFill/>
        </p:spPr>
        <p:txBody>
          <a:bodyPr vertOverflow="overflow" vert="horz" wrap="square" rtlCol="0" anchor="t">
            <a:spAutoFit/>
          </a:bodyPr>
          <a:lstStyle/>
          <a:p>
            <a:pPr algn="l"/>
            <a:r>
              <a:rPr lang="en-US" sz="2000" b="1" dirty="0">
                <a:solidFill>
                  <a:srgbClr val="FFD93D"/>
                </a:solidFill>
                <a:latin typeface="Segoe UI Semibold"/>
                <a:cs typeface="Segoe UI Semibold"/>
              </a:rPr>
              <a:t>The LLM sees its own output with errors pinpointed.
No need to rewrite — just fix the 5 flagged fields and retry.</a:t>
            </a:r>
          </a:p>
        </p:txBody>
      </p:sp>
    </p:spTree>
    <p:extLst>
      <p:ext uri="{BB962C8B-B14F-4D97-AF65-F5344CB8AC3E}">
        <p14:creationId xmlns:p14="http://schemas.microsoft.com/office/powerpoint/2010/main" val="15160003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
          <p:cNvSpPr/>
          <p:nvPr/>
        </p:nvSpPr>
        <p:spPr>
          <a:xfrm>
            <a:off x="762000" y="317500"/>
            <a:ext cx="10668000" cy="571500"/>
          </a:xfrm>
          <a:prstGeom prst="rect">
            <a:avLst/>
          </a:prstGeom>
          <a:noFill/>
          <a:ln>
            <a:noFill/>
          </a:ln>
        </p:spPr>
        <p:txBody>
          <a:bodyPr lIns="36000" tIns="18000" rIns="36000" bIns="18000" anchor="ctr" anchorCtr="1"/>
          <a:lstStyle/>
          <a:p>
            <a:pPr algn="ctr">
              <a:buNone/>
            </a:pPr>
            <a:r>
              <a:rPr lang="en-US" sz="2800" b="1" dirty="0">
                <a:solidFill>
                  <a:srgbClr val="F0F0F0"/>
                </a:solidFill>
                <a:latin typeface="Segoe UI"/>
              </a:rPr>
              <a:t>The Complete Feedback Loop</a:t>
            </a:r>
          </a:p>
        </p:txBody>
      </p:sp>
      <p:sp>
        <p:nvSpPr>
          <p:cNvPr id="3" name="AL"/>
          <p:cNvSpPr/>
          <p:nvPr/>
        </p:nvSpPr>
        <p:spPr>
          <a:xfrm>
            <a:off x="762000" y="952500"/>
            <a:ext cx="1524000" cy="38100"/>
          </a:xfrm>
          <a:prstGeom prst="rect">
            <a:avLst/>
          </a:prstGeom>
          <a:solidFill>
            <a:srgbClr val="00D4AA"/>
          </a:solidFill>
          <a:ln>
            <a:noFill/>
          </a:ln>
        </p:spPr>
        <p:txBody>
          <a:bodyPr lIns="36000" tIns="18000" rIns="36000" bIns="18000" anchor="ctr" anchorCtr="1"/>
          <a:lstStyle/>
          <a:p>
            <a:pPr algn="ctr">
              <a:buNone/>
            </a:pPr>
            <a:endParaRPr/>
          </a:p>
        </p:txBody>
      </p:sp>
      <p:sp>
        <p:nvSpPr>
          <p:cNvPr id="4" name="Sub"/>
          <p:cNvSpPr/>
          <p:nvPr/>
        </p:nvSpPr>
        <p:spPr>
          <a:xfrm>
            <a:off x="762000" y="1041400"/>
            <a:ext cx="10668000" cy="317500"/>
          </a:xfrm>
          <a:prstGeom prst="rect">
            <a:avLst/>
          </a:prstGeom>
          <a:noFill/>
          <a:ln>
            <a:noFill/>
          </a:ln>
        </p:spPr>
        <p:txBody>
          <a:bodyPr lIns="36000" tIns="18000" rIns="36000" bIns="18000" anchor="ctr" anchorCtr="1"/>
          <a:lstStyle/>
          <a:p>
            <a:pPr algn="ctr">
              <a:buNone/>
            </a:pPr>
            <a:r>
              <a:rPr lang="en-US" sz="1400" dirty="0">
                <a:solidFill>
                  <a:srgbClr val="808080"/>
                </a:solidFill>
                <a:latin typeface="Segoe UI"/>
              </a:rPr>
              <a:t>callWithFeedback(): parse → validate → feedback → retry</a:t>
            </a:r>
          </a:p>
        </p:txBody>
      </p:sp>
      <p:sp>
        <p:nvSpPr>
          <p:cNvPr id="10" name="S1"/>
          <p:cNvSpPr/>
          <p:nvPr/>
        </p:nvSpPr>
        <p:spPr>
          <a:xfrm>
            <a:off x="762000" y="1524000"/>
            <a:ext cx="2540000" cy="825500"/>
          </a:xfrm>
          <a:prstGeom prst="roundRect">
            <a:avLst/>
          </a:prstGeom>
          <a:solidFill>
            <a:srgbClr val="2D4A7A"/>
          </a:solidFill>
          <a:ln>
            <a:noFill/>
          </a:ln>
        </p:spPr>
        <p:txBody>
          <a:bodyPr lIns="36000" tIns="18000" rIns="36000" bIns="18000" anchor="ctr" anchorCtr="1"/>
          <a:lstStyle/>
          <a:p>
            <a:pPr algn="ctr">
              <a:buNone/>
            </a:pPr>
            <a:r>
              <a:rPr lang="en-US" sz="1800" b="1" dirty="0">
                <a:solidFill>
                  <a:srgbClr val="F0F0F0"/>
                </a:solidFill>
                <a:latin typeface="Segoe UI"/>
              </a:rPr>
              <a:t>1. LLM Call</a:t>
            </a:r>
          </a:p>
        </p:txBody>
      </p:sp>
      <p:sp>
        <p:nvSpPr>
          <p:cNvPr id="20" name="A1"/>
          <p:cNvSpPr/>
          <p:nvPr/>
        </p:nvSpPr>
        <p:spPr>
          <a:xfrm>
            <a:off x="3365500" y="1752600"/>
            <a:ext cx="381000" cy="355600"/>
          </a:xfrm>
          <a:prstGeom prst="rightArrow">
            <a:avLst/>
          </a:prstGeom>
          <a:solidFill>
            <a:srgbClr val="555555"/>
          </a:solidFill>
          <a:ln>
            <a:noFill/>
          </a:ln>
        </p:spPr>
        <p:txBody>
          <a:bodyPr/>
          <a:lstStyle/>
          <a:p>
            <a:endParaRPr lang="en-US"/>
          </a:p>
        </p:txBody>
      </p:sp>
      <p:sp>
        <p:nvSpPr>
          <p:cNvPr id="11" name="S2"/>
          <p:cNvSpPr/>
          <p:nvPr/>
        </p:nvSpPr>
        <p:spPr>
          <a:xfrm>
            <a:off x="3810000" y="1524000"/>
            <a:ext cx="2540000" cy="825500"/>
          </a:xfrm>
          <a:prstGeom prst="roundRect">
            <a:avLst/>
          </a:prstGeom>
          <a:solidFill>
            <a:srgbClr val="1A5C3A"/>
          </a:solidFill>
          <a:ln>
            <a:noFill/>
          </a:ln>
        </p:spPr>
        <p:txBody>
          <a:bodyPr lIns="36000" tIns="18000" rIns="36000" bIns="18000" anchor="ctr" anchorCtr="1"/>
          <a:lstStyle/>
          <a:p>
            <a:pPr algn="ctr">
              <a:buNone/>
            </a:pPr>
            <a:r>
              <a:rPr lang="en-US" sz="1800" b="1" dirty="0">
                <a:solidFill>
                  <a:srgbClr val="00D4AA"/>
                </a:solidFill>
                <a:latin typeface="Segoe UI"/>
              </a:rPr>
              <a:t>2. parse()</a:t>
            </a:r>
          </a:p>
        </p:txBody>
      </p:sp>
      <p:sp>
        <p:nvSpPr>
          <p:cNvPr id="21" name="A2"/>
          <p:cNvSpPr/>
          <p:nvPr/>
        </p:nvSpPr>
        <p:spPr>
          <a:xfrm>
            <a:off x="6413500" y="1752600"/>
            <a:ext cx="381000" cy="355600"/>
          </a:xfrm>
          <a:prstGeom prst="rightArrow">
            <a:avLst/>
          </a:prstGeom>
          <a:solidFill>
            <a:srgbClr val="555555"/>
          </a:solidFill>
          <a:ln>
            <a:noFill/>
          </a:ln>
        </p:spPr>
        <p:txBody>
          <a:bodyPr/>
          <a:lstStyle/>
          <a:p>
            <a:endParaRPr lang="en-US"/>
          </a:p>
        </p:txBody>
      </p:sp>
      <p:sp>
        <p:nvSpPr>
          <p:cNvPr id="12" name="S3"/>
          <p:cNvSpPr/>
          <p:nvPr/>
        </p:nvSpPr>
        <p:spPr>
          <a:xfrm>
            <a:off x="6858000" y="1524000"/>
            <a:ext cx="2540000" cy="825500"/>
          </a:xfrm>
          <a:prstGeom prst="roundRect">
            <a:avLst/>
          </a:prstGeom>
          <a:solidFill>
            <a:srgbClr val="1A5C3A"/>
          </a:solidFill>
          <a:ln>
            <a:noFill/>
          </a:ln>
        </p:spPr>
        <p:txBody>
          <a:bodyPr lIns="36000" tIns="18000" rIns="36000" bIns="18000" anchor="ctr" anchorCtr="1"/>
          <a:lstStyle/>
          <a:p>
            <a:pPr algn="ctr">
              <a:buNone/>
            </a:pPr>
            <a:r>
              <a:rPr lang="en-US" sz="1800" b="1" dirty="0">
                <a:solidFill>
                  <a:srgbClr val="00D4AA"/>
                </a:solidFill>
                <a:latin typeface="Segoe UI"/>
              </a:rPr>
              <a:t>3. validate()</a:t>
            </a:r>
          </a:p>
        </p:txBody>
      </p:sp>
      <p:sp>
        <p:nvSpPr>
          <p:cNvPr id="22" name="A3"/>
          <p:cNvSpPr/>
          <p:nvPr/>
        </p:nvSpPr>
        <p:spPr>
          <a:xfrm>
            <a:off x="9461500" y="1752600"/>
            <a:ext cx="381000" cy="355600"/>
          </a:xfrm>
          <a:prstGeom prst="rightArrow">
            <a:avLst/>
          </a:prstGeom>
          <a:solidFill>
            <a:srgbClr val="555555"/>
          </a:solidFill>
          <a:ln>
            <a:noFill/>
          </a:ln>
        </p:spPr>
        <p:txBody>
          <a:bodyPr/>
          <a:lstStyle/>
          <a:p>
            <a:endParaRPr lang="en-US"/>
          </a:p>
        </p:txBody>
      </p:sp>
      <p:sp>
        <p:nvSpPr>
          <p:cNvPr id="13" name="S4"/>
          <p:cNvSpPr/>
          <p:nvPr/>
        </p:nvSpPr>
        <p:spPr>
          <a:xfrm>
            <a:off x="9906000" y="1524000"/>
            <a:ext cx="1905000" cy="825500"/>
          </a:xfrm>
          <a:prstGeom prst="roundRect">
            <a:avLst/>
          </a:prstGeom>
          <a:solidFill>
            <a:srgbClr val="2D7A4A"/>
          </a:solidFill>
          <a:ln>
            <a:noFill/>
          </a:ln>
        </p:spPr>
        <p:txBody>
          <a:bodyPr lIns="36000" tIns="18000" rIns="36000" bIns="18000" anchor="ctr" anchorCtr="1"/>
          <a:lstStyle/>
          <a:p>
            <a:pPr algn="ctr">
              <a:buNone/>
            </a:pPr>
            <a:r>
              <a:rPr lang="en-US" sz="1800" b="1" dirty="0">
                <a:solidFill>
                  <a:srgbClr val="00FF88"/>
                </a:solidFill>
                <a:latin typeface="Segoe UI"/>
              </a:rPr>
              <a:t>✓ Success!</a:t>
            </a:r>
          </a:p>
        </p:txBody>
      </p:sp>
      <p:sp>
        <p:nvSpPr>
          <p:cNvPr id="30" name="F2"/>
          <p:cNvSpPr/>
          <p:nvPr/>
        </p:nvSpPr>
        <p:spPr>
          <a:xfrm>
            <a:off x="4889500" y="2413000"/>
            <a:ext cx="355600" cy="317500"/>
          </a:xfrm>
          <a:prstGeom prst="downArrow">
            <a:avLst/>
          </a:prstGeom>
          <a:solidFill>
            <a:srgbClr val="FF6B6B"/>
          </a:solidFill>
          <a:ln>
            <a:noFill/>
          </a:ln>
        </p:spPr>
        <p:txBody>
          <a:bodyPr/>
          <a:lstStyle/>
          <a:p>
            <a:endParaRPr lang="en-US"/>
          </a:p>
        </p:txBody>
      </p:sp>
      <p:sp>
        <p:nvSpPr>
          <p:cNvPr id="31" name="F3"/>
          <p:cNvSpPr/>
          <p:nvPr/>
        </p:nvSpPr>
        <p:spPr>
          <a:xfrm>
            <a:off x="7937500" y="2413000"/>
            <a:ext cx="355600" cy="317500"/>
          </a:xfrm>
          <a:prstGeom prst="downArrow">
            <a:avLst/>
          </a:prstGeom>
          <a:solidFill>
            <a:srgbClr val="FF6B6B"/>
          </a:solidFill>
          <a:ln>
            <a:noFill/>
          </a:ln>
        </p:spPr>
        <p:txBody>
          <a:bodyPr/>
          <a:lstStyle/>
          <a:p>
            <a:endParaRPr lang="en-US"/>
          </a:p>
        </p:txBody>
      </p:sp>
      <p:sp>
        <p:nvSpPr>
          <p:cNvPr id="40" name="FB2"/>
          <p:cNvSpPr/>
          <p:nvPr/>
        </p:nvSpPr>
        <p:spPr>
          <a:xfrm>
            <a:off x="3556000" y="2794000"/>
            <a:ext cx="3048000" cy="698500"/>
          </a:xfrm>
          <a:prstGeom prst="roundRect">
            <a:avLst/>
          </a:prstGeom>
          <a:solidFill>
            <a:srgbClr val="4A2020"/>
          </a:solidFill>
          <a:ln>
            <a:noFill/>
          </a:ln>
        </p:spPr>
        <p:txBody>
          <a:bodyPr lIns="36000" tIns="18000" rIns="36000" bIns="18000" anchor="ctr" anchorCtr="1"/>
          <a:lstStyle/>
          <a:p>
            <a:pPr algn="ctr">
              <a:buNone/>
            </a:pPr>
            <a:r>
              <a:rPr lang="en-US" sz="1600" dirty="0">
                <a:solidFill>
                  <a:srgbClr val="FF6B6B"/>
                </a:solidFill>
                <a:latin typeface="Segoe UI"/>
              </a:rPr>
              <a:t>JSON parse errors</a:t>
            </a:r>
          </a:p>
        </p:txBody>
      </p:sp>
      <p:sp>
        <p:nvSpPr>
          <p:cNvPr id="41" name="FB3"/>
          <p:cNvSpPr/>
          <p:nvPr/>
        </p:nvSpPr>
        <p:spPr>
          <a:xfrm>
            <a:off x="6604000" y="2794000"/>
            <a:ext cx="3048000" cy="698500"/>
          </a:xfrm>
          <a:prstGeom prst="roundRect">
            <a:avLst/>
          </a:prstGeom>
          <a:solidFill>
            <a:srgbClr val="4A2020"/>
          </a:solidFill>
          <a:ln>
            <a:noFill/>
          </a:ln>
        </p:spPr>
        <p:txBody>
          <a:bodyPr lIns="36000" tIns="18000" rIns="36000" bIns="18000" anchor="ctr" anchorCtr="1"/>
          <a:lstStyle/>
          <a:p>
            <a:pPr algn="ctr">
              <a:buNone/>
            </a:pPr>
            <a:r>
              <a:rPr lang="en-US" sz="1600" dirty="0">
                <a:solidFill>
                  <a:srgbClr val="FF6B6B"/>
                </a:solidFill>
                <a:latin typeface="Segoe UI"/>
              </a:rPr>
              <a:t>LlmJson.stringify()</a:t>
            </a:r>
          </a:p>
        </p:txBody>
      </p:sp>
      <p:sp>
        <p:nvSpPr>
          <p:cNvPr id="50" name="Loop"/>
          <p:cNvSpPr/>
          <p:nvPr/>
        </p:nvSpPr>
        <p:spPr>
          <a:xfrm>
            <a:off x="3556000" y="3619500"/>
            <a:ext cx="6096000" cy="508000"/>
          </a:xfrm>
          <a:prstGeom prst="roundRect">
            <a:avLst/>
          </a:prstGeom>
          <a:solidFill>
            <a:srgbClr val="3A2A10"/>
          </a:solidFill>
          <a:ln>
            <a:noFill/>
          </a:ln>
        </p:spPr>
        <p:txBody>
          <a:bodyPr lIns="36000" tIns="18000" rIns="36000" bIns="18000" anchor="ctr" anchorCtr="1"/>
          <a:lstStyle/>
          <a:p>
            <a:pPr algn="ctr">
              <a:buNone/>
            </a:pPr>
            <a:r>
              <a:rPr lang="en-US" sz="1600" dirty="0">
                <a:solidFill>
                  <a:srgbClr val="FFD93D"/>
                </a:solidFill>
                <a:latin typeface="Segoe UI"/>
              </a:rPr>
              <a:t>↻  feedback → retry (up to 10 attempts)</a:t>
            </a:r>
          </a:p>
        </p:txBody>
      </p:sp>
      <p:sp>
        <p:nvSpPr>
          <p:cNvPr id="60" name="D1"/>
          <p:cNvSpPr/>
          <p:nvPr/>
        </p:nvSpPr>
        <p:spPr>
          <a:xfrm>
            <a:off x="762000" y="4318000"/>
            <a:ext cx="3556000" cy="952500"/>
          </a:xfrm>
          <a:prstGeom prst="roundRect">
            <a:avLst/>
          </a:prstGeom>
          <a:solidFill>
            <a:srgbClr val="1E2D40"/>
          </a:solidFill>
          <a:ln>
            <a:noFill/>
          </a:ln>
        </p:spPr>
        <p:txBody>
          <a:bodyPr lIns="36000" tIns="18000" rIns="36000" bIns="18000" anchor="ctr" anchorCtr="1"/>
          <a:lstStyle/>
          <a:p>
            <a:pPr algn="ctr">
              <a:buNone/>
            </a:pPr>
            <a:r>
              <a:rPr lang="en-US" sz="1200" dirty="0">
                <a:solidFill>
                  <a:srgbClr val="D0D0D0"/>
                </a:solidFill>
                <a:latin typeface="Segoe UI"/>
              </a:rPr>
              <a:t>parse()
Broken JSON recovery
+ type coercion
+ double-stringify unwinding</a:t>
            </a:r>
          </a:p>
        </p:txBody>
      </p:sp>
      <p:sp>
        <p:nvSpPr>
          <p:cNvPr id="61" name="D2"/>
          <p:cNvSpPr/>
          <p:nvPr/>
        </p:nvSpPr>
        <p:spPr>
          <a:xfrm>
            <a:off x="4445000" y="4318000"/>
            <a:ext cx="3556000" cy="952500"/>
          </a:xfrm>
          <a:prstGeom prst="roundRect">
            <a:avLst/>
          </a:prstGeom>
          <a:solidFill>
            <a:srgbClr val="1E2D40"/>
          </a:solidFill>
          <a:ln>
            <a:noFill/>
          </a:ln>
        </p:spPr>
        <p:txBody>
          <a:bodyPr lIns="36000" tIns="18000" rIns="36000" bIns="18000" anchor="ctr" anchorCtr="1"/>
          <a:lstStyle/>
          <a:p>
            <a:pPr algn="ctr">
              <a:buNone/>
            </a:pPr>
            <a:r>
              <a:rPr lang="en-US" sz="1200" dirty="0">
                <a:solidFill>
                  <a:srgbClr val="D0D0D0"/>
                </a:solidFill>
                <a:latin typeface="Segoe UI"/>
              </a:rPr>
              <a:t>validate()
Schema violation detection
at exact paths
($input.order.product.price)</a:t>
            </a:r>
          </a:p>
        </p:txBody>
      </p:sp>
      <p:sp>
        <p:nvSpPr>
          <p:cNvPr id="62" name="D3"/>
          <p:cNvSpPr/>
          <p:nvPr/>
        </p:nvSpPr>
        <p:spPr>
          <a:xfrm>
            <a:off x="8128000" y="4318000"/>
            <a:ext cx="3556000" cy="952500"/>
          </a:xfrm>
          <a:prstGeom prst="roundRect">
            <a:avLst/>
          </a:prstGeom>
          <a:solidFill>
            <a:srgbClr val="1E2D40"/>
          </a:solidFill>
          <a:ln>
            <a:noFill/>
          </a:ln>
        </p:spPr>
        <p:txBody>
          <a:bodyPr lIns="36000" tIns="18000" rIns="36000" bIns="18000" anchor="ctr" anchorCtr="1"/>
          <a:lstStyle/>
          <a:p>
            <a:pPr algn="ctr">
              <a:buNone/>
            </a:pPr>
            <a:r>
              <a:rPr lang="en-US" sz="1200" dirty="0">
                <a:solidFill>
                  <a:srgbClr val="D0D0D0"/>
                </a:solidFill>
                <a:latin typeface="Segoe UI"/>
              </a:rPr>
              <a:t>LlmJson.stringify()
// ❌ inline comments
on the LLM's own JSON
→ LLM self-corrects</a:t>
            </a:r>
          </a:p>
        </p:txBody>
      </p:sp>
      <p:sp>
        <p:nvSpPr>
          <p:cNvPr id="70" name="Ins"/>
          <p:cNvSpPr/>
          <p:nvPr/>
        </p:nvSpPr>
        <p:spPr>
          <a:xfrm>
            <a:off x="762000" y="5524500"/>
            <a:ext cx="10668000" cy="762000"/>
          </a:xfrm>
          <a:prstGeom prst="rect">
            <a:avLst/>
          </a:prstGeom>
          <a:noFill/>
          <a:ln>
            <a:noFill/>
          </a:ln>
        </p:spPr>
        <p:txBody>
          <a:bodyPr lIns="36000" tIns="18000" rIns="36000" bIns="18000" anchor="ctr" anchorCtr="1"/>
          <a:lstStyle/>
          <a:p>
            <a:pPr algn="ctr">
              <a:buNone/>
            </a:pPr>
            <a:r>
              <a:rPr lang="en-US" sz="1800" b="1" dirty="0">
                <a:solidFill>
                  <a:srgbClr val="FFD93D"/>
                </a:solidFill>
                <a:latin typeface="Segoe UI"/>
              </a:rPr>
              <a:t>This is the complete loop that turns 6.75% into 100%.
parse() → validate() → stringify() → retry</a:t>
            </a:r>
          </a:p>
        </p:txBody>
      </p:sp>
    </p:spTree>
    <p:extLst>
      <p:ext uri="{BB962C8B-B14F-4D97-AF65-F5344CB8AC3E}">
        <p14:creationId xmlns:p14="http://schemas.microsoft.com/office/powerpoint/2010/main" val="66192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0D8B8-E035-4D80-949D-0C096A0577F9}"/>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Harness Engineering: AutoBe + Typia</a:t>
            </a:r>
          </a:p>
        </p:txBody>
      </p:sp>
      <p:sp>
        <p:nvSpPr>
          <p:cNvPr id="3" name="직사각형 2">
            <a:extLst>
              <a:ext uri="{FF2B5EF4-FFF2-40B4-BE49-F238E27FC236}">
                <a16:creationId xmlns:a16="http://schemas.microsoft.com/office/drawing/2014/main" id="{C58FA057-0F22-41FB-A7A7-83A1525AB322}"/>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EF8071B-78B2-4A1C-A93C-2F276DED41BB}"/>
              </a:ext>
            </a:extLst>
          </p:cNvPr>
          <p:cNvSpPr txBox="1"/>
          <p:nvPr/>
        </p:nvSpPr>
        <p:spPr>
          <a:xfrm>
            <a:off x="1016000" y="1270000"/>
            <a:ext cx="10160000" cy="444500"/>
          </a:xfrm>
          <a:prstGeom prst="rect">
            <a:avLst/>
          </a:prstGeom>
          <a:noFill/>
        </p:spPr>
        <p:txBody>
          <a:bodyPr vertOverflow="overflow" vert="horz" wrap="square" rtlCol="0" anchor="t">
            <a:spAutoFit/>
          </a:bodyPr>
          <a:lstStyle/>
          <a:p>
            <a:pPr algn="l"/>
            <a:r>
              <a:rPr lang="en-US" sz="2200" b="1">
                <a:solidFill>
                  <a:srgbClr val="00D4AA"/>
                </a:solidFill>
                <a:latin typeface="Segoe UI Semibold"/>
                <a:cs typeface="Segoe UI Semibold"/>
              </a:rPr>
              <a:t>Typia Layer (function calling level)</a:t>
            </a:r>
          </a:p>
        </p:txBody>
      </p:sp>
      <p:sp>
        <p:nvSpPr>
          <p:cNvPr id="5" name="TextBox 4">
            <a:extLst>
              <a:ext uri="{FF2B5EF4-FFF2-40B4-BE49-F238E27FC236}">
                <a16:creationId xmlns:a16="http://schemas.microsoft.com/office/drawing/2014/main" id="{C0018961-EDDF-4C2E-972A-8B5ECD46DB6D}"/>
              </a:ext>
            </a:extLst>
          </p:cNvPr>
          <p:cNvSpPr txBox="1"/>
          <p:nvPr/>
        </p:nvSpPr>
        <p:spPr>
          <a:xfrm>
            <a:off x="1270000" y="1778000"/>
            <a:ext cx="9652000" cy="1270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 Type → automatic schema generation
▸ Broken JSON recovery (lenient parsing)
▸ Schema-based type coercion
▸ Precise error feedback (validation feedback)</a:t>
            </a:r>
          </a:p>
        </p:txBody>
      </p:sp>
      <p:sp>
        <p:nvSpPr>
          <p:cNvPr id="6" name="TextBox 5">
            <a:extLst>
              <a:ext uri="{FF2B5EF4-FFF2-40B4-BE49-F238E27FC236}">
                <a16:creationId xmlns:a16="http://schemas.microsoft.com/office/drawing/2014/main" id="{860B26E5-FE0E-4AC8-BEBE-4E1BF737F483}"/>
              </a:ext>
            </a:extLst>
          </p:cNvPr>
          <p:cNvSpPr txBox="1"/>
          <p:nvPr/>
        </p:nvSpPr>
        <p:spPr>
          <a:xfrm>
            <a:off x="1016000" y="3238500"/>
            <a:ext cx="10160000" cy="4445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AutoBe Layer (system level)</a:t>
            </a:r>
          </a:p>
        </p:txBody>
      </p:sp>
      <p:sp>
        <p:nvSpPr>
          <p:cNvPr id="7" name="TextBox 6">
            <a:extLst>
              <a:ext uri="{FF2B5EF4-FFF2-40B4-BE49-F238E27FC236}">
                <a16:creationId xmlns:a16="http://schemas.microsoft.com/office/drawing/2014/main" id="{1565DBD3-6B10-4B5D-AC3B-0D9CBAF08B32}"/>
              </a:ext>
            </a:extLst>
          </p:cNvPr>
          <p:cNvSpPr txBox="1"/>
          <p:nvPr/>
        </p:nvSpPr>
        <p:spPr>
          <a:xfrm>
            <a:off x="1270000" y="3746500"/>
            <a:ext cx="9652000" cy="1270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 4 AST types + 4-tier compiler validation
▸ Self-healing loops (diagnostics → correction → revalidation)
▸ Hierarchical orchestration (40+ agent collaboration)
▸ Batch processing + prompt caching optimization</a:t>
            </a:r>
          </a:p>
        </p:txBody>
      </p:sp>
      <p:sp>
        <p:nvSpPr>
          <p:cNvPr id="8" name="직사각형 7">
            <a:extLst>
              <a:ext uri="{FF2B5EF4-FFF2-40B4-BE49-F238E27FC236}">
                <a16:creationId xmlns:a16="http://schemas.microsoft.com/office/drawing/2014/main" id="{674658B4-DBEE-4DBE-990E-8CE0510AA0EA}"/>
              </a:ext>
            </a:extLst>
          </p:cNvPr>
          <p:cNvSpPr/>
          <p:nvPr/>
        </p:nvSpPr>
        <p:spPr>
          <a:xfrm>
            <a:off x="4826000" y="52070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8C33EB49-8EDD-4F03-9FB7-BE974435CB7B}"/>
              </a:ext>
            </a:extLst>
          </p:cNvPr>
          <p:cNvSpPr txBox="1"/>
          <p:nvPr/>
        </p:nvSpPr>
        <p:spPr>
          <a:xfrm>
            <a:off x="1016000" y="5397500"/>
            <a:ext cx="10160000" cy="889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Typia makes FC I/O robust. AutoBe ensures system-wide consistency.
The combination completes the deterministic loop wrapping a probabilistic model.</a:t>
            </a:r>
          </a:p>
        </p:txBody>
      </p:sp>
    </p:spTree>
    <p:extLst>
      <p:ext uri="{BB962C8B-B14F-4D97-AF65-F5344CB8AC3E}">
        <p14:creationId xmlns:p14="http://schemas.microsoft.com/office/powerpoint/2010/main" val="3124760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44CDC2-CA0C-44A2-A976-7580071ECAFE}"/>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One Type Does It All</a:t>
            </a:r>
          </a:p>
        </p:txBody>
      </p:sp>
      <p:sp>
        <p:nvSpPr>
          <p:cNvPr id="3" name="직사각형 2">
            <a:extLst>
              <a:ext uri="{FF2B5EF4-FFF2-40B4-BE49-F238E27FC236}">
                <a16:creationId xmlns:a16="http://schemas.microsoft.com/office/drawing/2014/main" id="{05DB7ED1-3D37-41F1-9D60-3E2736BEB7E6}"/>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CC979669-B976-4161-9C63-26C6FFBEF07F}"/>
              </a:ext>
            </a:extLst>
          </p:cNvPr>
          <p:cNvSpPr/>
          <p:nvPr/>
        </p:nvSpPr>
        <p:spPr>
          <a:xfrm>
            <a:off x="1016000" y="13970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17DFE781-47B6-4E23-A736-ED9B4B2E38C8}"/>
              </a:ext>
            </a:extLst>
          </p:cNvPr>
          <p:cNvSpPr txBox="1"/>
          <p:nvPr/>
        </p:nvSpPr>
        <p:spPr>
          <a:xfrm>
            <a:off x="1270000" y="1460500"/>
            <a:ext cx="9652000" cy="571500"/>
          </a:xfrm>
          <a:prstGeom prst="rect">
            <a:avLst/>
          </a:prstGeom>
          <a:noFill/>
        </p:spPr>
        <p:txBody>
          <a:bodyPr vertOverflow="overflow" vert="horz" wrap="square" rtlCol="0" anchor="t">
            <a:spAutoFit/>
          </a:bodyPr>
          <a:lstStyle/>
          <a:p>
            <a:pPr algn="l"/>
            <a:r>
              <a:rPr lang="en-US" sz="1800" dirty="0">
                <a:solidFill>
                  <a:srgbClr val="00D4AA"/>
                </a:solidFill>
                <a:latin typeface="Segoe UI"/>
              </a:rPr>
              <a:t>❶ Compile-time source code analysis</a:t>
            </a:r>
          </a:p>
        </p:txBody>
      </p:sp>
      <p:sp>
        <p:nvSpPr>
          <p:cNvPr id="6" name="직사각형 5">
            <a:extLst>
              <a:ext uri="{FF2B5EF4-FFF2-40B4-BE49-F238E27FC236}">
                <a16:creationId xmlns:a16="http://schemas.microsoft.com/office/drawing/2014/main" id="{00097BA0-8793-4D87-8724-E558DF0665DE}"/>
              </a:ext>
            </a:extLst>
          </p:cNvPr>
          <p:cNvSpPr/>
          <p:nvPr/>
        </p:nvSpPr>
        <p:spPr>
          <a:xfrm>
            <a:off x="1016000" y="22225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FEABADBA-0797-49B3-A822-5CCF9A31CE42}"/>
              </a:ext>
            </a:extLst>
          </p:cNvPr>
          <p:cNvSpPr txBox="1"/>
          <p:nvPr/>
        </p:nvSpPr>
        <p:spPr>
          <a:xfrm>
            <a:off x="1270000" y="2286000"/>
            <a:ext cx="9652000" cy="571500"/>
          </a:xfrm>
          <a:prstGeom prst="rect">
            <a:avLst/>
          </a:prstGeom>
          <a:noFill/>
        </p:spPr>
        <p:txBody>
          <a:bodyPr vertOverflow="overflow" vert="horz" wrap="square" rtlCol="0" anchor="t">
            <a:spAutoFit/>
          </a:bodyPr>
          <a:lstStyle/>
          <a:p>
            <a:pPr algn="l"/>
            <a:r>
              <a:rPr lang="en-US" sz="1800" dirty="0">
                <a:solidFill>
                  <a:srgbClr val="00D4AA"/>
                </a:solidFill>
                <a:latin typeface="Segoe UI"/>
              </a:rPr>
              <a:t>❷ Schema — </a:t>
            </a:r>
            <a:r>
              <a:rPr lang="en-US" sz="1800" dirty="0">
                <a:solidFill>
                  <a:srgbClr val="D4D4D4"/>
                </a:solidFill>
                <a:latin typeface="Consolas"/>
              </a:rPr>
              <a:t>typia.llm.</a:t>
            </a:r>
            <a:r>
              <a:rPr lang="en-US" sz="1800" dirty="0">
                <a:solidFill>
                  <a:srgbClr val="4EC9B0"/>
                </a:solidFill>
                <a:latin typeface="Consolas"/>
              </a:rPr>
              <a:t>application</a:t>
            </a:r>
            <a:r>
              <a:rPr lang="en-US" sz="1800" dirty="0">
                <a:solidFill>
                  <a:srgbClr val="D4D4D4"/>
                </a:solidFill>
                <a:latin typeface="Consolas"/>
              </a:rPr>
              <a:t>&lt;</a:t>
            </a:r>
            <a:r>
              <a:rPr lang="en-US" sz="1800" dirty="0">
                <a:solidFill>
                  <a:srgbClr val="4EC9B0"/>
                </a:solidFill>
                <a:latin typeface="Consolas"/>
              </a:rPr>
              <a:t>Class</a:t>
            </a:r>
            <a:r>
              <a:rPr lang="en-US" sz="1800" dirty="0">
                <a:solidFill>
                  <a:srgbClr val="D4D4D4"/>
                </a:solidFill>
                <a:latin typeface="Consolas"/>
              </a:rPr>
              <a:t>&gt;()</a:t>
            </a:r>
          </a:p>
        </p:txBody>
      </p:sp>
      <p:sp>
        <p:nvSpPr>
          <p:cNvPr id="8" name="직사각형 7">
            <a:extLst>
              <a:ext uri="{FF2B5EF4-FFF2-40B4-BE49-F238E27FC236}">
                <a16:creationId xmlns:a16="http://schemas.microsoft.com/office/drawing/2014/main" id="{32EC3EB9-C287-410C-971B-070C5B586438}"/>
              </a:ext>
            </a:extLst>
          </p:cNvPr>
          <p:cNvSpPr/>
          <p:nvPr/>
        </p:nvSpPr>
        <p:spPr>
          <a:xfrm>
            <a:off x="1016000" y="30480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54F8717D-7261-46C4-9189-BFB40E0EB64B}"/>
              </a:ext>
            </a:extLst>
          </p:cNvPr>
          <p:cNvSpPr txBox="1"/>
          <p:nvPr/>
        </p:nvSpPr>
        <p:spPr>
          <a:xfrm>
            <a:off x="1270000" y="3111500"/>
            <a:ext cx="9652000" cy="571500"/>
          </a:xfrm>
          <a:prstGeom prst="rect">
            <a:avLst/>
          </a:prstGeom>
          <a:noFill/>
        </p:spPr>
        <p:txBody>
          <a:bodyPr vertOverflow="overflow" vert="horz" wrap="square" rtlCol="0" anchor="t">
            <a:spAutoFit/>
          </a:bodyPr>
          <a:lstStyle/>
          <a:p>
            <a:pPr algn="l"/>
            <a:r>
              <a:rPr lang="en-US" sz="1800" dirty="0">
                <a:solidFill>
                  <a:srgbClr val="00D4AA"/>
                </a:solidFill>
                <a:latin typeface="Segoe UI"/>
              </a:rPr>
              <a:t>❸ Parsing + coercion — </a:t>
            </a:r>
            <a:r>
              <a:rPr lang="en-US" sz="1800" dirty="0">
                <a:solidFill>
                  <a:srgbClr val="D4D4D4"/>
                </a:solidFill>
                <a:latin typeface="Consolas"/>
              </a:rPr>
              <a:t>ILlmFunction.</a:t>
            </a:r>
            <a:r>
              <a:rPr lang="en-US" sz="1800" dirty="0">
                <a:solidFill>
                  <a:srgbClr val="4EC9B0"/>
                </a:solidFill>
                <a:latin typeface="Consolas"/>
              </a:rPr>
              <a:t>parse</a:t>
            </a:r>
            <a:r>
              <a:rPr lang="en-US" sz="1800" dirty="0">
                <a:solidFill>
                  <a:srgbClr val="D4D4D4"/>
                </a:solidFill>
                <a:latin typeface="Consolas"/>
              </a:rPr>
              <a:t>()</a:t>
            </a:r>
          </a:p>
        </p:txBody>
      </p:sp>
      <p:sp>
        <p:nvSpPr>
          <p:cNvPr id="10" name="직사각형 9">
            <a:extLst>
              <a:ext uri="{FF2B5EF4-FFF2-40B4-BE49-F238E27FC236}">
                <a16:creationId xmlns:a16="http://schemas.microsoft.com/office/drawing/2014/main" id="{D91A80CE-43C1-4CF9-B7D0-80350D2DEB2E}"/>
              </a:ext>
            </a:extLst>
          </p:cNvPr>
          <p:cNvSpPr/>
          <p:nvPr/>
        </p:nvSpPr>
        <p:spPr>
          <a:xfrm>
            <a:off x="1016000" y="38735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27025729-9899-41AE-B9E6-5284249F6919}"/>
              </a:ext>
            </a:extLst>
          </p:cNvPr>
          <p:cNvSpPr txBox="1"/>
          <p:nvPr/>
        </p:nvSpPr>
        <p:spPr>
          <a:xfrm>
            <a:off x="1270000" y="3937000"/>
            <a:ext cx="9652000" cy="571500"/>
          </a:xfrm>
          <a:prstGeom prst="rect">
            <a:avLst/>
          </a:prstGeom>
          <a:noFill/>
        </p:spPr>
        <p:txBody>
          <a:bodyPr vertOverflow="overflow" vert="horz" wrap="square" rtlCol="0" anchor="t">
            <a:spAutoFit/>
          </a:bodyPr>
          <a:lstStyle/>
          <a:p>
            <a:pPr algn="l"/>
            <a:r>
              <a:rPr lang="en-US" sz="1800" dirty="0">
                <a:solidFill>
                  <a:srgbClr val="00D4AA"/>
                </a:solidFill>
                <a:latin typeface="Segoe UI"/>
              </a:rPr>
              <a:t>❹ Validation — </a:t>
            </a:r>
            <a:r>
              <a:rPr lang="en-US" sz="1800" dirty="0">
                <a:solidFill>
                  <a:srgbClr val="D4D4D4"/>
                </a:solidFill>
                <a:latin typeface="Consolas"/>
              </a:rPr>
              <a:t>ILlmFunction.</a:t>
            </a:r>
            <a:r>
              <a:rPr lang="en-US" sz="1800" dirty="0">
                <a:solidFill>
                  <a:srgbClr val="4EC9B0"/>
                </a:solidFill>
                <a:latin typeface="Consolas"/>
              </a:rPr>
              <a:t>validate</a:t>
            </a:r>
            <a:r>
              <a:rPr lang="en-US" sz="1800" dirty="0">
                <a:solidFill>
                  <a:srgbClr val="D4D4D4"/>
                </a:solidFill>
                <a:latin typeface="Consolas"/>
              </a:rPr>
              <a:t>()</a:t>
            </a:r>
          </a:p>
        </p:txBody>
      </p:sp>
      <p:sp>
        <p:nvSpPr>
          <p:cNvPr id="12" name="직사각형 11">
            <a:extLst>
              <a:ext uri="{FF2B5EF4-FFF2-40B4-BE49-F238E27FC236}">
                <a16:creationId xmlns:a16="http://schemas.microsoft.com/office/drawing/2014/main" id="{744DA7DA-829D-4A81-AC09-B6DD3A513F04}"/>
              </a:ext>
            </a:extLst>
          </p:cNvPr>
          <p:cNvSpPr/>
          <p:nvPr/>
        </p:nvSpPr>
        <p:spPr>
          <a:xfrm>
            <a:off x="1016000" y="46990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BD7BF2E4-FCA2-4396-A88F-4134E235A2A7}"/>
              </a:ext>
            </a:extLst>
          </p:cNvPr>
          <p:cNvSpPr txBox="1"/>
          <p:nvPr/>
        </p:nvSpPr>
        <p:spPr>
          <a:xfrm>
            <a:off x="1270000" y="4762500"/>
            <a:ext cx="9652000" cy="571500"/>
          </a:xfrm>
          <a:prstGeom prst="rect">
            <a:avLst/>
          </a:prstGeom>
          <a:noFill/>
        </p:spPr>
        <p:txBody>
          <a:bodyPr vertOverflow="overflow" vert="horz" wrap="square" rtlCol="0" anchor="t">
            <a:spAutoFit/>
          </a:bodyPr>
          <a:lstStyle/>
          <a:p>
            <a:pPr algn="l"/>
            <a:r>
              <a:rPr lang="en-US" sz="1800" dirty="0">
                <a:solidFill>
                  <a:srgbClr val="00D4AA"/>
                </a:solidFill>
                <a:latin typeface="Segoe UI"/>
              </a:rPr>
              <a:t>❺ Feedback — </a:t>
            </a:r>
            <a:r>
              <a:rPr lang="en-US" sz="1800" dirty="0">
                <a:solidFill>
                  <a:srgbClr val="D4D4D4"/>
                </a:solidFill>
                <a:latin typeface="Consolas"/>
              </a:rPr>
              <a:t>LlmJson.</a:t>
            </a:r>
            <a:r>
              <a:rPr lang="en-US" sz="1800" dirty="0">
                <a:solidFill>
                  <a:srgbClr val="4EC9B0"/>
                </a:solidFill>
                <a:latin typeface="Consolas"/>
              </a:rPr>
              <a:t>stringify</a:t>
            </a:r>
            <a:r>
              <a:rPr lang="en-US" sz="1800" dirty="0">
                <a:solidFill>
                  <a:srgbClr val="D4D4D4"/>
                </a:solidFill>
                <a:latin typeface="Consolas"/>
              </a:rPr>
              <a:t>()</a:t>
            </a:r>
          </a:p>
        </p:txBody>
      </p:sp>
      <p:sp>
        <p:nvSpPr>
          <p:cNvPr id="14" name="TextBox 13">
            <a:extLst>
              <a:ext uri="{FF2B5EF4-FFF2-40B4-BE49-F238E27FC236}">
                <a16:creationId xmlns:a16="http://schemas.microsoft.com/office/drawing/2014/main" id="{18A947E8-3E6F-4AB6-AEED-89F90652008B}"/>
              </a:ext>
            </a:extLst>
          </p:cNvPr>
          <p:cNvSpPr txBox="1"/>
          <p:nvPr/>
        </p:nvSpPr>
        <p:spPr>
          <a:xfrm>
            <a:off x="1016000" y="5715000"/>
            <a:ext cx="10160000" cy="635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Define a single TypeScript type → Typia handles everything else</a:t>
            </a:r>
          </a:p>
        </p:txBody>
      </p:sp>
    </p:spTree>
    <p:extLst>
      <p:ext uri="{BB962C8B-B14F-4D97-AF65-F5344CB8AC3E}">
        <p14:creationId xmlns:p14="http://schemas.microsoft.com/office/powerpoint/2010/main" val="20459810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17AC641-05E9-498C-B9E0-173ABD35159B}"/>
              </a:ext>
            </a:extLst>
          </p:cNvPr>
          <p:cNvSpPr txBox="1"/>
          <p:nvPr/>
        </p:nvSpPr>
        <p:spPr>
          <a:xfrm>
            <a:off x="1016000" y="1016000"/>
            <a:ext cx="10160000" cy="2540000"/>
          </a:xfrm>
          <a:prstGeom prst="rect">
            <a:avLst/>
          </a:prstGeom>
          <a:noFill/>
        </p:spPr>
        <p:txBody>
          <a:bodyPr vertOverflow="overflow" vert="horz" wrap="square" rtlCol="0" anchor="t">
            <a:spAutoFit/>
          </a:bodyPr>
          <a:lstStyle/>
          <a:p>
            <a:pPr algn="l"/>
            <a:r>
              <a:rPr lang="en-US" sz="3600" b="1">
                <a:solidFill>
                  <a:srgbClr val="F0F0F0"/>
                </a:solidFill>
                <a:latin typeface="Segoe UI Semibold"/>
                <a:cs typeface="Segoe UI Semibold"/>
              </a:rPr>
              <a:t>"The type is the schema,
the validator,
and the prompt."</a:t>
            </a:r>
          </a:p>
        </p:txBody>
      </p:sp>
      <p:sp>
        <p:nvSpPr>
          <p:cNvPr id="3" name="직사각형 2">
            <a:extLst>
              <a:ext uri="{FF2B5EF4-FFF2-40B4-BE49-F238E27FC236}">
                <a16:creationId xmlns:a16="http://schemas.microsoft.com/office/drawing/2014/main" id="{16BEA714-F1EA-4AC2-B537-04FD070831C7}"/>
              </a:ext>
            </a:extLst>
          </p:cNvPr>
          <p:cNvSpPr/>
          <p:nvPr/>
        </p:nvSpPr>
        <p:spPr>
          <a:xfrm>
            <a:off x="4826000" y="38100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B6333672-42B7-4081-AEC7-03AF1F42A732}"/>
              </a:ext>
            </a:extLst>
          </p:cNvPr>
          <p:cNvSpPr txBox="1"/>
          <p:nvPr/>
        </p:nvSpPr>
        <p:spPr>
          <a:xfrm>
            <a:off x="1016000" y="4127500"/>
            <a:ext cx="10160000" cy="762000"/>
          </a:xfrm>
          <a:prstGeom prst="rect">
            <a:avLst/>
          </a:prstGeom>
          <a:noFill/>
        </p:spPr>
        <p:txBody>
          <a:bodyPr vertOverflow="overflow" vert="horz" wrap="square" rtlCol="0" anchor="t">
            <a:spAutoFit/>
          </a:bodyPr>
          <a:lstStyle/>
          <a:p>
            <a:pPr algn="l"/>
            <a:r>
              <a:rPr lang="en-US" sz="2400" b="1">
                <a:solidFill>
                  <a:srgbClr val="FFD93D"/>
                </a:solidFill>
                <a:latin typeface="Segoe UI Semibold"/>
                <a:cs typeface="Segoe UI Semibold"/>
              </a:rPr>
              <a:t>The harness is everything around it.</a:t>
            </a:r>
          </a:p>
        </p:txBody>
      </p:sp>
    </p:spTree>
    <p:extLst>
      <p:ext uri="{BB962C8B-B14F-4D97-AF65-F5344CB8AC3E}">
        <p14:creationId xmlns:p14="http://schemas.microsoft.com/office/powerpoint/2010/main" val="35144560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N"/>
          <p:cNvSpPr/>
          <p:nvPr/>
        </p:nvSpPr>
        <p:spPr>
          <a:xfrm>
            <a:off x="1016000" y="1524000"/>
            <a:ext cx="2540000" cy="1524000"/>
          </a:xfrm>
          <a:prstGeom prst="rect">
            <a:avLst/>
          </a:prstGeom>
          <a:noFill/>
          <a:ln>
            <a:noFill/>
          </a:ln>
        </p:spPr>
        <p:txBody>
          <a:bodyPr wrap="square" lIns="0" tIns="0" rIns="0" bIns="0" anchor="b"/>
          <a:lstStyle/>
          <a:p>
            <a:pPr algn="l"/>
            <a:r>
              <a:rPr lang="en-US" sz="8000" b="1" dirty="0">
                <a:solidFill>
                  <a:srgbClr val="6C5CE7">
                    <a:alpha val="30000"/>
                  </a:srgbClr>
                </a:solidFill>
                <a:latin typeface="Segoe UI Semibold"/>
              </a:rPr>
              <a:t>04</a:t>
            </a:r>
          </a:p>
        </p:txBody>
      </p:sp>
      <p:sp>
        <p:nvSpPr>
          <p:cNvPr id="11" name="AL"/>
          <p:cNvSpPr/>
          <p:nvPr/>
        </p:nvSpPr>
        <p:spPr>
          <a:xfrm>
            <a:off x="1016000" y="3048000"/>
            <a:ext cx="1524000" cy="38100"/>
          </a:xfrm>
          <a:prstGeom prst="rect">
            <a:avLst/>
          </a:prstGeom>
          <a:solidFill>
            <a:srgbClr val="6C5CE7"/>
          </a:solidFill>
          <a:ln>
            <a:noFill/>
          </a:ln>
        </p:spPr>
        <p:txBody>
          <a:bodyPr/>
          <a:lstStyle/>
          <a:p>
            <a:endParaRPr lang="en-US"/>
          </a:p>
        </p:txBody>
      </p:sp>
      <p:sp>
        <p:nvSpPr>
          <p:cNvPr id="12" name="T"/>
          <p:cNvSpPr/>
          <p:nvPr/>
        </p:nvSpPr>
        <p:spPr>
          <a:xfrm>
            <a:off x="1016000" y="3175000"/>
            <a:ext cx="10160000" cy="698500"/>
          </a:xfrm>
          <a:prstGeom prst="rect">
            <a:avLst/>
          </a:prstGeom>
          <a:noFill/>
          <a:ln>
            <a:noFill/>
          </a:ln>
        </p:spPr>
        <p:txBody>
          <a:bodyPr wrap="square" lIns="0" tIns="0" rIns="0" bIns="0" anchor="t"/>
          <a:lstStyle/>
          <a:p>
            <a:pPr algn="l"/>
            <a:r>
              <a:rPr lang="en-US" sz="3600" b="1" dirty="0">
                <a:solidFill>
                  <a:srgbClr val="F0F0F0"/>
                </a:solidFill>
                <a:latin typeface="Segoe UI Semibold"/>
              </a:rPr>
              <a:t>In Praise of Function Calling</a:t>
            </a:r>
          </a:p>
        </p:txBody>
      </p:sp>
      <p:sp>
        <p:nvSpPr>
          <p:cNvPr id="13" name="S"/>
          <p:cNvSpPr/>
          <p:nvPr/>
        </p:nvSpPr>
        <p:spPr>
          <a:xfrm>
            <a:off x="1016000" y="3937000"/>
            <a:ext cx="10160000" cy="508000"/>
          </a:xfrm>
          <a:prstGeom prst="rect">
            <a:avLst/>
          </a:prstGeom>
          <a:noFill/>
          <a:ln>
            <a:noFill/>
          </a:ln>
        </p:spPr>
        <p:txBody>
          <a:bodyPr wrap="square" lIns="0" tIns="0" rIns="0" bIns="0" anchor="t"/>
          <a:lstStyle/>
          <a:p>
            <a:pPr algn="l"/>
            <a:r>
              <a:rPr lang="en-US" sz="2000" dirty="0">
                <a:solidFill>
                  <a:srgbClr val="808080"/>
                </a:solidFill>
                <a:latin typeface="Segoe UI"/>
              </a:rPr>
              <a:t>Why the skepticism is right about symptoms, wrong about causes</a:t>
            </a:r>
          </a:p>
        </p:txBody>
      </p:sp>
    </p:spTree>
    <p:extLst>
      <p:ext uri="{BB962C8B-B14F-4D97-AF65-F5344CB8AC3E}">
        <p14:creationId xmlns:p14="http://schemas.microsoft.com/office/powerpoint/2010/main" val="27965167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16DF7C-5E99-475B-B130-75ACD5C3F9A2}"/>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Natural Language vs. Types</a:t>
            </a:r>
          </a:p>
        </p:txBody>
      </p:sp>
      <p:sp>
        <p:nvSpPr>
          <p:cNvPr id="3" name="직사각형 2">
            <a:extLst>
              <a:ext uri="{FF2B5EF4-FFF2-40B4-BE49-F238E27FC236}">
                <a16:creationId xmlns:a16="http://schemas.microsoft.com/office/drawing/2014/main" id="{1F1FBF0D-FC59-4D2D-B5E1-5BF6BCE3EF2F}"/>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0DE8734A-800D-4C5F-8707-0FBF6663D0A3}"/>
              </a:ext>
            </a:extLst>
          </p:cNvPr>
          <p:cNvSpPr/>
          <p:nvPr/>
        </p:nvSpPr>
        <p:spPr>
          <a:xfrm>
            <a:off x="762000" y="1270000"/>
            <a:ext cx="5207000" cy="2413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243F8A6B-F201-4DEC-8897-9225D482C7E0}"/>
              </a:ext>
            </a:extLst>
          </p:cNvPr>
          <p:cNvSpPr txBox="1"/>
          <p:nvPr/>
        </p:nvSpPr>
        <p:spPr>
          <a:xfrm>
            <a:off x="1016000" y="1333500"/>
            <a:ext cx="4699000" cy="2286000"/>
          </a:xfrm>
          <a:prstGeom prst="rect">
            <a:avLst/>
          </a:prstGeom>
          <a:noFill/>
        </p:spPr>
        <p:txBody>
          <a:bodyPr vertOverflow="overflow" vert="horz" wrap="square" rtlCol="0" anchor="t">
            <a:spAutoFit/>
          </a:bodyPr>
          <a:lstStyle/>
          <a:p>
            <a:pPr algn="l"/>
            <a:r>
              <a:rPr lang="en-US">
                <a:solidFill>
                  <a:srgbClr val="FF6B6B"/>
                </a:solidFill>
                <a:latin typeface="Segoe UI"/>
                <a:cs typeface="Segoe UI"/>
              </a:rPr>
              <a:t>Natural Language
▸ Evolved organically
▸ Ambiguity is a feature
▸ "Just make it look nice"
▸ Misunderstanding &amp; arguments</a:t>
            </a:r>
          </a:p>
        </p:txBody>
      </p:sp>
      <p:sp>
        <p:nvSpPr>
          <p:cNvPr id="6" name="TextBox 5">
            <a:extLst>
              <a:ext uri="{FF2B5EF4-FFF2-40B4-BE49-F238E27FC236}">
                <a16:creationId xmlns:a16="http://schemas.microsoft.com/office/drawing/2014/main" id="{6549C576-E2D2-4D11-98E3-41B50A554E29}"/>
              </a:ext>
            </a:extLst>
          </p:cNvPr>
          <p:cNvSpPr txBox="1"/>
          <p:nvPr/>
        </p:nvSpPr>
        <p:spPr>
          <a:xfrm>
            <a:off x="5867400" y="2222500"/>
            <a:ext cx="457200" cy="381000"/>
          </a:xfrm>
          <a:prstGeom prst="rect">
            <a:avLst/>
          </a:prstGeom>
          <a:noFill/>
        </p:spPr>
        <p:txBody>
          <a:bodyPr vertOverflow="overflow" vert="horz" wrap="square" rtlCol="0" anchor="t">
            <a:spAutoFit/>
          </a:bodyPr>
          <a:lstStyle/>
          <a:p>
            <a:pPr algn="l"/>
            <a:r>
              <a:rPr lang="en-US" b="1">
                <a:solidFill>
                  <a:srgbClr val="FFD93D"/>
                </a:solidFill>
                <a:latin typeface="Segoe UI"/>
                <a:cs typeface="Segoe UI"/>
              </a:rPr>
              <a:t>vs</a:t>
            </a:r>
          </a:p>
        </p:txBody>
      </p:sp>
      <p:sp>
        <p:nvSpPr>
          <p:cNvPr id="7" name="직사각형 6">
            <a:extLst>
              <a:ext uri="{FF2B5EF4-FFF2-40B4-BE49-F238E27FC236}">
                <a16:creationId xmlns:a16="http://schemas.microsoft.com/office/drawing/2014/main" id="{966EF49B-E5E2-4D58-923C-5EF2BC4AA024}"/>
              </a:ext>
            </a:extLst>
          </p:cNvPr>
          <p:cNvSpPr/>
          <p:nvPr/>
        </p:nvSpPr>
        <p:spPr>
          <a:xfrm>
            <a:off x="6223000" y="1270000"/>
            <a:ext cx="5207000" cy="2413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6E5C41AC-A21C-440B-92CE-90D13377854D}"/>
              </a:ext>
            </a:extLst>
          </p:cNvPr>
          <p:cNvSpPr txBox="1"/>
          <p:nvPr/>
        </p:nvSpPr>
        <p:spPr>
          <a:xfrm>
            <a:off x="6477000" y="1333500"/>
            <a:ext cx="4699000" cy="2286000"/>
          </a:xfrm>
          <a:prstGeom prst="rect">
            <a:avLst/>
          </a:prstGeom>
          <a:noFill/>
        </p:spPr>
        <p:txBody>
          <a:bodyPr vertOverflow="overflow" vert="horz" wrap="square" rtlCol="0" anchor="t">
            <a:spAutoFit/>
          </a:bodyPr>
          <a:lstStyle/>
          <a:p>
            <a:pPr algn="l"/>
            <a:r>
              <a:rPr lang="en-US" sz="1800" b="1" dirty="0">
                <a:solidFill>
                  <a:srgbClr val="00D4AA"/>
                </a:solidFill>
                <a:latin typeface="Segoe UI"/>
              </a:rPr>
              <a:t>Types &amp; Schemas</a:t>
            </a:r>
          </a:p>
          <a:p>
            <a:pPr algn="l"/>
            <a:r>
              <a:rPr lang="en-US" sz="1800" dirty="0">
                <a:solidFill>
                  <a:srgbClr val="D0D0D0"/>
                </a:solidFill>
                <a:latin typeface="Segoe UI"/>
              </a:rPr>
              <a:t>▸ Intentionally designed</a:t>
            </a:r>
          </a:p>
          <a:p>
            <a:pPr algn="l"/>
            <a:r>
              <a:rPr lang="en-US" sz="1800" dirty="0">
                <a:solidFill>
                  <a:srgbClr val="D0D0D0"/>
                </a:solidFill>
                <a:latin typeface="Segoe UI"/>
              </a:rPr>
              <a:t>▸ Ambiguity is a bug</a:t>
            </a:r>
          </a:p>
          <a:p>
            <a:pPr algn="l"/>
            <a:r>
              <a:rPr lang="en-US" sz="1800" dirty="0">
                <a:solidFill>
                  <a:srgbClr val="D0D0D0"/>
                </a:solidFill>
                <a:latin typeface="Segoe UI"/>
              </a:rPr>
              <a:t>▸ </a:t>
            </a:r>
            <a:r>
              <a:rPr lang="en-US" sz="1800" dirty="0">
                <a:solidFill>
                  <a:srgbClr val="569CD6"/>
                </a:solidFill>
                <a:latin typeface="Consolas"/>
              </a:rPr>
              <a:t>age</a:t>
            </a:r>
            <a:r>
              <a:rPr lang="en-US" sz="1800" dirty="0">
                <a:solidFill>
                  <a:srgbClr val="D4D4D4"/>
                </a:solidFill>
                <a:latin typeface="Consolas"/>
              </a:rPr>
              <a:t>: </a:t>
            </a:r>
            <a:r>
              <a:rPr lang="en-US" sz="1800" dirty="0">
                <a:solidFill>
                  <a:srgbClr val="4EC9B0"/>
                </a:solidFill>
                <a:latin typeface="Consolas"/>
              </a:rPr>
              <a:t>uint32</a:t>
            </a:r>
            <a:r>
              <a:rPr lang="en-US" sz="1800" dirty="0">
                <a:solidFill>
                  <a:srgbClr val="C586C0"/>
                </a:solidFill>
                <a:latin typeface="Consolas"/>
              </a:rPr>
              <a:t> &amp; </a:t>
            </a:r>
            <a:r>
              <a:rPr lang="en-US" sz="1800" dirty="0">
                <a:solidFill>
                  <a:srgbClr val="4EC9B0"/>
                </a:solidFill>
                <a:latin typeface="Consolas"/>
              </a:rPr>
              <a:t>ExclusiveMinimum&lt;18&gt;</a:t>
            </a:r>
          </a:p>
          <a:p>
            <a:pPr algn="l"/>
            <a:r>
              <a:rPr lang="en-US" sz="1800" dirty="0">
                <a:solidFill>
                  <a:srgbClr val="D0D0D0"/>
                </a:solidFill>
                <a:latin typeface="Segoe UI"/>
              </a:rPr>
              <a:t>▸ No misunderstanding possible</a:t>
            </a:r>
          </a:p>
        </p:txBody>
      </p:sp>
      <p:sp>
        <p:nvSpPr>
          <p:cNvPr id="9" name="TextBox 8">
            <a:extLst>
              <a:ext uri="{FF2B5EF4-FFF2-40B4-BE49-F238E27FC236}">
                <a16:creationId xmlns:a16="http://schemas.microsoft.com/office/drawing/2014/main" id="{001A4B03-718D-4CCA-9521-24474FE50F12}"/>
              </a:ext>
            </a:extLst>
          </p:cNvPr>
          <p:cNvSpPr txBox="1"/>
          <p:nvPr/>
        </p:nvSpPr>
        <p:spPr>
          <a:xfrm>
            <a:off x="1016000" y="4064000"/>
            <a:ext cx="10160000" cy="635000"/>
          </a:xfrm>
          <a:prstGeom prst="rect">
            <a:avLst/>
          </a:prstGeom>
          <a:noFill/>
        </p:spPr>
        <p:txBody>
          <a:bodyPr vertOverflow="overflow" vert="horz" wrap="square" rtlCol="0" anchor="t">
            <a:spAutoFit/>
          </a:bodyPr>
          <a:lstStyle/>
          <a:p>
            <a:pPr algn="l"/>
            <a:r>
              <a:rPr lang="en-US" sz="2400" b="1">
                <a:solidFill>
                  <a:srgbClr val="FFD93D"/>
                </a:solidFill>
                <a:latin typeface="Segoe UI Semibold"/>
                <a:cs typeface="Segoe UI Semibold"/>
              </a:rPr>
              <a:t>Types communicate without misunderstanding</a:t>
            </a:r>
          </a:p>
        </p:txBody>
      </p:sp>
    </p:spTree>
    <p:extLst>
      <p:ext uri="{BB962C8B-B14F-4D97-AF65-F5344CB8AC3E}">
        <p14:creationId xmlns:p14="http://schemas.microsoft.com/office/powerpoint/2010/main" val="9491101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79CEFE-D162-422D-A252-91BA8DCA5DE9}"/>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Prompt vs. Type: Side-by-Side</a:t>
            </a:r>
          </a:p>
        </p:txBody>
      </p:sp>
      <p:sp>
        <p:nvSpPr>
          <p:cNvPr id="3" name="직사각형 2">
            <a:extLst>
              <a:ext uri="{FF2B5EF4-FFF2-40B4-BE49-F238E27FC236}">
                <a16:creationId xmlns:a16="http://schemas.microsoft.com/office/drawing/2014/main" id="{55603457-F19C-4653-8FCB-BF5DCA56A566}"/>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9017B84E-E5B9-4AE4-81B3-2FC760EE243C}"/>
              </a:ext>
            </a:extLst>
          </p:cNvPr>
          <p:cNvSpPr/>
          <p:nvPr/>
        </p:nvSpPr>
        <p:spPr>
          <a:xfrm>
            <a:off x="762000" y="1333500"/>
            <a:ext cx="5207000" cy="2540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B98A3B1E-4118-46EB-85A3-ED8E06010169}"/>
              </a:ext>
            </a:extLst>
          </p:cNvPr>
          <p:cNvSpPr txBox="1"/>
          <p:nvPr/>
        </p:nvSpPr>
        <p:spPr>
          <a:xfrm>
            <a:off x="1016000" y="1397000"/>
            <a:ext cx="4699000" cy="2413000"/>
          </a:xfrm>
          <a:prstGeom prst="rect">
            <a:avLst/>
          </a:prstGeom>
          <a:noFill/>
        </p:spPr>
        <p:txBody>
          <a:bodyPr vertOverflow="overflow" vert="horz" wrap="square" rtlCol="0" anchor="t">
            <a:spAutoFit/>
          </a:bodyPr>
          <a:lstStyle/>
          <a:p>
            <a:pPr algn="l"/>
            <a:r>
              <a:rPr lang="en-US">
                <a:solidFill>
                  <a:srgbClr val="FF6B6B"/>
                </a:solidFill>
                <a:latin typeface="Segoe UI"/>
                <a:cs typeface="Segoe UI"/>
              </a:rPr>
              <a:t>Via Prompt:
"The age field must be a
positive integer greater
than 18. Don't use string
types for numeric fields.
All required fields must
be present..."</a:t>
            </a:r>
          </a:p>
        </p:txBody>
      </p:sp>
      <p:sp>
        <p:nvSpPr>
          <p:cNvPr id="6" name="TextBox 5">
            <a:extLst>
              <a:ext uri="{FF2B5EF4-FFF2-40B4-BE49-F238E27FC236}">
                <a16:creationId xmlns:a16="http://schemas.microsoft.com/office/drawing/2014/main" id="{9BF950C2-A305-4F52-BCD0-A84295DC57F8}"/>
              </a:ext>
            </a:extLst>
          </p:cNvPr>
          <p:cNvSpPr txBox="1"/>
          <p:nvPr/>
        </p:nvSpPr>
        <p:spPr>
          <a:xfrm>
            <a:off x="5867400" y="2349500"/>
            <a:ext cx="457200" cy="381000"/>
          </a:xfrm>
          <a:prstGeom prst="rect">
            <a:avLst/>
          </a:prstGeom>
          <a:noFill/>
        </p:spPr>
        <p:txBody>
          <a:bodyPr vertOverflow="overflow" vert="horz" wrap="square" rtlCol="0" anchor="t">
            <a:spAutoFit/>
          </a:bodyPr>
          <a:lstStyle/>
          <a:p>
            <a:pPr algn="l"/>
            <a:r>
              <a:rPr lang="en-US" b="1">
                <a:solidFill>
                  <a:srgbClr val="FFD93D"/>
                </a:solidFill>
                <a:latin typeface="Segoe UI"/>
                <a:cs typeface="Segoe UI"/>
              </a:rPr>
              <a:t>vs</a:t>
            </a:r>
          </a:p>
        </p:txBody>
      </p:sp>
      <p:sp>
        <p:nvSpPr>
          <p:cNvPr id="7" name="직사각형 6">
            <a:extLst>
              <a:ext uri="{FF2B5EF4-FFF2-40B4-BE49-F238E27FC236}">
                <a16:creationId xmlns:a16="http://schemas.microsoft.com/office/drawing/2014/main" id="{C2373898-B3D2-4D8E-BE10-F873702B4A96}"/>
              </a:ext>
            </a:extLst>
          </p:cNvPr>
          <p:cNvSpPr/>
          <p:nvPr/>
        </p:nvSpPr>
        <p:spPr>
          <a:xfrm>
            <a:off x="6223000" y="1333500"/>
            <a:ext cx="5207000" cy="2540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3EAA34D1-8A77-4D8A-A8A1-1757C06157DF}"/>
              </a:ext>
            </a:extLst>
          </p:cNvPr>
          <p:cNvSpPr txBox="1"/>
          <p:nvPr/>
        </p:nvSpPr>
        <p:spPr>
          <a:xfrm>
            <a:off x="6477000" y="1397000"/>
            <a:ext cx="4699000" cy="2413000"/>
          </a:xfrm>
          <a:prstGeom prst="rect">
            <a:avLst/>
          </a:prstGeom>
          <a:noFill/>
        </p:spPr>
        <p:txBody>
          <a:bodyPr vertOverflow="overflow" vert="horz" wrap="square" rtlCol="0" anchor="t">
            <a:spAutoFit/>
          </a:bodyPr>
          <a:lstStyle/>
          <a:p>
            <a:r>
              <a:rPr lang="en-US" sz="1800" dirty="0">
                <a:solidFill>
                  <a:srgbClr val="C9D1D9"/>
                </a:solidFill>
                <a:latin typeface="Consolas"/>
              </a:rPr>
              <a:t>Via Type:</a:t>
            </a:r>
          </a:p>
          <a:p>
            <a:endParaRPr lang="en-US" sz="1800" dirty="0">
              <a:solidFill>
                <a:srgbClr val="C9D1D9"/>
              </a:solidFill>
              <a:latin typeface="Consolas"/>
            </a:endParaRPr>
          </a:p>
          <a:p>
            <a:r>
              <a:rPr lang="en-US" sz="1800" dirty="0">
                <a:solidFill>
                  <a:srgbClr val="FF7B72"/>
                </a:solidFill>
                <a:latin typeface="Consolas"/>
              </a:rPr>
              <a:t>interface </a:t>
            </a:r>
            <a:r>
              <a:rPr lang="en-US" sz="1800" dirty="0">
                <a:solidFill>
                  <a:srgbClr val="FFA657"/>
                </a:solidFill>
                <a:latin typeface="Consolas"/>
              </a:rPr>
              <a:t>IMember</a:t>
            </a:r>
            <a:r>
              <a:rPr lang="en-US" sz="1800" dirty="0">
                <a:solidFill>
                  <a:srgbClr val="C9D1D9"/>
                </a:solidFill>
                <a:latin typeface="Consolas"/>
              </a:rPr>
              <a:t> {</a:t>
            </a:r>
          </a:p>
          <a:p>
            <a:r>
              <a:rPr lang="en-US" sz="1800" dirty="0">
                <a:solidFill>
                  <a:srgbClr val="C9D1D9"/>
                </a:solidFill>
                <a:latin typeface="Consolas"/>
              </a:rPr>
              <a:t>  age: </a:t>
            </a:r>
            <a:r>
              <a:rPr lang="en-US" sz="1800" dirty="0">
                <a:solidFill>
                  <a:srgbClr val="79C0FF"/>
                </a:solidFill>
                <a:latin typeface="Consolas"/>
              </a:rPr>
              <a:t>number</a:t>
            </a:r>
          </a:p>
          <a:p>
            <a:r>
              <a:rPr lang="en-US" sz="1800" dirty="0">
                <a:solidFill>
                  <a:srgbClr val="C9D1D9"/>
                </a:solidFill>
                <a:latin typeface="Consolas"/>
              </a:rPr>
              <a:t>    </a:t>
            </a:r>
            <a:r>
              <a:rPr lang="en-US" sz="1800" dirty="0">
                <a:solidFill>
                  <a:srgbClr val="FF7B72"/>
                </a:solidFill>
                <a:latin typeface="Consolas"/>
              </a:rPr>
              <a:t>&amp;</a:t>
            </a:r>
            <a:r>
              <a:rPr lang="en-US" sz="1800" dirty="0">
                <a:solidFill>
                  <a:srgbClr val="C9D1D9"/>
                </a:solidFill>
                <a:latin typeface="Consolas"/>
              </a:rPr>
              <a:t> Type&lt;</a:t>
            </a:r>
            <a:r>
              <a:rPr lang="en-US" sz="1800" dirty="0">
                <a:solidFill>
                  <a:srgbClr val="A5D6FF"/>
                </a:solidFill>
                <a:latin typeface="Consolas"/>
              </a:rPr>
              <a:t>"uint32"</a:t>
            </a:r>
            <a:r>
              <a:rPr lang="en-US" sz="1800" dirty="0">
                <a:solidFill>
                  <a:srgbClr val="C9D1D9"/>
                </a:solidFill>
                <a:latin typeface="Consolas"/>
              </a:rPr>
              <a:t>&gt;</a:t>
            </a:r>
          </a:p>
          <a:p>
            <a:r>
              <a:rPr lang="en-US" sz="1800" dirty="0">
                <a:solidFill>
                  <a:srgbClr val="C9D1D9"/>
                </a:solidFill>
                <a:latin typeface="Consolas"/>
              </a:rPr>
              <a:t>    </a:t>
            </a:r>
            <a:r>
              <a:rPr lang="en-US" sz="1800" dirty="0">
                <a:solidFill>
                  <a:srgbClr val="FF7B72"/>
                </a:solidFill>
                <a:latin typeface="Consolas"/>
              </a:rPr>
              <a:t>&amp;</a:t>
            </a:r>
            <a:r>
              <a:rPr lang="en-US" sz="1800" dirty="0">
                <a:solidFill>
                  <a:srgbClr val="C9D1D9"/>
                </a:solidFill>
                <a:latin typeface="Consolas"/>
              </a:rPr>
              <a:t> ExclusiveMinimum&lt;</a:t>
            </a:r>
            <a:r>
              <a:rPr lang="en-US" sz="1800" dirty="0">
                <a:solidFill>
                  <a:srgbClr val="79C0FF"/>
                </a:solidFill>
                <a:latin typeface="Consolas"/>
              </a:rPr>
              <a:t>18</a:t>
            </a:r>
            <a:r>
              <a:rPr lang="en-US" sz="1800" dirty="0">
                <a:solidFill>
                  <a:srgbClr val="C9D1D9"/>
                </a:solidFill>
                <a:latin typeface="Consolas"/>
              </a:rPr>
              <a:t>&gt;;</a:t>
            </a:r>
          </a:p>
          <a:p>
            <a:r>
              <a:rPr lang="en-US" sz="1800" dirty="0">
                <a:solidFill>
                  <a:srgbClr val="C9D1D9"/>
                </a:solidFill>
                <a:latin typeface="Consolas"/>
              </a:rPr>
              <a:t>}</a:t>
            </a:r>
          </a:p>
          <a:p>
            <a:r>
              <a:rPr lang="en-US" sz="1800" dirty="0">
                <a:solidFill>
                  <a:srgbClr val="00D4AA"/>
                </a:solidFill>
                <a:latin typeface="Consolas"/>
              </a:rPr>
              <a:t>✓ Mechanically verifiable</a:t>
            </a:r>
          </a:p>
        </p:txBody>
      </p:sp>
      <p:sp>
        <p:nvSpPr>
          <p:cNvPr id="9" name="TextBox 8">
            <a:extLst>
              <a:ext uri="{FF2B5EF4-FFF2-40B4-BE49-F238E27FC236}">
                <a16:creationId xmlns:a16="http://schemas.microsoft.com/office/drawing/2014/main" id="{BAA76953-6C75-4482-B114-A82D258990A6}"/>
              </a:ext>
            </a:extLst>
          </p:cNvPr>
          <p:cNvSpPr txBox="1"/>
          <p:nvPr/>
        </p:nvSpPr>
        <p:spPr>
          <a:xfrm>
            <a:off x="1016000" y="4191000"/>
            <a:ext cx="10160000" cy="1016000"/>
          </a:xfrm>
          <a:prstGeom prst="rect">
            <a:avLst/>
          </a:prstGeom>
          <a:noFill/>
        </p:spPr>
        <p:txBody>
          <a:bodyPr vertOverflow="overflow" vert="horz" wrap="square" rtlCol="0" anchor="t">
            <a:spAutoFit/>
          </a:bodyPr>
          <a:lstStyle/>
          <a:p>
            <a:pPr algn="l"/>
            <a:r>
              <a:rPr lang="en-US" sz="1800" dirty="0">
                <a:solidFill>
                  <a:srgbClr val="D0D0D0"/>
                </a:solidFill>
                <a:latin typeface="Segoe UI"/>
              </a:rPr>
              <a:t>Problems with prompts:</a:t>
            </a:r>
          </a:p>
          <a:p>
            <a:pPr algn="l"/>
            <a:r>
              <a:rPr lang="en-US" sz="1800" dirty="0">
                <a:solidFill>
                  <a:srgbClr val="D0D0D0"/>
                </a:solidFill>
                <a:latin typeface="Segoe UI"/>
              </a:rPr>
              <a:t>▸ Is "</a:t>
            </a:r>
            <a:r>
              <a:rPr lang="en-US" sz="1800" dirty="0">
                <a:solidFill>
                  <a:srgbClr val="FF6B6B"/>
                </a:solidFill>
                <a:latin typeface="Consolas"/>
              </a:rPr>
              <a:t>&gt;18</a:t>
            </a:r>
            <a:r>
              <a:rPr lang="en-US" sz="1800" dirty="0">
                <a:solidFill>
                  <a:srgbClr val="D0D0D0"/>
                </a:solidFill>
                <a:latin typeface="Segoe UI"/>
              </a:rPr>
              <a:t>" or "</a:t>
            </a:r>
            <a:r>
              <a:rPr lang="en-US" sz="1800" dirty="0">
                <a:solidFill>
                  <a:srgbClr val="FF6B6B"/>
                </a:solidFill>
                <a:latin typeface="Consolas"/>
              </a:rPr>
              <a:t>≥18</a:t>
            </a:r>
            <a:r>
              <a:rPr lang="en-US" sz="1800" dirty="0">
                <a:solidFill>
                  <a:srgbClr val="D0D0D0"/>
                </a:solidFill>
                <a:latin typeface="Segoe UI"/>
              </a:rPr>
              <a:t>"? No way to verify</a:t>
            </a:r>
          </a:p>
          <a:p>
            <a:pPr algn="l"/>
            <a:r>
              <a:rPr lang="en-US" sz="1800" dirty="0">
                <a:solidFill>
                  <a:srgbClr val="D0D0D0"/>
                </a:solidFill>
                <a:latin typeface="Segoe UI"/>
              </a:rPr>
              <a:t>▸ </a:t>
            </a:r>
            <a:r>
              <a:rPr lang="en-US" sz="1800" dirty="0">
                <a:solidFill>
                  <a:srgbClr val="4EC9B0"/>
                </a:solidFill>
                <a:latin typeface="Consolas"/>
              </a:rPr>
              <a:t>ExclusiveMinimum&lt;18&gt;</a:t>
            </a:r>
            <a:r>
              <a:rPr lang="en-US" sz="1800" dirty="0">
                <a:solidFill>
                  <a:srgbClr val="D0D0D0"/>
                </a:solidFill>
                <a:latin typeface="Segoe UI"/>
              </a:rPr>
              <a:t> is unambiguous</a:t>
            </a:r>
          </a:p>
          <a:p>
            <a:pPr algn="l"/>
            <a:r>
              <a:rPr lang="en-US" sz="1800" dirty="0">
                <a:solidFill>
                  <a:srgbClr val="D0D0D0"/>
                </a:solidFill>
                <a:latin typeface="Segoe UI"/>
              </a:rPr>
              <a:t>▸ Rules multiply endlessly as schemas grow</a:t>
            </a:r>
          </a:p>
        </p:txBody>
      </p:sp>
      <p:sp>
        <p:nvSpPr>
          <p:cNvPr id="10" name="TextBox 9">
            <a:extLst>
              <a:ext uri="{FF2B5EF4-FFF2-40B4-BE49-F238E27FC236}">
                <a16:creationId xmlns:a16="http://schemas.microsoft.com/office/drawing/2014/main" id="{8B2BB0A1-F652-4E2E-82DA-E375CE6B4C24}"/>
              </a:ext>
            </a:extLst>
          </p:cNvPr>
          <p:cNvSpPr txBox="1"/>
          <p:nvPr/>
        </p:nvSpPr>
        <p:spPr>
          <a:xfrm>
            <a:off x="1016000" y="5461000"/>
            <a:ext cx="10160000" cy="635000"/>
          </a:xfrm>
          <a:prstGeom prst="rect">
            <a:avLst/>
          </a:prstGeom>
          <a:noFill/>
        </p:spPr>
        <p:txBody>
          <a:bodyPr vertOverflow="overflow" vert="horz" wrap="square" rtlCol="0" anchor="t">
            <a:spAutoFit/>
          </a:bodyPr>
          <a:lstStyle/>
          <a:p>
            <a:pPr algn="l"/>
            <a:r>
              <a:rPr lang="en-US" sz="2000" b="1">
                <a:solidFill>
                  <a:srgbClr val="FFD93D"/>
                </a:solidFill>
                <a:latin typeface="Segoe UI"/>
                <a:cs typeface="Segoe UI"/>
              </a:rPr>
              <a:t>ExclusiveMinimum&lt;18&gt; is &gt;18. It's an integer. It's required. No ambiguity.</a:t>
            </a:r>
          </a:p>
        </p:txBody>
      </p:sp>
    </p:spTree>
    <p:extLst>
      <p:ext uri="{BB962C8B-B14F-4D97-AF65-F5344CB8AC3E}">
        <p14:creationId xmlns:p14="http://schemas.microsoft.com/office/powerpoint/2010/main" val="1640329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The Pink Elephant Problem</a:t>
            </a:r>
          </a:p>
        </p:txBody>
      </p:sp>
      <p:sp>
        <p:nvSpPr>
          <p:cNvPr id="11" name="AL"/>
          <p:cNvSpPr/>
          <p:nvPr/>
        </p:nvSpPr>
        <p:spPr>
          <a:xfrm>
            <a:off x="762000" y="1041400"/>
            <a:ext cx="1524000" cy="38100"/>
          </a:xfrm>
          <a:prstGeom prst="rect">
            <a:avLst/>
          </a:prstGeom>
          <a:solidFill>
            <a:srgbClr val="6C5CE7"/>
          </a:solidFill>
          <a:ln>
            <a:noFill/>
          </a:ln>
        </p:spPr>
        <p:txBody>
          <a:bodyPr/>
          <a:lstStyle/>
          <a:p>
            <a:endParaRPr lang="en-US"/>
          </a:p>
        </p:txBody>
      </p:sp>
      <p:sp>
        <p:nvSpPr>
          <p:cNvPr id="20" name="Left"/>
          <p:cNvSpPr/>
          <p:nvPr/>
        </p:nvSpPr>
        <p:spPr>
          <a:xfrm>
            <a:off x="762000" y="1270000"/>
            <a:ext cx="5207000" cy="2413000"/>
          </a:xfrm>
          <a:prstGeom prst="roundRect">
            <a:avLst>
              <a:gd name="adj" fmla="val 6000"/>
            </a:avLst>
          </a:prstGeom>
          <a:solidFill>
            <a:srgbClr val="161B22"/>
          </a:solidFill>
          <a:ln w="12700">
            <a:solidFill>
              <a:srgbClr val="FF6B6B">
                <a:alpha val="50000"/>
              </a:srgbClr>
            </a:solidFill>
          </a:ln>
        </p:spPr>
        <p:txBody>
          <a:bodyPr wrap="square" lIns="190500" tIns="127000" rIns="190500" bIns="127000" anchor="t"/>
          <a:lstStyle/>
          <a:p>
            <a:pPr algn="l">
              <a:buNone/>
            </a:pPr>
            <a:r>
              <a:rPr lang="en-US" sz="2000" b="1" dirty="0">
                <a:solidFill>
                  <a:srgbClr val="FF6B6B"/>
                </a:solidFill>
                <a:latin typeface="Segoe UI Semibold"/>
              </a:rPr>
              <a:t>Prompts: Prohibition</a:t>
            </a:r>
          </a:p>
          <a:p>
            <a:pPr algn="l">
              <a:lnSpc>
                <a:spcPts val="2800"/>
              </a:lnSpc>
              <a:buNone/>
            </a:pPr>
            <a:r>
              <a:rPr lang="en-US" sz="1800" dirty="0">
                <a:solidFill>
                  <a:srgbClr val="A0A0A0"/>
                </a:solidFill>
                <a:latin typeface="Segoe UI"/>
              </a:rPr>
              <a:t>"Don't use the any type"</a:t>
            </a:r>
          </a:p>
          <a:p>
            <a:pPr algn="l">
              <a:lnSpc>
                <a:spcPts val="2800"/>
              </a:lnSpc>
              <a:buNone/>
            </a:pPr>
            <a:r>
              <a:rPr lang="en-US" sz="1800" dirty="0">
                <a:solidFill>
                  <a:srgbClr val="A0A0A0"/>
                </a:solidFill>
                <a:latin typeface="Segoe UI"/>
              </a:rPr>
              <a:t>"Don't create utility functions"</a:t>
            </a:r>
          </a:p>
          <a:p>
            <a:pPr algn="l">
              <a:lnSpc>
                <a:spcPts val="2800"/>
              </a:lnSpc>
              <a:buNone/>
            </a:pPr>
            <a:r>
              <a:rPr lang="en-US" sz="1800" dirty="0">
                <a:solidFill>
                  <a:srgbClr val="A0A0A0"/>
                </a:solidFill>
                <a:latin typeface="Segoe UI"/>
              </a:rPr>
              <a:t>"Don't create circular deps"</a:t>
            </a:r>
          </a:p>
        </p:txBody>
      </p:sp>
      <p:sp>
        <p:nvSpPr>
          <p:cNvPr id="21" name="Right"/>
          <p:cNvSpPr/>
          <p:nvPr/>
        </p:nvSpPr>
        <p:spPr>
          <a:xfrm>
            <a:off x="6223000" y="1270000"/>
            <a:ext cx="5207000" cy="2413000"/>
          </a:xfrm>
          <a:prstGeom prst="roundRect">
            <a:avLst>
              <a:gd name="adj" fmla="val 6000"/>
            </a:avLst>
          </a:prstGeom>
          <a:solidFill>
            <a:srgbClr val="161B22"/>
          </a:solidFill>
          <a:ln w="12700">
            <a:solidFill>
              <a:srgbClr val="00D4AA">
                <a:alpha val="50000"/>
              </a:srgbClr>
            </a:solidFill>
          </a:ln>
        </p:spPr>
        <p:txBody>
          <a:bodyPr wrap="square" lIns="190500" tIns="127000" rIns="190500" bIns="127000" anchor="t"/>
          <a:lstStyle/>
          <a:p>
            <a:pPr algn="l">
              <a:buNone/>
            </a:pPr>
            <a:r>
              <a:rPr lang="en-US" sz="2000" b="1" dirty="0">
                <a:solidFill>
                  <a:srgbClr val="00D4AA"/>
                </a:solidFill>
                <a:latin typeface="Segoe UI Semibold"/>
              </a:rPr>
              <a:t>Schemas: Absence</a:t>
            </a:r>
          </a:p>
          <a:p>
            <a:pPr algn="l">
              <a:lnSpc>
                <a:spcPts val="2800"/>
              </a:lnSpc>
              <a:buNone/>
            </a:pPr>
            <a:r>
              <a:rPr lang="en-US" sz="1800" dirty="0">
                <a:solidFill>
                  <a:srgbClr val="D0D0D0"/>
                </a:solidFill>
                <a:latin typeface="Segoe UI"/>
              </a:rPr>
              <a:t>No slot for any → can't generate it</a:t>
            </a:r>
          </a:p>
          <a:p>
            <a:pPr algn="l">
              <a:lnSpc>
                <a:spcPts val="2800"/>
              </a:lnSpc>
              <a:buNone/>
            </a:pPr>
            <a:r>
              <a:rPr lang="en-US" sz="1800" dirty="0">
                <a:solidFill>
                  <a:srgbClr val="D0D0D0"/>
                </a:solidFill>
                <a:latin typeface="Segoe UI"/>
              </a:rPr>
              <a:t>No utility function slot → impossible</a:t>
            </a:r>
          </a:p>
          <a:p>
            <a:pPr algn="l">
              <a:lnSpc>
                <a:spcPts val="2800"/>
              </a:lnSpc>
              <a:buNone/>
            </a:pPr>
            <a:r>
              <a:rPr lang="en-US" sz="1800" dirty="0">
                <a:solidFill>
                  <a:srgbClr val="D0D0D0"/>
                </a:solidFill>
                <a:latin typeface="Segoe UI"/>
              </a:rPr>
              <a:t>7 enum values → only valid types</a:t>
            </a:r>
          </a:p>
        </p:txBody>
      </p:sp>
      <p:sp>
        <p:nvSpPr>
          <p:cNvPr id="30" name="Insight"/>
          <p:cNvSpPr/>
          <p:nvPr/>
        </p:nvSpPr>
        <p:spPr>
          <a:xfrm>
            <a:off x="1016000" y="4064000"/>
            <a:ext cx="10160000" cy="1778000"/>
          </a:xfrm>
          <a:prstGeom prst="rect">
            <a:avLst/>
          </a:prstGeom>
          <a:noFill/>
          <a:ln>
            <a:noFill/>
          </a:ln>
        </p:spPr>
        <p:txBody>
          <a:bodyPr wrap="square" lIns="0" tIns="0" rIns="0" bIns="0" anchor="t"/>
          <a:lstStyle/>
          <a:p>
            <a:pPr algn="ctr">
              <a:lnSpc>
                <a:spcPts val="3400"/>
              </a:lnSpc>
            </a:pPr>
            <a:r>
              <a:rPr lang="en-US" sz="2200" dirty="0">
                <a:solidFill>
                  <a:srgbClr val="D0D0D0"/>
                </a:solidFill>
                <a:latin typeface="Segoe UI"/>
              </a:rPr>
              <a:t>"Don't think of a pink elephant."</a:t>
            </a:r>
          </a:p>
          <a:p>
            <a:pPr algn="ctr">
              <a:lnSpc>
                <a:spcPts val="3400"/>
              </a:lnSpc>
            </a:pPr>
            <a:r>
              <a:rPr lang="en-US" sz="2200" dirty="0">
                <a:solidFill>
                  <a:srgbClr val="D0D0D0"/>
                </a:solidFill>
                <a:latin typeface="Segoe UI"/>
              </a:rPr>
              <a:t>Telling an LLM "don't do X" puts X at center of attention.</a:t>
            </a:r>
          </a:p>
          <a:p>
            <a:pPr algn="ctr">
              <a:lnSpc>
                <a:spcPts val="3400"/>
              </a:lnSpc>
            </a:pPr>
            <a:r>
              <a:rPr lang="en-US" sz="2200" b="1" dirty="0">
                <a:solidFill>
                  <a:srgbClr val="00D4AA"/>
                </a:solidFill>
                <a:latin typeface="Segoe UI Semibold"/>
              </a:rPr>
              <a:t>With schemas, unwanted outputs are structurally impossible.</a:t>
            </a:r>
          </a:p>
        </p:txBody>
      </p:sp>
    </p:spTree>
    <p:extLst>
      <p:ext uri="{BB962C8B-B14F-4D97-AF65-F5344CB8AC3E}">
        <p14:creationId xmlns:p14="http://schemas.microsoft.com/office/powerpoint/2010/main" val="36749155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E887F9-64B5-4E27-8689-D2FDBC37FEA8}"/>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Absence &gt; Prohibition</a:t>
            </a:r>
          </a:p>
        </p:txBody>
      </p:sp>
      <p:sp>
        <p:nvSpPr>
          <p:cNvPr id="3" name="직사각형 2">
            <a:extLst>
              <a:ext uri="{FF2B5EF4-FFF2-40B4-BE49-F238E27FC236}">
                <a16:creationId xmlns:a16="http://schemas.microsoft.com/office/drawing/2014/main" id="{D3FE4E06-27DC-42D1-8C5E-DE2B15457BD9}"/>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76F02EB6-20C4-4612-9D96-3F81D7DAC134}"/>
              </a:ext>
            </a:extLst>
          </p:cNvPr>
          <p:cNvSpPr/>
          <p:nvPr/>
        </p:nvSpPr>
        <p:spPr>
          <a:xfrm>
            <a:off x="762000" y="1397000"/>
            <a:ext cx="5207000" cy="1143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9E5ABE4A-02EC-40D8-895C-6B251796CDE0}"/>
              </a:ext>
            </a:extLst>
          </p:cNvPr>
          <p:cNvSpPr txBox="1"/>
          <p:nvPr/>
        </p:nvSpPr>
        <p:spPr>
          <a:xfrm>
            <a:off x="1016000" y="1460500"/>
            <a:ext cx="10160000" cy="1016000"/>
          </a:xfrm>
          <a:prstGeom prst="rect">
            <a:avLst/>
          </a:prstGeom>
          <a:noFill/>
        </p:spPr>
        <p:txBody>
          <a:bodyPr vertOverflow="overflow" vert="horz" wrap="square" rtlCol="0" anchor="t">
            <a:spAutoFit/>
          </a:bodyPr>
          <a:lstStyle/>
          <a:p>
            <a:pPr algn="l"/>
            <a:r>
              <a:rPr lang="en-US" sz="1800" dirty="0">
                <a:solidFill>
                  <a:srgbClr val="D0D0D0"/>
                </a:solidFill>
                <a:latin typeface="Segoe UI"/>
              </a:rPr>
              <a:t>Prompt: "Don't use the </a:t>
            </a:r>
            <a:r>
              <a:rPr lang="en-US" sz="1800" dirty="0">
                <a:solidFill>
                  <a:srgbClr val="FF6B6B"/>
                </a:solidFill>
                <a:latin typeface="Consolas"/>
              </a:rPr>
              <a:t>any</a:t>
            </a:r>
            <a:r>
              <a:rPr lang="en-US" sz="1800" dirty="0">
                <a:solidFill>
                  <a:srgbClr val="D0D0D0"/>
                </a:solidFill>
                <a:latin typeface="Segoe UI"/>
              </a:rPr>
              <a:t> type"</a:t>
            </a:r>
          </a:p>
          <a:p>
            <a:pPr algn="l"/>
            <a:r>
              <a:rPr lang="en-US" sz="1800" dirty="0">
                <a:solidFill>
                  <a:srgbClr val="D0D0D0"/>
                </a:solidFill>
                <a:latin typeface="Segoe UI"/>
              </a:rPr>
              <a:t>Schema: </a:t>
            </a:r>
            <a:r>
              <a:rPr lang="en-US" sz="1800" dirty="0">
                <a:solidFill>
                  <a:srgbClr val="CE9178"/>
                </a:solidFill>
                <a:latin typeface="Consolas"/>
              </a:rPr>
              <a:t>"boolean"</a:t>
            </a:r>
            <a:r>
              <a:rPr lang="en-US" sz="1800" dirty="0">
                <a:solidFill>
                  <a:srgbClr val="C586C0"/>
                </a:solidFill>
                <a:latin typeface="Consolas"/>
              </a:rPr>
              <a:t> | </a:t>
            </a:r>
            <a:r>
              <a:rPr lang="en-US" sz="1800" dirty="0">
                <a:solidFill>
                  <a:srgbClr val="CE9178"/>
                </a:solidFill>
                <a:latin typeface="Consolas"/>
              </a:rPr>
              <a:t>"int"</a:t>
            </a:r>
            <a:r>
              <a:rPr lang="en-US" sz="1800" dirty="0">
                <a:solidFill>
                  <a:srgbClr val="C586C0"/>
                </a:solidFill>
                <a:latin typeface="Consolas"/>
              </a:rPr>
              <a:t> | </a:t>
            </a:r>
            <a:r>
              <a:rPr lang="en-US" sz="1800" dirty="0">
                <a:solidFill>
                  <a:srgbClr val="CE9178"/>
                </a:solidFill>
                <a:latin typeface="Consolas"/>
              </a:rPr>
              <a:t>"string"</a:t>
            </a:r>
            <a:r>
              <a:rPr lang="en-US" sz="1800" dirty="0">
                <a:solidFill>
                  <a:srgbClr val="C586C0"/>
                </a:solidFill>
                <a:latin typeface="Consolas"/>
              </a:rPr>
              <a:t> | </a:t>
            </a:r>
            <a:r>
              <a:rPr lang="en-US" sz="1800" dirty="0">
                <a:solidFill>
                  <a:srgbClr val="CE9178"/>
                </a:solidFill>
                <a:latin typeface="Consolas"/>
              </a:rPr>
              <a:t>...</a:t>
            </a:r>
          </a:p>
        </p:txBody>
      </p:sp>
      <p:sp>
        <p:nvSpPr>
          <p:cNvPr id="6" name="직사각형 5">
            <a:extLst>
              <a:ext uri="{FF2B5EF4-FFF2-40B4-BE49-F238E27FC236}">
                <a16:creationId xmlns:a16="http://schemas.microsoft.com/office/drawing/2014/main" id="{5215888A-A9E2-47AD-A383-5181144DEC0C}"/>
              </a:ext>
            </a:extLst>
          </p:cNvPr>
          <p:cNvSpPr/>
          <p:nvPr/>
        </p:nvSpPr>
        <p:spPr>
          <a:xfrm>
            <a:off x="762000" y="2667000"/>
            <a:ext cx="5207000" cy="1143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AF059E05-9961-4529-A7E3-31A952E0A6A4}"/>
              </a:ext>
            </a:extLst>
          </p:cNvPr>
          <p:cNvSpPr txBox="1"/>
          <p:nvPr/>
        </p:nvSpPr>
        <p:spPr>
          <a:xfrm>
            <a:off x="1016000" y="2730500"/>
            <a:ext cx="10160000" cy="1016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Prompt: "Don't create utility functions"
Schema: No slot for utility functions
in the schema</a:t>
            </a:r>
          </a:p>
        </p:txBody>
      </p:sp>
      <p:sp>
        <p:nvSpPr>
          <p:cNvPr id="8" name="직사각형 7">
            <a:extLst>
              <a:ext uri="{FF2B5EF4-FFF2-40B4-BE49-F238E27FC236}">
                <a16:creationId xmlns:a16="http://schemas.microsoft.com/office/drawing/2014/main" id="{15023427-6B1C-4AAA-A9D4-792FCCC4656E}"/>
              </a:ext>
            </a:extLst>
          </p:cNvPr>
          <p:cNvSpPr/>
          <p:nvPr/>
        </p:nvSpPr>
        <p:spPr>
          <a:xfrm>
            <a:off x="762000" y="3937000"/>
            <a:ext cx="5207000" cy="1143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A250181A-764D-4392-81BF-7A458DB442CB}"/>
              </a:ext>
            </a:extLst>
          </p:cNvPr>
          <p:cNvSpPr txBox="1"/>
          <p:nvPr/>
        </p:nvSpPr>
        <p:spPr>
          <a:xfrm>
            <a:off x="1016000" y="4000500"/>
            <a:ext cx="10160000" cy="1016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Prompt: "Don't use varchar"
Schema: 7 allowed types
— varchar isn't one of them</a:t>
            </a:r>
          </a:p>
        </p:txBody>
      </p:sp>
      <p:sp>
        <p:nvSpPr>
          <p:cNvPr id="10" name="TextBox 9">
            <a:extLst>
              <a:ext uri="{FF2B5EF4-FFF2-40B4-BE49-F238E27FC236}">
                <a16:creationId xmlns:a16="http://schemas.microsoft.com/office/drawing/2014/main" id="{EB168098-F64F-4380-88E4-28C6D190F71D}"/>
              </a:ext>
            </a:extLst>
          </p:cNvPr>
          <p:cNvSpPr txBox="1"/>
          <p:nvPr/>
        </p:nvSpPr>
        <p:spPr>
          <a:xfrm>
            <a:off x="1016000" y="5461000"/>
            <a:ext cx="10160000" cy="762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Prompts forbid what you don't want.
Schemas only permit what you do.</a:t>
            </a:r>
          </a:p>
        </p:txBody>
      </p:sp>
    </p:spTree>
    <p:extLst>
      <p:ext uri="{BB962C8B-B14F-4D97-AF65-F5344CB8AC3E}">
        <p14:creationId xmlns:p14="http://schemas.microsoft.com/office/powerpoint/2010/main" val="15782262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AE69AB-5223-4476-8CD1-8A48324AA6DF}"/>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Model Neutrality</a:t>
            </a:r>
          </a:p>
        </p:txBody>
      </p:sp>
      <p:sp>
        <p:nvSpPr>
          <p:cNvPr id="3" name="직사각형 2">
            <a:extLst>
              <a:ext uri="{FF2B5EF4-FFF2-40B4-BE49-F238E27FC236}">
                <a16:creationId xmlns:a16="http://schemas.microsoft.com/office/drawing/2014/main" id="{9CD5B1CC-9D02-4890-888F-90DB37E4AF50}"/>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A9881953-93B4-4BFA-8E50-2A46C12D0D17}"/>
              </a:ext>
            </a:extLst>
          </p:cNvPr>
          <p:cNvSpPr txBox="1"/>
          <p:nvPr/>
        </p:nvSpPr>
        <p:spPr>
          <a:xfrm>
            <a:off x="1016000" y="1397000"/>
            <a:ext cx="10160000" cy="2286000"/>
          </a:xfrm>
          <a:prstGeom prst="rect">
            <a:avLst/>
          </a:prstGeom>
          <a:noFill/>
        </p:spPr>
        <p:txBody>
          <a:bodyPr vertOverflow="overflow" vert="horz" wrap="square" rtlCol="0" anchor="t">
            <a:spAutoFit/>
          </a:bodyPr>
          <a:lstStyle/>
          <a:p>
            <a:pPr algn="l"/>
            <a:r>
              <a:rPr lang="en-US" sz="2000">
                <a:solidFill>
                  <a:srgbClr val="D0D0D0"/>
                </a:solidFill>
                <a:latin typeface="Segoe UI"/>
                <a:cs typeface="Segoe UI"/>
              </a:rPr>
              <a:t>▸ Prompt engineering is model-dependent — rewrite for each model
▸ JSON Schema means the same thing to every model
▸ Validation feedback absorbs performance differences
▸ Strong model: 1–2 retries. Weak model: 3–4. Both → 100%
▸ AutoBe runs GPT, Claude, Qwen, DeepSeek on same schemas</a:t>
            </a:r>
          </a:p>
        </p:txBody>
      </p:sp>
      <p:sp>
        <p:nvSpPr>
          <p:cNvPr id="5" name="TextBox 4">
            <a:extLst>
              <a:ext uri="{FF2B5EF4-FFF2-40B4-BE49-F238E27FC236}">
                <a16:creationId xmlns:a16="http://schemas.microsoft.com/office/drawing/2014/main" id="{FE342DE6-D393-41A9-8212-672CF4472F8D}"/>
              </a:ext>
            </a:extLst>
          </p:cNvPr>
          <p:cNvSpPr txBox="1"/>
          <p:nvPr/>
        </p:nvSpPr>
        <p:spPr>
          <a:xfrm>
            <a:off x="1016000" y="3937000"/>
            <a:ext cx="10160000" cy="635000"/>
          </a:xfrm>
          <a:prstGeom prst="rect">
            <a:avLst/>
          </a:prstGeom>
          <a:noFill/>
        </p:spPr>
        <p:txBody>
          <a:bodyPr vertOverflow="overflow" vert="horz" wrap="square" rtlCol="0" anchor="t">
            <a:spAutoFit/>
          </a:bodyPr>
          <a:lstStyle/>
          <a:p>
            <a:pPr algn="l"/>
            <a:r>
              <a:rPr lang="en-US" sz="2400" b="1">
                <a:solidFill>
                  <a:srgbClr val="FFD93D"/>
                </a:solidFill>
                <a:latin typeface="Segoe UI Semibold"/>
                <a:cs typeface="Segoe UI Semibold"/>
              </a:rPr>
              <a:t>No model-specific prompt tuning. Ever.</a:t>
            </a:r>
          </a:p>
        </p:txBody>
      </p:sp>
      <p:sp>
        <p:nvSpPr>
          <p:cNvPr id="6" name="TextBox 5">
            <a:extLst>
              <a:ext uri="{FF2B5EF4-FFF2-40B4-BE49-F238E27FC236}">
                <a16:creationId xmlns:a16="http://schemas.microsoft.com/office/drawing/2014/main" id="{DAD6B26A-72A4-4B08-AE20-7C9C5C659FE1}"/>
              </a:ext>
            </a:extLst>
          </p:cNvPr>
          <p:cNvSpPr txBox="1"/>
          <p:nvPr/>
        </p:nvSpPr>
        <p:spPr>
          <a:xfrm>
            <a:off x="1016000" y="4826000"/>
            <a:ext cx="10160000" cy="381000"/>
          </a:xfrm>
          <a:prstGeom prst="rect">
            <a:avLst/>
          </a:prstGeom>
          <a:noFill/>
        </p:spPr>
        <p:txBody>
          <a:bodyPr vertOverflow="overflow" vert="horz" wrap="square" rtlCol="0" anchor="t">
            <a:spAutoFit/>
          </a:bodyPr>
          <a:lstStyle/>
          <a:p>
            <a:pPr algn="l"/>
            <a:r>
              <a:rPr lang="en-US" b="1">
                <a:solidFill>
                  <a:srgbClr val="F0F0F0"/>
                </a:solidFill>
                <a:latin typeface="Segoe UI"/>
                <a:cs typeface="Segoe UI"/>
              </a:rPr>
              <a:t>Model selection changes from:</a:t>
            </a:r>
          </a:p>
        </p:txBody>
      </p:sp>
      <p:sp>
        <p:nvSpPr>
          <p:cNvPr id="7" name="TextBox 6">
            <a:extLst>
              <a:ext uri="{FF2B5EF4-FFF2-40B4-BE49-F238E27FC236}">
                <a16:creationId xmlns:a16="http://schemas.microsoft.com/office/drawing/2014/main" id="{33AB0BDA-13ED-4861-8BE0-4F7A91F0438D}"/>
              </a:ext>
            </a:extLst>
          </p:cNvPr>
          <p:cNvSpPr txBox="1"/>
          <p:nvPr/>
        </p:nvSpPr>
        <p:spPr>
          <a:xfrm>
            <a:off x="1270000" y="5270500"/>
            <a:ext cx="9652000" cy="1016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"Can this model do this task?" (capability question)
→ "Which model is most cost-effective?" (optimization problem)
Cost = avg retries × tokens/attempt × cost/token</a:t>
            </a:r>
          </a:p>
        </p:txBody>
      </p:sp>
    </p:spTree>
    <p:extLst>
      <p:ext uri="{BB962C8B-B14F-4D97-AF65-F5344CB8AC3E}">
        <p14:creationId xmlns:p14="http://schemas.microsoft.com/office/powerpoint/2010/main" val="11780368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5A99C9-735E-49EF-8E23-81749E2BF20F}"/>
              </a:ext>
            </a:extLst>
          </p:cNvPr>
          <p:cNvSpPr txBox="1"/>
          <p:nvPr/>
        </p:nvSpPr>
        <p:spPr>
          <a:xfrm>
            <a:off x="1016000" y="762000"/>
            <a:ext cx="10160000" cy="2286000"/>
          </a:xfrm>
          <a:prstGeom prst="rect">
            <a:avLst/>
          </a:prstGeom>
          <a:noFill/>
        </p:spPr>
        <p:txBody>
          <a:bodyPr vertOverflow="overflow" vert="horz" wrap="square" rtlCol="0" anchor="t">
            <a:spAutoFit/>
          </a:bodyPr>
          <a:lstStyle/>
          <a:p>
            <a:pPr algn="l"/>
            <a:r>
              <a:rPr lang="en-US" sz="3600" b="1">
                <a:solidFill>
                  <a:srgbClr val="F0F0F0"/>
                </a:solidFill>
                <a:latin typeface="Segoe UI Semibold"/>
                <a:cs typeface="Segoe UI Semibold"/>
              </a:rPr>
              <a:t>Type Schema
+ Deterministic Validator
+ Structured Feedback</a:t>
            </a:r>
          </a:p>
        </p:txBody>
      </p:sp>
      <p:sp>
        <p:nvSpPr>
          <p:cNvPr id="3" name="직사각형 2">
            <a:extLst>
              <a:ext uri="{FF2B5EF4-FFF2-40B4-BE49-F238E27FC236}">
                <a16:creationId xmlns:a16="http://schemas.microsoft.com/office/drawing/2014/main" id="{A327D527-AFF8-4765-832C-BDB3DE8DEA89}"/>
              </a:ext>
            </a:extLst>
          </p:cNvPr>
          <p:cNvSpPr/>
          <p:nvPr/>
        </p:nvSpPr>
        <p:spPr>
          <a:xfrm>
            <a:off x="4826000" y="33020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569620EE-EA85-4077-BED6-97B41FABFE9D}"/>
              </a:ext>
            </a:extLst>
          </p:cNvPr>
          <p:cNvSpPr txBox="1"/>
          <p:nvPr/>
        </p:nvSpPr>
        <p:spPr>
          <a:xfrm>
            <a:off x="1016000" y="3619500"/>
            <a:ext cx="10160000" cy="1016000"/>
          </a:xfrm>
          <a:prstGeom prst="rect">
            <a:avLst/>
          </a:prstGeom>
          <a:noFill/>
        </p:spPr>
        <p:txBody>
          <a:bodyPr vertOverflow="overflow" vert="horz" wrap="square" rtlCol="0" anchor="t">
            <a:spAutoFit/>
          </a:bodyPr>
          <a:lstStyle/>
          <a:p>
            <a:pPr algn="l"/>
            <a:r>
              <a:rPr lang="en-US" sz="2200">
                <a:solidFill>
                  <a:srgbClr val="D0D0D0"/>
                </a:solidFill>
                <a:latin typeface="Segoe UI"/>
                <a:cs typeface="Segoe UI"/>
              </a:rPr>
              <a:t>Prompt engineering tries to make the probabilistic part reliable.
The harness makes the deterministic part airtight.</a:t>
            </a:r>
          </a:p>
        </p:txBody>
      </p:sp>
      <p:sp>
        <p:nvSpPr>
          <p:cNvPr id="5" name="TextBox 4">
            <a:extLst>
              <a:ext uri="{FF2B5EF4-FFF2-40B4-BE49-F238E27FC236}">
                <a16:creationId xmlns:a16="http://schemas.microsoft.com/office/drawing/2014/main" id="{65E653C0-840E-4963-A2BE-A333C8D69DD4}"/>
              </a:ext>
            </a:extLst>
          </p:cNvPr>
          <p:cNvSpPr txBox="1"/>
          <p:nvPr/>
        </p:nvSpPr>
        <p:spPr>
          <a:xfrm>
            <a:off x="1016000" y="5016500"/>
            <a:ext cx="10160000" cy="1016000"/>
          </a:xfrm>
          <a:prstGeom prst="rect">
            <a:avLst/>
          </a:prstGeom>
          <a:noFill/>
        </p:spPr>
        <p:txBody>
          <a:bodyPr vertOverflow="overflow" vert="horz" wrap="square" rtlCol="0" anchor="t">
            <a:spAutoFit/>
          </a:bodyPr>
          <a:lstStyle/>
          <a:p>
            <a:pPr algn="l"/>
            <a:r>
              <a:rPr lang="en-US" sz="2800" b="1">
                <a:solidFill>
                  <a:srgbClr val="FFD93D"/>
                </a:solidFill>
                <a:latin typeface="Segoe UI Semibold"/>
                <a:cs typeface="Segoe UI Semibold"/>
              </a:rPr>
              <a:t>In domains that demand precision:
6.75% → 100%</a:t>
            </a:r>
          </a:p>
        </p:txBody>
      </p:sp>
    </p:spTree>
    <p:extLst>
      <p:ext uri="{BB962C8B-B14F-4D97-AF65-F5344CB8AC3E}">
        <p14:creationId xmlns:p14="http://schemas.microsoft.com/office/powerpoint/2010/main" val="12803678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0EABF3-3763-4E9E-8F56-3942764BA1DE}"/>
              </a:ext>
            </a:extLst>
          </p:cNvPr>
          <p:cNvSpPr txBox="1"/>
          <p:nvPr/>
        </p:nvSpPr>
        <p:spPr>
          <a:xfrm>
            <a:off x="1016000" y="762000"/>
            <a:ext cx="10160000" cy="3048000"/>
          </a:xfrm>
          <a:prstGeom prst="rect">
            <a:avLst/>
          </a:prstGeom>
          <a:noFill/>
        </p:spPr>
        <p:txBody>
          <a:bodyPr vertOverflow="overflow" vert="horz" wrap="square" rtlCol="0" anchor="t">
            <a:spAutoFit/>
          </a:bodyPr>
          <a:lstStyle/>
          <a:p>
            <a:pPr algn="l"/>
            <a:r>
              <a:rPr lang="en-US" sz="3600" b="1">
                <a:solidFill>
                  <a:srgbClr val="F0F0F0"/>
                </a:solidFill>
                <a:latin typeface="Segoe UI Semibold"/>
                <a:cs typeface="Segoe UI Semibold"/>
              </a:rPr>
              <a:t>"The LLM doesn't need
to be accurate.
It just needs to be
harnessed."</a:t>
            </a:r>
          </a:p>
        </p:txBody>
      </p:sp>
      <p:sp>
        <p:nvSpPr>
          <p:cNvPr id="3" name="직사각형 2">
            <a:extLst>
              <a:ext uri="{FF2B5EF4-FFF2-40B4-BE49-F238E27FC236}">
                <a16:creationId xmlns:a16="http://schemas.microsoft.com/office/drawing/2014/main" id="{056E6851-2FA3-4491-9746-984C2C0AF739}"/>
              </a:ext>
            </a:extLst>
          </p:cNvPr>
          <p:cNvSpPr/>
          <p:nvPr/>
        </p:nvSpPr>
        <p:spPr>
          <a:xfrm>
            <a:off x="4826000" y="40640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12785FE-95CA-48BE-AE33-B01C771A0F44}"/>
              </a:ext>
            </a:extLst>
          </p:cNvPr>
          <p:cNvSpPr txBox="1"/>
          <p:nvPr/>
        </p:nvSpPr>
        <p:spPr>
          <a:xfrm>
            <a:off x="1016000" y="4381500"/>
            <a:ext cx="10160000" cy="1016000"/>
          </a:xfrm>
          <a:prstGeom prst="rect">
            <a:avLst/>
          </a:prstGeom>
          <a:noFill/>
        </p:spPr>
        <p:txBody>
          <a:bodyPr vertOverflow="overflow" vert="horz" wrap="square" rtlCol="0" anchor="t">
            <a:spAutoFit/>
          </a:bodyPr>
          <a:lstStyle/>
          <a:p>
            <a:pPr algn="l"/>
            <a:r>
              <a:rPr lang="en-US" sz="2200">
                <a:solidFill>
                  <a:srgbClr val="D0D0D0"/>
                </a:solidFill>
                <a:latin typeface="Segoe UI"/>
                <a:cs typeface="Segoe UI"/>
              </a:rPr>
              <a:t>Correctability is not a property of the model —
it's a property of the validation infrastructure.</a:t>
            </a:r>
          </a:p>
        </p:txBody>
      </p:sp>
    </p:spTree>
    <p:extLst>
      <p:ext uri="{BB962C8B-B14F-4D97-AF65-F5344CB8AC3E}">
        <p14:creationId xmlns:p14="http://schemas.microsoft.com/office/powerpoint/2010/main" val="25868752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The Core: Verifiability</a:t>
            </a:r>
          </a:p>
        </p:txBody>
      </p:sp>
      <p:sp>
        <p:nvSpPr>
          <p:cNvPr id="11" name="AL"/>
          <p:cNvSpPr/>
          <p:nvPr/>
        </p:nvSpPr>
        <p:spPr>
          <a:xfrm>
            <a:off x="762000" y="1041400"/>
            <a:ext cx="1524000" cy="38100"/>
          </a:xfrm>
          <a:prstGeom prst="rect">
            <a:avLst/>
          </a:prstGeom>
          <a:solidFill>
            <a:srgbClr val="6C5CE7"/>
          </a:solidFill>
          <a:ln>
            <a:noFill/>
          </a:ln>
        </p:spPr>
        <p:txBody>
          <a:bodyPr/>
          <a:lstStyle/>
          <a:p>
            <a:endParaRPr lang="en-US"/>
          </a:p>
        </p:txBody>
      </p:sp>
      <p:sp>
        <p:nvSpPr>
          <p:cNvPr id="20" name="P0"/>
          <p:cNvSpPr/>
          <p:nvPr/>
        </p:nvSpPr>
        <p:spPr>
          <a:xfrm>
            <a:off x="1016000" y="1397000"/>
            <a:ext cx="10160000" cy="889000"/>
          </a:xfrm>
          <a:prstGeom prst="roundRect">
            <a:avLst>
              <a:gd name="adj" fmla="val 8000"/>
            </a:avLst>
          </a:prstGeom>
          <a:solidFill>
            <a:srgbClr val="161B22"/>
          </a:solidFill>
          <a:ln w="12700">
            <a:solidFill>
              <a:srgbClr val="00D4AA">
                <a:alpha val="40000"/>
              </a:srgbClr>
            </a:solidFill>
          </a:ln>
        </p:spPr>
        <p:txBody>
          <a:bodyPr wrap="square" lIns="190500" tIns="101600" rIns="190500" bIns="101600" anchor="ctr"/>
          <a:lstStyle/>
          <a:p>
            <a:pPr algn="l">
              <a:buNone/>
            </a:pPr>
            <a:r>
              <a:rPr lang="en-US" sz="2200" b="1" dirty="0">
                <a:solidFill>
                  <a:srgbClr val="00D4AA"/>
                </a:solidFill>
                <a:latin typeface="Segoe UI Semibold"/>
              </a:rPr>
              <a:t>Validation is deterministic</a:t>
            </a:r>
          </a:p>
          <a:p>
            <a:pPr algn="l">
              <a:buNone/>
            </a:pPr>
            <a:r>
              <a:rPr lang="en-US" sz="1800" dirty="0">
                <a:solidFill>
                  <a:srgbClr val="A0A0A0"/>
                </a:solidFill>
                <a:latin typeface="Segoe UI"/>
              </a:rPr>
              <a:t>JSON Schema validation = clear pass/fail</a:t>
            </a:r>
          </a:p>
        </p:txBody>
      </p:sp>
      <p:sp>
        <p:nvSpPr>
          <p:cNvPr id="21" name="P1"/>
          <p:cNvSpPr/>
          <p:nvPr/>
        </p:nvSpPr>
        <p:spPr>
          <a:xfrm>
            <a:off x="1016000" y="2476500"/>
            <a:ext cx="10160000" cy="889000"/>
          </a:xfrm>
          <a:prstGeom prst="roundRect">
            <a:avLst>
              <a:gd name="adj" fmla="val 8000"/>
            </a:avLst>
          </a:prstGeom>
          <a:solidFill>
            <a:srgbClr val="161B22"/>
          </a:solidFill>
          <a:ln w="12700">
            <a:solidFill>
              <a:srgbClr val="FFD93D">
                <a:alpha val="40000"/>
              </a:srgbClr>
            </a:solidFill>
          </a:ln>
        </p:spPr>
        <p:txBody>
          <a:bodyPr wrap="square" lIns="190500" tIns="101600" rIns="190500" bIns="101600" anchor="ctr"/>
          <a:lstStyle/>
          <a:p>
            <a:pPr algn="l">
              <a:buNone/>
            </a:pPr>
            <a:r>
              <a:rPr lang="en-US" sz="2200" b="1" dirty="0">
                <a:solidFill>
                  <a:srgbClr val="FFD93D"/>
                </a:solidFill>
                <a:latin typeface="Segoe UI Semibold"/>
              </a:rPr>
              <a:t>Feedback is precise</a:t>
            </a:r>
          </a:p>
          <a:p>
            <a:pPr algn="l">
              <a:buNone/>
            </a:pPr>
            <a:r>
              <a:rPr lang="en-US" sz="1800" dirty="0">
                <a:solidFill>
                  <a:srgbClr val="A0A0A0"/>
                </a:solidFill>
                <a:latin typeface="Segoe UI"/>
              </a:rPr>
              <a:t>"Field X should be type Y but you gave Z"</a:t>
            </a:r>
          </a:p>
        </p:txBody>
      </p:sp>
      <p:sp>
        <p:nvSpPr>
          <p:cNvPr id="22" name="P2"/>
          <p:cNvSpPr/>
          <p:nvPr/>
        </p:nvSpPr>
        <p:spPr>
          <a:xfrm>
            <a:off x="1016000" y="3556000"/>
            <a:ext cx="10160000" cy="889000"/>
          </a:xfrm>
          <a:prstGeom prst="roundRect">
            <a:avLst>
              <a:gd name="adj" fmla="val 8000"/>
            </a:avLst>
          </a:prstGeom>
          <a:solidFill>
            <a:srgbClr val="161B22"/>
          </a:solidFill>
          <a:ln w="12700">
            <a:solidFill>
              <a:srgbClr val="6C5CE7">
                <a:alpha val="40000"/>
              </a:srgbClr>
            </a:solidFill>
          </a:ln>
        </p:spPr>
        <p:txBody>
          <a:bodyPr wrap="square" lIns="190500" tIns="101600" rIns="190500" bIns="101600" anchor="ctr"/>
          <a:lstStyle/>
          <a:p>
            <a:pPr algn="l">
              <a:buNone/>
            </a:pPr>
            <a:r>
              <a:rPr lang="en-US" sz="2200" b="1" dirty="0">
                <a:solidFill>
                  <a:srgbClr val="6C5CE7"/>
                </a:solidFill>
                <a:latin typeface="Segoe UI Semibold"/>
              </a:rPr>
              <a:t>Correction converges</a:t>
            </a:r>
          </a:p>
          <a:p>
            <a:pPr algn="l">
              <a:buNone/>
            </a:pPr>
            <a:r>
              <a:rPr lang="en-US" sz="1800" dirty="0">
                <a:solidFill>
                  <a:srgbClr val="A0A0A0"/>
                </a:solidFill>
                <a:latin typeface="Segoe UI"/>
              </a:rPr>
              <a:t>Precise feedback → model fixes only that part</a:t>
            </a:r>
          </a:p>
        </p:txBody>
      </p:sp>
      <p:sp>
        <p:nvSpPr>
          <p:cNvPr id="30" name="Formula"/>
          <p:cNvSpPr/>
          <p:nvPr/>
        </p:nvSpPr>
        <p:spPr>
          <a:xfrm>
            <a:off x="1016000" y="4953000"/>
            <a:ext cx="10160000" cy="762000"/>
          </a:xfrm>
          <a:prstGeom prst="roundRect">
            <a:avLst>
              <a:gd name="adj" fmla="val 10000"/>
            </a:avLst>
          </a:prstGeom>
          <a:solidFill>
            <a:srgbClr val="6C5CE7">
              <a:alpha val="15000"/>
            </a:srgbClr>
          </a:solidFill>
          <a:ln w="12700">
            <a:solidFill>
              <a:srgbClr val="6C5CE7">
                <a:alpha val="40000"/>
              </a:srgbClr>
            </a:solidFill>
          </a:ln>
        </p:spPr>
        <p:txBody>
          <a:bodyPr wrap="square" lIns="190500" tIns="101600" rIns="190500" bIns="101600" anchor="ctr"/>
          <a:lstStyle/>
          <a:p>
            <a:pPr algn="ctr"/>
            <a:r>
              <a:rPr lang="en-US" sz="2000" b="1" dirty="0">
                <a:solidFill>
                  <a:srgbClr val="00D4AA"/>
                </a:solidFill>
                <a:latin typeface="Segoe UI Semibold"/>
              </a:rPr>
              <a:t>Type schema</a:t>
            </a:r>
            <a:r>
              <a:rPr lang="en-US" sz="2000" dirty="0">
                <a:solidFill>
                  <a:srgbClr val="808080"/>
                </a:solidFill>
                <a:latin typeface="Segoe UI"/>
              </a:rPr>
              <a:t> + </a:t>
            </a:r>
            <a:r>
              <a:rPr lang="en-US" sz="2000" b="1" dirty="0">
                <a:solidFill>
                  <a:srgbClr val="FFD93D"/>
                </a:solidFill>
                <a:latin typeface="Segoe UI Semibold"/>
              </a:rPr>
              <a:t>deterministic validator</a:t>
            </a:r>
            <a:r>
              <a:rPr lang="en-US" sz="2000" dirty="0">
                <a:solidFill>
                  <a:srgbClr val="808080"/>
                </a:solidFill>
                <a:latin typeface="Segoe UI"/>
              </a:rPr>
              <a:t> + </a:t>
            </a:r>
            <a:r>
              <a:rPr lang="en-US" sz="2000" b="1" dirty="0">
                <a:solidFill>
                  <a:srgbClr val="FF6B6B"/>
                </a:solidFill>
                <a:latin typeface="Segoe UI Semibold"/>
              </a:rPr>
              <a:t>structured feedback</a:t>
            </a:r>
            <a:r>
              <a:rPr lang="en-US" sz="2000" dirty="0">
                <a:solidFill>
                  <a:srgbClr val="808080"/>
                </a:solidFill>
                <a:latin typeface="Segoe UI"/>
              </a:rPr>
              <a:t> = </a:t>
            </a:r>
            <a:r>
              <a:rPr lang="en-US" sz="2000" b="1" dirty="0">
                <a:solidFill>
                  <a:srgbClr val="6C5CE7"/>
                </a:solidFill>
                <a:latin typeface="Segoe UI Semibold"/>
              </a:rPr>
              <a:t>harness</a:t>
            </a:r>
          </a:p>
        </p:txBody>
      </p:sp>
      <p:sp>
        <p:nvSpPr>
          <p:cNvPr id="31" name="BQ"/>
          <p:cNvSpPr/>
          <p:nvPr/>
        </p:nvSpPr>
        <p:spPr>
          <a:xfrm>
            <a:off x="1270000" y="5943600"/>
            <a:ext cx="9652000" cy="381000"/>
          </a:xfrm>
          <a:prstGeom prst="rect">
            <a:avLst/>
          </a:prstGeom>
          <a:noFill/>
          <a:ln>
            <a:noFill/>
          </a:ln>
        </p:spPr>
        <p:txBody>
          <a:bodyPr wrap="square" lIns="0" tIns="0" rIns="0" bIns="0" anchor="ctr"/>
          <a:lstStyle/>
          <a:p>
            <a:pPr algn="ctr"/>
            <a:r>
              <a:rPr lang="en-US" sz="1800" dirty="0">
                <a:solidFill>
                  <a:srgbClr val="808080"/>
                </a:solidFill>
                <a:latin typeface="Segoe UI"/>
              </a:rPr>
              <a:t>In domains requiring precision, the deterministic side wins: 6.75% → 100%</a:t>
            </a:r>
          </a:p>
        </p:txBody>
      </p:sp>
    </p:spTree>
    <p:extLst>
      <p:ext uri="{BB962C8B-B14F-4D97-AF65-F5344CB8AC3E}">
        <p14:creationId xmlns:p14="http://schemas.microsoft.com/office/powerpoint/2010/main" val="9589274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D60350-6C65-4107-AF95-5A7CD6085694}"/>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Semiconductors</a:t>
            </a:r>
          </a:p>
        </p:txBody>
      </p:sp>
      <p:sp>
        <p:nvSpPr>
          <p:cNvPr id="3" name="직사각형 2">
            <a:extLst>
              <a:ext uri="{FF2B5EF4-FFF2-40B4-BE49-F238E27FC236}">
                <a16:creationId xmlns:a16="http://schemas.microsoft.com/office/drawing/2014/main" id="{92E324A4-1D7F-4165-B5A0-04C52384C22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514CDC4D-074C-486A-8636-01465C2098F1}"/>
              </a:ext>
            </a:extLst>
          </p:cNvPr>
          <p:cNvSpPr/>
          <p:nvPr/>
        </p:nvSpPr>
        <p:spPr>
          <a:xfrm>
            <a:off x="762000" y="1270000"/>
            <a:ext cx="10668000" cy="3175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2E990ACE-4A93-4EB6-A3C3-470D2E3036EB}"/>
              </a:ext>
            </a:extLst>
          </p:cNvPr>
          <p:cNvSpPr txBox="1"/>
          <p:nvPr/>
        </p:nvSpPr>
        <p:spPr>
          <a:xfrm>
            <a:off x="1016000" y="1333500"/>
            <a:ext cx="10160000" cy="3048000"/>
          </a:xfrm>
          <a:prstGeom prst="rect">
            <a:avLst/>
          </a:prstGeom>
          <a:noFill/>
        </p:spPr>
        <p:txBody>
          <a:bodyPr vertOverflow="overflow" vert="horz" wrap="square" rtlCol="0" anchor="t">
            <a:spAutoFit/>
          </a:bodyPr>
          <a:lstStyle/>
          <a:p>
            <a:r>
              <a:rPr lang="en-US" sz="1800" dirty="0">
                <a:solidFill>
                  <a:srgbClr val="FF7B72"/>
                </a:solidFill>
                <a:latin typeface="Consolas"/>
              </a:rPr>
              <a:t>interface </a:t>
            </a:r>
            <a:r>
              <a:rPr lang="en-US" sz="1800" dirty="0">
                <a:solidFill>
                  <a:srgbClr val="FFA657"/>
                </a:solidFill>
                <a:latin typeface="Consolas"/>
              </a:rPr>
              <a:t>IBlock</a:t>
            </a:r>
            <a:r>
              <a:rPr lang="en-US" sz="1800" dirty="0">
                <a:solidFill>
                  <a:srgbClr val="C9D1D9"/>
                </a:solidFill>
                <a:latin typeface="Consolas"/>
              </a:rPr>
              <a:t> {</a:t>
            </a:r>
          </a:p>
          <a:p>
            <a:r>
              <a:rPr lang="en-US" sz="1800" dirty="0">
                <a:solidFill>
                  <a:srgbClr val="C9D1D9"/>
                </a:solidFill>
                <a:latin typeface="Consolas"/>
              </a:rPr>
              <a:t>  type: </a:t>
            </a:r>
            <a:r>
              <a:rPr lang="en-US" sz="1800" dirty="0">
                <a:solidFill>
                  <a:srgbClr val="A5D6FF"/>
                </a:solidFill>
                <a:latin typeface="Consolas"/>
              </a:rPr>
              <a:t>"logic"</a:t>
            </a:r>
            <a:r>
              <a:rPr lang="en-US" sz="1800" dirty="0">
                <a:solidFill>
                  <a:srgbClr val="C9D1D9"/>
                </a:solidFill>
                <a:latin typeface="Consolas"/>
              </a:rPr>
              <a:t> | </a:t>
            </a:r>
            <a:r>
              <a:rPr lang="en-US" sz="1800" dirty="0">
                <a:solidFill>
                  <a:srgbClr val="A5D6FF"/>
                </a:solidFill>
                <a:latin typeface="Consolas"/>
              </a:rPr>
              <a:t>"memory"</a:t>
            </a:r>
            <a:r>
              <a:rPr lang="en-US" sz="1800" dirty="0">
                <a:solidFill>
                  <a:srgbClr val="C9D1D9"/>
                </a:solidFill>
                <a:latin typeface="Consolas"/>
              </a:rPr>
              <a:t> | </a:t>
            </a:r>
            <a:r>
              <a:rPr lang="en-US" sz="1800" dirty="0">
                <a:solidFill>
                  <a:srgbClr val="A5D6FF"/>
                </a:solidFill>
                <a:latin typeface="Consolas"/>
              </a:rPr>
              <a:t>"io"</a:t>
            </a:r>
          </a:p>
          <a:p>
            <a:r>
              <a:rPr lang="en-US" sz="1800" dirty="0">
                <a:solidFill>
                  <a:srgbClr val="C9D1D9"/>
                </a:solidFill>
                <a:latin typeface="Consolas"/>
              </a:rPr>
              <a:t>    | </a:t>
            </a:r>
            <a:r>
              <a:rPr lang="en-US" sz="1800" dirty="0">
                <a:solidFill>
                  <a:srgbClr val="A5D6FF"/>
                </a:solidFill>
                <a:latin typeface="Consolas"/>
              </a:rPr>
              <a:t>"analog"</a:t>
            </a:r>
            <a:r>
              <a:rPr lang="en-US" sz="1800" dirty="0">
                <a:solidFill>
                  <a:srgbClr val="C9D1D9"/>
                </a:solidFill>
                <a:latin typeface="Consolas"/>
              </a:rPr>
              <a:t> | </a:t>
            </a:r>
            <a:r>
              <a:rPr lang="en-US" sz="1800" dirty="0">
                <a:solidFill>
                  <a:srgbClr val="A5D6FF"/>
                </a:solidFill>
                <a:latin typeface="Consolas"/>
              </a:rPr>
              <a:t>"pll"</a:t>
            </a:r>
            <a:r>
              <a:rPr lang="en-US" sz="1800" dirty="0">
                <a:solidFill>
                  <a:srgbClr val="C9D1D9"/>
                </a:solidFill>
                <a:latin typeface="Consolas"/>
              </a:rPr>
              <a:t>;</a:t>
            </a:r>
          </a:p>
          <a:p>
            <a:r>
              <a:rPr lang="en-US" sz="1800" dirty="0">
                <a:solidFill>
                  <a:srgbClr val="C9D1D9"/>
                </a:solidFill>
                <a:latin typeface="Consolas"/>
              </a:rPr>
              <a:t>  position: </a:t>
            </a:r>
            <a:r>
              <a:rPr lang="en-US" sz="1800" dirty="0">
                <a:solidFill>
                  <a:srgbClr val="FFA657"/>
                </a:solidFill>
                <a:latin typeface="Consolas"/>
              </a:rPr>
              <a:t>IPoint2D</a:t>
            </a:r>
            <a:r>
              <a:rPr lang="en-US" sz="1800" dirty="0">
                <a:solidFill>
                  <a:srgbClr val="C9D1D9"/>
                </a:solidFill>
                <a:latin typeface="Consolas"/>
              </a:rPr>
              <a:t>;</a:t>
            </a:r>
          </a:p>
          <a:p>
            <a:r>
              <a:rPr lang="en-US" sz="1800" dirty="0">
                <a:solidFill>
                  <a:srgbClr val="C9D1D9"/>
                </a:solidFill>
                <a:latin typeface="Consolas"/>
              </a:rPr>
              <a:t>  dimensions: </a:t>
            </a:r>
            <a:r>
              <a:rPr lang="en-US" sz="1800" dirty="0">
                <a:solidFill>
                  <a:srgbClr val="FFA657"/>
                </a:solidFill>
                <a:latin typeface="Consolas"/>
              </a:rPr>
              <a:t>IDimension</a:t>
            </a:r>
            <a:r>
              <a:rPr lang="en-US" sz="1800" dirty="0">
                <a:solidFill>
                  <a:srgbClr val="C9D1D9"/>
                </a:solidFill>
                <a:latin typeface="Consolas"/>
              </a:rPr>
              <a:t>;</a:t>
            </a:r>
          </a:p>
          <a:p>
            <a:r>
              <a:rPr lang="en-US" sz="1800" dirty="0">
                <a:solidFill>
                  <a:srgbClr val="C9D1D9"/>
                </a:solidFill>
                <a:latin typeface="Consolas"/>
              </a:rPr>
              <a:t>  sub_blocks: </a:t>
            </a:r>
            <a:r>
              <a:rPr lang="en-US" sz="1800" dirty="0">
                <a:solidFill>
                  <a:srgbClr val="FFA657"/>
                </a:solidFill>
                <a:latin typeface="Consolas"/>
              </a:rPr>
              <a:t>IBlock</a:t>
            </a:r>
            <a:r>
              <a:rPr lang="en-US" sz="1800" dirty="0">
                <a:solidFill>
                  <a:srgbClr val="C9D1D9"/>
                </a:solidFill>
                <a:latin typeface="Consolas"/>
              </a:rPr>
              <a:t>[];  </a:t>
            </a:r>
            <a:r>
              <a:rPr lang="en-US" sz="1800" dirty="0">
                <a:solidFill>
                  <a:srgbClr val="8B949E"/>
                </a:solidFill>
                <a:latin typeface="Consolas"/>
              </a:rPr>
              <a:t>// recursive</a:t>
            </a:r>
          </a:p>
          <a:p>
            <a:r>
              <a:rPr lang="en-US" sz="1800" dirty="0">
                <a:solidFill>
                  <a:srgbClr val="C9D1D9"/>
                </a:solidFill>
                <a:latin typeface="Consolas"/>
              </a:rPr>
              <a:t>}</a:t>
            </a:r>
          </a:p>
          <a:p>
            <a:endParaRPr lang="en-US" sz="1800" dirty="0">
              <a:solidFill>
                <a:srgbClr val="C9D1D9"/>
              </a:solidFill>
              <a:latin typeface="Consolas"/>
            </a:endParaRPr>
          </a:p>
          <a:p>
            <a:r>
              <a:rPr lang="en-US" sz="1800" dirty="0">
                <a:solidFill>
                  <a:srgbClr val="8B949E"/>
                </a:solidFill>
                <a:latin typeface="Consolas"/>
              </a:rPr>
              <a:t>// DRC (fast) → LVS (med) → SPICE (deep)</a:t>
            </a:r>
          </a:p>
        </p:txBody>
      </p:sp>
      <p:sp>
        <p:nvSpPr>
          <p:cNvPr id="6" name="TextBox 5">
            <a:extLst>
              <a:ext uri="{FF2B5EF4-FFF2-40B4-BE49-F238E27FC236}">
                <a16:creationId xmlns:a16="http://schemas.microsoft.com/office/drawing/2014/main" id="{7BBA10E3-CAA8-4C41-B9EF-14B4A551660D}"/>
              </a:ext>
            </a:extLst>
          </p:cNvPr>
          <p:cNvSpPr txBox="1"/>
          <p:nvPr/>
        </p:nvSpPr>
        <p:spPr>
          <a:xfrm>
            <a:off x="1016000" y="4826000"/>
            <a:ext cx="10160000" cy="889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Physical rules of chip design are non-negotiable.
DRC, LVS, SPICE simulation — all deterministic validators.</a:t>
            </a:r>
          </a:p>
        </p:txBody>
      </p:sp>
      <p:sp>
        <p:nvSpPr>
          <p:cNvPr id="7" name="TextBox 6">
            <a:extLst>
              <a:ext uri="{FF2B5EF4-FFF2-40B4-BE49-F238E27FC236}">
                <a16:creationId xmlns:a16="http://schemas.microsoft.com/office/drawing/2014/main" id="{F9BF1BBA-F9E2-4BC6-ACA7-C01B5CF54584}"/>
              </a:ext>
            </a:extLst>
          </p:cNvPr>
          <p:cNvSpPr txBox="1"/>
          <p:nvPr/>
        </p:nvSpPr>
        <p:spPr>
          <a:xfrm>
            <a:off x="1016000" y="5905500"/>
            <a:ext cx="10160000" cy="444500"/>
          </a:xfrm>
          <a:prstGeom prst="rect">
            <a:avLst/>
          </a:prstGeom>
          <a:noFill/>
        </p:spPr>
        <p:txBody>
          <a:bodyPr vertOverflow="overflow" vert="horz" wrap="square" rtlCol="0" anchor="t">
            <a:spAutoFit/>
          </a:bodyPr>
          <a:lstStyle/>
          <a:p>
            <a:pPr algn="l"/>
            <a:r>
              <a:rPr lang="en-US" b="1">
                <a:solidFill>
                  <a:srgbClr val="FFD93D"/>
                </a:solidFill>
                <a:latin typeface="Segoe UI"/>
                <a:cs typeface="Segoe UI"/>
              </a:rPr>
              <a:t>Same recursive union + tree structure as AutoBe's IJsonSchema</a:t>
            </a:r>
          </a:p>
        </p:txBody>
      </p:sp>
    </p:spTree>
    <p:extLst>
      <p:ext uri="{BB962C8B-B14F-4D97-AF65-F5344CB8AC3E}">
        <p14:creationId xmlns:p14="http://schemas.microsoft.com/office/powerpoint/2010/main" val="8046621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065EFF-1458-4194-BB1A-30FEC471083F}"/>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Chemical Process</a:t>
            </a:r>
          </a:p>
        </p:txBody>
      </p:sp>
      <p:sp>
        <p:nvSpPr>
          <p:cNvPr id="3" name="직사각형 2">
            <a:extLst>
              <a:ext uri="{FF2B5EF4-FFF2-40B4-BE49-F238E27FC236}">
                <a16:creationId xmlns:a16="http://schemas.microsoft.com/office/drawing/2014/main" id="{2BEF9BE1-286F-4782-BDE3-004A7CC0FD9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AB250035-53E5-4940-9763-EFD6A428BA0D}"/>
              </a:ext>
            </a:extLst>
          </p:cNvPr>
          <p:cNvSpPr/>
          <p:nvPr/>
        </p:nvSpPr>
        <p:spPr>
          <a:xfrm>
            <a:off x="762000" y="1270000"/>
            <a:ext cx="10668000" cy="3175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A369F3EA-EE1C-4202-882E-C9DDC093F98C}"/>
              </a:ext>
            </a:extLst>
          </p:cNvPr>
          <p:cNvSpPr txBox="1"/>
          <p:nvPr/>
        </p:nvSpPr>
        <p:spPr>
          <a:xfrm>
            <a:off x="1016000" y="1333500"/>
            <a:ext cx="10160000" cy="3048000"/>
          </a:xfrm>
          <a:prstGeom prst="rect">
            <a:avLst/>
          </a:prstGeom>
          <a:noFill/>
        </p:spPr>
        <p:txBody>
          <a:bodyPr vertOverflow="overflow" vert="horz" wrap="square" rtlCol="0" anchor="t">
            <a:spAutoFit/>
          </a:bodyPr>
          <a:lstStyle/>
          <a:p>
            <a:r>
              <a:rPr lang="en-US" sz="1800" dirty="0">
                <a:solidFill>
                  <a:srgbClr val="FF7B72"/>
                </a:solidFill>
                <a:latin typeface="Consolas"/>
              </a:rPr>
              <a:t>interface </a:t>
            </a:r>
            <a:r>
              <a:rPr lang="en-US" sz="1800" dirty="0">
                <a:solidFill>
                  <a:srgbClr val="FFA657"/>
                </a:solidFill>
                <a:latin typeface="Consolas"/>
              </a:rPr>
              <a:t>IUnitOperation</a:t>
            </a:r>
            <a:r>
              <a:rPr lang="en-US" sz="1800" dirty="0">
                <a:solidFill>
                  <a:srgbClr val="C9D1D9"/>
                </a:solidFill>
                <a:latin typeface="Consolas"/>
              </a:rPr>
              <a:t> {</a:t>
            </a:r>
          </a:p>
          <a:p>
            <a:r>
              <a:rPr lang="en-US" sz="1800" dirty="0">
                <a:solidFill>
                  <a:srgbClr val="C9D1D9"/>
                </a:solidFill>
                <a:latin typeface="Consolas"/>
              </a:rPr>
              <a:t>  type: </a:t>
            </a:r>
            <a:r>
              <a:rPr lang="en-US" sz="1800" dirty="0">
                <a:solidFill>
                  <a:srgbClr val="A5D6FF"/>
                </a:solidFill>
                <a:latin typeface="Consolas"/>
              </a:rPr>
              <a:t>"reactor"</a:t>
            </a:r>
            <a:r>
              <a:rPr lang="en-US" sz="1800" dirty="0">
                <a:solidFill>
                  <a:srgbClr val="C9D1D9"/>
                </a:solidFill>
                <a:latin typeface="Consolas"/>
              </a:rPr>
              <a:t> | </a:t>
            </a:r>
            <a:r>
              <a:rPr lang="en-US" sz="1800" dirty="0">
                <a:solidFill>
                  <a:srgbClr val="A5D6FF"/>
                </a:solidFill>
                <a:latin typeface="Consolas"/>
              </a:rPr>
              <a:t>"distillation"</a:t>
            </a:r>
          </a:p>
          <a:p>
            <a:r>
              <a:rPr lang="en-US" sz="1800" dirty="0">
                <a:solidFill>
                  <a:srgbClr val="C9D1D9"/>
                </a:solidFill>
                <a:latin typeface="Consolas"/>
              </a:rPr>
              <a:t>    | </a:t>
            </a:r>
            <a:r>
              <a:rPr lang="en-US" sz="1800" dirty="0">
                <a:solidFill>
                  <a:srgbClr val="A5D6FF"/>
                </a:solidFill>
                <a:latin typeface="Consolas"/>
              </a:rPr>
              <a:t>"heat_exchanger"</a:t>
            </a:r>
            <a:r>
              <a:rPr lang="en-US" sz="1800" dirty="0">
                <a:solidFill>
                  <a:srgbClr val="C9D1D9"/>
                </a:solidFill>
                <a:latin typeface="Consolas"/>
              </a:rPr>
              <a:t> | </a:t>
            </a:r>
            <a:r>
              <a:rPr lang="en-US" sz="1800" dirty="0">
                <a:solidFill>
                  <a:srgbClr val="A5D6FF"/>
                </a:solidFill>
                <a:latin typeface="Consolas"/>
              </a:rPr>
              <a:t>"pump"</a:t>
            </a:r>
            <a:r>
              <a:rPr lang="en-US" sz="1800" dirty="0">
                <a:solidFill>
                  <a:srgbClr val="C9D1D9"/>
                </a:solidFill>
                <a:latin typeface="Consolas"/>
              </a:rPr>
              <a:t>;</a:t>
            </a:r>
          </a:p>
          <a:p>
            <a:r>
              <a:rPr lang="en-US" sz="1800" dirty="0">
                <a:solidFill>
                  <a:srgbClr val="C9D1D9"/>
                </a:solidFill>
                <a:latin typeface="Consolas"/>
              </a:rPr>
              <a:t>  inlet_streams: </a:t>
            </a:r>
            <a:r>
              <a:rPr lang="en-US" sz="1800" dirty="0">
                <a:solidFill>
                  <a:srgbClr val="FFA657"/>
                </a:solidFill>
                <a:latin typeface="Consolas"/>
              </a:rPr>
              <a:t>IProcessStream</a:t>
            </a:r>
            <a:r>
              <a:rPr lang="en-US" sz="1800" dirty="0">
                <a:solidFill>
                  <a:srgbClr val="C9D1D9"/>
                </a:solidFill>
                <a:latin typeface="Consolas"/>
              </a:rPr>
              <a:t>[];</a:t>
            </a:r>
          </a:p>
          <a:p>
            <a:r>
              <a:rPr lang="en-US" sz="1800" dirty="0">
                <a:solidFill>
                  <a:srgbClr val="C9D1D9"/>
                </a:solidFill>
                <a:latin typeface="Consolas"/>
              </a:rPr>
              <a:t>  outlet_streams: </a:t>
            </a:r>
            <a:r>
              <a:rPr lang="en-US" sz="1800" dirty="0">
                <a:solidFill>
                  <a:srgbClr val="FFA657"/>
                </a:solidFill>
                <a:latin typeface="Consolas"/>
              </a:rPr>
              <a:t>IProcessStream</a:t>
            </a:r>
            <a:r>
              <a:rPr lang="en-US" sz="1800" dirty="0">
                <a:solidFill>
                  <a:srgbClr val="C9D1D9"/>
                </a:solidFill>
                <a:latin typeface="Consolas"/>
              </a:rPr>
              <a:t>[];</a:t>
            </a:r>
          </a:p>
          <a:p>
            <a:r>
              <a:rPr lang="en-US" sz="1800" dirty="0">
                <a:solidFill>
                  <a:srgbClr val="C9D1D9"/>
                </a:solidFill>
                <a:latin typeface="Consolas"/>
              </a:rPr>
              <a:t>  </a:t>
            </a:r>
            <a:r>
              <a:rPr lang="en-US" sz="1800" dirty="0">
                <a:solidFill>
                  <a:srgbClr val="8B949E"/>
                </a:solidFill>
                <a:latin typeface="Consolas"/>
              </a:rPr>
              <a:t>// Σ inlet = Σ outlet (mass bal)</a:t>
            </a:r>
          </a:p>
          <a:p>
            <a:r>
              <a:rPr lang="en-US" sz="1800" dirty="0">
                <a:solidFill>
                  <a:srgbClr val="C9D1D9"/>
                </a:solidFill>
                <a:latin typeface="Consolas"/>
              </a:rPr>
              <a:t>}</a:t>
            </a:r>
          </a:p>
          <a:p>
            <a:endParaRPr lang="en-US" sz="1800" dirty="0">
              <a:solidFill>
                <a:srgbClr val="C9D1D9"/>
              </a:solidFill>
              <a:latin typeface="Consolas"/>
            </a:endParaRPr>
          </a:p>
          <a:p>
            <a:r>
              <a:rPr lang="en-US" sz="1800" dirty="0">
                <a:solidFill>
                  <a:srgbClr val="8B949E"/>
                </a:solidFill>
                <a:latin typeface="Consolas"/>
              </a:rPr>
              <a:t>// Mass bal (fast) → Energy bal (med)</a:t>
            </a:r>
          </a:p>
          <a:p>
            <a:r>
              <a:rPr lang="en-US" sz="1800" dirty="0">
                <a:solidFill>
                  <a:srgbClr val="8B949E"/>
                </a:solidFill>
                <a:latin typeface="Consolas"/>
              </a:rPr>
              <a:t>// → Process sim (deep)</a:t>
            </a:r>
          </a:p>
        </p:txBody>
      </p:sp>
      <p:sp>
        <p:nvSpPr>
          <p:cNvPr id="6" name="TextBox 5">
            <a:extLst>
              <a:ext uri="{FF2B5EF4-FFF2-40B4-BE49-F238E27FC236}">
                <a16:creationId xmlns:a16="http://schemas.microsoft.com/office/drawing/2014/main" id="{DC9E4262-CC14-4D1C-9E69-435D0D883D35}"/>
              </a:ext>
            </a:extLst>
          </p:cNvPr>
          <p:cNvSpPr txBox="1"/>
          <p:nvPr/>
        </p:nvSpPr>
        <p:spPr>
          <a:xfrm>
            <a:off x="1016000" y="4826000"/>
            <a:ext cx="10160000" cy="889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Conservation laws are absolute validators.
ASPEN and HYSYS have provided deterministic validation for 40+ years.</a:t>
            </a:r>
          </a:p>
        </p:txBody>
      </p:sp>
    </p:spTree>
    <p:extLst>
      <p:ext uri="{BB962C8B-B14F-4D97-AF65-F5344CB8AC3E}">
        <p14:creationId xmlns:p14="http://schemas.microsoft.com/office/powerpoint/2010/main" val="4232094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4C0D7F7-742D-49C9-9774-9F3FE0EA7D47}"/>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Interior Design</a:t>
            </a:r>
          </a:p>
        </p:txBody>
      </p:sp>
      <p:sp>
        <p:nvSpPr>
          <p:cNvPr id="3" name="직사각형 2">
            <a:extLst>
              <a:ext uri="{FF2B5EF4-FFF2-40B4-BE49-F238E27FC236}">
                <a16:creationId xmlns:a16="http://schemas.microsoft.com/office/drawing/2014/main" id="{13EF506B-5611-464B-9C69-7591B90DE6E1}"/>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2127822E-8BDB-4D31-B0A4-9440CB418609}"/>
              </a:ext>
            </a:extLst>
          </p:cNvPr>
          <p:cNvSpPr/>
          <p:nvPr/>
        </p:nvSpPr>
        <p:spPr>
          <a:xfrm>
            <a:off x="762000" y="1270000"/>
            <a:ext cx="10668000" cy="3175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38FE007A-562E-4678-BA5B-22EFAFC475DE}"/>
              </a:ext>
            </a:extLst>
          </p:cNvPr>
          <p:cNvSpPr txBox="1"/>
          <p:nvPr/>
        </p:nvSpPr>
        <p:spPr>
          <a:xfrm>
            <a:off x="1016000" y="1333500"/>
            <a:ext cx="10160000" cy="3048000"/>
          </a:xfrm>
          <a:prstGeom prst="rect">
            <a:avLst/>
          </a:prstGeom>
          <a:noFill/>
        </p:spPr>
        <p:txBody>
          <a:bodyPr vertOverflow="overflow" vert="horz" wrap="square" rtlCol="0" anchor="t">
            <a:spAutoFit/>
          </a:bodyPr>
          <a:lstStyle/>
          <a:p>
            <a:r>
              <a:rPr lang="en-US" sz="1800" dirty="0">
                <a:solidFill>
                  <a:srgbClr val="FF7B72"/>
                </a:solidFill>
                <a:latin typeface="Consolas"/>
              </a:rPr>
              <a:t>interface </a:t>
            </a:r>
            <a:r>
              <a:rPr lang="en-US" sz="1800" dirty="0">
                <a:solidFill>
                  <a:srgbClr val="FFA657"/>
                </a:solidFill>
                <a:latin typeface="Consolas"/>
              </a:rPr>
              <a:t>IFixture</a:t>
            </a:r>
            <a:r>
              <a:rPr lang="en-US" sz="1800" dirty="0">
                <a:solidFill>
                  <a:srgbClr val="C9D1D9"/>
                </a:solidFill>
                <a:latin typeface="Consolas"/>
              </a:rPr>
              <a:t> {</a:t>
            </a:r>
          </a:p>
          <a:p>
            <a:r>
              <a:rPr lang="en-US" sz="1800" dirty="0">
                <a:solidFill>
                  <a:srgbClr val="C9D1D9"/>
                </a:solidFill>
                <a:latin typeface="Consolas"/>
              </a:rPr>
              <a:t>  type: </a:t>
            </a:r>
            <a:r>
              <a:rPr lang="en-US" sz="1800" dirty="0">
                <a:solidFill>
                  <a:srgbClr val="A5D6FF"/>
                </a:solidFill>
                <a:latin typeface="Consolas"/>
              </a:rPr>
              <a:t>"cabinet"</a:t>
            </a:r>
            <a:r>
              <a:rPr lang="en-US" sz="1800" dirty="0">
                <a:solidFill>
                  <a:srgbClr val="C9D1D9"/>
                </a:solidFill>
                <a:latin typeface="Consolas"/>
              </a:rPr>
              <a:t> | </a:t>
            </a:r>
            <a:r>
              <a:rPr lang="en-US" sz="1800" dirty="0">
                <a:solidFill>
                  <a:srgbClr val="A5D6FF"/>
                </a:solidFill>
                <a:latin typeface="Consolas"/>
              </a:rPr>
              <a:t>"counter"</a:t>
            </a:r>
          </a:p>
          <a:p>
            <a:r>
              <a:rPr lang="en-US" sz="1800" dirty="0">
                <a:solidFill>
                  <a:srgbClr val="C9D1D9"/>
                </a:solidFill>
                <a:latin typeface="Consolas"/>
              </a:rPr>
              <a:t>    | </a:t>
            </a:r>
            <a:r>
              <a:rPr lang="en-US" sz="1800" dirty="0">
                <a:solidFill>
                  <a:srgbClr val="A5D6FF"/>
                </a:solidFill>
                <a:latin typeface="Consolas"/>
              </a:rPr>
              <a:t>"appliance"</a:t>
            </a:r>
            <a:r>
              <a:rPr lang="en-US" sz="1800" dirty="0">
                <a:solidFill>
                  <a:srgbClr val="C9D1D9"/>
                </a:solidFill>
                <a:latin typeface="Consolas"/>
              </a:rPr>
              <a:t> | </a:t>
            </a:r>
            <a:r>
              <a:rPr lang="en-US" sz="1800" dirty="0">
                <a:solidFill>
                  <a:srgbClr val="A5D6FF"/>
                </a:solidFill>
                <a:latin typeface="Consolas"/>
              </a:rPr>
              <a:t>"furniture"</a:t>
            </a:r>
            <a:r>
              <a:rPr lang="en-US" sz="1800" dirty="0">
                <a:solidFill>
                  <a:srgbClr val="C9D1D9"/>
                </a:solidFill>
                <a:latin typeface="Consolas"/>
              </a:rPr>
              <a:t>;</a:t>
            </a:r>
          </a:p>
          <a:p>
            <a:r>
              <a:rPr lang="en-US" sz="1800" dirty="0">
                <a:solidFill>
                  <a:srgbClr val="C9D1D9"/>
                </a:solidFill>
                <a:latin typeface="Consolas"/>
              </a:rPr>
              <a:t>  position: </a:t>
            </a:r>
            <a:r>
              <a:rPr lang="en-US" sz="1800" dirty="0">
                <a:solidFill>
                  <a:srgbClr val="FFA657"/>
                </a:solidFill>
                <a:latin typeface="Consolas"/>
              </a:rPr>
              <a:t>IPoint3D</a:t>
            </a:r>
            <a:r>
              <a:rPr lang="en-US" sz="1800" dirty="0">
                <a:solidFill>
                  <a:srgbClr val="C9D1D9"/>
                </a:solidFill>
                <a:latin typeface="Consolas"/>
              </a:rPr>
              <a:t>;</a:t>
            </a:r>
          </a:p>
          <a:p>
            <a:r>
              <a:rPr lang="en-US" sz="1800" dirty="0">
                <a:solidFill>
                  <a:srgbClr val="C9D1D9"/>
                </a:solidFill>
                <a:latin typeface="Consolas"/>
              </a:rPr>
              <a:t>  dimensions: </a:t>
            </a:r>
            <a:r>
              <a:rPr lang="en-US" sz="1800" dirty="0">
                <a:solidFill>
                  <a:srgbClr val="FFA657"/>
                </a:solidFill>
                <a:latin typeface="Consolas"/>
              </a:rPr>
              <a:t>IDimension3D</a:t>
            </a:r>
            <a:r>
              <a:rPr lang="en-US" sz="1800" dirty="0">
                <a:solidFill>
                  <a:srgbClr val="C9D1D9"/>
                </a:solidFill>
                <a:latin typeface="Consolas"/>
              </a:rPr>
              <a:t>;</a:t>
            </a:r>
          </a:p>
          <a:p>
            <a:r>
              <a:rPr lang="en-US" sz="1800" dirty="0">
                <a:solidFill>
                  <a:srgbClr val="C9D1D9"/>
                </a:solidFill>
                <a:latin typeface="Consolas"/>
              </a:rPr>
              <a:t>  clearance_required: </a:t>
            </a:r>
            <a:r>
              <a:rPr lang="en-US" sz="1800" dirty="0">
                <a:solidFill>
                  <a:srgbClr val="79C0FF"/>
                </a:solidFill>
                <a:latin typeface="Consolas"/>
              </a:rPr>
              <a:t>number</a:t>
            </a:r>
            <a:r>
              <a:rPr lang="en-US" sz="1800" dirty="0">
                <a:solidFill>
                  <a:srgbClr val="C9D1D9"/>
                </a:solidFill>
                <a:latin typeface="Consolas"/>
              </a:rPr>
              <a:t>;</a:t>
            </a:r>
          </a:p>
          <a:p>
            <a:r>
              <a:rPr lang="en-US" sz="1800" dirty="0">
                <a:solidFill>
                  <a:srgbClr val="C9D1D9"/>
                </a:solidFill>
                <a:latin typeface="Consolas"/>
              </a:rPr>
              <a:t>}</a:t>
            </a:r>
          </a:p>
          <a:p>
            <a:endParaRPr lang="en-US" sz="1800" dirty="0">
              <a:solidFill>
                <a:srgbClr val="C9D1D9"/>
              </a:solidFill>
              <a:latin typeface="Consolas"/>
            </a:endParaRPr>
          </a:p>
          <a:p>
            <a:r>
              <a:rPr lang="en-US" sz="1800" dirty="0">
                <a:solidFill>
                  <a:srgbClr val="8B949E"/>
                </a:solidFill>
                <a:latin typeface="Consolas"/>
              </a:rPr>
              <a:t>// Clearance (fast) → Building codes (med)</a:t>
            </a:r>
          </a:p>
          <a:p>
            <a:r>
              <a:rPr lang="en-US" sz="1800" dirty="0">
                <a:solidFill>
                  <a:srgbClr val="8B949E"/>
                </a:solidFill>
                <a:latin typeface="Consolas"/>
              </a:rPr>
              <a:t>// → Lighting/HVAC sim (deep)</a:t>
            </a:r>
          </a:p>
        </p:txBody>
      </p:sp>
      <p:sp>
        <p:nvSpPr>
          <p:cNvPr id="6" name="TextBox 5">
            <a:extLst>
              <a:ext uri="{FF2B5EF4-FFF2-40B4-BE49-F238E27FC236}">
                <a16:creationId xmlns:a16="http://schemas.microsoft.com/office/drawing/2014/main" id="{1166B91E-9AFA-4A3C-B1D6-75D4EAE9C64E}"/>
              </a:ext>
            </a:extLst>
          </p:cNvPr>
          <p:cNvSpPr txBox="1"/>
          <p:nvPr/>
        </p:nvSpPr>
        <p:spPr>
          <a:xfrm>
            <a:off x="1016000" y="4826000"/>
            <a:ext cx="10160000" cy="889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Minimum passage width, door accessibility, fire regulations.
BIM tools like Revit have provided collision detection for decades.</a:t>
            </a:r>
          </a:p>
        </p:txBody>
      </p:sp>
    </p:spTree>
    <p:extLst>
      <p:ext uri="{BB962C8B-B14F-4D97-AF65-F5344CB8AC3E}">
        <p14:creationId xmlns:p14="http://schemas.microsoft.com/office/powerpoint/2010/main" val="35596478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022362-7C89-4E51-93AF-CDC780000C05}"/>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Control Systems</a:t>
            </a:r>
          </a:p>
        </p:txBody>
      </p:sp>
      <p:sp>
        <p:nvSpPr>
          <p:cNvPr id="3" name="직사각형 2">
            <a:extLst>
              <a:ext uri="{FF2B5EF4-FFF2-40B4-BE49-F238E27FC236}">
                <a16:creationId xmlns:a16="http://schemas.microsoft.com/office/drawing/2014/main" id="{CEB14FC1-FC63-4801-8F2D-530DEE0BAC78}"/>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0F2FB075-A060-4FD2-BC23-25D8EC35B628}"/>
              </a:ext>
            </a:extLst>
          </p:cNvPr>
          <p:cNvSpPr/>
          <p:nvPr/>
        </p:nvSpPr>
        <p:spPr>
          <a:xfrm>
            <a:off x="762000" y="1270000"/>
            <a:ext cx="10668000" cy="3175000"/>
          </a:xfrm>
          <a:prstGeom prst="rect">
            <a:avLst/>
          </a:prstGeom>
          <a:solidFill>
            <a:srgbClr val="0D11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81B3C395-189D-4919-B580-16298C383161}"/>
              </a:ext>
            </a:extLst>
          </p:cNvPr>
          <p:cNvSpPr txBox="1"/>
          <p:nvPr/>
        </p:nvSpPr>
        <p:spPr>
          <a:xfrm>
            <a:off x="1016000" y="1333500"/>
            <a:ext cx="10160000" cy="3048000"/>
          </a:xfrm>
          <a:prstGeom prst="rect">
            <a:avLst/>
          </a:prstGeom>
          <a:noFill/>
        </p:spPr>
        <p:txBody>
          <a:bodyPr vertOverflow="overflow" vert="horz" wrap="square" rtlCol="0" anchor="t">
            <a:spAutoFit/>
          </a:bodyPr>
          <a:lstStyle/>
          <a:p>
            <a:r>
              <a:rPr lang="en-US" sz="1800" dirty="0">
                <a:solidFill>
                  <a:srgbClr val="FF7B72"/>
                </a:solidFill>
                <a:latin typeface="Consolas"/>
              </a:rPr>
              <a:t>interface </a:t>
            </a:r>
            <a:r>
              <a:rPr lang="en-US" sz="1800" dirty="0">
                <a:solidFill>
                  <a:srgbClr val="FFA657"/>
                </a:solidFill>
                <a:latin typeface="Consolas"/>
              </a:rPr>
              <a:t>IControlLoop</a:t>
            </a:r>
            <a:r>
              <a:rPr lang="en-US" sz="1800" dirty="0">
                <a:solidFill>
                  <a:srgbClr val="C9D1D9"/>
                </a:solidFill>
                <a:latin typeface="Consolas"/>
              </a:rPr>
              <a:t> {</a:t>
            </a:r>
          </a:p>
          <a:p>
            <a:r>
              <a:rPr lang="en-US" sz="1800" dirty="0">
                <a:solidFill>
                  <a:srgbClr val="C9D1D9"/>
                </a:solidFill>
                <a:latin typeface="Consolas"/>
              </a:rPr>
              <a:t>  type: </a:t>
            </a:r>
            <a:r>
              <a:rPr lang="en-US" sz="1800" dirty="0">
                <a:solidFill>
                  <a:srgbClr val="A5D6FF"/>
                </a:solidFill>
                <a:latin typeface="Consolas"/>
              </a:rPr>
              <a:t>"PID"</a:t>
            </a:r>
            <a:r>
              <a:rPr lang="en-US" sz="1800" dirty="0">
                <a:solidFill>
                  <a:srgbClr val="C9D1D9"/>
                </a:solidFill>
                <a:latin typeface="Consolas"/>
              </a:rPr>
              <a:t> | </a:t>
            </a:r>
            <a:r>
              <a:rPr lang="en-US" sz="1800" dirty="0">
                <a:solidFill>
                  <a:srgbClr val="A5D6FF"/>
                </a:solidFill>
                <a:latin typeface="Consolas"/>
              </a:rPr>
              <a:t>"MPC"</a:t>
            </a:r>
            <a:r>
              <a:rPr lang="en-US" sz="1800" dirty="0">
                <a:solidFill>
                  <a:srgbClr val="C9D1D9"/>
                </a:solidFill>
                <a:latin typeface="Consolas"/>
              </a:rPr>
              <a:t> | </a:t>
            </a:r>
            <a:r>
              <a:rPr lang="en-US" sz="1800" dirty="0">
                <a:solidFill>
                  <a:srgbClr val="A5D6FF"/>
                </a:solidFill>
                <a:latin typeface="Consolas"/>
              </a:rPr>
              <a:t>"LQR"</a:t>
            </a:r>
          </a:p>
          <a:p>
            <a:r>
              <a:rPr lang="en-US" sz="1800" dirty="0">
                <a:solidFill>
                  <a:srgbClr val="C9D1D9"/>
                </a:solidFill>
                <a:latin typeface="Consolas"/>
              </a:rPr>
              <a:t>    | </a:t>
            </a:r>
            <a:r>
              <a:rPr lang="en-US" sz="1800" dirty="0">
                <a:solidFill>
                  <a:srgbClr val="A5D6FF"/>
                </a:solidFill>
                <a:latin typeface="Consolas"/>
              </a:rPr>
              <a:t>"feedforward"</a:t>
            </a:r>
            <a:r>
              <a:rPr lang="en-US" sz="1800" dirty="0">
                <a:solidFill>
                  <a:srgbClr val="C9D1D9"/>
                </a:solidFill>
                <a:latin typeface="Consolas"/>
              </a:rPr>
              <a:t> | </a:t>
            </a:r>
            <a:r>
              <a:rPr lang="en-US" sz="1800" dirty="0">
                <a:solidFill>
                  <a:srgbClr val="A5D6FF"/>
                </a:solidFill>
                <a:latin typeface="Consolas"/>
              </a:rPr>
              <a:t>"cascade"</a:t>
            </a:r>
            <a:r>
              <a:rPr lang="en-US" sz="1800" dirty="0">
                <a:solidFill>
                  <a:srgbClr val="C9D1D9"/>
                </a:solidFill>
                <a:latin typeface="Consolas"/>
              </a:rPr>
              <a:t>;</a:t>
            </a:r>
          </a:p>
          <a:p>
            <a:r>
              <a:rPr lang="en-US" sz="1800" dirty="0">
                <a:solidFill>
                  <a:srgbClr val="C9D1D9"/>
                </a:solidFill>
                <a:latin typeface="Consolas"/>
              </a:rPr>
              <a:t>  plant_model: </a:t>
            </a:r>
            <a:r>
              <a:rPr lang="en-US" sz="1800" dirty="0">
                <a:solidFill>
                  <a:srgbClr val="FFA657"/>
                </a:solidFill>
                <a:latin typeface="Consolas"/>
              </a:rPr>
              <a:t>ITransferFunction</a:t>
            </a:r>
            <a:r>
              <a:rPr lang="en-US" sz="1800" dirty="0">
                <a:solidFill>
                  <a:srgbClr val="C9D1D9"/>
                </a:solidFill>
                <a:latin typeface="Consolas"/>
              </a:rPr>
              <a:t>;</a:t>
            </a:r>
          </a:p>
          <a:p>
            <a:r>
              <a:rPr lang="en-US" sz="1800" dirty="0">
                <a:solidFill>
                  <a:srgbClr val="C9D1D9"/>
                </a:solidFill>
                <a:latin typeface="Consolas"/>
              </a:rPr>
              <a:t>  sampling_rate: </a:t>
            </a:r>
            <a:r>
              <a:rPr lang="en-US" sz="1800" dirty="0">
                <a:solidFill>
                  <a:srgbClr val="79C0FF"/>
                </a:solidFill>
                <a:latin typeface="Consolas"/>
              </a:rPr>
              <a:t>number</a:t>
            </a:r>
            <a:r>
              <a:rPr lang="en-US" sz="1800" dirty="0">
                <a:solidFill>
                  <a:srgbClr val="C9D1D9"/>
                </a:solidFill>
                <a:latin typeface="Consolas"/>
              </a:rPr>
              <a:t>;  </a:t>
            </a:r>
            <a:r>
              <a:rPr lang="en-US" sz="1800" dirty="0">
                <a:solidFill>
                  <a:srgbClr val="8B949E"/>
                </a:solidFill>
                <a:latin typeface="Consolas"/>
              </a:rPr>
              <a:t>// Hz</a:t>
            </a:r>
          </a:p>
          <a:p>
            <a:r>
              <a:rPr lang="en-US" sz="1800" dirty="0">
                <a:solidFill>
                  <a:srgbClr val="C9D1D9"/>
                </a:solidFill>
                <a:latin typeface="Consolas"/>
              </a:rPr>
              <a:t>  constraints: </a:t>
            </a:r>
            <a:r>
              <a:rPr lang="en-US" sz="1800" dirty="0">
                <a:solidFill>
                  <a:srgbClr val="FFA657"/>
                </a:solidFill>
                <a:latin typeface="Consolas"/>
              </a:rPr>
              <a:t>IConstraint</a:t>
            </a:r>
            <a:r>
              <a:rPr lang="en-US" sz="1800" dirty="0">
                <a:solidFill>
                  <a:srgbClr val="C9D1D9"/>
                </a:solidFill>
                <a:latin typeface="Consolas"/>
              </a:rPr>
              <a:t>[];</a:t>
            </a:r>
          </a:p>
          <a:p>
            <a:r>
              <a:rPr lang="en-US" sz="1800" dirty="0">
                <a:solidFill>
                  <a:srgbClr val="C9D1D9"/>
                </a:solidFill>
                <a:latin typeface="Consolas"/>
              </a:rPr>
              <a:t>}</a:t>
            </a:r>
          </a:p>
          <a:p>
            <a:endParaRPr lang="en-US" sz="1800" dirty="0">
              <a:solidFill>
                <a:srgbClr val="C9D1D9"/>
              </a:solidFill>
              <a:latin typeface="Consolas"/>
            </a:endParaRPr>
          </a:p>
          <a:p>
            <a:r>
              <a:rPr lang="en-US" sz="1800" dirty="0">
                <a:solidFill>
                  <a:srgbClr val="8B949E"/>
                </a:solidFill>
                <a:latin typeface="Consolas"/>
              </a:rPr>
              <a:t>// Transfer fn (fast) → Stability (med)</a:t>
            </a:r>
          </a:p>
          <a:p>
            <a:r>
              <a:rPr lang="en-US" sz="1800" dirty="0">
                <a:solidFill>
                  <a:srgbClr val="8B949E"/>
                </a:solidFill>
                <a:latin typeface="Consolas"/>
              </a:rPr>
              <a:t>// → Time-domain sim (deep)</a:t>
            </a:r>
          </a:p>
        </p:txBody>
      </p:sp>
      <p:sp>
        <p:nvSpPr>
          <p:cNvPr id="6" name="TextBox 5">
            <a:extLst>
              <a:ext uri="{FF2B5EF4-FFF2-40B4-BE49-F238E27FC236}">
                <a16:creationId xmlns:a16="http://schemas.microsoft.com/office/drawing/2014/main" id="{008315D4-ABF5-4104-B296-3A17DEFBA1C6}"/>
              </a:ext>
            </a:extLst>
          </p:cNvPr>
          <p:cNvSpPr txBox="1"/>
          <p:nvPr/>
        </p:nvSpPr>
        <p:spPr>
          <a:xfrm>
            <a:off x="1016000" y="4826000"/>
            <a:ext cx="10160000" cy="889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Bode plots, Nyquist plots, pole placement: 60+ years of analysis tools.
Stability is mathematically provable.</a:t>
            </a:r>
          </a:p>
        </p:txBody>
      </p:sp>
    </p:spTree>
    <p:extLst>
      <p:ext uri="{BB962C8B-B14F-4D97-AF65-F5344CB8AC3E}">
        <p14:creationId xmlns:p14="http://schemas.microsoft.com/office/powerpoint/2010/main" val="7052297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F0C9CC-3A53-4680-B86E-FA72EAE45194}"/>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The Common Structure</a:t>
            </a:r>
          </a:p>
        </p:txBody>
      </p:sp>
      <p:sp>
        <p:nvSpPr>
          <p:cNvPr id="3" name="직사각형 2">
            <a:extLst>
              <a:ext uri="{FF2B5EF4-FFF2-40B4-BE49-F238E27FC236}">
                <a16:creationId xmlns:a16="http://schemas.microsoft.com/office/drawing/2014/main" id="{6E8A1B96-B565-49B4-9A06-DA5EF9D8530E}"/>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9226617B-B04A-4011-9320-B304DA23B30B}"/>
              </a:ext>
            </a:extLst>
          </p:cNvPr>
          <p:cNvSpPr txBox="1"/>
          <p:nvPr/>
        </p:nvSpPr>
        <p:spPr>
          <a:xfrm>
            <a:off x="1016000" y="1270000"/>
            <a:ext cx="10160000" cy="762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Every domain has a type field with enumerated variants.
Several nest recursively — the same union + tree structures as AutoBe.</a:t>
            </a:r>
          </a:p>
        </p:txBody>
      </p:sp>
      <p:sp>
        <p:nvSpPr>
          <p:cNvPr id="5" name="TextBox 4">
            <a:extLst>
              <a:ext uri="{FF2B5EF4-FFF2-40B4-BE49-F238E27FC236}">
                <a16:creationId xmlns:a16="http://schemas.microsoft.com/office/drawing/2014/main" id="{7633EF06-B9C0-4A9F-BBB2-B3C999981E84}"/>
              </a:ext>
            </a:extLst>
          </p:cNvPr>
          <p:cNvSpPr txBox="1"/>
          <p:nvPr/>
        </p:nvSpPr>
        <p:spPr>
          <a:xfrm>
            <a:off x="1016000" y="2349500"/>
            <a:ext cx="10160000" cy="3048000"/>
          </a:xfrm>
          <a:prstGeom prst="rect">
            <a:avLst/>
          </a:prstGeom>
          <a:noFill/>
        </p:spPr>
        <p:txBody>
          <a:bodyPr vertOverflow="overflow" vert="horz" wrap="square" rtlCol="0" anchor="t">
            <a:spAutoFit/>
          </a:bodyPr>
          <a:lstStyle/>
          <a:p>
            <a:r>
              <a:rPr lang="en-US" sz="1400" dirty="0">
                <a:solidFill>
                  <a:srgbClr val="00D4AA"/>
                </a:solidFill>
                <a:latin typeface="Consolas"/>
              </a:rPr>
              <a:t>Domain           Type             Recursive    Validator</a:t>
            </a:r>
          </a:p>
          <a:p>
            <a:r>
              <a:rPr lang="en-US" sz="1400" dirty="0">
                <a:solidFill>
                  <a:srgbClr val="C9D1D9"/>
                </a:solidFill>
                <a:latin typeface="Consolas"/>
              </a:rPr>
              <a:t>─────────────────────────────────────────────────────────</a:t>
            </a:r>
          </a:p>
          <a:p>
            <a:r>
              <a:rPr lang="en-US" sz="1400" dirty="0">
                <a:solidFill>
                  <a:srgbClr val="FFA657"/>
                </a:solidFill>
                <a:latin typeface="Consolas"/>
              </a:rPr>
              <a:t>Semiconductors</a:t>
            </a:r>
            <a:r>
              <a:rPr lang="en-US" sz="1400" dirty="0">
                <a:solidFill>
                  <a:srgbClr val="C9D1D9"/>
                </a:solidFill>
                <a:latin typeface="Consolas"/>
              </a:rPr>
              <a:t>   </a:t>
            </a:r>
            <a:r>
              <a:rPr lang="en-US" sz="1400" dirty="0">
                <a:solidFill>
                  <a:srgbClr val="4EC9B0"/>
                </a:solidFill>
                <a:latin typeface="Consolas"/>
              </a:rPr>
              <a:t>IBlock</a:t>
            </a:r>
            <a:r>
              <a:rPr lang="en-US" sz="1400" dirty="0">
                <a:solidFill>
                  <a:srgbClr val="C9D1D9"/>
                </a:solidFill>
                <a:latin typeface="Consolas"/>
              </a:rPr>
              <a:t>           </a:t>
            </a:r>
            <a:r>
              <a:rPr lang="en-US" sz="1400" dirty="0">
                <a:solidFill>
                  <a:srgbClr val="C586C0"/>
                </a:solidFill>
                <a:latin typeface="Consolas"/>
              </a:rPr>
              <a:t>sub_blocks[]</a:t>
            </a:r>
            <a:r>
              <a:rPr lang="en-US" sz="1400" dirty="0">
                <a:solidFill>
                  <a:srgbClr val="C9D1D9"/>
                </a:solidFill>
                <a:latin typeface="Consolas"/>
              </a:rPr>
              <a:t> DRC/LVS/SPICE</a:t>
            </a:r>
          </a:p>
          <a:p>
            <a:r>
              <a:rPr lang="en-US" sz="1400" dirty="0">
                <a:solidFill>
                  <a:srgbClr val="FFA657"/>
                </a:solidFill>
                <a:latin typeface="Consolas"/>
              </a:rPr>
              <a:t>Chemical</a:t>
            </a:r>
            <a:r>
              <a:rPr lang="en-US" sz="1400" dirty="0">
                <a:solidFill>
                  <a:srgbClr val="C9D1D9"/>
                </a:solidFill>
                <a:latin typeface="Consolas"/>
              </a:rPr>
              <a:t>         </a:t>
            </a:r>
            <a:r>
              <a:rPr lang="en-US" sz="1400" dirty="0">
                <a:solidFill>
                  <a:srgbClr val="4EC9B0"/>
                </a:solidFill>
                <a:latin typeface="Consolas"/>
              </a:rPr>
              <a:t>IUnitOperation</a:t>
            </a:r>
            <a:r>
              <a:rPr lang="en-US" sz="1400" dirty="0">
                <a:solidFill>
                  <a:srgbClr val="C9D1D9"/>
                </a:solidFill>
                <a:latin typeface="Consolas"/>
              </a:rPr>
              <a:t>   </a:t>
            </a:r>
            <a:r>
              <a:rPr lang="en-US" sz="1400" dirty="0">
                <a:solidFill>
                  <a:srgbClr val="C586C0"/>
                </a:solidFill>
                <a:latin typeface="Consolas"/>
              </a:rPr>
              <a:t>streams[]</a:t>
            </a:r>
            <a:r>
              <a:rPr lang="en-US" sz="1400" dirty="0">
                <a:solidFill>
                  <a:srgbClr val="C9D1D9"/>
                </a:solidFill>
                <a:latin typeface="Consolas"/>
              </a:rPr>
              <a:t>    Mass/Energy bal</a:t>
            </a:r>
          </a:p>
          <a:p>
            <a:r>
              <a:rPr lang="en-US" sz="1400" dirty="0">
                <a:solidFill>
                  <a:srgbClr val="FFA657"/>
                </a:solidFill>
                <a:latin typeface="Consolas"/>
              </a:rPr>
              <a:t>Interior</a:t>
            </a:r>
            <a:r>
              <a:rPr lang="en-US" sz="1400" dirty="0">
                <a:solidFill>
                  <a:srgbClr val="C9D1D9"/>
                </a:solidFill>
                <a:latin typeface="Consolas"/>
              </a:rPr>
              <a:t>         </a:t>
            </a:r>
            <a:r>
              <a:rPr lang="en-US" sz="1400" dirty="0">
                <a:solidFill>
                  <a:srgbClr val="4EC9B0"/>
                </a:solidFill>
                <a:latin typeface="Consolas"/>
              </a:rPr>
              <a:t>IRoom</a:t>
            </a:r>
            <a:r>
              <a:rPr lang="en-US" sz="1400" dirty="0">
                <a:solidFill>
                  <a:srgbClr val="C9D1D9"/>
                </a:solidFill>
                <a:latin typeface="Consolas"/>
              </a:rPr>
              <a:t>            </a:t>
            </a:r>
            <a:r>
              <a:rPr lang="en-US" sz="1400" dirty="0">
                <a:solidFill>
                  <a:srgbClr val="C586C0"/>
                </a:solidFill>
                <a:latin typeface="Consolas"/>
              </a:rPr>
              <a:t>fixtures[]</a:t>
            </a:r>
            <a:r>
              <a:rPr lang="en-US" sz="1400" dirty="0">
                <a:solidFill>
                  <a:srgbClr val="C9D1D9"/>
                </a:solidFill>
                <a:latin typeface="Consolas"/>
              </a:rPr>
              <a:t>   Clearance/Codes</a:t>
            </a:r>
          </a:p>
          <a:p>
            <a:r>
              <a:rPr lang="en-US" sz="1400" dirty="0">
                <a:solidFill>
                  <a:srgbClr val="FFA657"/>
                </a:solidFill>
                <a:latin typeface="Consolas"/>
              </a:rPr>
              <a:t>Control</a:t>
            </a:r>
            <a:r>
              <a:rPr lang="en-US" sz="1400" dirty="0">
                <a:solidFill>
                  <a:srgbClr val="C9D1D9"/>
                </a:solidFill>
                <a:latin typeface="Consolas"/>
              </a:rPr>
              <a:t>          </a:t>
            </a:r>
            <a:r>
              <a:rPr lang="en-US" sz="1400" dirty="0">
                <a:solidFill>
                  <a:srgbClr val="4EC9B0"/>
                </a:solidFill>
                <a:latin typeface="Consolas"/>
              </a:rPr>
              <a:t>IControlLoop</a:t>
            </a:r>
            <a:r>
              <a:rPr lang="en-US" sz="1400" dirty="0">
                <a:solidFill>
                  <a:srgbClr val="C9D1D9"/>
                </a:solidFill>
                <a:latin typeface="Consolas"/>
              </a:rPr>
              <a:t>     </a:t>
            </a:r>
            <a:r>
              <a:rPr lang="en-US" sz="1400" dirty="0">
                <a:solidFill>
                  <a:srgbClr val="C586C0"/>
                </a:solidFill>
                <a:latin typeface="Consolas"/>
              </a:rPr>
              <a:t>constraints[]</a:t>
            </a:r>
            <a:r>
              <a:rPr lang="en-US" sz="1400" dirty="0">
                <a:solidFill>
                  <a:srgbClr val="C9D1D9"/>
                </a:solidFill>
                <a:latin typeface="Consolas"/>
              </a:rPr>
              <a:t>Stability/Sim</a:t>
            </a:r>
          </a:p>
          <a:p>
            <a:r>
              <a:rPr lang="en-US" sz="1400" dirty="0">
                <a:solidFill>
                  <a:srgbClr val="C9D1D9"/>
                </a:solidFill>
                <a:latin typeface="Consolas"/>
              </a:rPr>
              <a:t>─────────────────────────────────────────────────────────</a:t>
            </a:r>
          </a:p>
          <a:p>
            <a:r>
              <a:rPr lang="en-US" sz="1400" dirty="0">
                <a:solidFill>
                  <a:srgbClr val="6A9955"/>
                </a:solidFill>
                <a:latin typeface="Consolas"/>
              </a:rPr>
              <a:t>// Same pattern: interface → union → tree → validators</a:t>
            </a:r>
          </a:p>
        </p:txBody>
      </p:sp>
      <p:sp>
        <p:nvSpPr>
          <p:cNvPr id="6" name="TextBox 5">
            <a:extLst>
              <a:ext uri="{FF2B5EF4-FFF2-40B4-BE49-F238E27FC236}">
                <a16:creationId xmlns:a16="http://schemas.microsoft.com/office/drawing/2014/main" id="{01CA424B-9FD3-4996-A887-3CA10A870725}"/>
              </a:ext>
            </a:extLst>
          </p:cNvPr>
          <p:cNvSpPr txBox="1"/>
          <p:nvPr/>
        </p:nvSpPr>
        <p:spPr>
          <a:xfrm>
            <a:off x="1016000" y="5588000"/>
            <a:ext cx="10160000" cy="889000"/>
          </a:xfrm>
          <a:prstGeom prst="rect">
            <a:avLst/>
          </a:prstGeom>
          <a:noFill/>
        </p:spPr>
        <p:txBody>
          <a:bodyPr vertOverflow="overflow" vert="horz" wrap="square" rtlCol="0" anchor="t">
            <a:spAutoFit/>
          </a:bodyPr>
          <a:lstStyle/>
          <a:p>
            <a:pPr algn="l"/>
            <a:r>
              <a:rPr lang="en-US" sz="2000" b="1">
                <a:solidFill>
                  <a:srgbClr val="FFD93D"/>
                </a:solidFill>
                <a:latin typeface="Segoe UI"/>
                <a:cs typeface="Segoe UI"/>
              </a:rPr>
              <a:t>Hierarchical decomposition produces recursive union types.
Conquering union types = prerequisite for transfer.</a:t>
            </a:r>
          </a:p>
        </p:txBody>
      </p:sp>
    </p:spTree>
    <p:extLst>
      <p:ext uri="{BB962C8B-B14F-4D97-AF65-F5344CB8AC3E}">
        <p14:creationId xmlns:p14="http://schemas.microsoft.com/office/powerpoint/2010/main" val="1290282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94AF7A-A255-48B3-9F9C-BF3069818AAD}"/>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F6B6B"/>
                </a:solidFill>
              </a:rPr>
              <a:t>Where the Harness Doesn't Apply</a:t>
            </a:r>
          </a:p>
        </p:txBody>
      </p:sp>
      <p:sp>
        <p:nvSpPr>
          <p:cNvPr id="3" name="직사각형 2">
            <a:extLst>
              <a:ext uri="{FF2B5EF4-FFF2-40B4-BE49-F238E27FC236}">
                <a16:creationId xmlns:a16="http://schemas.microsoft.com/office/drawing/2014/main" id="{858A8A76-6213-40CA-B9B5-DC63D70AFC31}"/>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1B079557-06AB-441B-A89F-65DA92BE13F5}"/>
              </a:ext>
            </a:extLst>
          </p:cNvPr>
          <p:cNvSpPr txBox="1"/>
          <p:nvPr/>
        </p:nvSpPr>
        <p:spPr>
          <a:xfrm>
            <a:off x="1016000" y="1397000"/>
            <a:ext cx="10160000" cy="3810000"/>
          </a:xfrm>
          <a:prstGeom prst="rect">
            <a:avLst/>
          </a:prstGeom>
          <a:noFill/>
        </p:spPr>
        <p:txBody>
          <a:bodyPr vertOverflow="overflow" vert="horz" wrap="square" rtlCol="0" anchor="t">
            <a:spAutoFit/>
          </a:bodyPr>
          <a:lstStyle/>
          <a:p>
            <a:pPr algn="l"/>
            <a:r>
              <a:rPr lang="en-US" sz="2000">
                <a:solidFill>
                  <a:srgbClr val="D0D0D0"/>
                </a:solidFill>
              </a:rPr>
              <a:t>▸ Domains without deterministic validators:
   creative writing, emotional intelligence, strategic decisions
▸ When building the structure costs more than tolerating uncertainty
▸ This is not a universal solution — it's for domains where
   correctness is non-negotiable and mechanically verifiable.</a:t>
            </a:r>
          </a:p>
        </p:txBody>
      </p:sp>
      <p:sp>
        <p:nvSpPr>
          <p:cNvPr id="5" name="사각형: 둥근 모서리 4">
            <a:extLst>
              <a:ext uri="{FF2B5EF4-FFF2-40B4-BE49-F238E27FC236}">
                <a16:creationId xmlns:a16="http://schemas.microsoft.com/office/drawing/2014/main" id="{53F19485-5604-4C02-B3D9-625D9FFDF6CF}"/>
              </a:ext>
            </a:extLst>
          </p:cNvPr>
          <p:cNvSpPr/>
          <p:nvPr/>
        </p:nvSpPr>
        <p:spPr>
          <a:xfrm>
            <a:off x="1016000" y="5461000"/>
            <a:ext cx="10160000" cy="889000"/>
          </a:xfrm>
          <a:prstGeom prst="roundRect">
            <a:avLst/>
          </a:prstGeom>
          <a:solidFill>
            <a:srgbClr val="2A2A4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805372C-3BEE-4E30-8100-9DF2E2BE7A2E}"/>
              </a:ext>
            </a:extLst>
          </p:cNvPr>
          <p:cNvSpPr txBox="1"/>
          <p:nvPr/>
        </p:nvSpPr>
        <p:spPr>
          <a:xfrm>
            <a:off x="1270000" y="5588000"/>
            <a:ext cx="9652000" cy="635000"/>
          </a:xfrm>
          <a:prstGeom prst="rect">
            <a:avLst/>
          </a:prstGeom>
          <a:noFill/>
        </p:spPr>
        <p:txBody>
          <a:bodyPr vertOverflow="overflow" vert="horz" wrap="square" rtlCol="0" anchor="t">
            <a:spAutoFit/>
          </a:bodyPr>
          <a:lstStyle/>
          <a:p>
            <a:pPr algn="l"/>
            <a:r>
              <a:rPr lang="en-US" b="1">
                <a:solidFill>
                  <a:srgbClr val="FFD93D"/>
                </a:solidFill>
              </a:rPr>
              <a:t>The harness pattern works where outputs are mechanically verifiable.
Where they aren't, different strategies are needed.</a:t>
            </a:r>
          </a:p>
        </p:txBody>
      </p:sp>
    </p:spTree>
    <p:extLst>
      <p:ext uri="{BB962C8B-B14F-4D97-AF65-F5344CB8AC3E}">
        <p14:creationId xmlns:p14="http://schemas.microsoft.com/office/powerpoint/2010/main" val="3881684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This Pattern Is Universal</a:t>
            </a:r>
          </a:p>
        </p:txBody>
      </p:sp>
      <p:sp>
        <p:nvSpPr>
          <p:cNvPr id="11" name="AL"/>
          <p:cNvSpPr/>
          <p:nvPr/>
        </p:nvSpPr>
        <p:spPr>
          <a:xfrm>
            <a:off x="762000" y="1041400"/>
            <a:ext cx="1524000" cy="38100"/>
          </a:xfrm>
          <a:prstGeom prst="rect">
            <a:avLst/>
          </a:prstGeom>
          <a:solidFill>
            <a:srgbClr val="6C5CE7"/>
          </a:solidFill>
          <a:ln>
            <a:noFill/>
          </a:ln>
        </p:spPr>
        <p:txBody>
          <a:bodyPr/>
          <a:lstStyle/>
          <a:p>
            <a:endParaRPr lang="en-US"/>
          </a:p>
        </p:txBody>
      </p:sp>
      <p:sp>
        <p:nvSpPr>
          <p:cNvPr id="12" name="Sub"/>
          <p:cNvSpPr/>
          <p:nvPr/>
        </p:nvSpPr>
        <p:spPr>
          <a:xfrm>
            <a:off x="762000" y="1206500"/>
            <a:ext cx="10668000" cy="317500"/>
          </a:xfrm>
          <a:prstGeom prst="rect">
            <a:avLst/>
          </a:prstGeom>
          <a:noFill/>
          <a:ln>
            <a:noFill/>
          </a:ln>
        </p:spPr>
        <p:txBody>
          <a:bodyPr wrap="square" lIns="0" tIns="0" rIns="0" bIns="0" anchor="t"/>
          <a:lstStyle/>
          <a:p>
            <a:pPr algn="l"/>
            <a:r>
              <a:rPr lang="en-US" sz="1800" dirty="0">
                <a:solidFill>
                  <a:srgbClr val="808080"/>
                </a:solidFill>
                <a:latin typeface="Segoe UI"/>
              </a:rPr>
              <a:t>Every domain where output is mechanically verifiable</a:t>
            </a:r>
          </a:p>
        </p:txBody>
      </p:sp>
      <p:sp>
        <p:nvSpPr>
          <p:cNvPr id="15" name="HBg"/>
          <p:cNvSpPr/>
          <p:nvPr/>
        </p:nvSpPr>
        <p:spPr>
          <a:xfrm>
            <a:off x="762000" y="1714500"/>
            <a:ext cx="10668000" cy="609600"/>
          </a:xfrm>
          <a:prstGeom prst="roundRect">
            <a:avLst>
              <a:gd name="adj" fmla="val 6000"/>
            </a:avLst>
          </a:prstGeom>
          <a:solidFill>
            <a:srgbClr val="1A2332"/>
          </a:solidFill>
          <a:ln>
            <a:noFill/>
          </a:ln>
        </p:spPr>
        <p:txBody>
          <a:bodyPr/>
          <a:lstStyle/>
          <a:p>
            <a:endParaRPr lang="en-US"/>
          </a:p>
        </p:txBody>
      </p:sp>
      <p:sp>
        <p:nvSpPr>
          <p:cNvPr id="16" name="H0"/>
          <p:cNvSpPr/>
          <p:nvPr/>
        </p:nvSpPr>
        <p:spPr>
          <a:xfrm>
            <a:off x="762000" y="1714500"/>
            <a:ext cx="1905000" cy="609600"/>
          </a:xfrm>
          <a:prstGeom prst="rect">
            <a:avLst/>
          </a:prstGeom>
          <a:noFill/>
          <a:ln>
            <a:noFill/>
          </a:ln>
        </p:spPr>
        <p:txBody>
          <a:bodyPr wrap="square" lIns="101600" tIns="0" rIns="101600" bIns="0" anchor="ctr"/>
          <a:lstStyle/>
          <a:p>
            <a:pPr algn="l"/>
            <a:r>
              <a:rPr lang="en-US" sz="1800" b="1" dirty="0">
                <a:solidFill>
                  <a:srgbClr val="A0A0A0"/>
                </a:solidFill>
                <a:latin typeface="Segoe UI Semibold"/>
              </a:rPr>
              <a:t>Domain</a:t>
            </a:r>
          </a:p>
        </p:txBody>
      </p:sp>
      <p:sp>
        <p:nvSpPr>
          <p:cNvPr id="17" name="H1"/>
          <p:cNvSpPr/>
          <p:nvPr/>
        </p:nvSpPr>
        <p:spPr>
          <a:xfrm>
            <a:off x="2794000" y="1714500"/>
            <a:ext cx="2413000" cy="609600"/>
          </a:xfrm>
          <a:prstGeom prst="rect">
            <a:avLst/>
          </a:prstGeom>
          <a:noFill/>
          <a:ln>
            <a:noFill/>
          </a:ln>
        </p:spPr>
        <p:txBody>
          <a:bodyPr wrap="square" lIns="101600" tIns="0" rIns="101600" bIns="0" anchor="ctr"/>
          <a:lstStyle/>
          <a:p>
            <a:pPr algn="l"/>
            <a:r>
              <a:rPr lang="en-US" sz="1800" b="1" dirty="0">
                <a:solidFill>
                  <a:srgbClr val="A0A0A0"/>
                </a:solidFill>
                <a:latin typeface="Segoe UI Semibold"/>
              </a:rPr>
              <a:t>Fast (ms)</a:t>
            </a:r>
          </a:p>
        </p:txBody>
      </p:sp>
      <p:sp>
        <p:nvSpPr>
          <p:cNvPr id="18" name="H2"/>
          <p:cNvSpPr/>
          <p:nvPr/>
        </p:nvSpPr>
        <p:spPr>
          <a:xfrm>
            <a:off x="5334000" y="1714500"/>
            <a:ext cx="2413000" cy="609600"/>
          </a:xfrm>
          <a:prstGeom prst="rect">
            <a:avLst/>
          </a:prstGeom>
          <a:noFill/>
          <a:ln>
            <a:noFill/>
          </a:ln>
        </p:spPr>
        <p:txBody>
          <a:bodyPr wrap="square" lIns="101600" tIns="0" rIns="101600" bIns="0" anchor="ctr"/>
          <a:lstStyle/>
          <a:p>
            <a:pPr algn="l"/>
            <a:r>
              <a:rPr lang="en-US" sz="1800" b="1" dirty="0">
                <a:solidFill>
                  <a:srgbClr val="A0A0A0"/>
                </a:solidFill>
                <a:latin typeface="Segoe UI Semibold"/>
              </a:rPr>
              <a:t>Medium (sec)</a:t>
            </a:r>
          </a:p>
        </p:txBody>
      </p:sp>
      <p:sp>
        <p:nvSpPr>
          <p:cNvPr id="19" name="H3"/>
          <p:cNvSpPr/>
          <p:nvPr/>
        </p:nvSpPr>
        <p:spPr>
          <a:xfrm>
            <a:off x="7874000" y="1714500"/>
            <a:ext cx="2413000" cy="609600"/>
          </a:xfrm>
          <a:prstGeom prst="rect">
            <a:avLst/>
          </a:prstGeom>
          <a:noFill/>
          <a:ln>
            <a:noFill/>
          </a:ln>
        </p:spPr>
        <p:txBody>
          <a:bodyPr wrap="square" lIns="101600" tIns="0" rIns="101600" bIns="0" anchor="ctr"/>
          <a:lstStyle/>
          <a:p>
            <a:pPr algn="l"/>
            <a:r>
              <a:rPr lang="en-US" sz="1800" b="1" dirty="0">
                <a:solidFill>
                  <a:srgbClr val="A0A0A0"/>
                </a:solidFill>
                <a:latin typeface="Segoe UI Semibold"/>
              </a:rPr>
              <a:t>Deep (min+)</a:t>
            </a:r>
          </a:p>
        </p:txBody>
      </p:sp>
      <p:sp>
        <p:nvSpPr>
          <p:cNvPr id="30" name="D00"/>
          <p:cNvSpPr/>
          <p:nvPr/>
        </p:nvSpPr>
        <p:spPr>
          <a:xfrm>
            <a:off x="762000" y="2400300"/>
            <a:ext cx="1905000" cy="609600"/>
          </a:xfrm>
          <a:prstGeom prst="rect">
            <a:avLst/>
          </a:prstGeom>
          <a:noFill/>
          <a:ln>
            <a:noFill/>
          </a:ln>
        </p:spPr>
        <p:txBody>
          <a:bodyPr wrap="square" lIns="101600" tIns="0" rIns="101600" bIns="0" anchor="ctr"/>
          <a:lstStyle/>
          <a:p>
            <a:pPr algn="l"/>
            <a:r>
              <a:rPr lang="en-US" sz="1800" b="1" dirty="0">
                <a:solidFill>
                  <a:srgbClr val="00D4AA"/>
                </a:solidFill>
                <a:latin typeface="Segoe UI Semibold"/>
              </a:rPr>
              <a:t>Software</a:t>
            </a:r>
          </a:p>
        </p:txBody>
      </p:sp>
      <p:sp>
        <p:nvSpPr>
          <p:cNvPr id="31" name="D01"/>
          <p:cNvSpPr/>
          <p:nvPr/>
        </p:nvSpPr>
        <p:spPr>
          <a:xfrm>
            <a:off x="2794000" y="24003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Type check</a:t>
            </a:r>
          </a:p>
        </p:txBody>
      </p:sp>
      <p:sp>
        <p:nvSpPr>
          <p:cNvPr id="32" name="D02"/>
          <p:cNvSpPr/>
          <p:nvPr/>
        </p:nvSpPr>
        <p:spPr>
          <a:xfrm>
            <a:off x="5334000" y="24003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Compilation</a:t>
            </a:r>
          </a:p>
        </p:txBody>
      </p:sp>
      <p:sp>
        <p:nvSpPr>
          <p:cNvPr id="33" name="D03"/>
          <p:cNvSpPr/>
          <p:nvPr/>
        </p:nvSpPr>
        <p:spPr>
          <a:xfrm>
            <a:off x="7874000" y="24003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Test execution</a:t>
            </a:r>
          </a:p>
        </p:txBody>
      </p:sp>
      <p:sp>
        <p:nvSpPr>
          <p:cNvPr id="34" name="D10"/>
          <p:cNvSpPr/>
          <p:nvPr/>
        </p:nvSpPr>
        <p:spPr>
          <a:xfrm>
            <a:off x="762000" y="3086100"/>
            <a:ext cx="1905000" cy="609600"/>
          </a:xfrm>
          <a:prstGeom prst="rect">
            <a:avLst/>
          </a:prstGeom>
          <a:noFill/>
          <a:ln>
            <a:noFill/>
          </a:ln>
        </p:spPr>
        <p:txBody>
          <a:bodyPr wrap="square" lIns="101600" tIns="0" rIns="101600" bIns="0" anchor="ctr"/>
          <a:lstStyle/>
          <a:p>
            <a:pPr algn="l"/>
            <a:r>
              <a:rPr lang="en-US" sz="1800" b="1" dirty="0">
                <a:solidFill>
                  <a:srgbClr val="74B9FF"/>
                </a:solidFill>
                <a:latin typeface="Segoe UI Semibold"/>
              </a:rPr>
              <a:t>Semiconductor</a:t>
            </a:r>
          </a:p>
        </p:txBody>
      </p:sp>
      <p:sp>
        <p:nvSpPr>
          <p:cNvPr id="35" name="D11"/>
          <p:cNvSpPr/>
          <p:nvPr/>
        </p:nvSpPr>
        <p:spPr>
          <a:xfrm>
            <a:off x="2794000" y="30861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DRC</a:t>
            </a:r>
          </a:p>
        </p:txBody>
      </p:sp>
      <p:sp>
        <p:nvSpPr>
          <p:cNvPr id="36" name="D12"/>
          <p:cNvSpPr/>
          <p:nvPr/>
        </p:nvSpPr>
        <p:spPr>
          <a:xfrm>
            <a:off x="5334000" y="30861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LVS</a:t>
            </a:r>
          </a:p>
        </p:txBody>
      </p:sp>
      <p:sp>
        <p:nvSpPr>
          <p:cNvPr id="37" name="D13"/>
          <p:cNvSpPr/>
          <p:nvPr/>
        </p:nvSpPr>
        <p:spPr>
          <a:xfrm>
            <a:off x="7874000" y="30861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SPICE simulation</a:t>
            </a:r>
          </a:p>
        </p:txBody>
      </p:sp>
      <p:sp>
        <p:nvSpPr>
          <p:cNvPr id="38" name="D20"/>
          <p:cNvSpPr/>
          <p:nvPr/>
        </p:nvSpPr>
        <p:spPr>
          <a:xfrm>
            <a:off x="762000" y="3771900"/>
            <a:ext cx="1905000" cy="609600"/>
          </a:xfrm>
          <a:prstGeom prst="rect">
            <a:avLst/>
          </a:prstGeom>
          <a:noFill/>
          <a:ln>
            <a:noFill/>
          </a:ln>
        </p:spPr>
        <p:txBody>
          <a:bodyPr wrap="square" lIns="101600" tIns="0" rIns="101600" bIns="0" anchor="ctr"/>
          <a:lstStyle/>
          <a:p>
            <a:pPr algn="l"/>
            <a:r>
              <a:rPr lang="en-US" sz="1800" b="1" dirty="0">
                <a:solidFill>
                  <a:srgbClr val="FFD93D"/>
                </a:solidFill>
                <a:latin typeface="Segoe UI Semibold"/>
              </a:rPr>
              <a:t>Chemical</a:t>
            </a:r>
          </a:p>
        </p:txBody>
      </p:sp>
      <p:sp>
        <p:nvSpPr>
          <p:cNvPr id="39" name="D21"/>
          <p:cNvSpPr/>
          <p:nvPr/>
        </p:nvSpPr>
        <p:spPr>
          <a:xfrm>
            <a:off x="2794000" y="37719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Mass balance</a:t>
            </a:r>
          </a:p>
        </p:txBody>
      </p:sp>
      <p:sp>
        <p:nvSpPr>
          <p:cNvPr id="40" name="D22"/>
          <p:cNvSpPr/>
          <p:nvPr/>
        </p:nvSpPr>
        <p:spPr>
          <a:xfrm>
            <a:off x="5334000" y="37719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Energy balance</a:t>
            </a:r>
          </a:p>
        </p:txBody>
      </p:sp>
      <p:sp>
        <p:nvSpPr>
          <p:cNvPr id="41" name="D23"/>
          <p:cNvSpPr/>
          <p:nvPr/>
        </p:nvSpPr>
        <p:spPr>
          <a:xfrm>
            <a:off x="7874000" y="37719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Process sim</a:t>
            </a:r>
          </a:p>
        </p:txBody>
      </p:sp>
      <p:sp>
        <p:nvSpPr>
          <p:cNvPr id="42" name="D30"/>
          <p:cNvSpPr/>
          <p:nvPr/>
        </p:nvSpPr>
        <p:spPr>
          <a:xfrm>
            <a:off x="762000" y="4457700"/>
            <a:ext cx="1905000" cy="609600"/>
          </a:xfrm>
          <a:prstGeom prst="rect">
            <a:avLst/>
          </a:prstGeom>
          <a:noFill/>
          <a:ln>
            <a:noFill/>
          </a:ln>
        </p:spPr>
        <p:txBody>
          <a:bodyPr wrap="square" lIns="101600" tIns="0" rIns="101600" bIns="0" anchor="ctr"/>
          <a:lstStyle/>
          <a:p>
            <a:pPr algn="l"/>
            <a:r>
              <a:rPr lang="en-US" sz="1800" b="1" dirty="0">
                <a:solidFill>
                  <a:srgbClr val="6C5CE7"/>
                </a:solidFill>
                <a:latin typeface="Segoe UI Semibold"/>
              </a:rPr>
              <a:t>Architecture</a:t>
            </a:r>
          </a:p>
        </p:txBody>
      </p:sp>
      <p:sp>
        <p:nvSpPr>
          <p:cNvPr id="43" name="D31"/>
          <p:cNvSpPr/>
          <p:nvPr/>
        </p:nvSpPr>
        <p:spPr>
          <a:xfrm>
            <a:off x="2794000" y="44577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Dimensions</a:t>
            </a:r>
          </a:p>
        </p:txBody>
      </p:sp>
      <p:sp>
        <p:nvSpPr>
          <p:cNvPr id="44" name="D32"/>
          <p:cNvSpPr/>
          <p:nvPr/>
        </p:nvSpPr>
        <p:spPr>
          <a:xfrm>
            <a:off x="5334000" y="44577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Building codes</a:t>
            </a:r>
          </a:p>
        </p:txBody>
      </p:sp>
      <p:sp>
        <p:nvSpPr>
          <p:cNvPr id="45" name="D33"/>
          <p:cNvSpPr/>
          <p:nvPr/>
        </p:nvSpPr>
        <p:spPr>
          <a:xfrm>
            <a:off x="7874000" y="44577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HVAC simulation</a:t>
            </a:r>
          </a:p>
        </p:txBody>
      </p:sp>
      <p:sp>
        <p:nvSpPr>
          <p:cNvPr id="46" name="D40"/>
          <p:cNvSpPr/>
          <p:nvPr/>
        </p:nvSpPr>
        <p:spPr>
          <a:xfrm>
            <a:off x="762000" y="5143500"/>
            <a:ext cx="1905000" cy="609600"/>
          </a:xfrm>
          <a:prstGeom prst="rect">
            <a:avLst/>
          </a:prstGeom>
          <a:noFill/>
          <a:ln>
            <a:noFill/>
          </a:ln>
        </p:spPr>
        <p:txBody>
          <a:bodyPr wrap="square" lIns="101600" tIns="0" rIns="101600" bIns="0" anchor="ctr"/>
          <a:lstStyle/>
          <a:p>
            <a:pPr algn="l"/>
            <a:r>
              <a:rPr lang="en-US" sz="1800" b="1" dirty="0">
                <a:solidFill>
                  <a:srgbClr val="FF6B6B"/>
                </a:solidFill>
                <a:latin typeface="Segoe UI Semibold"/>
              </a:rPr>
              <a:t>Control</a:t>
            </a:r>
          </a:p>
        </p:txBody>
      </p:sp>
      <p:sp>
        <p:nvSpPr>
          <p:cNvPr id="47" name="D41"/>
          <p:cNvSpPr/>
          <p:nvPr/>
        </p:nvSpPr>
        <p:spPr>
          <a:xfrm>
            <a:off x="2794000" y="51435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Transfer func</a:t>
            </a:r>
          </a:p>
        </p:txBody>
      </p:sp>
      <p:sp>
        <p:nvSpPr>
          <p:cNvPr id="48" name="D42"/>
          <p:cNvSpPr/>
          <p:nvPr/>
        </p:nvSpPr>
        <p:spPr>
          <a:xfrm>
            <a:off x="5334000" y="51435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Stability analysis</a:t>
            </a:r>
          </a:p>
        </p:txBody>
      </p:sp>
      <p:sp>
        <p:nvSpPr>
          <p:cNvPr id="49" name="D43"/>
          <p:cNvSpPr/>
          <p:nvPr/>
        </p:nvSpPr>
        <p:spPr>
          <a:xfrm>
            <a:off x="7874000" y="5143500"/>
            <a:ext cx="2413000" cy="609600"/>
          </a:xfrm>
          <a:prstGeom prst="rect">
            <a:avLst/>
          </a:prstGeom>
          <a:noFill/>
          <a:ln>
            <a:noFill/>
          </a:ln>
        </p:spPr>
        <p:txBody>
          <a:bodyPr wrap="square" lIns="101600" tIns="0" rIns="101600" bIns="0" anchor="ctr"/>
          <a:lstStyle/>
          <a:p>
            <a:pPr algn="l"/>
            <a:r>
              <a:rPr lang="en-US" sz="1800" dirty="0">
                <a:solidFill>
                  <a:srgbClr val="D0D0D0"/>
                </a:solidFill>
                <a:latin typeface="Segoe UI"/>
              </a:rPr>
              <a:t>Time-domain sim</a:t>
            </a:r>
          </a:p>
        </p:txBody>
      </p:sp>
      <p:sp>
        <p:nvSpPr>
          <p:cNvPr id="60" name="Note"/>
          <p:cNvSpPr/>
          <p:nvPr/>
        </p:nvSpPr>
        <p:spPr>
          <a:xfrm>
            <a:off x="1016000" y="5905500"/>
            <a:ext cx="10160000" cy="381000"/>
          </a:xfrm>
          <a:prstGeom prst="rect">
            <a:avLst/>
          </a:prstGeom>
          <a:noFill/>
          <a:ln>
            <a:noFill/>
          </a:ln>
        </p:spPr>
        <p:txBody>
          <a:bodyPr wrap="square" lIns="0" tIns="0" rIns="0" bIns="0" anchor="ctr"/>
          <a:lstStyle/>
          <a:p>
            <a:pPr algn="ctr"/>
            <a:r>
              <a:rPr lang="en-US" sz="1800" dirty="0">
                <a:solidFill>
                  <a:srgbClr val="808080"/>
                </a:solidFill>
                <a:latin typeface="Segoe UI"/>
              </a:rPr>
              <a:t>Run cheapest validator first, fix errors, then next tier — the natural strategy</a:t>
            </a:r>
          </a:p>
        </p:txBody>
      </p:sp>
    </p:spTree>
    <p:extLst>
      <p:ext uri="{BB962C8B-B14F-4D97-AF65-F5344CB8AC3E}">
        <p14:creationId xmlns:p14="http://schemas.microsoft.com/office/powerpoint/2010/main" val="6177606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N"/>
          <p:cNvSpPr/>
          <p:nvPr/>
        </p:nvSpPr>
        <p:spPr>
          <a:xfrm>
            <a:off x="1016000" y="1524000"/>
            <a:ext cx="2540000" cy="1524000"/>
          </a:xfrm>
          <a:prstGeom prst="rect">
            <a:avLst/>
          </a:prstGeom>
          <a:noFill/>
          <a:ln>
            <a:noFill/>
          </a:ln>
        </p:spPr>
        <p:txBody>
          <a:bodyPr wrap="square" lIns="0" tIns="0" rIns="0" bIns="0" anchor="b"/>
          <a:lstStyle/>
          <a:p>
            <a:pPr algn="l"/>
            <a:r>
              <a:rPr lang="en-US" sz="8000" b="1" dirty="0">
                <a:solidFill>
                  <a:srgbClr val="74B9FF">
                    <a:alpha val="30000"/>
                  </a:srgbClr>
                </a:solidFill>
                <a:latin typeface="Segoe UI Semibold"/>
              </a:rPr>
              <a:t>05</a:t>
            </a:r>
          </a:p>
        </p:txBody>
      </p:sp>
      <p:sp>
        <p:nvSpPr>
          <p:cNvPr id="11" name="AL"/>
          <p:cNvSpPr/>
          <p:nvPr/>
        </p:nvSpPr>
        <p:spPr>
          <a:xfrm>
            <a:off x="1016000" y="3048000"/>
            <a:ext cx="1524000" cy="38100"/>
          </a:xfrm>
          <a:prstGeom prst="rect">
            <a:avLst/>
          </a:prstGeom>
          <a:solidFill>
            <a:srgbClr val="74B9FF"/>
          </a:solidFill>
          <a:ln>
            <a:noFill/>
          </a:ln>
        </p:spPr>
        <p:txBody>
          <a:bodyPr/>
          <a:lstStyle/>
          <a:p>
            <a:endParaRPr lang="en-US"/>
          </a:p>
        </p:txBody>
      </p:sp>
      <p:sp>
        <p:nvSpPr>
          <p:cNvPr id="12" name="T"/>
          <p:cNvSpPr/>
          <p:nvPr/>
        </p:nvSpPr>
        <p:spPr>
          <a:xfrm>
            <a:off x="1016000" y="3175000"/>
            <a:ext cx="10160000" cy="698500"/>
          </a:xfrm>
          <a:prstGeom prst="rect">
            <a:avLst/>
          </a:prstGeom>
          <a:noFill/>
          <a:ln>
            <a:noFill/>
          </a:ln>
        </p:spPr>
        <p:txBody>
          <a:bodyPr wrap="square" lIns="0" tIns="0" rIns="0" bIns="0" anchor="t"/>
          <a:lstStyle/>
          <a:p>
            <a:pPr algn="l"/>
            <a:r>
              <a:rPr lang="en-US" sz="3600" b="1" dirty="0">
                <a:solidFill>
                  <a:srgbClr val="F0F0F0"/>
                </a:solidFill>
                <a:latin typeface="Segoe UI Semibold"/>
              </a:rPr>
              <a:t>Qwen</a:t>
            </a:r>
          </a:p>
        </p:txBody>
      </p:sp>
      <p:sp>
        <p:nvSpPr>
          <p:cNvPr id="13" name="S"/>
          <p:cNvSpPr/>
          <p:nvPr/>
        </p:nvSpPr>
        <p:spPr>
          <a:xfrm>
            <a:off x="1016000" y="3937000"/>
            <a:ext cx="10160000" cy="508000"/>
          </a:xfrm>
          <a:prstGeom prst="rect">
            <a:avLst/>
          </a:prstGeom>
          <a:noFill/>
          <a:ln>
            <a:noFill/>
          </a:ln>
        </p:spPr>
        <p:txBody>
          <a:bodyPr wrap="square" lIns="0" tIns="0" rIns="0" bIns="0" anchor="t"/>
          <a:lstStyle/>
          <a:p>
            <a:pPr algn="l"/>
            <a:r>
              <a:rPr lang="en-US" sz="2200" dirty="0">
                <a:solidFill>
                  <a:srgbClr val="808080"/>
                </a:solidFill>
                <a:latin typeface="Segoe UI"/>
              </a:rPr>
              <a:t>Why Small Models Are the Best QA Engineers</a:t>
            </a:r>
          </a:p>
        </p:txBody>
      </p:sp>
    </p:spTree>
    <p:extLst>
      <p:ext uri="{BB962C8B-B14F-4D97-AF65-F5344CB8AC3E}">
        <p14:creationId xmlns:p14="http://schemas.microsoft.com/office/powerpoint/2010/main" val="8192018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197AEC5-BB87-49C4-A19E-6D026EF1E1C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Best-in-Class Small/Medium FC</a:t>
            </a:r>
          </a:p>
        </p:txBody>
      </p:sp>
      <p:sp>
        <p:nvSpPr>
          <p:cNvPr id="3" name="직사각형 2">
            <a:extLst>
              <a:ext uri="{FF2B5EF4-FFF2-40B4-BE49-F238E27FC236}">
                <a16:creationId xmlns:a16="http://schemas.microsoft.com/office/drawing/2014/main" id="{0935834B-536E-4090-84FE-C9246D70E788}"/>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CC2923AB-7F35-4B67-AB08-56369C8B73E7}"/>
              </a:ext>
            </a:extLst>
          </p:cNvPr>
          <p:cNvSpPr txBox="1"/>
          <p:nvPr/>
        </p:nvSpPr>
        <p:spPr>
          <a:xfrm>
            <a:off x="1016000" y="1397000"/>
            <a:ext cx="10160000" cy="2540000"/>
          </a:xfrm>
          <a:prstGeom prst="rect">
            <a:avLst/>
          </a:prstGeom>
          <a:noFill/>
        </p:spPr>
        <p:txBody>
          <a:bodyPr vertOverflow="overflow" vert="horz" wrap="square" rtlCol="0" anchor="t">
            <a:spAutoFit/>
          </a:bodyPr>
          <a:lstStyle/>
          <a:p>
            <a:pPr algn="l"/>
            <a:r>
              <a:rPr lang="en-US" sz="2000">
                <a:solidFill>
                  <a:srgbClr val="D0D0D0"/>
                </a:solidFill>
                <a:latin typeface="Segoe UI"/>
                <a:cs typeface="Segoe UI"/>
              </a:rPr>
              <a:t>▸ AutoBe's only criterion: how accurately the model fills complex JSON Schemas
▸ GLM, Kimi, and others deliver strong FC at large scale
▸ At the small/medium scale, Qwen was the only one that could handle
   function calling of this complexity
▸ Even 3B active params supports tool choice
▸ Handles 10+ variant recursive unions at 35B class</a:t>
            </a:r>
          </a:p>
        </p:txBody>
      </p:sp>
      <p:sp>
        <p:nvSpPr>
          <p:cNvPr id="5" name="TextBox 4">
            <a:extLst>
              <a:ext uri="{FF2B5EF4-FFF2-40B4-BE49-F238E27FC236}">
                <a16:creationId xmlns:a16="http://schemas.microsoft.com/office/drawing/2014/main" id="{BB43349F-A304-4207-A74C-B04B1A985B16}"/>
              </a:ext>
            </a:extLst>
          </p:cNvPr>
          <p:cNvSpPr txBox="1"/>
          <p:nvPr/>
        </p:nvSpPr>
        <p:spPr>
          <a:xfrm>
            <a:off x="1016000" y="4445000"/>
            <a:ext cx="10160000" cy="635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For AutoBe, small/medium-scale performance was decisive</a:t>
            </a:r>
          </a:p>
        </p:txBody>
      </p:sp>
    </p:spTree>
    <p:extLst>
      <p:ext uri="{BB962C8B-B14F-4D97-AF65-F5344CB8AC3E}">
        <p14:creationId xmlns:p14="http://schemas.microsoft.com/office/powerpoint/2010/main" val="28131024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F3937C-A1BD-4386-95F5-E951B54F636C}"/>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R&amp;D Cost: Users vs. Developers</a:t>
            </a:r>
          </a:p>
        </p:txBody>
      </p:sp>
      <p:sp>
        <p:nvSpPr>
          <p:cNvPr id="3" name="직사각형 2">
            <a:extLst>
              <a:ext uri="{FF2B5EF4-FFF2-40B4-BE49-F238E27FC236}">
                <a16:creationId xmlns:a16="http://schemas.microsoft.com/office/drawing/2014/main" id="{93387F24-9D1A-476C-A664-DA3372933CB1}"/>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9492BFA0-D0F0-4550-9B4D-A416440FAD87}"/>
              </a:ext>
            </a:extLst>
          </p:cNvPr>
          <p:cNvSpPr/>
          <p:nvPr/>
        </p:nvSpPr>
        <p:spPr>
          <a:xfrm>
            <a:off x="762000" y="1397000"/>
            <a:ext cx="5207000" cy="2286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9FCE8B4B-734E-4618-BB76-BC797806A336}"/>
              </a:ext>
            </a:extLst>
          </p:cNvPr>
          <p:cNvSpPr txBox="1"/>
          <p:nvPr/>
        </p:nvSpPr>
        <p:spPr>
          <a:xfrm>
            <a:off x="1016000" y="1460500"/>
            <a:ext cx="4699000" cy="2159000"/>
          </a:xfrm>
          <a:prstGeom prst="rect">
            <a:avLst/>
          </a:prstGeom>
          <a:noFill/>
        </p:spPr>
        <p:txBody>
          <a:bodyPr vertOverflow="overflow" vert="horz" wrap="square" rtlCol="0" anchor="t">
            <a:spAutoFit/>
          </a:bodyPr>
          <a:lstStyle/>
          <a:p>
            <a:pPr algn="l"/>
            <a:r>
              <a:rPr lang="en-US" sz="2000">
                <a:solidFill>
                  <a:srgbClr val="00D4AA"/>
                </a:solidFill>
                <a:latin typeface="Segoe UI"/>
                <a:cs typeface="Segoe UI"/>
              </a:rPr>
              <a:t>For Users
Even the most expensive model
is cheaper than hiring
a backend developer</a:t>
            </a:r>
          </a:p>
        </p:txBody>
      </p:sp>
      <p:sp>
        <p:nvSpPr>
          <p:cNvPr id="6" name="직사각형 5">
            <a:extLst>
              <a:ext uri="{FF2B5EF4-FFF2-40B4-BE49-F238E27FC236}">
                <a16:creationId xmlns:a16="http://schemas.microsoft.com/office/drawing/2014/main" id="{BF9DDB7C-1B53-4CC1-8A08-C1AE98211A2E}"/>
              </a:ext>
            </a:extLst>
          </p:cNvPr>
          <p:cNvSpPr/>
          <p:nvPr/>
        </p:nvSpPr>
        <p:spPr>
          <a:xfrm>
            <a:off x="6223000" y="1397000"/>
            <a:ext cx="5207000" cy="2286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90985277-3196-4528-A3FD-5E91E9CC318B}"/>
              </a:ext>
            </a:extLst>
          </p:cNvPr>
          <p:cNvSpPr txBox="1"/>
          <p:nvPr/>
        </p:nvSpPr>
        <p:spPr>
          <a:xfrm>
            <a:off x="6477000" y="1460500"/>
            <a:ext cx="4699000" cy="2159000"/>
          </a:xfrm>
          <a:prstGeom prst="rect">
            <a:avLst/>
          </a:prstGeom>
          <a:noFill/>
        </p:spPr>
        <p:txBody>
          <a:bodyPr vertOverflow="overflow" vert="horz" wrap="square" rtlCol="0" anchor="t">
            <a:spAutoFit/>
          </a:bodyPr>
          <a:lstStyle/>
          <a:p>
            <a:pPr algn="l"/>
            <a:r>
              <a:rPr lang="en-US" sz="2000">
                <a:solidFill>
                  <a:srgbClr val="FF6B6B"/>
                </a:solidFill>
                <a:latin typeface="Segoe UI"/>
                <a:cs typeface="Segoe UI"/>
              </a:rPr>
              <a:t>For Developers
Thousands of generate-compile
cycles per new feature
Commercial APIs = financial ruin</a:t>
            </a:r>
          </a:p>
        </p:txBody>
      </p:sp>
      <p:sp>
        <p:nvSpPr>
          <p:cNvPr id="8" name="TextBox 7">
            <a:extLst>
              <a:ext uri="{FF2B5EF4-FFF2-40B4-BE49-F238E27FC236}">
                <a16:creationId xmlns:a16="http://schemas.microsoft.com/office/drawing/2014/main" id="{8FE26C1E-AD7F-4B10-85A7-7E7457FCE53E}"/>
              </a:ext>
            </a:extLst>
          </p:cNvPr>
          <p:cNvSpPr txBox="1"/>
          <p:nvPr/>
        </p:nvSpPr>
        <p:spPr>
          <a:xfrm>
            <a:off x="1016000" y="4064000"/>
            <a:ext cx="10160000" cy="508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Local models: experiment without limit, without cost</a:t>
            </a:r>
          </a:p>
        </p:txBody>
      </p:sp>
      <p:sp>
        <p:nvSpPr>
          <p:cNvPr id="9" name="TextBox 8">
            <a:extLst>
              <a:ext uri="{FF2B5EF4-FFF2-40B4-BE49-F238E27FC236}">
                <a16:creationId xmlns:a16="http://schemas.microsoft.com/office/drawing/2014/main" id="{4C19C8F2-38D4-4BE5-8342-8E9F2688A6EF}"/>
              </a:ext>
            </a:extLst>
          </p:cNvPr>
          <p:cNvSpPr txBox="1"/>
          <p:nvPr/>
        </p:nvSpPr>
        <p:spPr>
          <a:xfrm>
            <a:off x="1016000" y="4826000"/>
            <a:ext cx="10160000" cy="762000"/>
          </a:xfrm>
          <a:prstGeom prst="rect">
            <a:avLst/>
          </a:prstGeom>
          <a:noFill/>
        </p:spPr>
        <p:txBody>
          <a:bodyPr vertOverflow="overflow" vert="horz" wrap="square" rtlCol="0" anchor="t">
            <a:spAutoFit/>
          </a:bodyPr>
          <a:lstStyle/>
          <a:p>
            <a:pPr algn="l"/>
            <a:r>
              <a:rPr lang="en-US" sz="2000">
                <a:solidFill>
                  <a:srgbClr val="D0D0D0"/>
                </a:solidFill>
                <a:latin typeface="Segoe UI"/>
                <a:cs typeface="Segoe UI"/>
              </a:rPr>
              <a:t>6.75% → 100% required hundreds of experiment cycles.
Only possible with local models.</a:t>
            </a:r>
          </a:p>
        </p:txBody>
      </p:sp>
    </p:spTree>
    <p:extLst>
      <p:ext uri="{BB962C8B-B14F-4D97-AF65-F5344CB8AC3E}">
        <p14:creationId xmlns:p14="http://schemas.microsoft.com/office/powerpoint/2010/main" val="36927077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8245D39-3721-4631-BE67-206503481A63}"/>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No Vendor Lock-In</a:t>
            </a:r>
          </a:p>
        </p:txBody>
      </p:sp>
      <p:sp>
        <p:nvSpPr>
          <p:cNvPr id="3" name="직사각형 2">
            <a:extLst>
              <a:ext uri="{FF2B5EF4-FFF2-40B4-BE49-F238E27FC236}">
                <a16:creationId xmlns:a16="http://schemas.microsoft.com/office/drawing/2014/main" id="{A3CCF6E9-40EE-4371-BF30-0C91183D4B0E}"/>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FAE21664-331B-4B29-8989-4505E2F99476}"/>
              </a:ext>
            </a:extLst>
          </p:cNvPr>
          <p:cNvSpPr txBox="1"/>
          <p:nvPr/>
        </p:nvSpPr>
        <p:spPr>
          <a:xfrm>
            <a:off x="1016000" y="1397000"/>
            <a:ext cx="10160000" cy="1905000"/>
          </a:xfrm>
          <a:prstGeom prst="rect">
            <a:avLst/>
          </a:prstGeom>
          <a:noFill/>
        </p:spPr>
        <p:txBody>
          <a:bodyPr vertOverflow="overflow" vert="horz" wrap="square" rtlCol="0" anchor="t">
            <a:spAutoFit/>
          </a:bodyPr>
          <a:lstStyle/>
          <a:p>
            <a:pPr algn="l"/>
            <a:r>
              <a:rPr lang="en-US" sz="2000">
                <a:solidFill>
                  <a:srgbClr val="FF6B6B"/>
                </a:solidFill>
                <a:latin typeface="Segoe UI"/>
                <a:cs typeface="Segoe UI"/>
              </a:rPr>
              <a:t>▸ Price changes at vendor's discretion
▸ Model deprecation without warning
▸ Rate limits during peak usage
▸ The model you use today could disappear tomorrow</a:t>
            </a:r>
          </a:p>
        </p:txBody>
      </p:sp>
      <p:sp>
        <p:nvSpPr>
          <p:cNvPr id="5" name="직사각형 4">
            <a:extLst>
              <a:ext uri="{FF2B5EF4-FFF2-40B4-BE49-F238E27FC236}">
                <a16:creationId xmlns:a16="http://schemas.microsoft.com/office/drawing/2014/main" id="{BB9D2B3E-A08A-4CFB-9EBF-B99671399799}"/>
              </a:ext>
            </a:extLst>
          </p:cNvPr>
          <p:cNvSpPr/>
          <p:nvPr/>
        </p:nvSpPr>
        <p:spPr>
          <a:xfrm>
            <a:off x="4826000" y="35560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3BEEC5E1-3422-4522-B5FF-EBAE1C529A29}"/>
              </a:ext>
            </a:extLst>
          </p:cNvPr>
          <p:cNvSpPr txBox="1"/>
          <p:nvPr/>
        </p:nvSpPr>
        <p:spPr>
          <a:xfrm>
            <a:off x="1016000" y="3937000"/>
            <a:ext cx="10160000" cy="762000"/>
          </a:xfrm>
          <a:prstGeom prst="rect">
            <a:avLst/>
          </a:prstGeom>
          <a:noFill/>
        </p:spPr>
        <p:txBody>
          <a:bodyPr vertOverflow="overflow" vert="horz" wrap="square" rtlCol="0" anchor="t">
            <a:spAutoFit/>
          </a:bodyPr>
          <a:lstStyle/>
          <a:p>
            <a:pPr algn="l"/>
            <a:r>
              <a:rPr lang="en-US" sz="2200" b="1">
                <a:solidFill>
                  <a:srgbClr val="00D4AA"/>
                </a:solidFill>
                <a:latin typeface="Segoe UI Semibold"/>
                <a:cs typeface="Segoe UI Semibold"/>
              </a:rPr>
              <a:t>AutoBe's schemas are model-neutral.
JSON Schema + type validation = industry standards.</a:t>
            </a:r>
          </a:p>
        </p:txBody>
      </p:sp>
    </p:spTree>
    <p:extLst>
      <p:ext uri="{BB962C8B-B14F-4D97-AF65-F5344CB8AC3E}">
        <p14:creationId xmlns:p14="http://schemas.microsoft.com/office/powerpoint/2010/main" val="13853297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4352487-41F8-45EE-8B1B-2B2F850F9412}"/>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Open Source + Open Weights: Virtuous Cycle</a:t>
            </a:r>
          </a:p>
        </p:txBody>
      </p:sp>
      <p:sp>
        <p:nvSpPr>
          <p:cNvPr id="3" name="직사각형 2">
            <a:extLst>
              <a:ext uri="{FF2B5EF4-FFF2-40B4-BE49-F238E27FC236}">
                <a16:creationId xmlns:a16="http://schemas.microsoft.com/office/drawing/2014/main" id="{320B92A3-8C8F-4FE6-96EC-0BF52B9601C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0CE6C78E-A0B5-4B5A-BB49-437D4791177C}"/>
              </a:ext>
            </a:extLst>
          </p:cNvPr>
          <p:cNvSpPr/>
          <p:nvPr/>
        </p:nvSpPr>
        <p:spPr>
          <a:xfrm>
            <a:off x="1016000" y="13970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7A0E6F3E-4FDA-4D95-A34F-EFD3DBF7794B}"/>
              </a:ext>
            </a:extLst>
          </p:cNvPr>
          <p:cNvSpPr txBox="1"/>
          <p:nvPr/>
        </p:nvSpPr>
        <p:spPr>
          <a:xfrm>
            <a:off x="1270000" y="1498600"/>
            <a:ext cx="9652000" cy="508000"/>
          </a:xfrm>
          <a:prstGeom prst="rect">
            <a:avLst/>
          </a:prstGeom>
          <a:noFill/>
        </p:spPr>
        <p:txBody>
          <a:bodyPr vertOverflow="overflow" vert="horz" wrap="square" rtlCol="0" anchor="t">
            <a:spAutoFit/>
          </a:bodyPr>
          <a:lstStyle/>
          <a:p>
            <a:pPr algn="l"/>
            <a:r>
              <a:rPr lang="en-US" sz="2000">
                <a:solidFill>
                  <a:srgbClr val="00D4AA"/>
                </a:solidFill>
                <a:latin typeface="Segoe UI"/>
                <a:cs typeface="Segoe UI"/>
              </a:rPr>
              <a:t>① AutoBe hardens its harness using Qwen</a:t>
            </a:r>
          </a:p>
        </p:txBody>
      </p:sp>
      <p:sp>
        <p:nvSpPr>
          <p:cNvPr id="6" name="직사각형 5">
            <a:extLst>
              <a:ext uri="{FF2B5EF4-FFF2-40B4-BE49-F238E27FC236}">
                <a16:creationId xmlns:a16="http://schemas.microsoft.com/office/drawing/2014/main" id="{DD2F9A29-F76B-45D8-B38E-41D2A58D5B84}"/>
              </a:ext>
            </a:extLst>
          </p:cNvPr>
          <p:cNvSpPr/>
          <p:nvPr/>
        </p:nvSpPr>
        <p:spPr>
          <a:xfrm>
            <a:off x="1016000" y="22225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E4BB737D-9B6E-4418-BDBB-410275D67AE4}"/>
              </a:ext>
            </a:extLst>
          </p:cNvPr>
          <p:cNvSpPr txBox="1"/>
          <p:nvPr/>
        </p:nvSpPr>
        <p:spPr>
          <a:xfrm>
            <a:off x="1270000" y="2324100"/>
            <a:ext cx="9652000" cy="508000"/>
          </a:xfrm>
          <a:prstGeom prst="rect">
            <a:avLst/>
          </a:prstGeom>
          <a:noFill/>
        </p:spPr>
        <p:txBody>
          <a:bodyPr vertOverflow="overflow" vert="horz" wrap="square" rtlCol="0" anchor="t">
            <a:spAutoFit/>
          </a:bodyPr>
          <a:lstStyle/>
          <a:p>
            <a:pPr algn="l"/>
            <a:r>
              <a:rPr lang="en-US" sz="2000">
                <a:solidFill>
                  <a:srgbClr val="00D4AA"/>
                </a:solidFill>
                <a:latin typeface="Segoe UI"/>
                <a:cs typeface="Segoe UI"/>
              </a:rPr>
              <a:t>② The hardened harness proves Qwen's production-level viability</a:t>
            </a:r>
          </a:p>
        </p:txBody>
      </p:sp>
      <p:sp>
        <p:nvSpPr>
          <p:cNvPr id="8" name="직사각형 7">
            <a:extLst>
              <a:ext uri="{FF2B5EF4-FFF2-40B4-BE49-F238E27FC236}">
                <a16:creationId xmlns:a16="http://schemas.microsoft.com/office/drawing/2014/main" id="{F23A411B-39F3-4E6F-97D3-0652A82E84D0}"/>
              </a:ext>
            </a:extLst>
          </p:cNvPr>
          <p:cNvSpPr/>
          <p:nvPr/>
        </p:nvSpPr>
        <p:spPr>
          <a:xfrm>
            <a:off x="1016000" y="30480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DBD16E3E-6D6D-4EB1-B425-9E3B05DDF8CA}"/>
              </a:ext>
            </a:extLst>
          </p:cNvPr>
          <p:cNvSpPr txBox="1"/>
          <p:nvPr/>
        </p:nvSpPr>
        <p:spPr>
          <a:xfrm>
            <a:off x="1270000" y="3149600"/>
            <a:ext cx="9652000" cy="508000"/>
          </a:xfrm>
          <a:prstGeom prst="rect">
            <a:avLst/>
          </a:prstGeom>
          <a:noFill/>
        </p:spPr>
        <p:txBody>
          <a:bodyPr vertOverflow="overflow" vert="horz" wrap="square" rtlCol="0" anchor="t">
            <a:spAutoFit/>
          </a:bodyPr>
          <a:lstStyle/>
          <a:p>
            <a:pPr algn="l"/>
            <a:r>
              <a:rPr lang="en-US" sz="2000">
                <a:solidFill>
                  <a:srgbClr val="00D4AA"/>
                </a:solidFill>
                <a:latin typeface="Segoe UI"/>
                <a:cs typeface="Segoe UI"/>
              </a:rPr>
              <a:t>③ Improvements to Qwen raise AutoBe's performance</a:t>
            </a:r>
          </a:p>
        </p:txBody>
      </p:sp>
      <p:sp>
        <p:nvSpPr>
          <p:cNvPr id="10" name="직사각형 9">
            <a:extLst>
              <a:ext uri="{FF2B5EF4-FFF2-40B4-BE49-F238E27FC236}">
                <a16:creationId xmlns:a16="http://schemas.microsoft.com/office/drawing/2014/main" id="{258E6EBB-FA73-492D-AEED-5C00C05ACDB7}"/>
              </a:ext>
            </a:extLst>
          </p:cNvPr>
          <p:cNvSpPr/>
          <p:nvPr/>
        </p:nvSpPr>
        <p:spPr>
          <a:xfrm>
            <a:off x="1016000" y="3873500"/>
            <a:ext cx="10160000" cy="698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FBC2F9B3-4B8A-4415-B1E0-07B40A02D207}"/>
              </a:ext>
            </a:extLst>
          </p:cNvPr>
          <p:cNvSpPr txBox="1"/>
          <p:nvPr/>
        </p:nvSpPr>
        <p:spPr>
          <a:xfrm>
            <a:off x="1270000" y="3975100"/>
            <a:ext cx="9652000" cy="508000"/>
          </a:xfrm>
          <a:prstGeom prst="rect">
            <a:avLst/>
          </a:prstGeom>
          <a:noFill/>
        </p:spPr>
        <p:txBody>
          <a:bodyPr vertOverflow="overflow" vert="horz" wrap="square" rtlCol="0" anchor="t">
            <a:spAutoFit/>
          </a:bodyPr>
          <a:lstStyle/>
          <a:p>
            <a:pPr algn="l"/>
            <a:r>
              <a:rPr lang="en-US" sz="2000">
                <a:solidFill>
                  <a:srgbClr val="00D4AA"/>
                </a:solidFill>
                <a:latin typeface="Segoe UI"/>
                <a:cs typeface="Segoe UI"/>
              </a:rPr>
              <a:t>④ AutoBe's discoveries (e.g. double-stringify) contribute back</a:t>
            </a:r>
          </a:p>
        </p:txBody>
      </p:sp>
      <p:sp>
        <p:nvSpPr>
          <p:cNvPr id="12" name="TextBox 11">
            <a:extLst>
              <a:ext uri="{FF2B5EF4-FFF2-40B4-BE49-F238E27FC236}">
                <a16:creationId xmlns:a16="http://schemas.microsoft.com/office/drawing/2014/main" id="{EC967E50-92AB-4D9E-B83F-85A74A6EB9FB}"/>
              </a:ext>
            </a:extLst>
          </p:cNvPr>
          <p:cNvSpPr txBox="1"/>
          <p:nvPr/>
        </p:nvSpPr>
        <p:spPr>
          <a:xfrm>
            <a:off x="1016000" y="5080000"/>
            <a:ext cx="10160000" cy="635000"/>
          </a:xfrm>
          <a:prstGeom prst="rect">
            <a:avLst/>
          </a:prstGeom>
          <a:noFill/>
        </p:spPr>
        <p:txBody>
          <a:bodyPr vertOverflow="overflow" vert="horz" wrap="square" rtlCol="0" anchor="t">
            <a:spAutoFit/>
          </a:bodyPr>
          <a:lstStyle/>
          <a:p>
            <a:pPr algn="l"/>
            <a:r>
              <a:rPr lang="en-US" sz="2200" b="1">
                <a:solidFill>
                  <a:srgbClr val="FFD93D"/>
                </a:solidFill>
                <a:latin typeface="Segoe UI Semibold"/>
                <a:cs typeface="Segoe UI Semibold"/>
              </a:rPr>
              <a:t>AutoBe (Open-source) + Qwen (Open-weight) = Mutual reinforcement</a:t>
            </a:r>
          </a:p>
        </p:txBody>
      </p:sp>
      <p:sp>
        <p:nvSpPr>
          <p:cNvPr id="13" name="TextBox 12">
            <a:extLst>
              <a:ext uri="{FF2B5EF4-FFF2-40B4-BE49-F238E27FC236}">
                <a16:creationId xmlns:a16="http://schemas.microsoft.com/office/drawing/2014/main" id="{E991C5C5-31E8-4BA0-899B-20027DC7CE24}"/>
              </a:ext>
            </a:extLst>
          </p:cNvPr>
          <p:cNvSpPr txBox="1"/>
          <p:nvPr/>
        </p:nvSpPr>
        <p:spPr>
          <a:xfrm>
            <a:off x="1016000" y="5842000"/>
            <a:ext cx="10160000" cy="381000"/>
          </a:xfrm>
          <a:prstGeom prst="rect">
            <a:avLst/>
          </a:prstGeom>
          <a:noFill/>
        </p:spPr>
        <p:txBody>
          <a:bodyPr vertOverflow="overflow" vert="horz" wrap="square" rtlCol="0" anchor="t">
            <a:spAutoFit/>
          </a:bodyPr>
          <a:lstStyle/>
          <a:p>
            <a:pPr algn="l"/>
            <a:r>
              <a:rPr lang="en-US">
                <a:solidFill>
                  <a:srgbClr val="D0D0D0"/>
                </a:solidFill>
                <a:latin typeface="Segoe UI"/>
                <a:cs typeface="Segoe UI"/>
              </a:rPr>
              <a:t>Open source isn't just a license — it's a methodology</a:t>
            </a:r>
          </a:p>
        </p:txBody>
      </p:sp>
    </p:spTree>
    <p:extLst>
      <p:ext uri="{BB962C8B-B14F-4D97-AF65-F5344CB8AC3E}">
        <p14:creationId xmlns:p14="http://schemas.microsoft.com/office/powerpoint/2010/main" val="36671984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E518D9-D409-4A1E-BBDB-88BAE230B78D}"/>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Current Function Calling Success Rates</a:t>
            </a:r>
          </a:p>
        </p:txBody>
      </p:sp>
      <p:sp>
        <p:nvSpPr>
          <p:cNvPr id="3" name="직사각형 2">
            <a:extLst>
              <a:ext uri="{FF2B5EF4-FFF2-40B4-BE49-F238E27FC236}">
                <a16:creationId xmlns:a16="http://schemas.microsoft.com/office/drawing/2014/main" id="{B4111A07-F828-4CD4-AD5F-4CB857FEFA74}"/>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07D5E19D-04E2-44CF-AE2A-5CEDE7ADA3B3}"/>
              </a:ext>
            </a:extLst>
          </p:cNvPr>
          <p:cNvSpPr txBox="1"/>
          <p:nvPr/>
        </p:nvSpPr>
        <p:spPr>
          <a:xfrm>
            <a:off x="762000" y="1206500"/>
            <a:ext cx="10668000" cy="355600"/>
          </a:xfrm>
          <a:prstGeom prst="rect">
            <a:avLst/>
          </a:prstGeom>
          <a:noFill/>
        </p:spPr>
        <p:txBody>
          <a:bodyPr vertOverflow="overflow" vert="horz" wrap="square" rtlCol="0" anchor="t">
            <a:spAutoFit/>
          </a:bodyPr>
          <a:lstStyle/>
          <a:p>
            <a:pPr algn="l"/>
            <a:r>
              <a:rPr lang="en-US" sz="1600">
                <a:solidFill>
                  <a:srgbClr val="808080"/>
                </a:solidFill>
                <a:latin typeface="Segoe UI"/>
                <a:cs typeface="Segoe UI"/>
              </a:rPr>
              <a:t>IAutoBeInterfaceSchemaRefineApplication.IProps (DTO Schema Generation)</a:t>
            </a:r>
          </a:p>
        </p:txBody>
      </p:sp>
      <p:sp>
        <p:nvSpPr>
          <p:cNvPr id="5" name="직사각형 4">
            <a:extLst>
              <a:ext uri="{FF2B5EF4-FFF2-40B4-BE49-F238E27FC236}">
                <a16:creationId xmlns:a16="http://schemas.microsoft.com/office/drawing/2014/main" id="{91964D65-7AEC-4C5C-AF06-F2F984FF6C6A}"/>
              </a:ext>
            </a:extLst>
          </p:cNvPr>
          <p:cNvSpPr/>
          <p:nvPr/>
        </p:nvSpPr>
        <p:spPr>
          <a:xfrm>
            <a:off x="762000" y="1625600"/>
            <a:ext cx="10668000" cy="4445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2FB84C5B-8399-453A-98E4-4C62416C64FF}"/>
              </a:ext>
            </a:extLst>
          </p:cNvPr>
          <p:cNvSpPr txBox="1"/>
          <p:nvPr/>
        </p:nvSpPr>
        <p:spPr>
          <a:xfrm>
            <a:off x="889000" y="1651000"/>
            <a:ext cx="10414000" cy="381000"/>
          </a:xfrm>
          <a:prstGeom prst="rect">
            <a:avLst/>
          </a:prstGeom>
          <a:noFill/>
        </p:spPr>
        <p:txBody>
          <a:bodyPr vertOverflow="overflow" vert="horz" wrap="square" rtlCol="0" anchor="t">
            <a:spAutoFit/>
          </a:bodyPr>
          <a:lstStyle/>
          <a:p>
            <a:r>
              <a:rPr lang="en-US" sz="1400" dirty="0">
                <a:solidFill>
                  <a:srgbClr val="00D4AA"/>
                </a:solidFill>
                <a:latin typeface="Consolas"/>
              </a:rPr>
              <a:t>Model                       Trials  Succ  Rate   Est.1st</a:t>
            </a:r>
          </a:p>
        </p:txBody>
      </p:sp>
      <p:sp>
        <p:nvSpPr>
          <p:cNvPr id="7" name="TextBox 6">
            <a:extLst>
              <a:ext uri="{FF2B5EF4-FFF2-40B4-BE49-F238E27FC236}">
                <a16:creationId xmlns:a16="http://schemas.microsoft.com/office/drawing/2014/main" id="{25AFDA83-E3D7-4DF8-B000-E6B138636BD9}"/>
              </a:ext>
            </a:extLst>
          </p:cNvPr>
          <p:cNvSpPr txBox="1"/>
          <p:nvPr/>
        </p:nvSpPr>
        <p:spPr>
          <a:xfrm>
            <a:off x="889000" y="2133600"/>
            <a:ext cx="10414000" cy="1905000"/>
          </a:xfrm>
          <a:prstGeom prst="rect">
            <a:avLst/>
          </a:prstGeom>
          <a:noFill/>
        </p:spPr>
        <p:txBody>
          <a:bodyPr vertOverflow="overflow" vert="horz" wrap="square" rtlCol="0" anchor="t">
            <a:spAutoFit/>
          </a:bodyPr>
          <a:lstStyle/>
          <a:p>
            <a:r>
              <a:rPr lang="en-US" sz="1400" dirty="0">
                <a:solidFill>
                  <a:srgbClr val="C9D1D9"/>
                </a:solidFill>
                <a:latin typeface="Consolas"/>
              </a:rPr>
              <a:t>qwen3-coder-next       </a:t>
            </a:r>
            <a:r>
              <a:rPr lang="en-US" sz="1400" dirty="0">
                <a:solidFill>
                  <a:srgbClr val="79C0FF"/>
                </a:solidFill>
                <a:latin typeface="Consolas"/>
              </a:rPr>
              <a:t> 619</a:t>
            </a:r>
            <a:r>
              <a:rPr lang="en-US" sz="1400" dirty="0">
                <a:solidFill>
                  <a:srgbClr val="C9D1D9"/>
                </a:solidFill>
                <a:latin typeface="Consolas"/>
              </a:rPr>
              <a:t>   </a:t>
            </a:r>
            <a:r>
              <a:rPr lang="en-US" sz="1400" dirty="0">
                <a:solidFill>
                  <a:srgbClr val="79C0FF"/>
                </a:solidFill>
                <a:latin typeface="Consolas"/>
              </a:rPr>
              <a:t>166</a:t>
            </a:r>
            <a:r>
              <a:rPr lang="en-US" sz="1400" dirty="0">
                <a:solidFill>
                  <a:srgbClr val="C9D1D9"/>
                </a:solidFill>
                <a:latin typeface="Consolas"/>
              </a:rPr>
              <a:t>  </a:t>
            </a:r>
            <a:r>
              <a:rPr lang="en-US" sz="1400" dirty="0">
                <a:solidFill>
                  <a:srgbClr val="FFD93D"/>
                </a:solidFill>
                <a:latin typeface="Consolas"/>
              </a:rPr>
              <a:t>26.8%</a:t>
            </a:r>
            <a:r>
              <a:rPr lang="en-US" sz="1400" dirty="0">
                <a:solidFill>
                  <a:srgbClr val="C9D1D9"/>
                </a:solidFill>
                <a:latin typeface="Consolas"/>
              </a:rPr>
              <a:t>  </a:t>
            </a:r>
            <a:r>
              <a:rPr lang="en-US" sz="1400" dirty="0">
                <a:solidFill>
                  <a:srgbClr val="FF6B6B"/>
                </a:solidFill>
                <a:latin typeface="Consolas"/>
              </a:rPr>
              <a:t>15.95%</a:t>
            </a:r>
          </a:p>
          <a:p>
            <a:r>
              <a:rPr lang="en-US" sz="1400" dirty="0">
                <a:solidFill>
                  <a:srgbClr val="C9D1D9"/>
                </a:solidFill>
                <a:latin typeface="Consolas"/>
              </a:rPr>
              <a:t>qwen3.5-122b-a22b      </a:t>
            </a:r>
            <a:r>
              <a:rPr lang="en-US" sz="1400" dirty="0">
                <a:solidFill>
                  <a:srgbClr val="79C0FF"/>
                </a:solidFill>
                <a:latin typeface="Consolas"/>
              </a:rPr>
              <a:t> 619</a:t>
            </a:r>
            <a:r>
              <a:rPr lang="en-US" sz="1400" dirty="0">
                <a:solidFill>
                  <a:srgbClr val="C9D1D9"/>
                </a:solidFill>
                <a:latin typeface="Consolas"/>
              </a:rPr>
              <a:t>   </a:t>
            </a:r>
            <a:r>
              <a:rPr lang="en-US" sz="1400" dirty="0">
                <a:solidFill>
                  <a:srgbClr val="79C0FF"/>
                </a:solidFill>
                <a:latin typeface="Consolas"/>
              </a:rPr>
              <a:t>541</a:t>
            </a:r>
            <a:r>
              <a:rPr lang="en-US" sz="1400" dirty="0">
                <a:solidFill>
                  <a:srgbClr val="C9D1D9"/>
                </a:solidFill>
                <a:latin typeface="Consolas"/>
              </a:rPr>
              <a:t>  </a:t>
            </a:r>
            <a:r>
              <a:rPr lang="en-US" sz="1400" dirty="0">
                <a:solidFill>
                  <a:srgbClr val="00D4AA"/>
                </a:solidFill>
                <a:latin typeface="Consolas"/>
              </a:rPr>
              <a:t>87.4%</a:t>
            </a:r>
            <a:r>
              <a:rPr lang="en-US" sz="1400" dirty="0">
                <a:solidFill>
                  <a:srgbClr val="C9D1D9"/>
                </a:solidFill>
                <a:latin typeface="Consolas"/>
              </a:rPr>
              <a:t>  </a:t>
            </a:r>
            <a:r>
              <a:rPr lang="en-US" sz="1400" dirty="0">
                <a:solidFill>
                  <a:srgbClr val="FFD93D"/>
                </a:solidFill>
                <a:latin typeface="Consolas"/>
              </a:rPr>
              <a:t>73.02%</a:t>
            </a:r>
          </a:p>
          <a:p>
            <a:r>
              <a:rPr lang="en-US" sz="1400" dirty="0">
                <a:solidFill>
                  <a:srgbClr val="C9D1D9"/>
                </a:solidFill>
                <a:latin typeface="Consolas"/>
              </a:rPr>
              <a:t>qwen3.5-32b-a8b        </a:t>
            </a:r>
            <a:r>
              <a:rPr lang="en-US" sz="1400" dirty="0">
                <a:solidFill>
                  <a:srgbClr val="79C0FF"/>
                </a:solidFill>
                <a:latin typeface="Consolas"/>
              </a:rPr>
              <a:t> 619</a:t>
            </a:r>
            <a:r>
              <a:rPr lang="en-US" sz="1400" dirty="0">
                <a:solidFill>
                  <a:srgbClr val="C9D1D9"/>
                </a:solidFill>
                <a:latin typeface="Consolas"/>
              </a:rPr>
              <a:t>   </a:t>
            </a:r>
            <a:r>
              <a:rPr lang="en-US" sz="1400" dirty="0">
                <a:solidFill>
                  <a:srgbClr val="79C0FF"/>
                </a:solidFill>
                <a:latin typeface="Consolas"/>
              </a:rPr>
              <a:t>402</a:t>
            </a:r>
            <a:r>
              <a:rPr lang="en-US" sz="1400" dirty="0">
                <a:solidFill>
                  <a:srgbClr val="C9D1D9"/>
                </a:solidFill>
                <a:latin typeface="Consolas"/>
              </a:rPr>
              <a:t>  </a:t>
            </a:r>
            <a:r>
              <a:rPr lang="en-US" sz="1400" dirty="0">
                <a:solidFill>
                  <a:srgbClr val="FFD93D"/>
                </a:solidFill>
                <a:latin typeface="Consolas"/>
              </a:rPr>
              <a:t>64.9%</a:t>
            </a:r>
            <a:r>
              <a:rPr lang="en-US" sz="1400" dirty="0">
                <a:solidFill>
                  <a:srgbClr val="C9D1D9"/>
                </a:solidFill>
                <a:latin typeface="Consolas"/>
              </a:rPr>
              <a:t>  </a:t>
            </a:r>
            <a:r>
              <a:rPr lang="en-US" sz="1400" dirty="0">
                <a:solidFill>
                  <a:srgbClr val="FFD93D"/>
                </a:solidFill>
                <a:latin typeface="Consolas"/>
              </a:rPr>
              <a:t>47.81%</a:t>
            </a:r>
          </a:p>
          <a:p>
            <a:r>
              <a:rPr lang="en-US" sz="1400" dirty="0">
                <a:solidFill>
                  <a:srgbClr val="C9D1D9"/>
                </a:solidFill>
                <a:latin typeface="Consolas"/>
              </a:rPr>
              <a:t>qwen2.5-32b            </a:t>
            </a:r>
            <a:r>
              <a:rPr lang="en-US" sz="1400" dirty="0">
                <a:solidFill>
                  <a:srgbClr val="79C0FF"/>
                </a:solidFill>
                <a:latin typeface="Consolas"/>
              </a:rPr>
              <a:t> 619</a:t>
            </a:r>
            <a:r>
              <a:rPr lang="en-US" sz="1400" dirty="0">
                <a:solidFill>
                  <a:srgbClr val="C9D1D9"/>
                </a:solidFill>
                <a:latin typeface="Consolas"/>
              </a:rPr>
              <a:t>   </a:t>
            </a:r>
            <a:r>
              <a:rPr lang="en-US" sz="1400" dirty="0">
                <a:solidFill>
                  <a:srgbClr val="79C0FF"/>
                </a:solidFill>
                <a:latin typeface="Consolas"/>
              </a:rPr>
              <a:t>  0</a:t>
            </a:r>
            <a:r>
              <a:rPr lang="en-US" sz="1400" dirty="0">
                <a:solidFill>
                  <a:srgbClr val="C9D1D9"/>
                </a:solidFill>
                <a:latin typeface="Consolas"/>
              </a:rPr>
              <a:t>  </a:t>
            </a:r>
            <a:r>
              <a:rPr lang="en-US" sz="1400" dirty="0">
                <a:solidFill>
                  <a:srgbClr val="FF6B6B"/>
                </a:solidFill>
                <a:latin typeface="Consolas"/>
              </a:rPr>
              <a:t> 0.0%</a:t>
            </a:r>
            <a:r>
              <a:rPr lang="en-US" sz="1400" dirty="0">
                <a:solidFill>
                  <a:srgbClr val="C9D1D9"/>
                </a:solidFill>
                <a:latin typeface="Consolas"/>
              </a:rPr>
              <a:t>  </a:t>
            </a:r>
            <a:r>
              <a:rPr lang="en-US" sz="1400" dirty="0">
                <a:solidFill>
                  <a:srgbClr val="FF6B6B"/>
                </a:solidFill>
                <a:latin typeface="Consolas"/>
              </a:rPr>
              <a:t> 0.00%</a:t>
            </a:r>
          </a:p>
          <a:p>
            <a:r>
              <a:rPr lang="en-US" sz="1400" dirty="0">
                <a:solidFill>
                  <a:srgbClr val="C9D1D9"/>
                </a:solidFill>
                <a:latin typeface="Consolas"/>
              </a:rPr>
              <a:t>qwen3.5-7b-a2.4b       </a:t>
            </a:r>
            <a:r>
              <a:rPr lang="en-US" sz="1400" dirty="0">
                <a:solidFill>
                  <a:srgbClr val="79C0FF"/>
                </a:solidFill>
                <a:latin typeface="Consolas"/>
              </a:rPr>
              <a:t> 619</a:t>
            </a:r>
            <a:r>
              <a:rPr lang="en-US" sz="1400" dirty="0">
                <a:solidFill>
                  <a:srgbClr val="C9D1D9"/>
                </a:solidFill>
                <a:latin typeface="Consolas"/>
              </a:rPr>
              <a:t>   </a:t>
            </a:r>
            <a:r>
              <a:rPr lang="en-US" sz="1400" dirty="0">
                <a:solidFill>
                  <a:srgbClr val="79C0FF"/>
                </a:solidFill>
                <a:latin typeface="Consolas"/>
              </a:rPr>
              <a:t>  0</a:t>
            </a:r>
            <a:r>
              <a:rPr lang="en-US" sz="1400" dirty="0">
                <a:solidFill>
                  <a:srgbClr val="C9D1D9"/>
                </a:solidFill>
                <a:latin typeface="Consolas"/>
              </a:rPr>
              <a:t>  </a:t>
            </a:r>
            <a:r>
              <a:rPr lang="en-US" sz="1400" dirty="0">
                <a:solidFill>
                  <a:srgbClr val="FF6B6B"/>
                </a:solidFill>
                <a:latin typeface="Consolas"/>
              </a:rPr>
              <a:t> 0.0%</a:t>
            </a:r>
            <a:r>
              <a:rPr lang="en-US" sz="1400" dirty="0">
                <a:solidFill>
                  <a:srgbClr val="C9D1D9"/>
                </a:solidFill>
                <a:latin typeface="Consolas"/>
              </a:rPr>
              <a:t>  </a:t>
            </a:r>
            <a:r>
              <a:rPr lang="en-US" sz="1400" dirty="0">
                <a:solidFill>
                  <a:srgbClr val="FF6B6B"/>
                </a:solidFill>
                <a:latin typeface="Consolas"/>
              </a:rPr>
              <a:t> 0.00%</a:t>
            </a:r>
          </a:p>
          <a:p>
            <a:endParaRPr lang="en-US" sz="1400" dirty="0">
              <a:solidFill>
                <a:srgbClr val="FF6B6B"/>
              </a:solidFill>
              <a:latin typeface="Consolas"/>
            </a:endParaRPr>
          </a:p>
          <a:p>
            <a:r>
              <a:rPr lang="en-US" sz="1400" dirty="0">
                <a:solidFill>
                  <a:srgbClr val="8B949E"/>
                </a:solidFill>
                <a:latin typeface="Consolas"/>
              </a:rPr>
              <a:t>// Est. 1st = estimated first-try success</a:t>
            </a:r>
          </a:p>
          <a:p>
            <a:r>
              <a:rPr lang="en-US" sz="1400" dirty="0">
                <a:solidFill>
                  <a:srgbClr val="8B949E"/>
                </a:solidFill>
                <a:latin typeface="Consolas"/>
              </a:rPr>
              <a:t>// = 1 - (1 - rate)^(avg_calls/trial)</a:t>
            </a:r>
          </a:p>
        </p:txBody>
      </p:sp>
      <p:sp>
        <p:nvSpPr>
          <p:cNvPr id="8" name="TextBox 7">
            <a:extLst>
              <a:ext uri="{FF2B5EF4-FFF2-40B4-BE49-F238E27FC236}">
                <a16:creationId xmlns:a16="http://schemas.microsoft.com/office/drawing/2014/main" id="{6508F58F-2905-47D5-99D1-ACB50847CDBD}"/>
              </a:ext>
            </a:extLst>
          </p:cNvPr>
          <p:cNvSpPr txBox="1"/>
          <p:nvPr/>
        </p:nvSpPr>
        <p:spPr>
          <a:xfrm>
            <a:off x="1016000" y="4191000"/>
            <a:ext cx="10160000" cy="381000"/>
          </a:xfrm>
          <a:prstGeom prst="rect">
            <a:avLst/>
          </a:prstGeom>
          <a:noFill/>
        </p:spPr>
        <p:txBody>
          <a:bodyPr vertOverflow="overflow" vert="horz" wrap="square" rtlCol="0" anchor="t">
            <a:spAutoFit/>
          </a:bodyPr>
          <a:lstStyle/>
          <a:p>
            <a:pPr algn="l"/>
            <a:r>
              <a:rPr lang="en-US" sz="1600" b="1">
                <a:solidFill>
                  <a:srgbClr val="FFD93D"/>
                </a:solidFill>
                <a:latin typeface="Segoe UI"/>
                <a:cs typeface="Segoe UI"/>
              </a:rPr>
              <a:t>qwen3-coder-next: 6.75% → 15.95% (Exacto mode doubled first-try rate)</a:t>
            </a:r>
          </a:p>
        </p:txBody>
      </p:sp>
      <p:sp>
        <p:nvSpPr>
          <p:cNvPr id="9" name="TextBox 8">
            <a:extLst>
              <a:ext uri="{FF2B5EF4-FFF2-40B4-BE49-F238E27FC236}">
                <a16:creationId xmlns:a16="http://schemas.microsoft.com/office/drawing/2014/main" id="{2A0DD339-A903-48C9-8453-FD39C349010A}"/>
              </a:ext>
            </a:extLst>
          </p:cNvPr>
          <p:cNvSpPr txBox="1"/>
          <p:nvPr/>
        </p:nvSpPr>
        <p:spPr>
          <a:xfrm>
            <a:off x="1016000" y="4699000"/>
            <a:ext cx="10160000" cy="762000"/>
          </a:xfrm>
          <a:prstGeom prst="rect">
            <a:avLst/>
          </a:prstGeom>
          <a:noFill/>
        </p:spPr>
        <p:txBody>
          <a:bodyPr vertOverflow="overflow" vert="horz" wrap="square" rtlCol="0" anchor="t">
            <a:spAutoFit/>
          </a:bodyPr>
          <a:lstStyle/>
          <a:p>
            <a:pPr algn="l"/>
            <a:r>
              <a:rPr lang="en-US" sz="1600">
                <a:solidFill>
                  <a:srgbClr val="D0D0D0"/>
                </a:solidFill>
                <a:latin typeface="Segoe UI"/>
                <a:cs typeface="Segoe UI"/>
              </a:rPr>
              <a:t>The core thesis holds: no model achieves 100% across all FC targets.
The harness remains essential. Higher starting point = fewer retries.</a:t>
            </a:r>
          </a:p>
        </p:txBody>
      </p:sp>
      <p:sp>
        <p:nvSpPr>
          <p:cNvPr id="10" name="TextBox 9">
            <a:extLst>
              <a:ext uri="{FF2B5EF4-FFF2-40B4-BE49-F238E27FC236}">
                <a16:creationId xmlns:a16="http://schemas.microsoft.com/office/drawing/2014/main" id="{D7A70D04-3068-4BC9-B97A-92B20EB16B6C}"/>
              </a:ext>
            </a:extLst>
          </p:cNvPr>
          <p:cNvSpPr txBox="1"/>
          <p:nvPr/>
        </p:nvSpPr>
        <p:spPr>
          <a:xfrm>
            <a:off x="1016000" y="5715000"/>
            <a:ext cx="10160000" cy="381000"/>
          </a:xfrm>
          <a:prstGeom prst="rect">
            <a:avLst/>
          </a:prstGeom>
          <a:noFill/>
        </p:spPr>
        <p:txBody>
          <a:bodyPr vertOverflow="overflow" vert="horz" wrap="square" rtlCol="0" anchor="t">
            <a:spAutoFit/>
          </a:bodyPr>
          <a:lstStyle/>
          <a:p>
            <a:pPr algn="l"/>
            <a:r>
              <a:rPr lang="en-US" sz="1400">
                <a:solidFill>
                  <a:srgbClr val="808080"/>
                </a:solidFill>
                <a:latin typeface="Segoe UI"/>
                <a:cs typeface="Segoe UI"/>
              </a:rPr>
              <a:t>All experiments via OpenRouter with Exacto mode. Raw results: github.com/wrtnlabs/autobe-examples</a:t>
            </a:r>
          </a:p>
        </p:txBody>
      </p:sp>
    </p:spTree>
    <p:extLst>
      <p:ext uri="{BB962C8B-B14F-4D97-AF65-F5344CB8AC3E}">
        <p14:creationId xmlns:p14="http://schemas.microsoft.com/office/powerpoint/2010/main" val="41642912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0" tIns="0" rIns="0" bIns="0" anchor="b"/>
          <a:lstStyle/>
          <a:p>
            <a:pPr algn="l"/>
            <a:r>
              <a:rPr lang="en-US" sz="2800" b="1" dirty="0">
                <a:solidFill>
                  <a:srgbClr val="F0F0F0"/>
                </a:solidFill>
                <a:latin typeface="Segoe UI Semibold"/>
              </a:rPr>
              <a:t>The Best QA Engineers Are Small</a:t>
            </a:r>
          </a:p>
        </p:txBody>
      </p:sp>
      <p:sp>
        <p:nvSpPr>
          <p:cNvPr id="11" name="AL"/>
          <p:cNvSpPr/>
          <p:nvPr/>
        </p:nvSpPr>
        <p:spPr>
          <a:xfrm>
            <a:off x="762000" y="1041400"/>
            <a:ext cx="1524000" cy="38100"/>
          </a:xfrm>
          <a:prstGeom prst="rect">
            <a:avLst/>
          </a:prstGeom>
          <a:solidFill>
            <a:srgbClr val="74B9FF"/>
          </a:solidFill>
          <a:ln>
            <a:noFill/>
          </a:ln>
        </p:spPr>
        <p:txBody>
          <a:bodyPr/>
          <a:lstStyle/>
          <a:p>
            <a:endParaRPr lang="en-US"/>
          </a:p>
        </p:txBody>
      </p:sp>
      <p:sp>
        <p:nvSpPr>
          <p:cNvPr id="20" name="P0"/>
          <p:cNvSpPr/>
          <p:nvPr/>
        </p:nvSpPr>
        <p:spPr>
          <a:xfrm>
            <a:off x="1016000" y="1333500"/>
            <a:ext cx="10160000" cy="762000"/>
          </a:xfrm>
          <a:prstGeom prst="roundRect">
            <a:avLst>
              <a:gd name="adj" fmla="val 10000"/>
            </a:avLst>
          </a:prstGeom>
          <a:solidFill>
            <a:srgbClr val="161B22"/>
          </a:solidFill>
          <a:ln w="12700">
            <a:solidFill>
              <a:srgbClr val="FFD93D">
                <a:alpha val="40000"/>
              </a:srgbClr>
            </a:solidFill>
          </a:ln>
        </p:spPr>
        <p:txBody>
          <a:bodyPr wrap="square" lIns="190500" tIns="101600" rIns="190500" bIns="101600" anchor="ctr"/>
          <a:lstStyle/>
          <a:p>
            <a:pPr algn="l"/>
            <a:r>
              <a:rPr lang="en-US" sz="2000" dirty="0">
                <a:solidFill>
                  <a:srgbClr val="D0D0D0"/>
                </a:solidFill>
                <a:latin typeface="Segoe UI"/>
              </a:rPr>
              <a:t>Large models make fewer mistakes — and hide system vulnerabilities</a:t>
            </a:r>
          </a:p>
        </p:txBody>
      </p:sp>
      <p:sp>
        <p:nvSpPr>
          <p:cNvPr id="21" name="P1"/>
          <p:cNvSpPr/>
          <p:nvPr/>
        </p:nvSpPr>
        <p:spPr>
          <a:xfrm>
            <a:off x="1016000" y="2286000"/>
            <a:ext cx="10160000" cy="762000"/>
          </a:xfrm>
          <a:prstGeom prst="roundRect">
            <a:avLst>
              <a:gd name="adj" fmla="val 10000"/>
            </a:avLst>
          </a:prstGeom>
          <a:solidFill>
            <a:srgbClr val="161B22"/>
          </a:solidFill>
          <a:ln w="12700">
            <a:solidFill>
              <a:srgbClr val="FF6B6B">
                <a:alpha val="40000"/>
              </a:srgbClr>
            </a:solidFill>
          </a:ln>
        </p:spPr>
        <p:txBody>
          <a:bodyPr wrap="square" lIns="190500" tIns="101600" rIns="190500" bIns="101600" anchor="ctr"/>
          <a:lstStyle/>
          <a:p>
            <a:pPr algn="l"/>
            <a:r>
              <a:rPr lang="en-US" sz="2000" dirty="0">
                <a:solidFill>
                  <a:srgbClr val="D0D0D0"/>
                </a:solidFill>
                <a:latin typeface="Segoe UI"/>
              </a:rPr>
              <a:t>Small models trigger every edge case — every failure = a system fix</a:t>
            </a:r>
          </a:p>
        </p:txBody>
      </p:sp>
      <p:sp>
        <p:nvSpPr>
          <p:cNvPr id="22" name="P2"/>
          <p:cNvSpPr/>
          <p:nvPr/>
        </p:nvSpPr>
        <p:spPr>
          <a:xfrm>
            <a:off x="1016000" y="3238500"/>
            <a:ext cx="10160000" cy="762000"/>
          </a:xfrm>
          <a:prstGeom prst="roundRect">
            <a:avLst>
              <a:gd name="adj" fmla="val 10000"/>
            </a:avLst>
          </a:prstGeom>
          <a:solidFill>
            <a:srgbClr val="161B22"/>
          </a:solidFill>
          <a:ln w="12700">
            <a:solidFill>
              <a:srgbClr val="00D4AA">
                <a:alpha val="40000"/>
              </a:srgbClr>
            </a:solidFill>
          </a:ln>
        </p:spPr>
        <p:txBody>
          <a:bodyPr wrap="square" lIns="190500" tIns="101600" rIns="190500" bIns="101600" anchor="ctr"/>
          <a:lstStyle/>
          <a:p>
            <a:pPr algn="l"/>
            <a:r>
              <a:rPr lang="en-US" sz="2000" dirty="0">
                <a:solidFill>
                  <a:srgbClr val="D0D0D0"/>
                </a:solidFill>
                <a:latin typeface="Segoe UI"/>
              </a:rPr>
              <a:t>Fix for small model = fix for ALL models</a:t>
            </a:r>
          </a:p>
        </p:txBody>
      </p:sp>
      <p:sp>
        <p:nvSpPr>
          <p:cNvPr id="50" name="Ins"/>
          <p:cNvSpPr/>
          <p:nvPr/>
        </p:nvSpPr>
        <p:spPr>
          <a:xfrm>
            <a:off x="1016000" y="4572000"/>
            <a:ext cx="10160000" cy="1651000"/>
          </a:xfrm>
          <a:prstGeom prst="rect">
            <a:avLst/>
          </a:prstGeom>
          <a:noFill/>
          <a:ln>
            <a:noFill/>
          </a:ln>
        </p:spPr>
        <p:txBody>
          <a:bodyPr wrap="square" lIns="0" tIns="0" rIns="0" bIns="0" anchor="t"/>
          <a:lstStyle/>
          <a:p>
            <a:pPr algn="ctr">
              <a:lnSpc>
                <a:spcPts val="3200"/>
              </a:lnSpc>
            </a:pPr>
            <a:r>
              <a:rPr lang="en-US" sz="2000" dirty="0">
                <a:solidFill>
                  <a:srgbClr val="D0D0D0"/>
                </a:solidFill>
                <a:latin typeface="Segoe UI"/>
              </a:rPr>
              <a:t>AI is probabilistic. Large models make mistakes </a:t>
            </a:r>
            <a:r>
              <a:rPr lang="en-US" sz="2000" i="1" dirty="0">
                <a:solidFill>
                  <a:srgbClr val="FFD93D"/>
                </a:solidFill>
                <a:latin typeface="Segoe UI"/>
              </a:rPr>
              <a:t>less frequently</a:t>
            </a:r>
            <a:r>
              <a:rPr lang="en-US" sz="2000" dirty="0">
                <a:solidFill>
                  <a:srgbClr val="D0D0D0"/>
                </a:solidFill>
                <a:latin typeface="Segoe UI"/>
              </a:rPr>
              <a:t>, not </a:t>
            </a:r>
            <a:r>
              <a:rPr lang="en-US" sz="2000" i="1" dirty="0">
                <a:solidFill>
                  <a:srgbClr val="FF6B6B"/>
                </a:solidFill>
                <a:latin typeface="Segoe UI"/>
              </a:rPr>
              <a:t>never</a:t>
            </a:r>
            <a:r>
              <a:rPr lang="en-US" sz="2000" dirty="0">
                <a:solidFill>
                  <a:srgbClr val="D0D0D0"/>
                </a:solidFill>
                <a:latin typeface="Segoe UI"/>
              </a:rPr>
              <a:t>.</a:t>
            </a:r>
          </a:p>
          <a:p>
            <a:pPr algn="ctr">
              <a:lnSpc>
                <a:spcPts val="3400"/>
              </a:lnSpc>
            </a:pPr>
            <a:r>
              <a:rPr lang="en-US" sz="2200" b="1" dirty="0">
                <a:solidFill>
                  <a:srgbClr val="00D4AA"/>
                </a:solidFill>
                <a:latin typeface="Segoe UI Semibold"/>
              </a:rPr>
              <a:t>When even a 35B model can't break the system,</a:t>
            </a:r>
          </a:p>
          <a:p>
            <a:pPr algn="ctr">
              <a:lnSpc>
                <a:spcPts val="3400"/>
              </a:lnSpc>
            </a:pPr>
            <a:r>
              <a:rPr lang="en-US" sz="2200" b="1" dirty="0">
                <a:solidFill>
                  <a:srgbClr val="00D4AA"/>
                </a:solidFill>
                <a:latin typeface="Segoe UI Semibold"/>
              </a:rPr>
              <a:t>the probability of any model failing approaches zero.</a:t>
            </a:r>
          </a:p>
        </p:txBody>
      </p:sp>
    </p:spTree>
    <p:extLst>
      <p:ext uri="{BB962C8B-B14F-4D97-AF65-F5344CB8AC3E}">
        <p14:creationId xmlns:p14="http://schemas.microsoft.com/office/powerpoint/2010/main" val="4689447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N"/>
          <p:cNvSpPr/>
          <p:nvPr/>
        </p:nvSpPr>
        <p:spPr>
          <a:xfrm>
            <a:off x="1016000" y="381000"/>
            <a:ext cx="2540000" cy="1016000"/>
          </a:xfrm>
          <a:prstGeom prst="rect">
            <a:avLst/>
          </a:prstGeom>
          <a:noFill/>
          <a:ln>
            <a:noFill/>
          </a:ln>
        </p:spPr>
        <p:txBody>
          <a:bodyPr wrap="square" lIns="0" tIns="0" rIns="0" bIns="0" anchor="b"/>
          <a:lstStyle/>
          <a:p>
            <a:pPr algn="l"/>
            <a:r>
              <a:rPr lang="en-US" sz="5000" b="1" dirty="0">
                <a:solidFill>
                  <a:srgbClr val="A8E6CF">
                    <a:alpha val="30000"/>
                  </a:srgbClr>
                </a:solidFill>
                <a:latin typeface="Segoe UI Semibold"/>
              </a:rPr>
              <a:t>06</a:t>
            </a:r>
          </a:p>
        </p:txBody>
      </p:sp>
      <p:sp>
        <p:nvSpPr>
          <p:cNvPr id="11" name="T"/>
          <p:cNvSpPr/>
          <p:nvPr/>
        </p:nvSpPr>
        <p:spPr>
          <a:xfrm>
            <a:off x="1016000" y="1397000"/>
            <a:ext cx="10160000" cy="571500"/>
          </a:xfrm>
          <a:prstGeom prst="rect">
            <a:avLst/>
          </a:prstGeom>
          <a:noFill/>
          <a:ln>
            <a:noFill/>
          </a:ln>
        </p:spPr>
        <p:txBody>
          <a:bodyPr wrap="square" lIns="0" tIns="0" rIns="0" bIns="0" anchor="t"/>
          <a:lstStyle/>
          <a:p>
            <a:pPr algn="l"/>
            <a:r>
              <a:rPr lang="en-US" sz="2800" b="1" dirty="0">
                <a:solidFill>
                  <a:srgbClr val="F0F0F0"/>
                </a:solidFill>
                <a:latin typeface="Segoe UI Semibold"/>
              </a:rPr>
              <a:t>Conclusion</a:t>
            </a:r>
          </a:p>
        </p:txBody>
      </p:sp>
      <p:sp>
        <p:nvSpPr>
          <p:cNvPr id="20" name="L0"/>
          <p:cNvSpPr/>
          <p:nvPr/>
        </p:nvSpPr>
        <p:spPr>
          <a:xfrm>
            <a:off x="1270000" y="2286000"/>
            <a:ext cx="9652000" cy="609600"/>
          </a:xfrm>
          <a:prstGeom prst="rect">
            <a:avLst/>
          </a:prstGeom>
          <a:noFill/>
          <a:ln>
            <a:noFill/>
          </a:ln>
        </p:spPr>
        <p:txBody>
          <a:bodyPr wrap="square" lIns="0" tIns="0" rIns="0" bIns="0" anchor="ctr"/>
          <a:lstStyle/>
          <a:p>
            <a:pPr algn="l"/>
            <a:r>
              <a:rPr lang="en-US" sz="2000" dirty="0">
                <a:solidFill>
                  <a:srgbClr val="00D4AA"/>
                </a:solidFill>
                <a:latin typeface="Segoe UI"/>
              </a:rPr>
              <a:t>➜  </a:t>
            </a:r>
            <a:r>
              <a:rPr lang="en-US" sz="2000" dirty="0">
                <a:solidFill>
                  <a:srgbClr val="D0D0D0"/>
                </a:solidFill>
                <a:latin typeface="Segoe UI"/>
              </a:rPr>
              <a:t>Communicate through types and there are no misunderstandings</a:t>
            </a:r>
          </a:p>
        </p:txBody>
      </p:sp>
      <p:sp>
        <p:nvSpPr>
          <p:cNvPr id="21" name="L1"/>
          <p:cNvSpPr/>
          <p:nvPr/>
        </p:nvSpPr>
        <p:spPr>
          <a:xfrm>
            <a:off x="1270000" y="3048000"/>
            <a:ext cx="9652000" cy="609600"/>
          </a:xfrm>
          <a:prstGeom prst="rect">
            <a:avLst/>
          </a:prstGeom>
          <a:noFill/>
          <a:ln>
            <a:noFill/>
          </a:ln>
        </p:spPr>
        <p:txBody>
          <a:bodyPr wrap="square" lIns="0" tIns="0" rIns="0" bIns="0" anchor="ctr"/>
          <a:lstStyle/>
          <a:p>
            <a:pPr algn="l"/>
            <a:r>
              <a:rPr lang="en-US" sz="2000" dirty="0">
                <a:solidFill>
                  <a:srgbClr val="FFD93D"/>
                </a:solidFill>
                <a:latin typeface="Segoe UI"/>
              </a:rPr>
              <a:t>➜  </a:t>
            </a:r>
            <a:r>
              <a:rPr lang="en-US" sz="2000" dirty="0">
                <a:solidFill>
                  <a:srgbClr val="D0D0D0"/>
                </a:solidFill>
                <a:latin typeface="Segoe UI"/>
              </a:rPr>
              <a:t>Constrain through schemas and there are no pink elephants</a:t>
            </a:r>
          </a:p>
        </p:txBody>
      </p:sp>
      <p:sp>
        <p:nvSpPr>
          <p:cNvPr id="22" name="L2"/>
          <p:cNvSpPr/>
          <p:nvPr/>
        </p:nvSpPr>
        <p:spPr>
          <a:xfrm>
            <a:off x="1270000" y="3810000"/>
            <a:ext cx="9652000" cy="609600"/>
          </a:xfrm>
          <a:prstGeom prst="rect">
            <a:avLst/>
          </a:prstGeom>
          <a:noFill/>
          <a:ln>
            <a:noFill/>
          </a:ln>
        </p:spPr>
        <p:txBody>
          <a:bodyPr wrap="square" lIns="0" tIns="0" rIns="0" bIns="0" anchor="ctr"/>
          <a:lstStyle/>
          <a:p>
            <a:pPr algn="l"/>
            <a:r>
              <a:rPr lang="en-US" sz="2000" dirty="0">
                <a:solidFill>
                  <a:srgbClr val="6C5CE7"/>
                </a:solidFill>
                <a:latin typeface="Segoe UI"/>
              </a:rPr>
              <a:t>➜  </a:t>
            </a:r>
            <a:r>
              <a:rPr lang="en-US" sz="2000" dirty="0">
                <a:solidFill>
                  <a:srgbClr val="D0D0D0"/>
                </a:solidFill>
                <a:latin typeface="Segoe UI"/>
              </a:rPr>
              <a:t>With a deterministic loop, even 6.75% becomes 100%</a:t>
            </a:r>
          </a:p>
        </p:txBody>
      </p:sp>
      <p:sp>
        <p:nvSpPr>
          <p:cNvPr id="23" name="L3"/>
          <p:cNvSpPr/>
          <p:nvPr/>
        </p:nvSpPr>
        <p:spPr>
          <a:xfrm>
            <a:off x="1270000" y="4572000"/>
            <a:ext cx="9652000" cy="609600"/>
          </a:xfrm>
          <a:prstGeom prst="rect">
            <a:avLst/>
          </a:prstGeom>
          <a:noFill/>
          <a:ln>
            <a:noFill/>
          </a:ln>
        </p:spPr>
        <p:txBody>
          <a:bodyPr wrap="square" lIns="0" tIns="0" rIns="0" bIns="0" anchor="ctr"/>
          <a:lstStyle/>
          <a:p>
            <a:pPr algn="l"/>
            <a:r>
              <a:rPr lang="en-US" sz="2000" dirty="0">
                <a:solidFill>
                  <a:srgbClr val="74B9FF"/>
                </a:solidFill>
                <a:latin typeface="Segoe UI"/>
              </a:rPr>
              <a:t>➜  </a:t>
            </a:r>
            <a:r>
              <a:rPr lang="en-US" sz="2000" dirty="0">
                <a:solidFill>
                  <a:srgbClr val="D0D0D0"/>
                </a:solidFill>
                <a:latin typeface="Segoe UI"/>
              </a:rPr>
              <a:t>This pattern transfers to every domain with deterministic validators</a:t>
            </a:r>
          </a:p>
        </p:txBody>
      </p:sp>
      <p:sp>
        <p:nvSpPr>
          <p:cNvPr id="30" name="F"/>
          <p:cNvSpPr/>
          <p:nvPr/>
        </p:nvSpPr>
        <p:spPr>
          <a:xfrm>
            <a:off x="1016000" y="5588000"/>
            <a:ext cx="10160000" cy="698500"/>
          </a:xfrm>
          <a:prstGeom prst="roundRect">
            <a:avLst>
              <a:gd name="adj" fmla="val 10000"/>
            </a:avLst>
          </a:prstGeom>
          <a:solidFill>
            <a:srgbClr val="00D4AA">
              <a:alpha val="12000"/>
            </a:srgbClr>
          </a:solidFill>
          <a:ln w="12700">
            <a:solidFill>
              <a:srgbClr val="00D4AA">
                <a:alpha val="40000"/>
              </a:srgbClr>
            </a:solidFill>
          </a:ln>
        </p:spPr>
        <p:txBody>
          <a:bodyPr wrap="square" lIns="190500" tIns="101600" rIns="190500" bIns="101600" anchor="ctr"/>
          <a:lstStyle/>
          <a:p>
            <a:pPr algn="ctr"/>
            <a:r>
              <a:rPr lang="en-US" sz="2000" b="1" dirty="0">
                <a:solidFill>
                  <a:srgbClr val="00D4AA"/>
                </a:solidFill>
                <a:latin typeface="Segoe UI Semibold"/>
              </a:rPr>
              <a:t>Type Schema</a:t>
            </a:r>
            <a:r>
              <a:rPr lang="en-US" sz="2000" dirty="0">
                <a:solidFill>
                  <a:srgbClr val="808080"/>
                </a:solidFill>
                <a:latin typeface="Segoe UI"/>
              </a:rPr>
              <a:t> + </a:t>
            </a:r>
            <a:r>
              <a:rPr lang="en-US" sz="2000" b="1" dirty="0">
                <a:solidFill>
                  <a:srgbClr val="FFD93D"/>
                </a:solidFill>
                <a:latin typeface="Segoe UI Semibold"/>
              </a:rPr>
              <a:t>Compiler</a:t>
            </a:r>
            <a:r>
              <a:rPr lang="en-US" sz="2000" dirty="0">
                <a:solidFill>
                  <a:srgbClr val="808080"/>
                </a:solidFill>
                <a:latin typeface="Segoe UI"/>
              </a:rPr>
              <a:t> + </a:t>
            </a:r>
            <a:r>
              <a:rPr lang="en-US" sz="2000" b="1" dirty="0">
                <a:solidFill>
                  <a:srgbClr val="FF6B6B"/>
                </a:solidFill>
                <a:latin typeface="Segoe UI Semibold"/>
              </a:rPr>
              <a:t>Feedback</a:t>
            </a:r>
            <a:r>
              <a:rPr lang="en-US" sz="2000" dirty="0">
                <a:solidFill>
                  <a:srgbClr val="808080"/>
                </a:solidFill>
                <a:latin typeface="Segoe UI"/>
              </a:rPr>
              <a:t> = </a:t>
            </a:r>
            <a:r>
              <a:rPr lang="en-US" sz="2000" b="1" dirty="0">
                <a:solidFill>
                  <a:srgbClr val="F0F0F0"/>
                </a:solidFill>
                <a:latin typeface="Segoe UI Semibold"/>
              </a:rPr>
              <a:t>Deterministic Loop</a:t>
            </a:r>
          </a:p>
        </p:txBody>
      </p:sp>
    </p:spTree>
    <p:extLst>
      <p:ext uri="{BB962C8B-B14F-4D97-AF65-F5344CB8AC3E}">
        <p14:creationId xmlns:p14="http://schemas.microsoft.com/office/powerpoint/2010/main" val="24030975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3A4E838-21F8-4A88-A85A-2B57396A1896}"/>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The Journey</a:t>
            </a:r>
          </a:p>
        </p:txBody>
      </p:sp>
      <p:sp>
        <p:nvSpPr>
          <p:cNvPr id="3" name="직사각형 2">
            <a:extLst>
              <a:ext uri="{FF2B5EF4-FFF2-40B4-BE49-F238E27FC236}">
                <a16:creationId xmlns:a16="http://schemas.microsoft.com/office/drawing/2014/main" id="{623C9F5A-1EF0-45EC-8EC8-B36D5B38B458}"/>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직사각형 3">
            <a:extLst>
              <a:ext uri="{FF2B5EF4-FFF2-40B4-BE49-F238E27FC236}">
                <a16:creationId xmlns:a16="http://schemas.microsoft.com/office/drawing/2014/main" id="{5E78E9DB-BEF9-4209-B278-46973CD645AB}"/>
              </a:ext>
            </a:extLst>
          </p:cNvPr>
          <p:cNvSpPr/>
          <p:nvPr/>
        </p:nvSpPr>
        <p:spPr>
          <a:xfrm>
            <a:off x="1016000" y="1397000"/>
            <a:ext cx="10160000" cy="889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5D4EFB2F-801D-43E2-B598-54D223307285}"/>
              </a:ext>
            </a:extLst>
          </p:cNvPr>
          <p:cNvSpPr txBox="1"/>
          <p:nvPr/>
        </p:nvSpPr>
        <p:spPr>
          <a:xfrm>
            <a:off x="1270000" y="1524000"/>
            <a:ext cx="9652000" cy="635000"/>
          </a:xfrm>
          <a:prstGeom prst="rect">
            <a:avLst/>
          </a:prstGeom>
          <a:noFill/>
        </p:spPr>
        <p:txBody>
          <a:bodyPr vertOverflow="overflow" vert="horz" wrap="square" rtlCol="0" anchor="t">
            <a:spAutoFit/>
          </a:bodyPr>
          <a:lstStyle/>
          <a:p>
            <a:pPr algn="l"/>
            <a:r>
              <a:rPr lang="en-US" sz="2200" b="1">
                <a:solidFill>
                  <a:srgbClr val="FF6B6B"/>
                </a:solidFill>
                <a:latin typeface="Segoe UI"/>
                <a:cs typeface="Segoe UI"/>
              </a:rPr>
              <a:t>6.75%  Raw function calling success</a:t>
            </a:r>
          </a:p>
        </p:txBody>
      </p:sp>
      <p:sp>
        <p:nvSpPr>
          <p:cNvPr id="6" name="TextBox 5">
            <a:extLst>
              <a:ext uri="{FF2B5EF4-FFF2-40B4-BE49-F238E27FC236}">
                <a16:creationId xmlns:a16="http://schemas.microsoft.com/office/drawing/2014/main" id="{977B0E77-DFE7-4E3C-A303-81EC6ECB63FB}"/>
              </a:ext>
            </a:extLst>
          </p:cNvPr>
          <p:cNvSpPr txBox="1"/>
          <p:nvPr/>
        </p:nvSpPr>
        <p:spPr>
          <a:xfrm>
            <a:off x="5842000" y="2349500"/>
            <a:ext cx="508000" cy="381000"/>
          </a:xfrm>
          <a:prstGeom prst="rect">
            <a:avLst/>
          </a:prstGeom>
          <a:noFill/>
        </p:spPr>
        <p:txBody>
          <a:bodyPr vertOverflow="overflow" vert="horz" wrap="square" rtlCol="0" anchor="t">
            <a:spAutoFit/>
          </a:bodyPr>
          <a:lstStyle/>
          <a:p>
            <a:pPr algn="l"/>
            <a:r>
              <a:rPr lang="en-US" sz="2400" b="1">
                <a:solidFill>
                  <a:srgbClr val="00D4AA"/>
                </a:solidFill>
                <a:latin typeface="Segoe UI"/>
                <a:cs typeface="Segoe UI"/>
              </a:rPr>
              <a:t>↓</a:t>
            </a:r>
          </a:p>
        </p:txBody>
      </p:sp>
      <p:sp>
        <p:nvSpPr>
          <p:cNvPr id="7" name="직사각형 6">
            <a:extLst>
              <a:ext uri="{FF2B5EF4-FFF2-40B4-BE49-F238E27FC236}">
                <a16:creationId xmlns:a16="http://schemas.microsoft.com/office/drawing/2014/main" id="{894803F0-0688-4141-8CBF-61DBCEC9CF9E}"/>
              </a:ext>
            </a:extLst>
          </p:cNvPr>
          <p:cNvSpPr/>
          <p:nvPr/>
        </p:nvSpPr>
        <p:spPr>
          <a:xfrm>
            <a:off x="1016000" y="2730500"/>
            <a:ext cx="10160000" cy="889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4F224244-5BFD-4753-B9A3-0E19DE541ABE}"/>
              </a:ext>
            </a:extLst>
          </p:cNvPr>
          <p:cNvSpPr txBox="1"/>
          <p:nvPr/>
        </p:nvSpPr>
        <p:spPr>
          <a:xfrm>
            <a:off x="1270000" y="2857500"/>
            <a:ext cx="9652000" cy="635000"/>
          </a:xfrm>
          <a:prstGeom prst="rect">
            <a:avLst/>
          </a:prstGeom>
          <a:noFill/>
        </p:spPr>
        <p:txBody>
          <a:bodyPr vertOverflow="overflow" vert="horz" wrap="square" rtlCol="0" anchor="t">
            <a:spAutoFit/>
          </a:bodyPr>
          <a:lstStyle/>
          <a:p>
            <a:pPr algn="l"/>
            <a:r>
              <a:rPr lang="en-US" sz="2200" b="1">
                <a:solidFill>
                  <a:srgbClr val="00D4AA"/>
                </a:solidFill>
                <a:latin typeface="Segoe UI"/>
                <a:cs typeface="Segoe UI"/>
              </a:rPr>
              <a:t>Typia  Parse → Coerce → Validate → Feedback</a:t>
            </a:r>
          </a:p>
        </p:txBody>
      </p:sp>
      <p:sp>
        <p:nvSpPr>
          <p:cNvPr id="9" name="TextBox 8">
            <a:extLst>
              <a:ext uri="{FF2B5EF4-FFF2-40B4-BE49-F238E27FC236}">
                <a16:creationId xmlns:a16="http://schemas.microsoft.com/office/drawing/2014/main" id="{93B9183F-A6FD-4F1F-A07A-8E64821F80D8}"/>
              </a:ext>
            </a:extLst>
          </p:cNvPr>
          <p:cNvSpPr txBox="1"/>
          <p:nvPr/>
        </p:nvSpPr>
        <p:spPr>
          <a:xfrm>
            <a:off x="5842000" y="3683000"/>
            <a:ext cx="508000" cy="381000"/>
          </a:xfrm>
          <a:prstGeom prst="rect">
            <a:avLst/>
          </a:prstGeom>
          <a:noFill/>
        </p:spPr>
        <p:txBody>
          <a:bodyPr vertOverflow="overflow" vert="horz" wrap="square" rtlCol="0" anchor="t">
            <a:spAutoFit/>
          </a:bodyPr>
          <a:lstStyle/>
          <a:p>
            <a:pPr algn="l"/>
            <a:r>
              <a:rPr lang="en-US" sz="2400" b="1">
                <a:solidFill>
                  <a:srgbClr val="00D4AA"/>
                </a:solidFill>
                <a:latin typeface="Segoe UI"/>
                <a:cs typeface="Segoe UI"/>
              </a:rPr>
              <a:t>↓</a:t>
            </a:r>
          </a:p>
        </p:txBody>
      </p:sp>
      <p:sp>
        <p:nvSpPr>
          <p:cNvPr id="10" name="직사각형 9">
            <a:extLst>
              <a:ext uri="{FF2B5EF4-FFF2-40B4-BE49-F238E27FC236}">
                <a16:creationId xmlns:a16="http://schemas.microsoft.com/office/drawing/2014/main" id="{F8BF73DF-A31E-4FEB-B4EB-FDE7A4E5382D}"/>
              </a:ext>
            </a:extLst>
          </p:cNvPr>
          <p:cNvSpPr/>
          <p:nvPr/>
        </p:nvSpPr>
        <p:spPr>
          <a:xfrm>
            <a:off x="1016000" y="4064000"/>
            <a:ext cx="10160000" cy="889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0FE4A352-9621-44F5-BFA3-942E21567DD7}"/>
              </a:ext>
            </a:extLst>
          </p:cNvPr>
          <p:cNvSpPr txBox="1"/>
          <p:nvPr/>
        </p:nvSpPr>
        <p:spPr>
          <a:xfrm>
            <a:off x="1270000" y="4191000"/>
            <a:ext cx="9652000" cy="635000"/>
          </a:xfrm>
          <a:prstGeom prst="rect">
            <a:avLst/>
          </a:prstGeom>
          <a:noFill/>
        </p:spPr>
        <p:txBody>
          <a:bodyPr vertOverflow="overflow" vert="horz" wrap="square" rtlCol="0" anchor="t">
            <a:spAutoFit/>
          </a:bodyPr>
          <a:lstStyle/>
          <a:p>
            <a:pPr algn="l"/>
            <a:r>
              <a:rPr lang="en-US" sz="2200" b="1">
                <a:solidFill>
                  <a:srgbClr val="FFD93D"/>
                </a:solidFill>
                <a:latin typeface="Segoe UI"/>
                <a:cs typeface="Segoe UI"/>
              </a:rPr>
              <a:t>Loop   Deterministic harness overcomes probabilistic LLM</a:t>
            </a:r>
          </a:p>
        </p:txBody>
      </p:sp>
      <p:sp>
        <p:nvSpPr>
          <p:cNvPr id="12" name="TextBox 11">
            <a:extLst>
              <a:ext uri="{FF2B5EF4-FFF2-40B4-BE49-F238E27FC236}">
                <a16:creationId xmlns:a16="http://schemas.microsoft.com/office/drawing/2014/main" id="{2843C039-1315-45CD-BBE4-9D7A086E9F06}"/>
              </a:ext>
            </a:extLst>
          </p:cNvPr>
          <p:cNvSpPr txBox="1"/>
          <p:nvPr/>
        </p:nvSpPr>
        <p:spPr>
          <a:xfrm>
            <a:off x="5842000" y="5016500"/>
            <a:ext cx="508000" cy="381000"/>
          </a:xfrm>
          <a:prstGeom prst="rect">
            <a:avLst/>
          </a:prstGeom>
          <a:noFill/>
        </p:spPr>
        <p:txBody>
          <a:bodyPr vertOverflow="overflow" vert="horz" wrap="square" rtlCol="0" anchor="t">
            <a:spAutoFit/>
          </a:bodyPr>
          <a:lstStyle/>
          <a:p>
            <a:pPr algn="l"/>
            <a:r>
              <a:rPr lang="en-US" sz="2400" b="1">
                <a:solidFill>
                  <a:srgbClr val="00D4AA"/>
                </a:solidFill>
                <a:latin typeface="Segoe UI"/>
                <a:cs typeface="Segoe UI"/>
              </a:rPr>
              <a:t>↓</a:t>
            </a:r>
          </a:p>
        </p:txBody>
      </p:sp>
      <p:sp>
        <p:nvSpPr>
          <p:cNvPr id="13" name="직사각형 12">
            <a:extLst>
              <a:ext uri="{FF2B5EF4-FFF2-40B4-BE49-F238E27FC236}">
                <a16:creationId xmlns:a16="http://schemas.microsoft.com/office/drawing/2014/main" id="{56A801EC-48B6-4639-AA1C-4FB962241DAF}"/>
              </a:ext>
            </a:extLst>
          </p:cNvPr>
          <p:cNvSpPr/>
          <p:nvPr/>
        </p:nvSpPr>
        <p:spPr>
          <a:xfrm>
            <a:off x="1016000" y="5397500"/>
            <a:ext cx="10160000" cy="889000"/>
          </a:xfrm>
          <a:prstGeom prst="rect">
            <a:avLst/>
          </a:prstGeom>
          <a:solidFill>
            <a:srgbClr val="1E2A3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11C4A8B0-D079-4903-9428-F9308E672EFF}"/>
              </a:ext>
            </a:extLst>
          </p:cNvPr>
          <p:cNvSpPr txBox="1"/>
          <p:nvPr/>
        </p:nvSpPr>
        <p:spPr>
          <a:xfrm>
            <a:off x="1270000" y="5524500"/>
            <a:ext cx="9652000" cy="635000"/>
          </a:xfrm>
          <a:prstGeom prst="rect">
            <a:avLst/>
          </a:prstGeom>
          <a:noFill/>
        </p:spPr>
        <p:txBody>
          <a:bodyPr vertOverflow="overflow" vert="horz" wrap="square" rtlCol="0" anchor="t">
            <a:spAutoFit/>
          </a:bodyPr>
          <a:lstStyle/>
          <a:p>
            <a:pPr algn="l"/>
            <a:r>
              <a:rPr lang="en-US" sz="2000" b="1">
                <a:solidFill>
                  <a:srgbClr val="00D4AA"/>
                </a:solidFill>
                <a:latin typeface="Segoe UI"/>
                <a:cs typeface="Segoe UI"/>
              </a:rPr>
              <a:t>100%  All 4 Qwen models, same harness — transferable to all engineering domains</a:t>
            </a:r>
          </a:p>
        </p:txBody>
      </p:sp>
    </p:spTree>
    <p:extLst>
      <p:ext uri="{BB962C8B-B14F-4D97-AF65-F5344CB8AC3E}">
        <p14:creationId xmlns:p14="http://schemas.microsoft.com/office/powerpoint/2010/main" val="21145194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34EDDF8-204F-4EC0-97A9-76DC693F89AA}"/>
              </a:ext>
            </a:extLst>
          </p:cNvPr>
          <p:cNvSpPr txBox="1"/>
          <p:nvPr/>
        </p:nvSpPr>
        <p:spPr>
          <a:xfrm>
            <a:off x="1016000" y="508000"/>
            <a:ext cx="10160000" cy="635000"/>
          </a:xfrm>
          <a:prstGeom prst="rect">
            <a:avLst/>
          </a:prstGeom>
          <a:noFill/>
        </p:spPr>
        <p:txBody>
          <a:bodyPr vertOverflow="overflow" vert="horz" wrap="square" rtlCol="0" anchor="t">
            <a:spAutoFit/>
          </a:bodyPr>
          <a:lstStyle/>
          <a:p>
            <a:pPr algn="l"/>
            <a:r>
              <a:rPr lang="en-US" sz="2800" b="1">
                <a:solidFill>
                  <a:srgbClr val="F0F0F0"/>
                </a:solidFill>
                <a:latin typeface="Segoe UI Semibold"/>
                <a:cs typeface="Segoe UI Semibold"/>
              </a:rPr>
              <a:t>Three Principles</a:t>
            </a:r>
          </a:p>
        </p:txBody>
      </p:sp>
      <p:sp>
        <p:nvSpPr>
          <p:cNvPr id="3" name="직사각형 2">
            <a:extLst>
              <a:ext uri="{FF2B5EF4-FFF2-40B4-BE49-F238E27FC236}">
                <a16:creationId xmlns:a16="http://schemas.microsoft.com/office/drawing/2014/main" id="{8553A7B8-7DDC-41FC-AEDD-18F114663C1C}"/>
              </a:ext>
            </a:extLst>
          </p:cNvPr>
          <p:cNvSpPr/>
          <p:nvPr/>
        </p:nvSpPr>
        <p:spPr>
          <a:xfrm>
            <a:off x="4826000" y="12065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79CC9DCA-DDEE-4A83-8198-5456F84CAB18}"/>
              </a:ext>
            </a:extLst>
          </p:cNvPr>
          <p:cNvSpPr txBox="1"/>
          <p:nvPr/>
        </p:nvSpPr>
        <p:spPr>
          <a:xfrm>
            <a:off x="1016000" y="1651000"/>
            <a:ext cx="10160000" cy="1016000"/>
          </a:xfrm>
          <a:prstGeom prst="rect">
            <a:avLst/>
          </a:prstGeom>
          <a:noFill/>
        </p:spPr>
        <p:txBody>
          <a:bodyPr vertOverflow="overflow" vert="horz" wrap="square" rtlCol="0" anchor="t">
            <a:spAutoFit/>
          </a:bodyPr>
          <a:lstStyle/>
          <a:p>
            <a:pPr algn="l"/>
            <a:r>
              <a:rPr lang="en-US" sz="4000" b="1">
                <a:solidFill>
                  <a:srgbClr val="00D4AA"/>
                </a:solidFill>
                <a:latin typeface="Segoe UI Semibold"/>
                <a:cs typeface="Segoe UI Semibold"/>
              </a:rPr>
              <a:t>Types &gt; Prompts</a:t>
            </a:r>
          </a:p>
        </p:txBody>
      </p:sp>
      <p:sp>
        <p:nvSpPr>
          <p:cNvPr id="5" name="TextBox 4">
            <a:extLst>
              <a:ext uri="{FF2B5EF4-FFF2-40B4-BE49-F238E27FC236}">
                <a16:creationId xmlns:a16="http://schemas.microsoft.com/office/drawing/2014/main" id="{78B69D1F-890C-4E07-B254-AE2C00FEFD90}"/>
              </a:ext>
            </a:extLst>
          </p:cNvPr>
          <p:cNvSpPr txBox="1"/>
          <p:nvPr/>
        </p:nvSpPr>
        <p:spPr>
          <a:xfrm>
            <a:off x="1016000" y="2921000"/>
            <a:ext cx="10160000" cy="1016000"/>
          </a:xfrm>
          <a:prstGeom prst="rect">
            <a:avLst/>
          </a:prstGeom>
          <a:noFill/>
        </p:spPr>
        <p:txBody>
          <a:bodyPr vertOverflow="overflow" vert="horz" wrap="square" rtlCol="0" anchor="t">
            <a:spAutoFit/>
          </a:bodyPr>
          <a:lstStyle/>
          <a:p>
            <a:pPr algn="l"/>
            <a:r>
              <a:rPr lang="en-US" sz="4000" b="1">
                <a:solidFill>
                  <a:srgbClr val="FFD93D"/>
                </a:solidFill>
                <a:latin typeface="Segoe UI Semibold"/>
                <a:cs typeface="Segoe UI Semibold"/>
              </a:rPr>
              <a:t>Schemas &gt; Prohibition</a:t>
            </a:r>
          </a:p>
        </p:txBody>
      </p:sp>
      <p:sp>
        <p:nvSpPr>
          <p:cNvPr id="6" name="TextBox 5">
            <a:extLst>
              <a:ext uri="{FF2B5EF4-FFF2-40B4-BE49-F238E27FC236}">
                <a16:creationId xmlns:a16="http://schemas.microsoft.com/office/drawing/2014/main" id="{90F20A3A-D215-420C-B639-8EBD793FF987}"/>
              </a:ext>
            </a:extLst>
          </p:cNvPr>
          <p:cNvSpPr txBox="1"/>
          <p:nvPr/>
        </p:nvSpPr>
        <p:spPr>
          <a:xfrm>
            <a:off x="1016000" y="4191000"/>
            <a:ext cx="10160000" cy="1016000"/>
          </a:xfrm>
          <a:prstGeom prst="rect">
            <a:avLst/>
          </a:prstGeom>
          <a:noFill/>
        </p:spPr>
        <p:txBody>
          <a:bodyPr vertOverflow="overflow" vert="horz" wrap="square" rtlCol="0" anchor="t">
            <a:spAutoFit/>
          </a:bodyPr>
          <a:lstStyle/>
          <a:p>
            <a:pPr algn="l"/>
            <a:r>
              <a:rPr lang="en-US" sz="4000" b="1">
                <a:solidFill>
                  <a:srgbClr val="FF6B6B"/>
                </a:solidFill>
                <a:latin typeface="Segoe UI Semibold"/>
                <a:cs typeface="Segoe UI Semibold"/>
              </a:rPr>
              <a:t>Validation &gt; Accuracy</a:t>
            </a:r>
          </a:p>
        </p:txBody>
      </p:sp>
    </p:spTree>
    <p:extLst>
      <p:ext uri="{BB962C8B-B14F-4D97-AF65-F5344CB8AC3E}">
        <p14:creationId xmlns:p14="http://schemas.microsoft.com/office/powerpoint/2010/main" val="23309716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Msg1"/>
          <p:cNvSpPr/>
          <p:nvPr/>
        </p:nvSpPr>
        <p:spPr>
          <a:xfrm>
            <a:off x="1016000" y="1270000"/>
            <a:ext cx="10160000" cy="1524000"/>
          </a:xfrm>
          <a:prstGeom prst="rect">
            <a:avLst/>
          </a:prstGeom>
          <a:noFill/>
          <a:ln>
            <a:noFill/>
          </a:ln>
        </p:spPr>
        <p:txBody>
          <a:bodyPr wrap="square" lIns="0" tIns="0" rIns="0" bIns="0" anchor="b"/>
          <a:lstStyle/>
          <a:p>
            <a:pPr algn="ctr"/>
            <a:r>
              <a:rPr lang="en-US" sz="2400" dirty="0">
                <a:solidFill>
                  <a:srgbClr val="D0D0D0"/>
                </a:solidFill>
                <a:latin typeface="Segoe UI"/>
              </a:rPr>
              <a:t>6.75% is not a failure —</a:t>
            </a:r>
          </a:p>
          <a:p>
            <a:pPr algn="ctr"/>
            <a:r>
              <a:rPr lang="en-US" sz="2400" dirty="0">
                <a:solidFill>
                  <a:srgbClr val="D0D0D0"/>
                </a:solidFill>
                <a:latin typeface="Segoe UI"/>
              </a:rPr>
              <a:t>it's the first input to the loop.</a:t>
            </a:r>
          </a:p>
        </p:txBody>
      </p:sp>
      <p:sp>
        <p:nvSpPr>
          <p:cNvPr id="11" name="Div"/>
          <p:cNvSpPr/>
          <p:nvPr/>
        </p:nvSpPr>
        <p:spPr>
          <a:xfrm>
            <a:off x="4826000" y="3111500"/>
            <a:ext cx="2540000" cy="38100"/>
          </a:xfrm>
          <a:prstGeom prst="rect">
            <a:avLst/>
          </a:prstGeom>
          <a:solidFill>
            <a:srgbClr val="00D4AA"/>
          </a:solidFill>
          <a:ln>
            <a:noFill/>
          </a:ln>
        </p:spPr>
        <p:txBody>
          <a:bodyPr/>
          <a:lstStyle/>
          <a:p>
            <a:endParaRPr lang="en-US"/>
          </a:p>
        </p:txBody>
      </p:sp>
      <p:sp>
        <p:nvSpPr>
          <p:cNvPr id="12" name="Msg2"/>
          <p:cNvSpPr/>
          <p:nvPr/>
        </p:nvSpPr>
        <p:spPr>
          <a:xfrm>
            <a:off x="1016000" y="3429000"/>
            <a:ext cx="10160000" cy="1016000"/>
          </a:xfrm>
          <a:prstGeom prst="rect">
            <a:avLst/>
          </a:prstGeom>
          <a:noFill/>
          <a:ln>
            <a:noFill/>
          </a:ln>
        </p:spPr>
        <p:txBody>
          <a:bodyPr wrap="square" lIns="0" tIns="0" rIns="0" bIns="0" anchor="t"/>
          <a:lstStyle/>
          <a:p>
            <a:pPr algn="ctr"/>
            <a:r>
              <a:rPr lang="en-US" sz="3600" b="1" dirty="0">
                <a:solidFill>
                  <a:srgbClr val="00D4AA"/>
                </a:solidFill>
                <a:latin typeface="Segoe UI Semibold"/>
              </a:rPr>
              <a:t>If you can verify, you converge.</a:t>
            </a:r>
          </a:p>
        </p:txBody>
      </p:sp>
    </p:spTree>
    <p:extLst>
      <p:ext uri="{BB962C8B-B14F-4D97-AF65-F5344CB8AC3E}">
        <p14:creationId xmlns:p14="http://schemas.microsoft.com/office/powerpoint/2010/main" val="40380247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Y"/>
          <p:cNvSpPr/>
          <p:nvPr/>
        </p:nvSpPr>
        <p:spPr>
          <a:xfrm>
            <a:off x="1016000" y="762000"/>
            <a:ext cx="10160000" cy="889000"/>
          </a:xfrm>
          <a:prstGeom prst="rect">
            <a:avLst/>
          </a:prstGeom>
          <a:noFill/>
          <a:ln>
            <a:noFill/>
          </a:ln>
        </p:spPr>
        <p:txBody>
          <a:bodyPr wrap="square" lIns="0" tIns="0" rIns="0" bIns="0" anchor="b"/>
          <a:lstStyle/>
          <a:p>
            <a:pPr algn="l"/>
            <a:r>
              <a:rPr lang="en-US" sz="3600" b="1" dirty="0">
                <a:solidFill>
                  <a:srgbClr val="F0F0F0"/>
                </a:solidFill>
                <a:latin typeface="Segoe UI Semibold"/>
              </a:rPr>
              <a:t>Thank You</a:t>
            </a:r>
          </a:p>
        </p:txBody>
      </p:sp>
      <p:sp>
        <p:nvSpPr>
          <p:cNvPr id="11" name="Div"/>
          <p:cNvSpPr/>
          <p:nvPr/>
        </p:nvSpPr>
        <p:spPr>
          <a:xfrm>
            <a:off x="1016000" y="1778000"/>
            <a:ext cx="1524000" cy="38100"/>
          </a:xfrm>
          <a:prstGeom prst="rect">
            <a:avLst/>
          </a:prstGeom>
          <a:solidFill>
            <a:srgbClr val="00D4AA"/>
          </a:solidFill>
          <a:ln>
            <a:noFill/>
          </a:ln>
        </p:spPr>
        <p:txBody>
          <a:bodyPr/>
          <a:lstStyle/>
          <a:p>
            <a:endParaRPr lang="en-US"/>
          </a:p>
        </p:txBody>
      </p:sp>
      <p:sp>
        <p:nvSpPr>
          <p:cNvPr id="20" name="L0"/>
          <p:cNvSpPr/>
          <p:nvPr/>
        </p:nvSpPr>
        <p:spPr>
          <a:xfrm>
            <a:off x="1016000" y="2095500"/>
            <a:ext cx="10160000" cy="698500"/>
          </a:xfrm>
          <a:prstGeom prst="rect">
            <a:avLst/>
          </a:prstGeom>
          <a:noFill/>
          <a:ln>
            <a:noFill/>
          </a:ln>
        </p:spPr>
        <p:txBody>
          <a:bodyPr wrap="square" lIns="0" tIns="0" rIns="0" bIns="0" anchor="ctr"/>
          <a:lstStyle/>
          <a:p>
            <a:pPr algn="l"/>
            <a:r>
              <a:rPr lang="en-US" sz="2200" b="1" dirty="0">
                <a:solidFill>
                  <a:srgbClr val="00D4AA"/>
                </a:solidFill>
                <a:latin typeface="Segoe UI Semibold"/>
              </a:rPr>
              <a:t>AutoBe</a:t>
            </a:r>
            <a:r>
              <a:rPr lang="en-US" sz="2000" dirty="0">
                <a:solidFill>
                  <a:srgbClr val="808080"/>
                </a:solidFill>
                <a:latin typeface="Segoe UI"/>
              </a:rPr>
              <a:t>    </a:t>
            </a:r>
            <a:r>
              <a:rPr lang="en-US" sz="2000" dirty="0">
                <a:solidFill>
                  <a:srgbClr val="808080"/>
                </a:solidFill>
                <a:latin typeface="Segoe UI"/>
                <a:hlinkClick r:id="" action="ppaction://noaction"/>
              </a:rPr>
              <a:t>github.com/wrtnlabs/autobe</a:t>
            </a:r>
            <a:endParaRPr lang="en-US" sz="2000" dirty="0">
              <a:solidFill>
                <a:srgbClr val="808080"/>
              </a:solidFill>
              <a:latin typeface="Segoe UI"/>
            </a:endParaRPr>
          </a:p>
        </p:txBody>
      </p:sp>
      <p:sp>
        <p:nvSpPr>
          <p:cNvPr id="21" name="L1"/>
          <p:cNvSpPr/>
          <p:nvPr/>
        </p:nvSpPr>
        <p:spPr>
          <a:xfrm>
            <a:off x="1016000" y="2984500"/>
            <a:ext cx="10160000" cy="698500"/>
          </a:xfrm>
          <a:prstGeom prst="rect">
            <a:avLst/>
          </a:prstGeom>
          <a:noFill/>
          <a:ln>
            <a:noFill/>
          </a:ln>
        </p:spPr>
        <p:txBody>
          <a:bodyPr wrap="square" lIns="0" tIns="0" rIns="0" bIns="0" anchor="ctr"/>
          <a:lstStyle/>
          <a:p>
            <a:pPr algn="l"/>
            <a:r>
              <a:rPr lang="en-US" sz="2200" b="1" dirty="0">
                <a:solidFill>
                  <a:srgbClr val="FFD93D"/>
                </a:solidFill>
                <a:latin typeface="Segoe UI Semibold"/>
              </a:rPr>
              <a:t>Typia</a:t>
            </a:r>
            <a:r>
              <a:rPr lang="en-US" sz="2000" dirty="0">
                <a:solidFill>
                  <a:srgbClr val="808080"/>
                </a:solidFill>
                <a:latin typeface="Segoe UI"/>
              </a:rPr>
              <a:t>    </a:t>
            </a:r>
            <a:r>
              <a:rPr lang="en-US" sz="2000" dirty="0">
                <a:solidFill>
                  <a:srgbClr val="808080"/>
                </a:solidFill>
                <a:latin typeface="Segoe UI"/>
                <a:hlinkClick r:id="" action="ppaction://noaction"/>
              </a:rPr>
              <a:t>github.com/samchon/typia</a:t>
            </a:r>
            <a:endParaRPr lang="en-US" sz="2000" dirty="0">
              <a:solidFill>
                <a:srgbClr val="808080"/>
              </a:solidFill>
              <a:latin typeface="Segoe UI"/>
            </a:endParaRPr>
          </a:p>
        </p:txBody>
      </p:sp>
      <p:sp>
        <p:nvSpPr>
          <p:cNvPr id="22" name="L2"/>
          <p:cNvSpPr/>
          <p:nvPr/>
        </p:nvSpPr>
        <p:spPr>
          <a:xfrm>
            <a:off x="1016000" y="3873500"/>
            <a:ext cx="10160000" cy="698500"/>
          </a:xfrm>
          <a:prstGeom prst="rect">
            <a:avLst/>
          </a:prstGeom>
          <a:noFill/>
          <a:ln>
            <a:noFill/>
          </a:ln>
        </p:spPr>
        <p:txBody>
          <a:bodyPr wrap="square" lIns="0" tIns="0" rIns="0" bIns="0" anchor="ctr"/>
          <a:lstStyle/>
          <a:p>
            <a:pPr algn="l"/>
            <a:r>
              <a:rPr lang="en-US" sz="2200" b="1" dirty="0">
                <a:solidFill>
                  <a:srgbClr val="74B9FF"/>
                </a:solidFill>
                <a:latin typeface="Segoe UI Semibold"/>
              </a:rPr>
              <a:t>Docs</a:t>
            </a:r>
            <a:r>
              <a:rPr lang="en-US" sz="2000" dirty="0">
                <a:solidFill>
                  <a:srgbClr val="808080"/>
                </a:solidFill>
                <a:latin typeface="Segoe UI"/>
              </a:rPr>
              <a:t>    </a:t>
            </a:r>
            <a:r>
              <a:rPr lang="en-US" sz="2000" dirty="0">
                <a:solidFill>
                  <a:srgbClr val="808080"/>
                </a:solidFill>
                <a:latin typeface="Segoe UI"/>
                <a:hlinkClick r:id="" action="ppaction://noaction"/>
              </a:rPr>
              <a:t>autobe.dev</a:t>
            </a:r>
            <a:r>
              <a:rPr lang="en-US" sz="2000" dirty="0">
                <a:solidFill>
                  <a:srgbClr val="808080"/>
                </a:solidFill>
                <a:latin typeface="Segoe UI"/>
              </a:rPr>
              <a:t>  ·  </a:t>
            </a:r>
            <a:r>
              <a:rPr lang="en-US" sz="2000" dirty="0">
                <a:solidFill>
                  <a:srgbClr val="808080"/>
                </a:solidFill>
                <a:latin typeface="Segoe UI"/>
                <a:hlinkClick r:id="" action="ppaction://noaction"/>
              </a:rPr>
              <a:t>typia.io</a:t>
            </a:r>
            <a:endParaRPr lang="en-US" sz="2000" dirty="0">
              <a:solidFill>
                <a:srgbClr val="808080"/>
              </a:solidFill>
              <a:latin typeface="Segoe UI"/>
            </a:endParaRPr>
          </a:p>
        </p:txBody>
      </p:sp>
      <p:sp>
        <p:nvSpPr>
          <p:cNvPr id="30" name="Footer"/>
          <p:cNvSpPr/>
          <p:nvPr/>
        </p:nvSpPr>
        <p:spPr>
          <a:xfrm>
            <a:off x="1016000" y="5334000"/>
            <a:ext cx="10160000" cy="762000"/>
          </a:xfrm>
          <a:prstGeom prst="rect">
            <a:avLst/>
          </a:prstGeom>
          <a:noFill/>
          <a:ln>
            <a:noFill/>
          </a:ln>
        </p:spPr>
        <p:txBody>
          <a:bodyPr wrap="square" lIns="0" tIns="0" rIns="0" bIns="0" anchor="b"/>
          <a:lstStyle/>
          <a:p>
            <a:pPr algn="l"/>
            <a:r>
              <a:rPr lang="en-US" sz="1800" dirty="0">
                <a:solidFill>
                  <a:srgbClr val="606060"/>
                </a:solidFill>
                <a:latin typeface="Segoe UI"/>
              </a:rPr>
              <a:t>Developed by Wrtn Technologies  ·  </a:t>
            </a:r>
            <a:r>
              <a:rPr lang="en-US" sz="1800" dirty="0">
                <a:solidFill>
                  <a:srgbClr val="606060"/>
                </a:solidFill>
                <a:latin typeface="Segoe UI"/>
                <a:hlinkClick r:id="" action="ppaction://noaction"/>
              </a:rPr>
              <a:t>wrtn.io</a:t>
            </a:r>
            <a:endParaRPr lang="en-US" sz="1800" dirty="0">
              <a:solidFill>
                <a:srgbClr val="606060"/>
              </a:solidFill>
              <a:latin typeface="Segoe UI"/>
            </a:endParaRPr>
          </a:p>
          <a:p>
            <a:pPr algn="l"/>
            <a:r>
              <a:rPr lang="en-US" sz="1800" dirty="0">
                <a:solidFill>
                  <a:srgbClr val="606060"/>
                </a:solidFill>
                <a:latin typeface="Segoe UI"/>
              </a:rPr>
              <a:t>Function Calling Harness  ·  Qwen Meetup Korea</a:t>
            </a:r>
          </a:p>
        </p:txBody>
      </p:sp>
    </p:spTree>
    <p:extLst>
      <p:ext uri="{BB962C8B-B14F-4D97-AF65-F5344CB8AC3E}">
        <p14:creationId xmlns:p14="http://schemas.microsoft.com/office/powerpoint/2010/main" val="3398310947"/>
      </p:ext>
    </p:extLst>
  </p:cSld>
  <p:clrMapOvr>
    <a:masterClrMapping/>
  </p:clrMapOvr>
</p:sld>
</file>

<file path=ppt/theme/theme1.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2418BC6-09A9-40B5-983F-0A45734F6A6A}">
  <we:reference id="wa200010001" version="1.0.0.1" store="en-US" storeType="OMEX"/>
  <we:alternateReferences>
    <we:reference id="WA200010001" version="1.0.0.1"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1342</TotalTime>
  <Words>7691</Words>
  <Application>Microsoft Office PowerPoint</Application>
  <PresentationFormat>와이드스크린</PresentationFormat>
  <Paragraphs>679</Paragraphs>
  <Slides>62</Slides>
  <Notes>62</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62</vt:i4>
      </vt:variant>
    </vt:vector>
  </HeadingPairs>
  <TitlesOfParts>
    <vt:vector size="68" baseType="lpstr">
      <vt:lpstr>맑은 고딕</vt:lpstr>
      <vt:lpstr>Consolas</vt:lpstr>
      <vt:lpstr>Corbel</vt:lpstr>
      <vt:lpstr>Segoe UI</vt:lpstr>
      <vt:lpstr>Segoe UI Semibold</vt:lpstr>
      <vt:lpstr>기본 [1774069290905]</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72</cp:revision>
  <dcterms:created xsi:type="dcterms:W3CDTF">2026-03-18T06:45:34Z</dcterms:created>
  <dcterms:modified xsi:type="dcterms:W3CDTF">2026-03-21T06:40:41Z</dcterms:modified>
</cp:coreProperties>
</file>