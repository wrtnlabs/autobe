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 id="2147483708" r:id="rId2"/>
  </p:sldMasterIdLst>
  <p:notesMasterIdLst>
    <p:notesMasterId r:id="rId68"/>
  </p:notesMasterIdLst>
  <p:sldIdLst>
    <p:sldId id="1019" r:id="rId3"/>
    <p:sldId id="1020" r:id="rId4"/>
    <p:sldId id="1021" r:id="rId5"/>
    <p:sldId id="1022" r:id="rId6"/>
    <p:sldId id="1023" r:id="rId7"/>
    <p:sldId id="1024" r:id="rId8"/>
    <p:sldId id="1025" r:id="rId9"/>
    <p:sldId id="1026" r:id="rId10"/>
    <p:sldId id="1027" r:id="rId11"/>
    <p:sldId id="1028" r:id="rId12"/>
    <p:sldId id="1029" r:id="rId13"/>
    <p:sldId id="1030" r:id="rId14"/>
    <p:sldId id="1031" r:id="rId15"/>
    <p:sldId id="1032" r:id="rId16"/>
    <p:sldId id="1033" r:id="rId17"/>
    <p:sldId id="1034" r:id="rId18"/>
    <p:sldId id="1035" r:id="rId19"/>
    <p:sldId id="1036" r:id="rId20"/>
    <p:sldId id="1037" r:id="rId21"/>
    <p:sldId id="1038" r:id="rId22"/>
    <p:sldId id="1039" r:id="rId23"/>
    <p:sldId id="1040" r:id="rId24"/>
    <p:sldId id="1041" r:id="rId25"/>
    <p:sldId id="1042" r:id="rId26"/>
    <p:sldId id="1043" r:id="rId27"/>
    <p:sldId id="1044" r:id="rId28"/>
    <p:sldId id="1045" r:id="rId29"/>
    <p:sldId id="1046" r:id="rId30"/>
    <p:sldId id="1047" r:id="rId31"/>
    <p:sldId id="1048" r:id="rId32"/>
    <p:sldId id="1049" r:id="rId33"/>
    <p:sldId id="1050" r:id="rId34"/>
    <p:sldId id="1051" r:id="rId35"/>
    <p:sldId id="1052" r:id="rId36"/>
    <p:sldId id="1053" r:id="rId37"/>
    <p:sldId id="956" r:id="rId38"/>
    <p:sldId id="763" r:id="rId39"/>
    <p:sldId id="765" r:id="rId40"/>
    <p:sldId id="819" r:id="rId41"/>
    <p:sldId id="771" r:id="rId42"/>
    <p:sldId id="781" r:id="rId43"/>
    <p:sldId id="787" r:id="rId44"/>
    <p:sldId id="824" r:id="rId45"/>
    <p:sldId id="927" r:id="rId46"/>
    <p:sldId id="929" r:id="rId47"/>
    <p:sldId id="775" r:id="rId48"/>
    <p:sldId id="821" r:id="rId49"/>
    <p:sldId id="823" r:id="rId50"/>
    <p:sldId id="777" r:id="rId51"/>
    <p:sldId id="1015" r:id="rId52"/>
    <p:sldId id="1016" r:id="rId53"/>
    <p:sldId id="1017" r:id="rId54"/>
    <p:sldId id="1018" r:id="rId55"/>
    <p:sldId id="924" r:id="rId56"/>
    <p:sldId id="830" r:id="rId57"/>
    <p:sldId id="832" r:id="rId58"/>
    <p:sldId id="834" r:id="rId59"/>
    <p:sldId id="836" r:id="rId60"/>
    <p:sldId id="838" r:id="rId61"/>
    <p:sldId id="844" r:id="rId62"/>
    <p:sldId id="855" r:id="rId63"/>
    <p:sldId id="846" r:id="rId64"/>
    <p:sldId id="848" r:id="rId65"/>
    <p:sldId id="850" r:id="rId66"/>
    <p:sldId id="852" r:id="rId6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1" autoAdjust="0"/>
    <p:restoredTop sz="94660"/>
  </p:normalViewPr>
  <p:slideViewPr>
    <p:cSldViewPr snapToGrid="0">
      <p:cViewPr varScale="1">
        <p:scale>
          <a:sx n="105" d="100"/>
          <a:sy n="105" d="100"/>
        </p:scale>
        <p:origin x="82"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7A8162-2290-455D-95C8-B42E3A61F3C7}" type="datetimeFigureOut">
              <a:rPr lang="en-US" smtClean="0"/>
              <a:t>3/22/2026</a:t>
            </a:fld>
            <a:endParaRPr 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B23B31-05C0-45CF-9342-21BE32BFCBD5}" type="slidenum">
              <a:rPr lang="en-US" smtClean="0"/>
              <a:t>‹#›</a:t>
            </a:fld>
            <a:endParaRPr lang="en-US"/>
          </a:p>
        </p:txBody>
      </p:sp>
    </p:spTree>
    <p:extLst>
      <p:ext uri="{BB962C8B-B14F-4D97-AF65-F5344CB8AC3E}">
        <p14:creationId xmlns:p14="http://schemas.microsoft.com/office/powerpoint/2010/main" val="41246267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dirty="0"/>
              <a:t>안녕하세요. Wrtn Technologies에서 AutoBe를 만들고 있는 남정호입니다.</a:t>
            </a:r>
          </a:p>
          <a:p>
            <a:r>
              <a:rPr lang="ko-KR" dirty="0"/>
              <a:t>오늘 이야기의 핵심은 하나입니다 — 6.75%짜리 function calling을 어떻게 100%로 만들었는가.</a:t>
            </a:r>
          </a:p>
          <a:p>
            <a:r>
              <a:rPr lang="ko-KR" dirty="0"/>
              <a:t>모델을 바꾼 게 아닙니다. 모델 바깥의 엔지니어링으로 해결했습니다.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dirty="0"/>
              <a:t>전체 구조를 빠르게 훑겠습니다.</a:t>
            </a:r>
          </a:p>
          <a:p>
            <a:r>
              <a:rPr lang="ko-KR" dirty="0"/>
              <a:t>AutoBe — 자연어 한 문장으로 백엔드 전체를 생성하는 AI 에이전트.</a:t>
            </a:r>
          </a:p>
          <a:p>
            <a:r>
              <a:rPr lang="ko-KR" dirty="0"/>
              <a:t>LLM이 텍스트 코드를 쓰지 않습니다. AST 구조체를 function calling으로 채우고, 컴파일러가 코드를 씁니다.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Typia — 그 function calling을 신뢰할 수 있게 만드는 인프라.</a:t>
            </a:r>
          </a:p>
          <a:p>
            <a:r>
              <a:rPr lang="ko-KR" dirty="0"/>
              <a:t>TypeScript 컴파일러 플러그인. 타입 하나 정의하면 스키마, 파서, 검증기, 피드백 생성기까지 컴파일 타임에 자동 생성.</a:t>
            </a:r>
          </a:p>
        </p:txBody>
      </p:sp>
      <p:sp>
        <p:nvSpPr>
          <p:cNvPr id="4" name="슬라이드 번호 개체 틀 3"/>
          <p:cNvSpPr>
            <a:spLocks noGrp="1"/>
          </p:cNvSpPr>
          <p:nvPr>
            <p:ph type="sldNum" sz="quarter" idx="5"/>
          </p:nvPr>
        </p:nvSpPr>
        <p:spPr/>
        <p:txBody>
          <a:bodyPr/>
          <a:lstStyle/>
          <a:p>
            <a:fld id="{EBB23B31-05C0-45CF-9342-21BE32BFCBD5}" type="slidenum">
              <a:rPr lang="en-US" smtClean="0"/>
              <a:t>3</a:t>
            </a:fld>
            <a:endParaRPr lang="en-US"/>
          </a:p>
        </p:txBody>
      </p:sp>
    </p:spTree>
    <p:extLst>
      <p:ext uri="{BB962C8B-B14F-4D97-AF65-F5344CB8AC3E}">
        <p14:creationId xmlns:p14="http://schemas.microsoft.com/office/powerpoint/2010/main" val="26749240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ko-KR" dirty="0"/>
              <a:t>Function calling의 본질적 강점.</a:t>
            </a:r>
          </a:p>
          <a:p>
            <a:r>
              <a:rPr lang="ko-KR" dirty="0"/>
              <a:t>타입은 모호함을 제거하고, 스키마는 금지가 아닌 부재로 제약합니다.</a:t>
            </a:r>
          </a:p>
          <a:p>
            <a:r>
              <a:rPr lang="ko-KR" dirty="0"/>
              <a:t>모델 중립적이고, 기계적으로 검증 가능하며, 결정론적으로 수렴합니다.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왜 Qwen 밋업에서 이 이야기를 하는가.</a:t>
            </a:r>
          </a:p>
          <a:p>
            <a:r>
              <a:rPr lang="ko-KR" dirty="0"/>
              <a:t>Qwen은 소형/중형 모델에서 function calling 성능이 독보적입니다.</a:t>
            </a:r>
          </a:p>
          <a:p>
            <a:r>
              <a:rPr lang="ko-KR" dirty="0"/>
              <a:t>그리고 작은 모델이 시스템 취약점을 가장 잘 드러냅니다. 최고의 QA 엔지니어입니다.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6.75%. qwen3-coder-next의 첫 시도 성공률입니다.</a:t>
            </a:r>
          </a:p>
          <a:p>
            <a:r>
              <a:rPr lang="ko-KR" dirty="0"/>
              <a:t>NESTFUL 2025 — GPT-4o가 nested tool call에서 28%.</a:t>
            </a:r>
          </a:p>
          <a:p>
            <a:r>
              <a:rPr lang="ko-KR" dirty="0"/>
              <a:t>JSONSchemaBench — 복잡한 스키마에서 3~41%.</a:t>
            </a:r>
          </a:p>
          <a:p>
            <a:r>
              <a:rPr lang="ko-KR" dirty="0"/>
              <a:t>업계 컨센서스: 복잡한 스키마에서 function calling은 안 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1"/>
          <p:cNvSpPr>
            <a:spLocks noGrp="1" noRot="1" noChangeAspect="1"/>
          </p:cNvSpPr>
          <p:nvPr>
            <p:ph type="sldImg"/>
          </p:nvPr>
        </p:nvSpPr>
        <p:spPr/>
      </p:sp>
      <p:sp>
        <p:nvSpPr>
          <p:cNvPr id="3" name="NP2"/>
          <p:cNvSpPr>
            <a:spLocks noGrp="1"/>
          </p:cNvSpPr>
          <p:nvPr>
            <p:ph type="body" idx="1"/>
          </p:nvPr>
        </p:nvSpPr>
        <p:spPr/>
        <p:txBody>
          <a:bodyPr/>
          <a:lstStyle/>
          <a:p>
            <a:r>
              <a:rPr lang="ko-KR" dirty="0"/>
              <a:t>하지만 대안이 없습니다.</a:t>
            </a:r>
          </a:p>
          <a:p>
            <a:r>
              <a:rPr lang="ko-KR" dirty="0"/>
              <a:t>AI 출력을 결정론적으로 만들려면 구조화된 출력 외에는 방법이 없어요.</a:t>
            </a:r>
          </a:p>
          <a:p>
            <a:r>
              <a:rPr lang="ko-KR" dirty="0"/>
              <a:t>자유 텍스트는 기계적으로 검증할 수 없습니다. 구조 없이는 피드백 루프가 없고, 루프 없이는 보장이 없습니다.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구체적 수치입니다.</a:t>
            </a:r>
          </a:p>
          <a:p>
            <a:r>
              <a:rPr lang="ko-KR" dirty="0"/>
              <a:t>qwen3-coder-next의 DTO 스키마 — 추정 첫 시도 15.95%.</a:t>
            </a:r>
          </a:p>
          <a:p>
            <a:r>
              <a:rPr lang="ko-KR" dirty="0"/>
              <a:t>GPT 5.4의 endpoint review — 3.34%.</a:t>
            </a:r>
          </a:p>
          <a:p>
            <a:r>
              <a:rPr lang="ko-KR" dirty="0"/>
              <a:t>모델 크기와 브랜드가 function calling 성능을 결정하지 않습니다.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결과: 100%. Qwen 모델 네 개 전부 컴파일 성공.</a:t>
            </a:r>
          </a:p>
          <a:p>
            <a:r>
              <a:rPr lang="ko-KR" dirty="0"/>
              <a:t>하네스입니다. 타입 스키마로 제약하고, 컴파일러로 검증하고, 구조화된 피드백으로 교정합니다.</a:t>
            </a:r>
          </a:p>
          <a:p>
            <a:r>
              <a:rPr lang="ko-KR" dirty="0"/>
              <a:t>모델 안이 아니라 바깥의 엔지니어링이 차이를 만들었습니다.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챕터 2. AutoBe 아키텍처.</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"쇼핑몰 백엔드 만들어줘." 한 문장으로 요구사항 분석, DB 스키마, API 설계, E2E 테스트, 구현 코드 전체 생성.</a:t>
            </a:r>
          </a:p>
          <a:p>
            <a:r>
              <a:rPr lang="ko-KR" dirty="0"/>
              <a:t>모든 생성 코드가 컴파일 성공합니다. TypeScript + NestJS 기반.</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LLM은 코드를 쓰지 않습니다.</a:t>
            </a:r>
          </a:p>
          <a:p>
            <a:r>
              <a:rPr lang="ko-KR" dirty="0"/>
              <a:t>5단계 waterfall — 요구사항, DB, API, 테스트, 구현. 각 단계에서 LLM은 미리 정의된 AST를 function calling으로 채웁니다.</a:t>
            </a:r>
          </a:p>
          <a:p>
            <a:r>
              <a:rPr lang="ko-KR" dirty="0"/>
              <a:t>양식을 채우는 겁니다. 백지에 쓰는 게 아닙니다.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a:spLocks noGrp="1" noRot="1" noChangeAspect="1"/>
          </p:cNvSpPr>
          <p:nvPr>
            <p:ph type="sldImg"/>
          </p:nvPr>
        </p:nvSpPr>
        <p:spPr/>
      </p:sp>
      <p:sp>
        <p:nvSpPr>
          <p:cNvPr id="3" name="N"/>
          <p:cNvSpPr>
            <a:spLocks noGrp="1"/>
          </p:cNvSpPr>
          <p:nvPr>
            <p:ph type="body" idx="1"/>
          </p:nvPr>
        </p:nvSpPr>
        <p:spPr/>
        <p:txBody>
          <a:bodyPr/>
          <a:lstStyle/>
          <a:p>
            <a:r>
              <a:rPr lang="ko-KR" dirty="0"/>
              <a:t>그 양식이 간단하지 않습니다.</a:t>
            </a:r>
          </a:p>
          <a:p>
            <a:r>
              <a:rPr lang="ko-KR" dirty="0"/>
              <a:t>IJsonSchema — DTO 타입을 정의하는 10개 variant 재귀 union.</a:t>
            </a:r>
          </a:p>
          <a:p>
            <a:r>
              <a:rPr lang="ko-KR" dirty="0"/>
              <a:t>IArray 안에 IJsonSchema, IObject의 properties도 IJsonSchema.</a:t>
            </a:r>
          </a:p>
          <a:p>
            <a:r>
              <a:rPr lang="ko-KR" dirty="0"/>
              <a:t>10개 variant × 무한 재귀. 첫 시도 성공률 6.75%의 구조적 원인.</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테스팅은 한 단계 더 복잡합니다.</a:t>
            </a:r>
          </a:p>
          <a:p>
            <a:r>
              <a:rPr lang="ko-KR" dirty="0"/>
              <a:t>IExpression — E2E 테스트 코드를 표현하는 30개 이상의 variant.</a:t>
            </a:r>
          </a:p>
          <a:p>
            <a:r>
              <a:rPr lang="ko-KR" dirty="0"/>
              <a:t>리터럴, 접근자, 연산, 함수, 배열 조작, 랜덤 생성, assertion까지.</a:t>
            </a:r>
          </a:p>
          <a:p>
            <a:r>
              <a:rPr lang="ko-KR" dirty="0"/>
              <a:t>프로그래밍 언어 수준의 복잡도를 단일 function call로 처리해야 합니다.</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4277843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컴파일 실패는 끝이 아닙니다. 자기 치유 루프.</a:t>
            </a:r>
          </a:p>
          <a:p>
            <a:r>
              <a:rPr lang="ko-KR" dirty="0"/>
              <a:t>Write — LLM이 구조 채우기. Validate — 컴파일러 검증. Diagnose — 에러 위치와 원인 추출. Correct — 해당 부분만 수정. Generate — 재컴파일.</a:t>
            </a:r>
          </a:p>
          <a:p>
            <a:r>
              <a:rPr lang="ko-KR" dirty="0"/>
              <a:t>성공할 때까지 반복합니다.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AST 스펙이 프롬프트보다 강력합니다.</a:t>
            </a:r>
          </a:p>
          <a:p>
            <a:r>
              <a:rPr lang="ko-KR" dirty="0"/>
              <a:t>스키마 스펙은 명확하고 기계적으로 검증 가능합니다.</a:t>
            </a:r>
          </a:p>
          <a:p>
            <a:r>
              <a:rPr lang="ko-KR" dirty="0"/>
              <a:t>DB 필드 타입이 7개로 제한되면 LLM이 varchar를 쓸 수 없습니다.</a:t>
            </a:r>
          </a:p>
          <a:p>
            <a:r>
              <a:rPr lang="ko-KR" dirty="0"/>
              <a:t>금지가 아니라 부재.</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Qwen 모델 네 개, 전부 100% 컴파일 성공.</a:t>
            </a:r>
          </a:p>
          <a:p>
            <a:r>
              <a:rPr lang="ko-KR" dirty="0"/>
              <a:t>397B부터 35B까지. 3B active parameter 모델로도 쇼핑몰 백엔드를 완성합니다.</a:t>
            </a:r>
          </a:p>
          <a:p>
            <a:r>
              <a:rPr lang="ko-KR" dirty="0"/>
              <a:t>같은 스키마, 같은 파이프라인, 같은 결과.</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[데모 영상 또는 스크린샷]</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[데모 영상 또는 스크린샷]</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[데모 영상 또는 스크린샷]</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챕터 3. Typia — 0%를 100%로 만드는 인프라.</a:t>
            </a:r>
          </a:p>
          <a:p>
            <a:r>
              <a:rPr lang="ko-KR" dirty="0"/>
              <a:t>모든 답은 컴파일러 수준에서의 타입 분석에 있습니다.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Typia — TypeScript 컴파일러의 타입 분석기를 직접 활용하는 컴파일러 라이브러리.</a:t>
            </a:r>
          </a:p>
          <a:p>
            <a:r>
              <a:rPr lang="ko-KR" dirty="0"/>
              <a:t>런타임 리플렉션으로는 TypeScript 타입을 볼 수 없습니다.</a:t>
            </a:r>
          </a:p>
          <a:p>
            <a:r>
              <a:rPr lang="ko-KR" dirty="0"/>
              <a:t>Zod 같은 빌더는 재귀 union에서 폭발합니다.</a:t>
            </a:r>
          </a:p>
          <a:p>
            <a:r>
              <a:rPr lang="ko-KR" dirty="0"/>
              <a:t>소스코드에서 직접 타입을 분석하는 길밖에 없었습니다.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dirty="0"/>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24</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22870592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핵심입니다. JSDoc → description. 타입 제약 → validation rule.</a:t>
            </a:r>
          </a:p>
          <a:p>
            <a:r>
              <a:rPr lang="ko-KR" dirty="0"/>
              <a:t>LLM이 보는 제약과 검증기가 적용하는 제약이 항상 동일합니다.</a:t>
            </a:r>
          </a:p>
          <a:p>
            <a:r>
              <a:rPr lang="ko-KR" dirty="0"/>
              <a:t>같은 소스에서 나오니까요.</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클래스 수준으로 확장됩니다.</a:t>
            </a:r>
          </a:p>
          <a:p>
            <a:r>
              <a:rPr lang="ko-KR" dirty="0"/>
              <a:t>typia.llm.application&lt;T&gt;()로 클래스의 모든 메서드를 스키마화.</a:t>
            </a:r>
          </a:p>
          <a:p>
            <a:r>
              <a:rPr lang="ko-KR" dirty="0"/>
              <a:t>각 ILlmFunction에 parse(), validate()가 자동 내장됩니다.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Typia의 핵심 원리입니다. typia.is&lt;T&gt;()를 호출하면 컴파일 타임에 타입 정보가 분석되어 최적화된 검증 코드로 변환됩니다. 왼쪽의 TypeScript 인터페이스가 오른쪽의 UUID regex, email regex, 정수 체크, 범위 체크를 포함한 JavaScript 코드로 변환됩니다. TypeScript의 타입이 런타임에 지워지는 한계를 컴파일러 플러그인으로 극복합니다.</a:t>
            </a:r>
          </a:p>
        </p:txBody>
      </p:sp>
      <p:sp>
        <p:nvSpPr>
          <p:cNvPr id="4" name="슬라이드 번호 개체 틀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CCB9699-E895-4047-86EF-009608022D0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5851114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실제 LLM 출력에서 7개 문제가 동시에 발생합니다.</a:t>
            </a:r>
          </a:p>
          <a:p>
            <a:r>
              <a:rPr lang="ko-KR" dirty="0"/>
              <a:t>Markdown 래핑, 서술 prefix, 비인용 키, trailing comma, 불완전 키워드, 미닫힌 괄호, double-stringify.</a:t>
            </a:r>
          </a:p>
          <a:p>
            <a:r>
              <a:rPr lang="ko-KR" dirty="0"/>
              <a:t>func.parse() 한 번 호출로 전부 해결. 모델 변경 없이.</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스키마 기반 교정입니다.</a:t>
            </a:r>
          </a:p>
          <a:p>
            <a:r>
              <a:rPr lang="ko-KR" dirty="0"/>
              <a:t>같은 "42"가 스키마에 따라 숫자 42가 되기도, 문자열로 남기도 합니다.</a:t>
            </a:r>
          </a:p>
          <a:p>
            <a:r>
              <a:rPr lang="ko-KR" dirty="0"/>
              <a:t>컴파일러가 생성한 스키마가 교정 엔진입니다.</a:t>
            </a:r>
          </a:p>
          <a:p>
            <a:r>
              <a:rPr lang="ko-KR" dirty="0"/>
              <a:t>parse()와 coerce()의 재귀적 사이클이 핵심.</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parse()와 coerce()가 서로를 재귀 호출합니다.</a:t>
            </a:r>
          </a:p>
          <a:p>
            <a:r>
              <a:rPr lang="ko-KR" dirty="0"/>
              <a:t>스키마가 object를 기대하는데 string이 오면 → 그 string을 다시 parse()에 넣습니다.</a:t>
            </a:r>
          </a:p>
          <a:p>
            <a:r>
              <a:rPr lang="ko-KR" dirty="0"/>
              <a:t>Double-stringify든 triple이든 자연스럽게 풀립니다.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ko-KR" dirty="0"/>
              <a:t>파싱과 교정 이후에도 값 자체가 틀릴 수 있습니다.
가격이 음수, 이메일이 아닌 문자열, 정수여야 할 곳에 소수점.
Typia의 validate()는 스키마 위반을 정확한 경로와 기대 타입으로 알려줍니다.
"order.product.price는 0 이상이어야 하는데 -100을 줬습니다."
LlmJson.stringify()가 이걸 원본 JSON 위에 인라인 코멘트로 렌더링합니다.
LLM이 자기 출력에서 정확히 어디가 틀렸는지 보고, 그 필드만 고칩니다.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이게 실제 코드입니다.
validate()가 에러를 감지하면, LlmJson.stringify()가 원본 JSON 위에 // ❌ 인라인 코멘트를 붙입니다.
"cardNumber는 string이어야 하는데 number를 줬다."
"price는 0 이상이어야 한다."
"quantity는 uint32여야 한다."
"email은 이메일 포맷이어야 한다."
5개 에러, 각각 정확한 경로와 기대 타입.
LLM이 자기 JSON에서 딱 틀린 부분만 보고 고칩니다. 전체를 다시 쓸 필요 없이.</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왜 Typia만 가능한가.
Zod, Valibot, io-ts — 전부 런타임 라이브러리입니다. 스키마를 개발자가 직접 정의합니다.
Typia는 TypeScript 컴파일러 플러그인입니다.
소스 코드의 타입을 직접 분석해서 스키마, 검증기, 파서를 컴파일 타임에 자동 생성합니다.
같은 타입에서 제약 조건과 검증 규칙이 동시에 나오니까,
파싱과 교정과 검증이 하나의 스키마로 일관되게 동작합니다.
런타임 라이브러리는 이 수준의 통합이 구조적으로 불가능합니다.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유니온 타입 지원도 마찬가지입니다.
anyOf에서 어떤 variant가 의도된 건지 판별하려면, 각 variant의 구조를 알아야 합니다.
Typia는 x-discriminator를 통해 anyOf에 판별 메타데이터를 부여합니다.
다른 라이브러리는 anyOf를 "아무거나 매칭"으로만 처리하지만,
Typia는 구조 분석을 통해 정확한 variant를 식별하고, 해당 variant 기준으로 교정과 검증을 수행합니다.
이게 double-stringify 문제를 풀 수 있는 구조적 이유입니다.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r>
              <a:rPr lang="ko-KR" dirty="0"/>
              <a:t>하네스 엔지니어링. AutoBe와 Typia의 결합이 완성하는 것.
클라이밍 하네스는 당신을 강하게 만들지 않습니다. 당신의 힘을 안전하게 만듭니다.
테스트 하네스는 코드를 올바르게 만들지 않습니다. 버그를 보이게 만듭니다.
Function calling 하네스는 LLM을 똑똑하게 만들지 않습니다. LLM의 실수를 교정 가능하게 만듭니다.
Typia 레이어: 타입→스키마, 파싱, 교정, 검증 피드백
AutoBe 레이어: 4 AST + 4단계 컴파일러 검증, 자가 치유 루프
Typia가 함수 호출 I/O를 견고하게, AutoBe가 시스템 일관성을 보장합니다.
확률적 모델을 감싸는 결정론적 루프 — 이것이 하네스입니다.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82B2B681-DACA-4D89-9D8A-94ED0431FFA9}" type="datetimeFigureOut">
              <a:rPr lang="en-US" smtClean="0"/>
              <a:t>3/22/2026</a:t>
            </a:fld>
            <a:endParaRPr 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F864E9F2-A8EE-4CDC-ABC8-B4149FF8DC8F}" type="slidenum">
              <a:rPr lang="en-US" smtClean="0"/>
              <a:t>‹#›</a:t>
            </a:fld>
            <a:endParaRPr 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04880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5358356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82B2B681-DACA-4D89-9D8A-94ED0431FFA9}"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2624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82B2B681-DACA-4D89-9D8A-94ED0431FFA9}" type="datetimeFigureOut">
              <a:rPr lang="en-US" smtClean="0"/>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155169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82B2B681-DACA-4D89-9D8A-94ED0431FFA9}" type="datetimeFigureOut">
              <a:rPr lang="en-US" smtClean="0"/>
              <a:t>3/22/2026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34775388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82B2B681-DACA-4D89-9D8A-94ED0431FFA9}" type="datetimeFigureOut">
              <a:rPr lang="en-US" smtClean="0"/>
              <a:t>3/22/2026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751456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2B2B681-DACA-4D89-9D8A-94ED0431FFA9}" type="datetimeFigureOut">
              <a:rPr lang="en-US" smtClean="0"/>
              <a:t>3/22/2026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2807793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849673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82B2B681-DACA-4D89-9D8A-94ED0431FFA9}" type="datetimeFigureOut">
              <a:rPr lang="en-US" smtClean="0"/>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406813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1421163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82B2B681-DACA-4D89-9D8A-94ED0431FFA9}"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64E9F2-A8EE-4CDC-ABC8-B4149FF8DC8F}" type="slidenum">
              <a:rPr lang="en-US" smtClean="0"/>
              <a:t>‹#›</a:t>
            </a:fld>
            <a:endParaRPr lang="en-US"/>
          </a:p>
        </p:txBody>
      </p:sp>
    </p:spTree>
    <p:extLst>
      <p:ext uri="{BB962C8B-B14F-4D97-AF65-F5344CB8AC3E}">
        <p14:creationId xmlns:p14="http://schemas.microsoft.com/office/powerpoint/2010/main" val="645369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제목 슬라이드">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ko-KR" alt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F79BD98-6794-46E2-8E86-251C3D6F4DAE}" type="slidenum">
              <a:rPr lang="ko-KR" altLang="en-US" smtClean="0"/>
              <a:t>‹#›</a:t>
            </a:fld>
            <a:endParaRPr lang="ko-KR" alt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12370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제목 및 내용">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222243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구역 머리글">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28834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콘텐츠 2개">
    <p:bg>
      <p:bgRef idx="1001">
        <a:schemeClr val="bg1"/>
      </p:bgRef>
    </p:bg>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1700261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비교">
    <p:bg>
      <p:bgRef idx="1001">
        <a:schemeClr val="bg1"/>
      </p:bgRef>
    </p:bg>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2138636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제목만">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5719112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빈 화면">
    <p:bg>
      <p:bgRef idx="1001">
        <a:schemeClr val="bg1"/>
      </p:bgRef>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8545481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캡션 있는 콘텐츠">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48910776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캡션 있는 그림">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7925656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제목 및 세로 텍스트">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7875200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bg>
      <p:bgRef idx="1001">
        <a:schemeClr val="bg1"/>
      </p:bgRef>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81770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82B2B681-DACA-4D89-9D8A-94ED0431FFA9}" type="datetimeFigureOut">
              <a:rPr lang="en-US" smtClean="0"/>
              <a:t>3/22/2026</a:t>
            </a:fld>
            <a:endParaRPr 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F864E9F2-A8EE-4CDC-ABC8-B4149FF8DC8F}" type="slidenum">
              <a:rPr lang="en-US" smtClean="0"/>
              <a:t>‹#›</a:t>
            </a:fld>
            <a:endParaRPr lang="en-US"/>
          </a:p>
        </p:txBody>
      </p:sp>
    </p:spTree>
    <p:extLst>
      <p:ext uri="{BB962C8B-B14F-4D97-AF65-F5344CB8AC3E}">
        <p14:creationId xmlns:p14="http://schemas.microsoft.com/office/powerpoint/2010/main" val="25290906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ADAB3498-A523-4A42-BB38-782B1991896F}" type="datetimeFigureOut">
              <a:rPr lang="ko-KR" altLang="en-US" smtClean="0"/>
              <a:t>2026-03-22</a:t>
            </a:fld>
            <a:endParaRPr lang="ko-KR" alt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ko-KR" alt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69510862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1" hangingPunct="1">
        <a:lnSpc>
          <a:spcPct val="90000"/>
        </a:lnSpc>
        <a:spcBef>
          <a:spcPct val="0"/>
        </a:spcBef>
        <a:buNone/>
        <a:defRPr sz="4400" kern="1200">
          <a:solidFill>
            <a:srgbClr val="F0F0F0"/>
          </a:solidFill>
          <a:latin typeface="+mj-lt"/>
          <a:ea typeface="+mj-ea"/>
          <a:cs typeface="+mj-cs"/>
        </a:defRPr>
      </a:lvl1pPr>
    </p:titleStyle>
    <p:bodyStyle>
      <a:lvl1pPr marL="228600" indent="-182880" algn="l" defTabSz="914400" rtl="0" eaLnBrk="1" latinLnBrk="1" hangingPunct="1">
        <a:lnSpc>
          <a:spcPct val="90000"/>
        </a:lnSpc>
        <a:spcBef>
          <a:spcPts val="1400"/>
        </a:spcBef>
        <a:buClr>
          <a:schemeClr val="tx1"/>
        </a:buClr>
        <a:buSzPct val="80000"/>
        <a:buFont typeface="Corbel" pitchFamily="34" charset="0"/>
        <a:buChar char="•"/>
        <a:defRPr sz="2200" kern="1200">
          <a:solidFill>
            <a:srgbClr val="D0D0D0"/>
          </a:solidFill>
          <a:latin typeface="+mn-lt"/>
          <a:ea typeface="+mn-ea"/>
          <a:cs typeface="+mn-cs"/>
        </a:defRPr>
      </a:lvl1pPr>
      <a:lvl2pPr marL="45720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2000" kern="1200">
          <a:solidFill>
            <a:srgbClr val="B0B0B0"/>
          </a:solidFill>
          <a:latin typeface="+mn-lt"/>
          <a:ea typeface="+mn-ea"/>
          <a:cs typeface="+mn-cs"/>
        </a:defRPr>
      </a:lvl2pPr>
      <a:lvl3pPr marL="73152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800" kern="1200">
          <a:solidFill>
            <a:srgbClr val="B0B0B0"/>
          </a:solidFill>
          <a:latin typeface="+mn-lt"/>
          <a:ea typeface="+mn-ea"/>
          <a:cs typeface="+mn-cs"/>
        </a:defRPr>
      </a:lvl3pPr>
      <a:lvl4pPr marL="100584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4pPr>
      <a:lvl5pPr marL="128016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5pPr>
      <a:lvl6pPr marL="16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6pPr>
      <a:lvl7pPr marL="19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7pPr>
      <a:lvl8pPr marL="22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8pPr>
      <a:lvl9pPr marL="25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9pPr>
    </p:bodyStyle>
    <p:otherStyle>
      <a:defPPr>
        <a:defRPr lang="en-US"/>
      </a:defPPr>
      <a:lvl1pPr marL="0" algn="l" defTabSz="914400" rtl="0" eaLnBrk="1" latinLnBrk="1" hangingPunct="1">
        <a:defRPr sz="1800" kern="1200">
          <a:solidFill>
            <a:srgbClr val="D0D0D0"/>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hyperlink" Target="https://whatever99.tistory.com/entry/2025%EB%85%84-%EB%B0%98%EB%8F%84%EC%B2%B4-%EC%82%B0%EC%97%85-%EC%A0%84%EB%A7%9D-%EC%82%BC%EC%84%B1%EC%A0%84%EC%9E%90-vs-SK-hynix-%EC%96%B4%EB%8A%90-%ED%9A%8C%EC%82%AC%EA%B0%80-%EB%8D%94-%EC%9C%A0%EB%A7%9D%ED%95%A0%EA%B9%8C"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hyperlink" Target="https://get-a-position.tistory.com/entry/ISTP-%EC%84%B1%EA%B2%A9-%EC%9C%A0%ED%98%95%EC%9D%98-%EB%8A%A5%EB%A0%A5%EC%9D%84-%EB%B0%9C%ED%9C%98%ED%95%98%EB%8A%94-%EA%B5%AC%EC%A1%B0-%EC%97%94%EC%A7%80%EB%8B%88%EC%96%B4-%EC%A7%81%EC%97%85"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7" Type="http://schemas.openxmlformats.org/officeDocument/2006/relationships/hyperlink" Target="https://boundaryml.com/blog/structured-outputs-create-false-confidence" TargetMode="Externa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hyperlink" Target="https://arxiv.org/abs/2501.10868" TargetMode="External"/><Relationship Id="rId5" Type="http://schemas.openxmlformats.org/officeDocument/2006/relationships/hyperlink" Target="https://arxiv.org/abs/2409.03797" TargetMode="External"/><Relationship Id="rId4" Type="http://schemas.openxmlformats.org/officeDocument/2006/relationships/hyperlink" Target="https://www.editage.co.kr/insights/writing-for-science-journals-tips-tricks-and-a-learning-plan"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hyperlink" Target="https://flyingjs.tistory.com/entry/%EA%B1%B4%EC%84%A4%EA%B8%B0%EA%B3%84%EC%84%A4%EB%B9%84%EA%B8%B0%EC%82%AC-2024-%EC%8B%9C%ED%97%98%EC%9D%BC%EC%A0%95-%EC%9D%91%EC%8B%9C%EC%9E%90%EA%B2%A9-%ED%95%84%EA%B8%B0-%EC%8B%A4%EA%B8%B0-%EB%82%9C%EC%9D%B4%EB%8F%84-%ED%95%A9%EA%B2%A9%EB%A5%A0-%EC%B7%A8%EC%97%85-%EC%A0%84%EB%A7%9D-%EC%B4%9D%EC%A0%95%EB%A6%AC"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hyperlink" Target="https://pixnio.com/ko/%EA%B3%BC%ED%95%99/%ED%99%94%ED%95%99/%EC%8B%A4%ED%97%98-%EC%8B%A4%ED%97%98%EC%8B%A4-%EC%9C%A0%EB%A6%AC-%ED%99%94%ED%95%99-%EC%95%A1%EC%B2%B4-%EC%97%B0%EA%B5%AC-%EC%9D%98%ED%95%99-%EA%B3%BC%ED%95%99"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wrtnlabs/autobe/blob/main/packages/interface/src/analyze/AutoBeAnalyze.ts"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github.com/wrtnlabs/autobe/blob/main/packages/interface/src/test/AutoBeTest.ts" TargetMode="External"/><Relationship Id="rId5" Type="http://schemas.openxmlformats.org/officeDocument/2006/relationships/hyperlink" Target="https://github.com/wrtnlabs/autobe/blob/main/packages/interface/src/interface/AutoBeInterface.ts" TargetMode="External"/><Relationship Id="rId4" Type="http://schemas.openxmlformats.org/officeDocument/2006/relationships/hyperlink" Target="https://github.com/wrtnlabs/autobe/blob/main/packages/interface/src/database/AutoBeDatabase.ts" TargetMode="Externa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pixabay.com/ko/vectors/%EC%BD%94%EB%81%BC%EB%A6%AC-%EC%95%84%EA%B8%B0-%ED%95%91%ED%81%AC-%EB%8F%99%EB%AC%BC-303409/" TargetMode="External"/><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A4D4CC-6480-8350-D0FB-01F3803CB8C3}"/>
              </a:ext>
            </a:extLst>
          </p:cNvPr>
          <p:cNvSpPr>
            <a:spLocks noGrp="1"/>
          </p:cNvSpPr>
          <p:nvPr>
            <p:ph type="ctrTitle"/>
          </p:nvPr>
        </p:nvSpPr>
        <p:spPr/>
        <p:txBody>
          <a:bodyPr/>
          <a:lstStyle/>
          <a:p>
            <a:r>
              <a:rPr lang="en-US" dirty="0"/>
              <a:t>Function Calling Harness</a:t>
            </a:r>
          </a:p>
        </p:txBody>
      </p:sp>
      <p:sp>
        <p:nvSpPr>
          <p:cNvPr id="3" name="부제목 2">
            <a:extLst>
              <a:ext uri="{FF2B5EF4-FFF2-40B4-BE49-F238E27FC236}">
                <a16:creationId xmlns:a16="http://schemas.microsoft.com/office/drawing/2014/main" id="{58016CA8-3627-A3DE-00A7-FFDDD7F52487}"/>
              </a:ext>
            </a:extLst>
          </p:cNvPr>
          <p:cNvSpPr>
            <a:spLocks noGrp="1"/>
          </p:cNvSpPr>
          <p:nvPr>
            <p:ph type="subTitle" idx="1"/>
          </p:nvPr>
        </p:nvSpPr>
        <p:spPr/>
        <p:txBody>
          <a:bodyPr/>
          <a:lstStyle/>
          <a:p>
            <a:r>
              <a:rPr lang="en-US" dirty="0"/>
              <a:t>Success Rate of Function Calling From 6.75% to 100%</a:t>
            </a:r>
          </a:p>
          <a:p>
            <a:r>
              <a:rPr lang="en-US" dirty="0"/>
              <a:t>In Qwen-Coder-Next (80b-a3b)</a:t>
            </a:r>
          </a:p>
        </p:txBody>
      </p:sp>
    </p:spTree>
    <p:extLst>
      <p:ext uri="{BB962C8B-B14F-4D97-AF65-F5344CB8AC3E}">
        <p14:creationId xmlns:p14="http://schemas.microsoft.com/office/powerpoint/2010/main" val="12196885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044573B-7CF6-ED2E-E36D-99092E11AA96}"/>
              </a:ext>
            </a:extLst>
          </p:cNvPr>
          <p:cNvSpPr>
            <a:spLocks noGrp="1"/>
          </p:cNvSpPr>
          <p:nvPr>
            <p:ph type="title"/>
          </p:nvPr>
        </p:nvSpPr>
        <p:spPr/>
        <p:txBody>
          <a:bodyPr/>
          <a:lstStyle/>
          <a:p>
            <a:r>
              <a:rPr lang="en-US" dirty="0"/>
              <a:t>TL;DR</a:t>
            </a:r>
          </a:p>
        </p:txBody>
      </p:sp>
      <p:sp>
        <p:nvSpPr>
          <p:cNvPr id="3" name="내용 개체 틀 2">
            <a:extLst>
              <a:ext uri="{FF2B5EF4-FFF2-40B4-BE49-F238E27FC236}">
                <a16:creationId xmlns:a16="http://schemas.microsoft.com/office/drawing/2014/main" id="{3525E5B0-5203-DA1F-04D7-67E07F82EE3A}"/>
              </a:ext>
            </a:extLst>
          </p:cNvPr>
          <p:cNvSpPr>
            <a:spLocks noGrp="1"/>
          </p:cNvSpPr>
          <p:nvPr>
            <p:ph sz="half" idx="1"/>
          </p:nvPr>
        </p:nvSpPr>
        <p:spPr/>
        <p:txBody>
          <a:bodyPr/>
          <a:lstStyle/>
          <a:p>
            <a:r>
              <a:rPr lang="en-US" dirty="0" err="1"/>
              <a:t>AutoBe</a:t>
            </a:r>
            <a:r>
              <a:rPr lang="en-US" dirty="0"/>
              <a:t>: AI backend generator</a:t>
            </a:r>
          </a:p>
          <a:p>
            <a:endParaRPr lang="en-US" dirty="0"/>
          </a:p>
          <a:p>
            <a:r>
              <a:rPr lang="en-US" dirty="0"/>
              <a:t>Do not write text codes</a:t>
            </a:r>
          </a:p>
          <a:p>
            <a:r>
              <a:rPr lang="en-US" dirty="0"/>
              <a:t>Instead, make AST structured data</a:t>
            </a:r>
          </a:p>
          <a:p>
            <a:r>
              <a:rPr lang="en-US" b="1" dirty="0"/>
              <a:t>Function Calling All-in</a:t>
            </a:r>
          </a:p>
          <a:p>
            <a:endParaRPr lang="en-US" dirty="0"/>
          </a:p>
          <a:p>
            <a:r>
              <a:rPr lang="en-US" dirty="0"/>
              <a:t>Types are extremely complicated</a:t>
            </a:r>
          </a:p>
          <a:p>
            <a:r>
              <a:rPr lang="en-US" dirty="0"/>
              <a:t>Recursive union types</a:t>
            </a:r>
          </a:p>
        </p:txBody>
      </p:sp>
      <p:pic>
        <p:nvPicPr>
          <p:cNvPr id="6" name="내용 개체 틀 5">
            <a:extLst>
              <a:ext uri="{FF2B5EF4-FFF2-40B4-BE49-F238E27FC236}">
                <a16:creationId xmlns:a16="http://schemas.microsoft.com/office/drawing/2014/main" id="{23DA82D9-A41B-6FDC-50C1-0EFD3BD86B8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5675085" y="318618"/>
            <a:ext cx="6214291" cy="6220764"/>
          </a:xfrm>
          <a:prstGeom prst="rect">
            <a:avLst/>
          </a:prstGeom>
        </p:spPr>
      </p:pic>
    </p:spTree>
    <p:extLst>
      <p:ext uri="{BB962C8B-B14F-4D97-AF65-F5344CB8AC3E}">
        <p14:creationId xmlns:p14="http://schemas.microsoft.com/office/powerpoint/2010/main" val="7125956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67C6C5-61AC-DD51-F144-97BB7C5B56B0}"/>
              </a:ext>
            </a:extLst>
          </p:cNvPr>
          <p:cNvSpPr>
            <a:spLocks noGrp="1"/>
          </p:cNvSpPr>
          <p:nvPr>
            <p:ph type="title"/>
          </p:nvPr>
        </p:nvSpPr>
        <p:spPr>
          <a:xfrm>
            <a:off x="1143000" y="609600"/>
            <a:ext cx="4953000" cy="1356360"/>
          </a:xfrm>
        </p:spPr>
        <p:txBody>
          <a:bodyPr/>
          <a:lstStyle/>
          <a:p>
            <a:r>
              <a:rPr lang="en-US" dirty="0"/>
              <a:t>TL;DR</a:t>
            </a:r>
          </a:p>
        </p:txBody>
      </p:sp>
      <p:sp>
        <p:nvSpPr>
          <p:cNvPr id="3" name="내용 개체 틀 2">
            <a:extLst>
              <a:ext uri="{FF2B5EF4-FFF2-40B4-BE49-F238E27FC236}">
                <a16:creationId xmlns:a16="http://schemas.microsoft.com/office/drawing/2014/main" id="{8ABF0164-86B9-517E-5417-BEF1B78E9C05}"/>
              </a:ext>
            </a:extLst>
          </p:cNvPr>
          <p:cNvSpPr>
            <a:spLocks noGrp="1"/>
          </p:cNvSpPr>
          <p:nvPr>
            <p:ph sz="half" idx="1"/>
          </p:nvPr>
        </p:nvSpPr>
        <p:spPr/>
        <p:txBody>
          <a:bodyPr/>
          <a:lstStyle/>
          <a:p>
            <a:r>
              <a:rPr lang="en-US" dirty="0"/>
              <a:t>Typia, TypeScript Compiler Plugin</a:t>
            </a:r>
          </a:p>
          <a:p>
            <a:endParaRPr lang="en-US" dirty="0"/>
          </a:p>
          <a:p>
            <a:r>
              <a:rPr lang="en-US" dirty="0"/>
              <a:t>Analyze TypeScript Source Code</a:t>
            </a:r>
          </a:p>
          <a:p>
            <a:pPr lvl="1"/>
            <a:r>
              <a:rPr lang="en-US" dirty="0"/>
              <a:t>Lenient JSON Parsing</a:t>
            </a:r>
          </a:p>
          <a:p>
            <a:pPr lvl="1"/>
            <a:r>
              <a:rPr lang="en-US" dirty="0"/>
              <a:t>Type Coercion</a:t>
            </a:r>
          </a:p>
          <a:p>
            <a:pPr lvl="1"/>
            <a:r>
              <a:rPr lang="en-US" dirty="0"/>
              <a:t>Validation Feedback</a:t>
            </a:r>
          </a:p>
          <a:p>
            <a:pPr lvl="1"/>
            <a:endParaRPr lang="en-US" dirty="0"/>
          </a:p>
          <a:p>
            <a:r>
              <a:rPr lang="en-US" dirty="0"/>
              <a:t>Function Calling Success Rate</a:t>
            </a:r>
          </a:p>
          <a:p>
            <a:pPr lvl="1"/>
            <a:r>
              <a:rPr lang="en-US" dirty="0"/>
              <a:t>6.75% -&gt; 100%</a:t>
            </a:r>
          </a:p>
        </p:txBody>
      </p:sp>
      <p:sp>
        <p:nvSpPr>
          <p:cNvPr id="29" name="사각형: 둥근 모서리 28">
            <a:extLst>
              <a:ext uri="{FF2B5EF4-FFF2-40B4-BE49-F238E27FC236}">
                <a16:creationId xmlns:a16="http://schemas.microsoft.com/office/drawing/2014/main" id="{F7805EAE-4696-49E6-8CA3-FD570313EA3C}"/>
              </a:ext>
            </a:extLst>
          </p:cNvPr>
          <p:cNvSpPr/>
          <p:nvPr/>
        </p:nvSpPr>
        <p:spPr>
          <a:xfrm>
            <a:off x="6223000" y="133551"/>
            <a:ext cx="5005438" cy="2816125"/>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50" b="1" dirty="0">
                <a:solidFill>
                  <a:srgbClr val="888888"/>
                </a:solidFill>
                <a:latin typeface="Consolas"/>
              </a:rPr>
              <a:t>TypeScript</a:t>
            </a:r>
            <a:r>
              <a:rPr lang="en-US" sz="1200" dirty="0">
                <a:solidFill>
                  <a:srgbClr val="D4D4D4"/>
                </a:solidFill>
                <a:latin typeface="Consolas"/>
              </a:rPr>
              <a:t>
</a:t>
            </a:r>
            <a:r>
              <a:rPr lang="en-US" sz="1200" dirty="0">
                <a:solidFill>
                  <a:srgbClr val="C586C0"/>
                </a:solidFill>
                <a:latin typeface="Consolas"/>
              </a:rPr>
              <a:t>import</a:t>
            </a:r>
            <a:r>
              <a:rPr lang="en-US" sz="1200" dirty="0">
                <a:solidFill>
                  <a:srgbClr val="D4D4D4"/>
                </a:solidFill>
                <a:latin typeface="Consolas"/>
              </a:rPr>
              <a:t> </a:t>
            </a:r>
            <a:r>
              <a:rPr lang="en-US" sz="1200" dirty="0">
                <a:solidFill>
                  <a:srgbClr val="9CDCFE"/>
                </a:solidFill>
                <a:latin typeface="Consolas"/>
              </a:rPr>
              <a:t>typia</a:t>
            </a:r>
            <a:r>
              <a:rPr lang="en-US" sz="1200" dirty="0">
                <a:solidFill>
                  <a:srgbClr val="D4D4D4"/>
                </a:solidFill>
                <a:latin typeface="Consolas"/>
              </a:rPr>
              <a:t>, { </a:t>
            </a:r>
            <a:r>
              <a:rPr lang="en-US" sz="1200" dirty="0">
                <a:solidFill>
                  <a:srgbClr val="9CDCFE"/>
                </a:solidFill>
                <a:latin typeface="Consolas"/>
              </a:rPr>
              <a:t>tags</a:t>
            </a:r>
            <a:r>
              <a:rPr lang="en-US" sz="1200" dirty="0">
                <a:solidFill>
                  <a:srgbClr val="D4D4D4"/>
                </a:solidFill>
                <a:latin typeface="Consolas"/>
              </a:rPr>
              <a:t> } </a:t>
            </a:r>
            <a:r>
              <a:rPr lang="en-US" sz="1200" dirty="0">
                <a:solidFill>
                  <a:srgbClr val="C586C0"/>
                </a:solidFill>
                <a:latin typeface="Consolas"/>
              </a:rPr>
              <a:t>from</a:t>
            </a:r>
            <a:r>
              <a:rPr lang="en-US" sz="1200" dirty="0">
                <a:solidFill>
                  <a:srgbClr val="D4D4D4"/>
                </a:solidFill>
                <a:latin typeface="Consolas"/>
              </a:rPr>
              <a:t> </a:t>
            </a:r>
            <a:r>
              <a:rPr lang="en-US" sz="1200" dirty="0">
                <a:solidFill>
                  <a:srgbClr val="CE9178"/>
                </a:solidFill>
                <a:latin typeface="Consolas"/>
              </a:rPr>
              <a:t>"typia"</a:t>
            </a:r>
            <a:r>
              <a:rPr lang="en-US" sz="1200" dirty="0">
                <a:solidFill>
                  <a:srgbClr val="D4D4D4"/>
                </a:solidFill>
                <a:latin typeface="Consolas"/>
              </a:rPr>
              <a:t>;
</a:t>
            </a:r>
            <a:r>
              <a:rPr lang="en-US" sz="1200" dirty="0">
                <a:solidFill>
                  <a:srgbClr val="569CD6"/>
                </a:solidFill>
                <a:latin typeface="Consolas"/>
              </a:rPr>
              <a:t>interface</a:t>
            </a:r>
            <a:r>
              <a:rPr lang="en-US" sz="1200" dirty="0">
                <a:solidFill>
                  <a:srgbClr val="D4D4D4"/>
                </a:solidFill>
                <a:latin typeface="Consolas"/>
              </a:rPr>
              <a:t> </a:t>
            </a:r>
            <a:r>
              <a:rPr lang="en-US" sz="1200" dirty="0" err="1">
                <a:solidFill>
                  <a:srgbClr val="4EC9B0"/>
                </a:solidFill>
                <a:latin typeface="Consolas"/>
              </a:rPr>
              <a:t>IMember</a:t>
            </a:r>
            <a:r>
              <a:rPr lang="en-US" sz="1200" dirty="0">
                <a:solidFill>
                  <a:srgbClr val="D4D4D4"/>
                </a:solidFill>
                <a:latin typeface="Consolas"/>
              </a:rPr>
              <a:t> {
  </a:t>
            </a:r>
            <a:r>
              <a:rPr lang="en-US" sz="1200" dirty="0">
                <a:solidFill>
                  <a:srgbClr val="9CDCFE"/>
                </a:solidFill>
                <a:latin typeface="Consolas"/>
              </a:rPr>
              <a:t>id</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a:t>
            </a:r>
            <a:r>
              <a:rPr lang="en-US" sz="1200" dirty="0" err="1">
                <a:solidFill>
                  <a:srgbClr val="CE9178"/>
                </a:solidFill>
                <a:latin typeface="Consolas"/>
              </a:rPr>
              <a:t>uuid</a:t>
            </a:r>
            <a:r>
              <a:rPr lang="en-US" sz="1200" dirty="0">
                <a:solidFill>
                  <a:srgbClr val="CE9178"/>
                </a:solidFill>
                <a:latin typeface="Consolas"/>
              </a:rPr>
              <a:t>"</a:t>
            </a:r>
            <a:r>
              <a:rPr lang="en-US" sz="1200" dirty="0">
                <a:solidFill>
                  <a:srgbClr val="D4D4D4"/>
                </a:solidFill>
                <a:latin typeface="Consolas"/>
              </a:rPr>
              <a:t>&gt;;
  </a:t>
            </a:r>
            <a:r>
              <a:rPr lang="en-US" sz="1200" dirty="0">
                <a:solidFill>
                  <a:srgbClr val="9CDCFE"/>
                </a:solidFill>
                <a:latin typeface="Consolas"/>
              </a:rPr>
              <a:t>email</a:t>
            </a:r>
            <a:r>
              <a:rPr lang="en-US" sz="1200" dirty="0">
                <a:solidFill>
                  <a:srgbClr val="D4D4D4"/>
                </a:solidFill>
                <a:latin typeface="Consolas"/>
              </a:rPr>
              <a:t>: </a:t>
            </a:r>
            <a:r>
              <a:rPr lang="en-US" sz="1200" dirty="0">
                <a:solidFill>
                  <a:srgbClr val="4EC9B0"/>
                </a:solidFill>
                <a:latin typeface="Consolas"/>
              </a:rPr>
              <a:t>string</a:t>
            </a:r>
            <a:r>
              <a:rPr lang="en-US" sz="1200" dirty="0">
                <a:solidFill>
                  <a:srgbClr val="D4D4D4"/>
                </a:solidFill>
                <a:latin typeface="Consolas"/>
              </a:rPr>
              <a:t> &amp; </a:t>
            </a:r>
            <a:r>
              <a:rPr lang="en-US" sz="1200" dirty="0" err="1">
                <a:solidFill>
                  <a:srgbClr val="D4D4D4"/>
                </a:solidFill>
                <a:latin typeface="Consolas"/>
              </a:rPr>
              <a:t>tags.Format</a:t>
            </a:r>
            <a:r>
              <a:rPr lang="en-US" sz="1200" dirty="0">
                <a:solidFill>
                  <a:srgbClr val="D4D4D4"/>
                </a:solidFill>
                <a:latin typeface="Consolas"/>
              </a:rPr>
              <a:t>&lt;</a:t>
            </a:r>
            <a:r>
              <a:rPr lang="en-US" sz="1200" dirty="0">
                <a:solidFill>
                  <a:srgbClr val="CE9178"/>
                </a:solidFill>
                <a:latin typeface="Consolas"/>
              </a:rPr>
              <a:t>"email"</a:t>
            </a:r>
            <a:r>
              <a:rPr lang="en-US" sz="1200" dirty="0">
                <a:solidFill>
                  <a:srgbClr val="D4D4D4"/>
                </a:solidFill>
                <a:latin typeface="Consolas"/>
              </a:rPr>
              <a:t>&gt;;
  </a:t>
            </a:r>
            <a:r>
              <a:rPr lang="en-US" sz="1200" dirty="0">
                <a:solidFill>
                  <a:srgbClr val="9CDCFE"/>
                </a:solidFill>
                <a:latin typeface="Consolas"/>
              </a:rPr>
              <a:t>age</a:t>
            </a:r>
            <a:r>
              <a:rPr lang="en-US" sz="1200" dirty="0">
                <a:solidFill>
                  <a:srgbClr val="D4D4D4"/>
                </a:solidFill>
                <a:latin typeface="Consolas"/>
              </a:rPr>
              <a:t>: </a:t>
            </a:r>
            <a:r>
              <a:rPr lang="en-US" sz="1200" dirty="0">
                <a:solidFill>
                  <a:srgbClr val="4EC9B0"/>
                </a:solidFill>
                <a:latin typeface="Consolas"/>
              </a:rPr>
              <a:t>number</a:t>
            </a:r>
            <a:r>
              <a:rPr lang="en-US" sz="1200" dirty="0">
                <a:solidFill>
                  <a:srgbClr val="D4D4D4"/>
                </a:solidFill>
                <a:latin typeface="Consolas"/>
              </a:rPr>
              <a:t> &amp;
    </a:t>
            </a:r>
            <a:r>
              <a:rPr lang="en-US" sz="1200" dirty="0" err="1">
                <a:solidFill>
                  <a:srgbClr val="D4D4D4"/>
                </a:solidFill>
                <a:latin typeface="Consolas"/>
              </a:rPr>
              <a:t>tags.Type</a:t>
            </a:r>
            <a:r>
              <a:rPr lang="en-US" sz="1200" dirty="0">
                <a:solidFill>
                  <a:srgbClr val="D4D4D4"/>
                </a:solidFill>
                <a:latin typeface="Consolas"/>
              </a:rPr>
              <a:t>&lt;</a:t>
            </a:r>
            <a:r>
              <a:rPr lang="en-US" sz="1200" dirty="0">
                <a:solidFill>
                  <a:srgbClr val="CE9178"/>
                </a:solidFill>
                <a:latin typeface="Consolas"/>
              </a:rPr>
              <a:t>"uint32"</a:t>
            </a:r>
            <a:r>
              <a:rPr lang="en-US" sz="1200" dirty="0">
                <a:solidFill>
                  <a:srgbClr val="D4D4D4"/>
                </a:solidFill>
                <a:latin typeface="Consolas"/>
              </a:rPr>
              <a:t>&gt; &amp;
    </a:t>
            </a:r>
            <a:r>
              <a:rPr lang="en-US" sz="1200" dirty="0" err="1">
                <a:solidFill>
                  <a:srgbClr val="D4D4D4"/>
                </a:solidFill>
                <a:latin typeface="Consolas"/>
              </a:rPr>
              <a:t>tags.ExclusiveMinimum</a:t>
            </a:r>
            <a:r>
              <a:rPr lang="en-US" sz="1200" dirty="0">
                <a:solidFill>
                  <a:srgbClr val="D4D4D4"/>
                </a:solidFill>
                <a:latin typeface="Consolas"/>
              </a:rPr>
              <a:t>&lt;</a:t>
            </a:r>
            <a:r>
              <a:rPr lang="en-US" sz="1200" dirty="0">
                <a:solidFill>
                  <a:srgbClr val="B5CEA8"/>
                </a:solidFill>
                <a:latin typeface="Consolas"/>
              </a:rPr>
              <a:t>19</a:t>
            </a:r>
            <a:r>
              <a:rPr lang="en-US" sz="1200" dirty="0">
                <a:solidFill>
                  <a:srgbClr val="D4D4D4"/>
                </a:solidFill>
                <a:latin typeface="Consolas"/>
              </a:rPr>
              <a:t>&gt; &amp;
    </a:t>
            </a:r>
            <a:r>
              <a:rPr lang="en-US" sz="1200" dirty="0" err="1">
                <a:solidFill>
                  <a:srgbClr val="D4D4D4"/>
                </a:solidFill>
                <a:latin typeface="Consolas"/>
              </a:rPr>
              <a:t>tags.Maximum</a:t>
            </a:r>
            <a:r>
              <a:rPr lang="en-US" sz="1200" dirty="0">
                <a:solidFill>
                  <a:srgbClr val="D4D4D4"/>
                </a:solidFill>
                <a:latin typeface="Consolas"/>
              </a:rPr>
              <a:t>&lt;</a:t>
            </a:r>
            <a:r>
              <a:rPr lang="en-US" sz="1200" dirty="0">
                <a:solidFill>
                  <a:srgbClr val="B5CEA8"/>
                </a:solidFill>
                <a:latin typeface="Consolas"/>
              </a:rPr>
              <a:t>100</a:t>
            </a:r>
            <a:r>
              <a:rPr lang="en-US" sz="1200" dirty="0">
                <a:solidFill>
                  <a:srgbClr val="D4D4D4"/>
                </a:solidFill>
                <a:latin typeface="Consolas"/>
              </a:rPr>
              <a:t>&gt;;
}
</a:t>
            </a:r>
            <a:r>
              <a:rPr lang="en-US" sz="1200" dirty="0">
                <a:solidFill>
                  <a:srgbClr val="569CD6"/>
                </a:solidFill>
                <a:latin typeface="Consolas"/>
              </a:rPr>
              <a:t>const</a:t>
            </a:r>
            <a:r>
              <a:rPr lang="en-US" sz="1200" dirty="0">
                <a:solidFill>
                  <a:srgbClr val="D4D4D4"/>
                </a:solidFill>
                <a:latin typeface="Consolas"/>
              </a:rPr>
              <a:t> </a:t>
            </a:r>
            <a:r>
              <a:rPr lang="en-US" sz="1200" dirty="0">
                <a:solidFill>
                  <a:srgbClr val="9CDCFE"/>
                </a:solidFill>
                <a:latin typeface="Consolas"/>
              </a:rPr>
              <a:t>check</a:t>
            </a:r>
            <a:r>
              <a:rPr lang="en-US" sz="1200" dirty="0">
                <a:solidFill>
                  <a:srgbClr val="D4D4D4"/>
                </a:solidFill>
                <a:latin typeface="Consolas"/>
              </a:rPr>
              <a:t>: </a:t>
            </a:r>
            <a:r>
              <a:rPr lang="en-US" sz="1200" dirty="0" err="1">
                <a:solidFill>
                  <a:srgbClr val="4EC9B0"/>
                </a:solidFill>
                <a:latin typeface="Consolas"/>
              </a:rPr>
              <a:t>boolean</a:t>
            </a:r>
            <a:r>
              <a:rPr lang="en-US" sz="1200" dirty="0">
                <a:solidFill>
                  <a:srgbClr val="D4D4D4"/>
                </a:solidFill>
                <a:latin typeface="Consolas"/>
              </a:rPr>
              <a:t> = </a:t>
            </a:r>
            <a:r>
              <a:rPr lang="en-US" sz="1200" dirty="0">
                <a:solidFill>
                  <a:srgbClr val="9CDCFE"/>
                </a:solidFill>
                <a:latin typeface="Consolas"/>
              </a:rPr>
              <a:t>typia</a:t>
            </a:r>
            <a:r>
              <a:rPr lang="en-US" sz="1200" dirty="0">
                <a:solidFill>
                  <a:srgbClr val="DCDCAA"/>
                </a:solidFill>
                <a:latin typeface="Consolas"/>
              </a:rPr>
              <a:t>.is</a:t>
            </a:r>
            <a:r>
              <a:rPr lang="en-US" sz="1200" dirty="0">
                <a:solidFill>
                  <a:srgbClr val="D4D4D4"/>
                </a:solidFill>
                <a:latin typeface="Consolas"/>
              </a:rPr>
              <a:t>&lt;</a:t>
            </a:r>
            <a:r>
              <a:rPr lang="en-US" sz="1200" dirty="0" err="1">
                <a:solidFill>
                  <a:srgbClr val="4EC9B0"/>
                </a:solidFill>
                <a:latin typeface="Consolas"/>
              </a:rPr>
              <a:t>IMember</a:t>
            </a:r>
            <a:r>
              <a:rPr lang="en-US" sz="1200" dirty="0">
                <a:solidFill>
                  <a:srgbClr val="D4D4D4"/>
                </a:solidFill>
                <a:latin typeface="Consolas"/>
              </a:rPr>
              <a:t>&gt;(input);</a:t>
            </a:r>
          </a:p>
        </p:txBody>
      </p:sp>
      <p:sp>
        <p:nvSpPr>
          <p:cNvPr id="30" name="사각형: 둥근 모서리 29">
            <a:extLst>
              <a:ext uri="{FF2B5EF4-FFF2-40B4-BE49-F238E27FC236}">
                <a16:creationId xmlns:a16="http://schemas.microsoft.com/office/drawing/2014/main" id="{8EF8A5A4-C8B1-4276-8042-7EC81861297B}"/>
              </a:ext>
            </a:extLst>
          </p:cNvPr>
          <p:cNvSpPr/>
          <p:nvPr/>
        </p:nvSpPr>
        <p:spPr>
          <a:xfrm>
            <a:off x="6222999" y="3677676"/>
            <a:ext cx="5005439" cy="3081179"/>
          </a:xfrm>
          <a:prstGeom prst="roundRect">
            <a:avLst/>
          </a:prstGeom>
          <a:solidFill>
            <a:srgbClr val="1E1E1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t" anchorCtr="0">
            <a:noAutofit/>
          </a:bodyPr>
          <a:lstStyle/>
          <a:p>
            <a:pPr algn="l"/>
            <a:r>
              <a:rPr lang="en-US" sz="1000" b="1">
                <a:solidFill>
                  <a:srgbClr val="888888"/>
                </a:solidFill>
                <a:latin typeface="Consolas"/>
              </a:rPr>
              <a:t>JavaScript (compiled)</a:t>
            </a:r>
            <a:r>
              <a:rPr lang="en-US" sz="1100">
                <a:solidFill>
                  <a:srgbClr val="D4D4D4"/>
                </a:solidFill>
                <a:latin typeface="Consolas"/>
              </a:rPr>
              <a:t>
((</a:t>
            </a:r>
            <a:r>
              <a:rPr lang="en-US" sz="1100">
                <a:solidFill>
                  <a:srgbClr val="9CDCFE"/>
                </a:solidFill>
                <a:latin typeface="Consolas"/>
              </a:rPr>
              <a:t>input</a:t>
            </a:r>
            <a:r>
              <a:rPr lang="en-US" sz="1100">
                <a:solidFill>
                  <a:srgbClr val="D4D4D4"/>
                </a:solidFill>
                <a:latin typeface="Consolas"/>
              </a:rPr>
              <a:t>) </a:t>
            </a:r>
            <a:r>
              <a:rPr lang="en-US" sz="1100">
                <a:solidFill>
                  <a:srgbClr val="569CD6"/>
                </a:solidFill>
                <a:latin typeface="Consolas"/>
              </a:rPr>
              <a:t>=&gt;</a:t>
            </a:r>
            <a:r>
              <a:rPr lang="en-US" sz="1100">
                <a:solidFill>
                  <a:srgbClr val="D4D4D4"/>
                </a:solidFill>
                <a:latin typeface="Consolas"/>
              </a:rPr>
              <a:t> {
  </a:t>
            </a:r>
            <a:r>
              <a:rPr lang="en-US" sz="1100">
                <a:solidFill>
                  <a:srgbClr val="C586C0"/>
                </a:solidFill>
                <a:latin typeface="Consolas"/>
              </a:rPr>
              <a:t>return</a:t>
            </a:r>
            <a:r>
              <a:rPr lang="en-US" sz="1100">
                <a:solidFill>
                  <a:srgbClr val="D4D4D4"/>
                </a:solidFill>
                <a:latin typeface="Consolas"/>
              </a:rPr>
              <a:t> (
    </a:t>
            </a:r>
            <a:r>
              <a:rPr lang="en-US" sz="1100">
                <a:solidFill>
                  <a:srgbClr val="569CD6"/>
                </a:solidFill>
                <a:latin typeface="Consolas"/>
              </a:rPr>
              <a:t>typeof</a:t>
            </a:r>
            <a:r>
              <a:rPr lang="en-US" sz="1100">
                <a:solidFill>
                  <a:srgbClr val="D4D4D4"/>
                </a:solidFill>
                <a:latin typeface="Consolas"/>
              </a:rPr>
              <a:t> input === </a:t>
            </a:r>
            <a:r>
              <a:rPr lang="en-US" sz="1100">
                <a:solidFill>
                  <a:srgbClr val="CE9178"/>
                </a:solidFill>
                <a:latin typeface="Consolas"/>
              </a:rPr>
              <a:t>"object"</a:t>
            </a:r>
            <a:r>
              <a:rPr lang="en-US" sz="1100">
                <a:solidFill>
                  <a:srgbClr val="D4D4D4"/>
                </a:solidFill>
                <a:latin typeface="Consolas"/>
              </a:rPr>
              <a:t> &amp;&amp;
    </a:t>
            </a:r>
            <a:r>
              <a:rPr lang="en-US" sz="1100">
                <a:solidFill>
                  <a:srgbClr val="569CD6"/>
                </a:solidFill>
                <a:latin typeface="Consolas"/>
              </a:rPr>
              <a:t>null</a:t>
            </a:r>
            <a:r>
              <a:rPr lang="en-US" sz="1100">
                <a:solidFill>
                  <a:srgbClr val="D4D4D4"/>
                </a:solidFill>
                <a:latin typeface="Consolas"/>
              </a:rPr>
              <a:t> !== input &amp;&amp;
    </a:t>
            </a:r>
            <a:r>
              <a:rPr lang="en-US" sz="1100">
                <a:solidFill>
                  <a:srgbClr val="569CD6"/>
                </a:solidFill>
                <a:latin typeface="Consolas"/>
              </a:rPr>
              <a:t>typeof</a:t>
            </a:r>
            <a:r>
              <a:rPr lang="en-US" sz="1100">
                <a:solidFill>
                  <a:srgbClr val="D4D4D4"/>
                </a:solidFill>
                <a:latin typeface="Consolas"/>
              </a:rPr>
              <a:t> input.id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/^[0-9a-f]{8}-.../</a:t>
            </a:r>
            <a:r>
              <a:rPr lang="en-US" sz="1100">
                <a:solidFill>
                  <a:srgbClr val="D4D4D4"/>
                </a:solidFill>
                <a:latin typeface="Consolas"/>
              </a:rPr>
              <a:t>.test(input.id) &amp;&amp;
    </a:t>
            </a:r>
            <a:r>
              <a:rPr lang="en-US" sz="1100">
                <a:solidFill>
                  <a:srgbClr val="569CD6"/>
                </a:solidFill>
                <a:latin typeface="Consolas"/>
              </a:rPr>
              <a:t>typeof</a:t>
            </a:r>
            <a:r>
              <a:rPr lang="en-US" sz="1100">
                <a:solidFill>
                  <a:srgbClr val="D4D4D4"/>
                </a:solidFill>
                <a:latin typeface="Consolas"/>
              </a:rPr>
              <a:t> input.email === </a:t>
            </a:r>
            <a:r>
              <a:rPr lang="en-US" sz="1100">
                <a:solidFill>
                  <a:srgbClr val="CE9178"/>
                </a:solidFill>
                <a:latin typeface="Consolas"/>
              </a:rPr>
              <a:t>"string"</a:t>
            </a:r>
            <a:r>
              <a:rPr lang="en-US" sz="1100">
                <a:solidFill>
                  <a:srgbClr val="D4D4D4"/>
                </a:solidFill>
                <a:latin typeface="Consolas"/>
              </a:rPr>
              <a:t> &amp;&amp;
    </a:t>
            </a:r>
            <a:r>
              <a:rPr lang="en-US" sz="1100">
                <a:solidFill>
                  <a:srgbClr val="D16969"/>
                </a:solidFill>
                <a:latin typeface="Consolas"/>
              </a:rPr>
              <a:t>/^[a-z0-9._%+]+@.../</a:t>
            </a:r>
            <a:r>
              <a:rPr lang="en-US" sz="1100">
                <a:solidFill>
                  <a:srgbClr val="D4D4D4"/>
                </a:solidFill>
                <a:latin typeface="Consolas"/>
              </a:rPr>
              <a:t>.test(input.email) &amp;&amp;
    Number.isInteger(input.age) &amp;&amp;
    input.age &gt;= </a:t>
            </a:r>
            <a:r>
              <a:rPr lang="en-US" sz="1100">
                <a:solidFill>
                  <a:srgbClr val="B5CEA8"/>
                </a:solidFill>
                <a:latin typeface="Consolas"/>
              </a:rPr>
              <a:t>0</a:t>
            </a:r>
            <a:r>
              <a:rPr lang="en-US" sz="1100">
                <a:solidFill>
                  <a:srgbClr val="D4D4D4"/>
                </a:solidFill>
                <a:latin typeface="Consolas"/>
              </a:rPr>
              <a:t> &amp;&amp;
    </a:t>
            </a:r>
            <a:r>
              <a:rPr lang="en-US" sz="1100">
                <a:solidFill>
                  <a:srgbClr val="B5CEA8"/>
                </a:solidFill>
                <a:latin typeface="Consolas"/>
              </a:rPr>
              <a:t>19</a:t>
            </a:r>
            <a:r>
              <a:rPr lang="en-US" sz="1100">
                <a:solidFill>
                  <a:srgbClr val="D4D4D4"/>
                </a:solidFill>
                <a:latin typeface="Consolas"/>
              </a:rPr>
              <a:t> &lt; input.age &amp;&amp;
    </a:t>
            </a:r>
            <a:r>
              <a:rPr lang="en-US" sz="1100">
                <a:solidFill>
                  <a:srgbClr val="B5CEA8"/>
                </a:solidFill>
                <a:latin typeface="Consolas"/>
              </a:rPr>
              <a:t>100</a:t>
            </a:r>
            <a:r>
              <a:rPr lang="en-US" sz="1100">
                <a:solidFill>
                  <a:srgbClr val="D4D4D4"/>
                </a:solidFill>
                <a:latin typeface="Consolas"/>
              </a:rPr>
              <a:t> &gt;= input.age
  )
})</a:t>
            </a:r>
          </a:p>
        </p:txBody>
      </p:sp>
      <p:sp>
        <p:nvSpPr>
          <p:cNvPr id="34" name="화살표: 아래쪽 33">
            <a:extLst>
              <a:ext uri="{FF2B5EF4-FFF2-40B4-BE49-F238E27FC236}">
                <a16:creationId xmlns:a16="http://schemas.microsoft.com/office/drawing/2014/main" id="{A5892466-05D4-4295-8D70-333E08009259}"/>
              </a:ext>
            </a:extLst>
          </p:cNvPr>
          <p:cNvSpPr/>
          <p:nvPr/>
        </p:nvSpPr>
        <p:spPr>
          <a:xfrm>
            <a:off x="8331200" y="3131576"/>
            <a:ext cx="635000" cy="381000"/>
          </a:xfrm>
          <a:prstGeom prst="downArrow">
            <a:avLst/>
          </a:prstGeom>
          <a:solidFill>
            <a:srgbClr val="E8A317"/>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712F32BB-8390-4586-AE6E-087056DA5419}"/>
              </a:ext>
            </a:extLst>
          </p:cNvPr>
          <p:cNvSpPr txBox="1"/>
          <p:nvPr/>
        </p:nvSpPr>
        <p:spPr>
          <a:xfrm>
            <a:off x="9042400" y="3131576"/>
            <a:ext cx="1524000" cy="381000"/>
          </a:xfrm>
          <a:prstGeom prst="rect">
            <a:avLst/>
          </a:prstGeom>
          <a:noFill/>
        </p:spPr>
        <p:txBody>
          <a:bodyPr vertOverflow="overflow" vert="horz" wrap="square" rtlCol="0" anchor="ctr" anchorCtr="0">
            <a:noAutofit/>
          </a:bodyPr>
          <a:lstStyle/>
          <a:p>
            <a:pPr algn="l"/>
            <a:r>
              <a:rPr lang="en-US" sz="1600" b="1">
                <a:solidFill>
                  <a:srgbClr val="E8A317"/>
                </a:solidFill>
              </a:rPr>
              <a:t>transform</a:t>
            </a:r>
          </a:p>
        </p:txBody>
      </p:sp>
    </p:spTree>
    <p:extLst>
      <p:ext uri="{BB962C8B-B14F-4D97-AF65-F5344CB8AC3E}">
        <p14:creationId xmlns:p14="http://schemas.microsoft.com/office/powerpoint/2010/main" val="1808921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6F7E1FAF-75C5-FC3D-963F-5F77D744713B}"/>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TL;DR</a:t>
            </a:r>
          </a:p>
        </p:txBody>
      </p:sp>
      <p:sp>
        <p:nvSpPr>
          <p:cNvPr id="3" name="내용 개체 틀 2">
            <a:extLst>
              <a:ext uri="{FF2B5EF4-FFF2-40B4-BE49-F238E27FC236}">
                <a16:creationId xmlns:a16="http://schemas.microsoft.com/office/drawing/2014/main" id="{1C4DE4F3-BCCF-FE54-AE5D-CF4606D911A2}"/>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Function Calling</a:t>
            </a:r>
          </a:p>
          <a:p>
            <a:endParaRPr lang="en-US" dirty="0"/>
          </a:p>
          <a:p>
            <a:r>
              <a:rPr lang="en-US" dirty="0"/>
              <a:t>No ambiguity</a:t>
            </a:r>
          </a:p>
          <a:p>
            <a:r>
              <a:rPr lang="en-US" dirty="0"/>
              <a:t>Model neutral</a:t>
            </a:r>
          </a:p>
          <a:p>
            <a:r>
              <a:rPr lang="en-US" dirty="0"/>
              <a:t>Mechanically Verifiable</a:t>
            </a:r>
          </a:p>
          <a:p>
            <a:r>
              <a:rPr lang="en-US" dirty="0"/>
              <a:t>Deterministically Convergent</a:t>
            </a:r>
          </a:p>
          <a:p>
            <a:endParaRPr lang="en-US" dirty="0"/>
          </a:p>
        </p:txBody>
      </p:sp>
      <p:pic>
        <p:nvPicPr>
          <p:cNvPr id="9" name="내용 개체 틀 8">
            <a:extLst>
              <a:ext uri="{FF2B5EF4-FFF2-40B4-BE49-F238E27FC236}">
                <a16:creationId xmlns:a16="http://schemas.microsoft.com/office/drawing/2014/main" id="{A550F7D4-6F8E-527E-61E1-F261BAE5FE2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35226" r="26607" b="-2"/>
          <a:stretch>
            <a:fillRect/>
          </a:stretch>
        </p:blipFill>
        <p:spPr>
          <a:xfrm>
            <a:off x="8301386" y="243840"/>
            <a:ext cx="3646837" cy="6377939"/>
          </a:xfrm>
          <a:prstGeom prst="rect">
            <a:avLst/>
          </a:prstGeom>
        </p:spPr>
      </p:pic>
      <p:sp>
        <p:nvSpPr>
          <p:cNvPr id="19" name="Rectangle 18">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6350534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3" name="Rectangle 2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E44119D-98CF-2E7F-ABA4-781698F3DAA0}"/>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TL;DR</a:t>
            </a:r>
          </a:p>
        </p:txBody>
      </p:sp>
      <p:sp>
        <p:nvSpPr>
          <p:cNvPr id="3" name="내용 개체 틀 2">
            <a:extLst>
              <a:ext uri="{FF2B5EF4-FFF2-40B4-BE49-F238E27FC236}">
                <a16:creationId xmlns:a16="http://schemas.microsoft.com/office/drawing/2014/main" id="{1E33D8BE-A99B-5643-CE6D-077D2B2ED721}"/>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dirty="0"/>
              <a:t>Qwen Series</a:t>
            </a:r>
          </a:p>
          <a:p>
            <a:pPr lvl="1"/>
            <a:r>
              <a:rPr lang="en-US" dirty="0"/>
              <a:t>The best performance for tool calling</a:t>
            </a:r>
          </a:p>
          <a:p>
            <a:pPr lvl="1"/>
            <a:r>
              <a:rPr lang="en-US" dirty="0"/>
              <a:t>In small/middle size models</a:t>
            </a:r>
          </a:p>
          <a:p>
            <a:pPr lvl="2"/>
            <a:r>
              <a:rPr lang="en-US" dirty="0"/>
              <a:t>qwen3-coder-next (80b-a3b)</a:t>
            </a:r>
          </a:p>
          <a:p>
            <a:pPr lvl="2"/>
            <a:r>
              <a:rPr lang="en-US" dirty="0"/>
              <a:t>qwen3.5-35b-a3b</a:t>
            </a:r>
          </a:p>
          <a:p>
            <a:pPr lvl="2"/>
            <a:r>
              <a:rPr lang="en-US" dirty="0"/>
              <a:t>qwen3.5-24b</a:t>
            </a:r>
          </a:p>
          <a:p>
            <a:pPr lvl="2"/>
            <a:r>
              <a:rPr lang="en-US" dirty="0"/>
              <a:t>qwen3.5-122b-a10b</a:t>
            </a:r>
          </a:p>
          <a:p>
            <a:r>
              <a:rPr lang="en-US" dirty="0"/>
              <a:t>Smaller models are the Best for QA</a:t>
            </a:r>
          </a:p>
          <a:p>
            <a:pPr lvl="1"/>
            <a:r>
              <a:rPr lang="en-US" dirty="0"/>
              <a:t>Take more mistakes</a:t>
            </a:r>
          </a:p>
          <a:p>
            <a:pPr lvl="1"/>
            <a:r>
              <a:rPr lang="en-US" dirty="0"/>
              <a:t>Expose system vulnerabilities</a:t>
            </a:r>
          </a:p>
          <a:p>
            <a:pPr lvl="1"/>
            <a:r>
              <a:rPr lang="en-US" dirty="0"/>
              <a:t>Suitable for debugging</a:t>
            </a:r>
          </a:p>
        </p:txBody>
      </p:sp>
      <p:pic>
        <p:nvPicPr>
          <p:cNvPr id="7" name="내용 개체 틀 6">
            <a:extLst>
              <a:ext uri="{FF2B5EF4-FFF2-40B4-BE49-F238E27FC236}">
                <a16:creationId xmlns:a16="http://schemas.microsoft.com/office/drawing/2014/main" id="{C991E99E-2170-AA7E-758F-E7D5C75FD6AB}"/>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9093" r="42739" b="-2"/>
          <a:stretch>
            <a:fillRect/>
          </a:stretch>
        </p:blipFill>
        <p:spPr>
          <a:xfrm>
            <a:off x="8301386" y="243840"/>
            <a:ext cx="3646837" cy="6377939"/>
          </a:xfrm>
          <a:prstGeom prst="rect">
            <a:avLst/>
          </a:prstGeom>
        </p:spPr>
      </p:pic>
      <p:sp>
        <p:nvSpPr>
          <p:cNvPr id="25" name="Rectangle 2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2255429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5" name="내용 개체 틀 4">
            <a:extLst>
              <a:ext uri="{FF2B5EF4-FFF2-40B4-BE49-F238E27FC236}">
                <a16:creationId xmlns:a16="http://schemas.microsoft.com/office/drawing/2014/main" id="{D2011417-BF60-8960-E3B9-4B0212957168}"/>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15413"/>
          <a:stretch>
            <a:fillRect/>
          </a:stretch>
        </p:blipFill>
        <p:spPr>
          <a:xfrm>
            <a:off x="20" y="10"/>
            <a:ext cx="12191980" cy="6857990"/>
          </a:xfrm>
          <a:prstGeom prst="rect">
            <a:avLst/>
          </a:prstGeom>
        </p:spPr>
      </p:pic>
      <p:sp>
        <p:nvSpPr>
          <p:cNvPr id="29" name="Rectangle 28">
            <a:extLst>
              <a:ext uri="{FF2B5EF4-FFF2-40B4-BE49-F238E27FC236}">
                <a16:creationId xmlns:a16="http://schemas.microsoft.com/office/drawing/2014/main" id="{F60C7704-7D68-4C16-8EA9-2E13DDE0C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alpha val="92000"/>
            </a:schemeClr>
          </a:solidFill>
          <a:ln w="12700">
            <a:solidFill>
              <a:schemeClr val="tx1">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3034AA81-6371-8F31-0BD7-FCBE65BE1E84}"/>
              </a:ext>
            </a:extLst>
          </p:cNvPr>
          <p:cNvSpPr>
            <a:spLocks noGrp="1"/>
          </p:cNvSpPr>
          <p:nvPr>
            <p:ph type="title"/>
          </p:nvPr>
        </p:nvSpPr>
        <p:spPr>
          <a:xfrm>
            <a:off x="1143000" y="609600"/>
            <a:ext cx="9875520" cy="1356360"/>
          </a:xfrm>
        </p:spPr>
        <p:txBody>
          <a:bodyPr vert="horz" lIns="91440" tIns="45720" rIns="91440" bIns="45720" rtlCol="0" anchor="ctr">
            <a:normAutofit/>
          </a:bodyPr>
          <a:lstStyle/>
          <a:p>
            <a:r>
              <a:rPr lang="en-US" dirty="0"/>
              <a:t>1. Preface</a:t>
            </a:r>
          </a:p>
        </p:txBody>
      </p:sp>
      <p:sp>
        <p:nvSpPr>
          <p:cNvPr id="6" name="내용 개체 틀 5">
            <a:extLst>
              <a:ext uri="{FF2B5EF4-FFF2-40B4-BE49-F238E27FC236}">
                <a16:creationId xmlns:a16="http://schemas.microsoft.com/office/drawing/2014/main" id="{8B2ACF5B-317C-63CE-466D-2768FA0EF1EF}"/>
              </a:ext>
            </a:extLst>
          </p:cNvPr>
          <p:cNvSpPr>
            <a:spLocks noGrp="1"/>
          </p:cNvSpPr>
          <p:nvPr>
            <p:ph sz="half" idx="1"/>
          </p:nvPr>
        </p:nvSpPr>
        <p:spPr>
          <a:xfrm>
            <a:off x="1143000" y="2057400"/>
            <a:ext cx="9872871" cy="4038600"/>
          </a:xfrm>
        </p:spPr>
        <p:txBody>
          <a:bodyPr vert="horz" lIns="91440" tIns="45720" rIns="91440" bIns="45720" rtlCol="0">
            <a:normAutofit/>
          </a:bodyPr>
          <a:lstStyle/>
          <a:p>
            <a:r>
              <a:rPr lang="en-US" dirty="0"/>
              <a:t>NESTFUL (EMNLP 2025)</a:t>
            </a:r>
          </a:p>
          <a:p>
            <a:pPr lvl="1"/>
            <a:r>
              <a:rPr lang="en-US" dirty="0"/>
              <a:t>GPT-4o: 28% accuracy on nested tool call sequences</a:t>
            </a:r>
          </a:p>
          <a:p>
            <a:pPr lvl="1"/>
            <a:r>
              <a:rPr lang="en-US" dirty="0">
                <a:hlinkClick r:id="rId5"/>
              </a:rPr>
              <a:t>https://arxiv.org/abs/2409.03797</a:t>
            </a:r>
            <a:endParaRPr lang="en-US" dirty="0"/>
          </a:p>
          <a:p>
            <a:r>
              <a:rPr lang="en-US"/>
              <a:t>JSONSchemaBench</a:t>
            </a:r>
            <a:r>
              <a:rPr lang="en-US" dirty="0"/>
              <a:t> (ICLR 2025)</a:t>
            </a:r>
          </a:p>
          <a:p>
            <a:pPr lvl="1"/>
            <a:r>
              <a:rPr lang="en-US" dirty="0"/>
              <a:t>3~41% </a:t>
            </a:r>
            <a:r>
              <a:rPr lang="en-US"/>
              <a:t>converage</a:t>
            </a:r>
            <a:r>
              <a:rPr lang="en-US" dirty="0"/>
              <a:t> on 10,000 real-world schemas (hardest tier)</a:t>
            </a:r>
          </a:p>
          <a:p>
            <a:pPr lvl="1"/>
            <a:r>
              <a:rPr lang="en-US" dirty="0">
                <a:hlinkClick r:id="rId6"/>
              </a:rPr>
              <a:t>https://arxiv.org/abs/2501.10868</a:t>
            </a:r>
            <a:endParaRPr lang="en-US" dirty="0"/>
          </a:p>
          <a:p>
            <a:r>
              <a:rPr lang="en-US"/>
              <a:t>BoundaryML</a:t>
            </a:r>
            <a:r>
              <a:rPr lang="en-US" dirty="0"/>
              <a:t> (Blog)</a:t>
            </a:r>
          </a:p>
          <a:p>
            <a:pPr lvl="1"/>
            <a:r>
              <a:rPr lang="en-US" dirty="0"/>
              <a:t>Structured outputs actively degrade model reasoning</a:t>
            </a:r>
          </a:p>
          <a:p>
            <a:pPr lvl="1"/>
            <a:r>
              <a:rPr lang="en-US" dirty="0">
                <a:hlinkClick r:id="rId7"/>
              </a:rPr>
              <a:t>https://boundaryml.com/blog/structured-outputs-create-false-confidence</a:t>
            </a:r>
            <a:endParaRPr lang="en-US" dirty="0"/>
          </a:p>
        </p:txBody>
      </p:sp>
    </p:spTree>
    <p:extLst>
      <p:ext uri="{BB962C8B-B14F-4D97-AF65-F5344CB8AC3E}">
        <p14:creationId xmlns:p14="http://schemas.microsoft.com/office/powerpoint/2010/main" val="7311084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10BB0A13-3BEC-0A01-5B45-4B8D50ED58DB}"/>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1. Preface</a:t>
            </a:r>
          </a:p>
        </p:txBody>
      </p:sp>
      <p:pic>
        <p:nvPicPr>
          <p:cNvPr id="9" name="내용 개체 틀 8">
            <a:extLst>
              <a:ext uri="{FF2B5EF4-FFF2-40B4-BE49-F238E27FC236}">
                <a16:creationId xmlns:a16="http://schemas.microsoft.com/office/drawing/2014/main" id="{9CE5FFA4-4316-6ABB-80C9-3BE97DA914AA}"/>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0014" r="22808" b="1"/>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0B2450DD-D731-869C-D857-BF2966BAE39B}"/>
              </a:ext>
            </a:extLst>
          </p:cNvPr>
          <p:cNvSpPr>
            <a:spLocks noGrp="1"/>
          </p:cNvSpPr>
          <p:nvPr>
            <p:ph sz="half" idx="1"/>
          </p:nvPr>
        </p:nvSpPr>
        <p:spPr>
          <a:xfrm>
            <a:off x="4439242" y="2057400"/>
            <a:ext cx="6576629" cy="4038600"/>
          </a:xfrm>
        </p:spPr>
        <p:txBody>
          <a:bodyPr vert="horz" lIns="91440" tIns="45720" rIns="91440" bIns="45720" rtlCol="0">
            <a:normAutofit/>
          </a:bodyPr>
          <a:lstStyle/>
          <a:p>
            <a:r>
              <a:rPr lang="en-US" sz="2000"/>
              <a:t>In Engineering Field,</a:t>
            </a:r>
          </a:p>
          <a:p>
            <a:endParaRPr lang="en-US" sz="2000"/>
          </a:p>
          <a:p>
            <a:r>
              <a:rPr lang="en-US" sz="2000"/>
              <a:t>Free-form text cannot be mechanically verified</a:t>
            </a:r>
          </a:p>
          <a:p>
            <a:r>
              <a:rPr lang="en-US" sz="2000"/>
              <a:t>Without structure, there can't be mechanical feedback</a:t>
            </a:r>
          </a:p>
          <a:p>
            <a:r>
              <a:rPr lang="en-US" sz="2000"/>
              <a:t>Without mechanical feedback, no guarantee</a:t>
            </a:r>
          </a:p>
          <a:p>
            <a:endParaRPr lang="en-US" sz="2000"/>
          </a:p>
          <a:p>
            <a:r>
              <a:rPr lang="en-US" sz="2000"/>
              <a:t>So we have to make function calling work</a:t>
            </a:r>
          </a:p>
          <a:p>
            <a:r>
              <a:rPr lang="en-US" sz="2000"/>
              <a:t>There's no other path for engineering purpose</a:t>
            </a:r>
          </a:p>
        </p:txBody>
      </p:sp>
      <p:sp>
        <p:nvSpPr>
          <p:cNvPr id="27" name="Rectangle 26">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692650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1. Preface</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Function Calling Success Rate for extremely complicate type</a:t>
            </a:r>
          </a:p>
          <a:p>
            <a:pPr lvl="1"/>
            <a:r>
              <a:rPr lang="en-US" dirty="0"/>
              <a:t>Qwen3-coder-next for DTO schema design: 6.75%</a:t>
            </a:r>
          </a:p>
          <a:p>
            <a:pPr lvl="1"/>
            <a:r>
              <a:rPr lang="en-US" dirty="0"/>
              <a:t>GPT 5.4 for API specification reviewing: 9.91%</a:t>
            </a:r>
          </a:p>
          <a:p>
            <a:r>
              <a:rPr lang="en-US" dirty="0"/>
              <a:t>The answer was not a better model or a smarter prompt</a:t>
            </a:r>
          </a:p>
          <a:p>
            <a:pPr lvl="1"/>
            <a:r>
              <a:rPr lang="en-US" dirty="0"/>
              <a:t>It was on the harness engineering</a:t>
            </a:r>
          </a:p>
          <a:p>
            <a:pPr lvl="1"/>
            <a:r>
              <a:rPr lang="en-US" dirty="0"/>
              <a:t>Combined with Compiler Skills</a:t>
            </a:r>
          </a:p>
          <a:p>
            <a:endParaRPr lang="en-US" dirty="0"/>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646245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6F94B7DC-18F5-4439-9488-E5B730BBB3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C745F241-382C-CA91-9CC9-2EE3E34BF765}"/>
              </a:ext>
            </a:extLst>
          </p:cNvPr>
          <p:cNvSpPr>
            <a:spLocks noGrp="1"/>
          </p:cNvSpPr>
          <p:nvPr>
            <p:ph type="title"/>
          </p:nvPr>
        </p:nvSpPr>
        <p:spPr>
          <a:xfrm>
            <a:off x="4439242" y="609600"/>
            <a:ext cx="6579277" cy="1356360"/>
          </a:xfrm>
        </p:spPr>
        <p:txBody>
          <a:bodyPr vert="horz" lIns="91440" tIns="45720" rIns="91440" bIns="45720" rtlCol="0" anchor="ctr">
            <a:normAutofit/>
          </a:bodyPr>
          <a:lstStyle/>
          <a:p>
            <a:r>
              <a:rPr lang="en-US" dirty="0"/>
              <a:t>100%</a:t>
            </a:r>
          </a:p>
        </p:txBody>
      </p:sp>
      <p:pic>
        <p:nvPicPr>
          <p:cNvPr id="15" name="내용 개체 틀 14">
            <a:extLst>
              <a:ext uri="{FF2B5EF4-FFF2-40B4-BE49-F238E27FC236}">
                <a16:creationId xmlns:a16="http://schemas.microsoft.com/office/drawing/2014/main" id="{3A6919A3-5E4D-1621-5F26-71C4468901F3}"/>
              </a:ext>
            </a:extLst>
          </p:cNvPr>
          <p:cNvPicPr>
            <a:picLocks noGrp="1" noChangeAspect="1"/>
          </p:cNvPicPr>
          <p:nvPr>
            <p:ph sz="half" idx="2"/>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29538" r="32294" b="-2"/>
          <a:stretch>
            <a:fillRect/>
          </a:stretch>
        </p:blipFill>
        <p:spPr>
          <a:xfrm>
            <a:off x="232861" y="243840"/>
            <a:ext cx="3646837" cy="6377939"/>
          </a:xfrm>
          <a:prstGeom prst="rect">
            <a:avLst/>
          </a:prstGeom>
        </p:spPr>
      </p:pic>
      <p:sp>
        <p:nvSpPr>
          <p:cNvPr id="3" name="내용 개체 틀 2">
            <a:extLst>
              <a:ext uri="{FF2B5EF4-FFF2-40B4-BE49-F238E27FC236}">
                <a16:creationId xmlns:a16="http://schemas.microsoft.com/office/drawing/2014/main" id="{D623A6D3-0983-F134-05B3-80242D24CCD7}"/>
              </a:ext>
            </a:extLst>
          </p:cNvPr>
          <p:cNvSpPr>
            <a:spLocks noGrp="1"/>
          </p:cNvSpPr>
          <p:nvPr>
            <p:ph sz="half" idx="1"/>
          </p:nvPr>
        </p:nvSpPr>
        <p:spPr>
          <a:xfrm>
            <a:off x="4439242" y="2057400"/>
            <a:ext cx="7388485" cy="4038600"/>
          </a:xfrm>
        </p:spPr>
        <p:txBody>
          <a:bodyPr vert="horz" lIns="91440" tIns="45720" rIns="91440" bIns="45720" rtlCol="0">
            <a:normAutofit/>
          </a:bodyPr>
          <a:lstStyle/>
          <a:p>
            <a:r>
              <a:rPr lang="en-US" dirty="0"/>
              <a:t>Compilation success — all four Qwen models</a:t>
            </a:r>
          </a:p>
          <a:p>
            <a:endParaRPr lang="en-US" dirty="0"/>
          </a:p>
          <a:p>
            <a:r>
              <a:rPr lang="en-US" dirty="0"/>
              <a:t>The answer was not a better model or a smarter prompt.</a:t>
            </a:r>
          </a:p>
          <a:p>
            <a:r>
              <a:rPr lang="en-US" b="1" dirty="0"/>
              <a:t>It was a harness.</a:t>
            </a:r>
          </a:p>
          <a:p>
            <a:endParaRPr lang="en-US" dirty="0"/>
          </a:p>
          <a:p>
            <a:r>
              <a:rPr lang="en-US" dirty="0"/>
              <a:t>Type schemas that constrain</a:t>
            </a:r>
          </a:p>
          <a:p>
            <a:r>
              <a:rPr lang="en-US" dirty="0"/>
              <a:t>+ compilers that verify</a:t>
            </a:r>
          </a:p>
          <a:p>
            <a:r>
              <a:rPr lang="en-US" dirty="0"/>
              <a:t>+ feedback that corrects</a:t>
            </a:r>
          </a:p>
        </p:txBody>
      </p:sp>
      <p:sp>
        <p:nvSpPr>
          <p:cNvPr id="24" name="Rectangle 23">
            <a:extLst>
              <a:ext uri="{FF2B5EF4-FFF2-40B4-BE49-F238E27FC236}">
                <a16:creationId xmlns:a16="http://schemas.microsoft.com/office/drawing/2014/main" id="{F4861B3C-221F-4FEE-BC20-58155E285C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440122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94F6BCA3-D77A-2C83-4220-DA6D396D56F3}"/>
              </a:ext>
            </a:extLst>
          </p:cNvPr>
          <p:cNvSpPr>
            <a:spLocks noGrp="1"/>
          </p:cNvSpPr>
          <p:nvPr>
            <p:ph type="title"/>
          </p:nvPr>
        </p:nvSpPr>
        <p:spPr/>
        <p:txBody>
          <a:bodyPr/>
          <a:lstStyle/>
          <a:p>
            <a:r>
              <a:rPr lang="en-US" dirty="0" err="1"/>
              <a:t>AutoBe</a:t>
            </a:r>
            <a:endParaRPr lang="en-US" dirty="0"/>
          </a:p>
        </p:txBody>
      </p:sp>
      <p:sp>
        <p:nvSpPr>
          <p:cNvPr id="5" name="텍스트 개체 틀 4">
            <a:extLst>
              <a:ext uri="{FF2B5EF4-FFF2-40B4-BE49-F238E27FC236}">
                <a16:creationId xmlns:a16="http://schemas.microsoft.com/office/drawing/2014/main" id="{F21A9C84-B10D-A982-2F57-31A2A4DFE2F8}"/>
              </a:ext>
            </a:extLst>
          </p:cNvPr>
          <p:cNvSpPr>
            <a:spLocks noGrp="1"/>
          </p:cNvSpPr>
          <p:nvPr>
            <p:ph type="body" idx="1"/>
          </p:nvPr>
        </p:nvSpPr>
        <p:spPr/>
        <p:txBody>
          <a:bodyPr/>
          <a:lstStyle/>
          <a:p>
            <a:r>
              <a:rPr lang="en-US" dirty="0"/>
              <a:t>AI Backend Auto-Generation Agent</a:t>
            </a:r>
          </a:p>
          <a:p>
            <a:r>
              <a:rPr lang="en-US" dirty="0"/>
              <a:t>Don’t write text code, but make AST structured data</a:t>
            </a:r>
          </a:p>
        </p:txBody>
      </p:sp>
    </p:spTree>
    <p:extLst>
      <p:ext uri="{BB962C8B-B14F-4D97-AF65-F5344CB8AC3E}">
        <p14:creationId xmlns:p14="http://schemas.microsoft.com/office/powerpoint/2010/main" val="17346357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79E2A4-24E2-51F7-AF8E-3DD5EF17CC83}"/>
              </a:ext>
            </a:extLst>
          </p:cNvPr>
          <p:cNvSpPr>
            <a:spLocks noGrp="1"/>
          </p:cNvSpPr>
          <p:nvPr>
            <p:ph type="title"/>
          </p:nvPr>
        </p:nvSpPr>
        <p:spPr/>
        <p:txBody>
          <a:bodyPr/>
          <a:lstStyle/>
          <a:p>
            <a:r>
              <a:rPr lang="en-US" dirty="0"/>
              <a:t>2.1. What </a:t>
            </a:r>
            <a:r>
              <a:rPr lang="en-US" dirty="0" err="1"/>
              <a:t>AutoBe</a:t>
            </a:r>
            <a:r>
              <a:rPr lang="en-US" dirty="0"/>
              <a:t> Does</a:t>
            </a:r>
          </a:p>
        </p:txBody>
      </p:sp>
      <p:sp>
        <p:nvSpPr>
          <p:cNvPr id="3" name="내용 개체 틀 2">
            <a:extLst>
              <a:ext uri="{FF2B5EF4-FFF2-40B4-BE49-F238E27FC236}">
                <a16:creationId xmlns:a16="http://schemas.microsoft.com/office/drawing/2014/main" id="{FC1ECA45-DEAE-12CC-50B8-CB8E3111D8EF}"/>
              </a:ext>
            </a:extLst>
          </p:cNvPr>
          <p:cNvSpPr>
            <a:spLocks noGrp="1"/>
          </p:cNvSpPr>
          <p:nvPr>
            <p:ph idx="1"/>
          </p:nvPr>
        </p:nvSpPr>
        <p:spPr/>
        <p:txBody>
          <a:bodyPr/>
          <a:lstStyle/>
          <a:p>
            <a:r>
              <a:rPr lang="en-US" dirty="0"/>
              <a:t>Build an e-commerce backend with products, carts, orders, and payments</a:t>
            </a:r>
          </a:p>
          <a:p>
            <a:endParaRPr lang="en-US" dirty="0"/>
          </a:p>
          <a:p>
            <a:r>
              <a:rPr lang="en-US" dirty="0"/>
              <a:t>Requirements Analysis (SRS)</a:t>
            </a:r>
          </a:p>
          <a:p>
            <a:r>
              <a:rPr lang="en-US" dirty="0"/>
              <a:t>Database Schema (ERD)</a:t>
            </a:r>
          </a:p>
          <a:p>
            <a:r>
              <a:rPr lang="en-US" dirty="0"/>
              <a:t>API Specification (OpenAPI v3.2)</a:t>
            </a:r>
          </a:p>
          <a:p>
            <a:r>
              <a:rPr lang="en-US" dirty="0"/>
              <a:t>E2E test code</a:t>
            </a:r>
          </a:p>
          <a:p>
            <a:r>
              <a:rPr lang="en-US" dirty="0"/>
              <a:t>Implementation code</a:t>
            </a:r>
          </a:p>
          <a:p>
            <a:r>
              <a:rPr lang="en-US" dirty="0"/>
              <a:t>Type-safe SDK for clients</a:t>
            </a:r>
          </a:p>
        </p:txBody>
      </p:sp>
    </p:spTree>
    <p:extLst>
      <p:ext uri="{BB962C8B-B14F-4D97-AF65-F5344CB8AC3E}">
        <p14:creationId xmlns:p14="http://schemas.microsoft.com/office/powerpoint/2010/main" val="10536203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 name="Rectangle 10">
            <a:extLst>
              <a:ext uri="{FF2B5EF4-FFF2-40B4-BE49-F238E27FC236}">
                <a16:creationId xmlns:a16="http://schemas.microsoft.com/office/drawing/2014/main" id="{29E7461E-D3EF-467C-90B0-A07159CA65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2" name="Rectangle 12">
            <a:extLst>
              <a:ext uri="{FF2B5EF4-FFF2-40B4-BE49-F238E27FC236}">
                <a16:creationId xmlns:a16="http://schemas.microsoft.com/office/drawing/2014/main" id="{6187544F-2A96-4442-9598-104754EE6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3" name="Straight Connector 14">
            <a:extLst>
              <a:ext uri="{FF2B5EF4-FFF2-40B4-BE49-F238E27FC236}">
                <a16:creationId xmlns:a16="http://schemas.microsoft.com/office/drawing/2014/main" id="{9288961F-689B-486C-86C4-49DA3F389C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54" name="Rectangle 16">
            <a:extLst>
              <a:ext uri="{FF2B5EF4-FFF2-40B4-BE49-F238E27FC236}">
                <a16:creationId xmlns:a16="http://schemas.microsoft.com/office/drawing/2014/main" id="{4C4A1CEC-4439-473B-9939-B12503C5EF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5" name="Rectangle 18">
            <a:extLst>
              <a:ext uri="{FF2B5EF4-FFF2-40B4-BE49-F238E27FC236}">
                <a16:creationId xmlns:a16="http://schemas.microsoft.com/office/drawing/2014/main" id="{BF85B2CC-AADA-4F42-9F7B-0A4FA3F6CC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4206240"/>
            <a:ext cx="11724640" cy="24155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56" name="Straight Connector 20">
            <a:extLst>
              <a:ext uri="{FF2B5EF4-FFF2-40B4-BE49-F238E27FC236}">
                <a16:creationId xmlns:a16="http://schemas.microsoft.com/office/drawing/2014/main" id="{DD2BE13A-A3B2-4E96-99FC-10C36EDABA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60048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제목 1">
            <a:extLst>
              <a:ext uri="{FF2B5EF4-FFF2-40B4-BE49-F238E27FC236}">
                <a16:creationId xmlns:a16="http://schemas.microsoft.com/office/drawing/2014/main" id="{C12656B8-760A-1BBD-D402-58043E935642}"/>
              </a:ext>
            </a:extLst>
          </p:cNvPr>
          <p:cNvSpPr>
            <a:spLocks noGrp="1"/>
          </p:cNvSpPr>
          <p:nvPr>
            <p:ph type="title"/>
          </p:nvPr>
        </p:nvSpPr>
        <p:spPr>
          <a:xfrm>
            <a:off x="1109980" y="4347758"/>
            <a:ext cx="9966960" cy="1325880"/>
          </a:xfrm>
        </p:spPr>
        <p:txBody>
          <a:bodyPr vert="horz" lIns="91440" tIns="45720" rIns="91440" bIns="45720" rtlCol="0" anchor="b">
            <a:noAutofit/>
          </a:bodyPr>
          <a:lstStyle/>
          <a:p>
            <a:pPr algn="ctr">
              <a:lnSpc>
                <a:spcPct val="85000"/>
              </a:lnSpc>
            </a:pPr>
            <a:r>
              <a:rPr lang="en-US" sz="4000" b="1" cap="all" dirty="0"/>
              <a:t>2.2. LLMs Don’t Write Code</a:t>
            </a:r>
          </a:p>
        </p:txBody>
      </p:sp>
      <p:sp>
        <p:nvSpPr>
          <p:cNvPr id="5" name="TextBox 4">
            <a:extLst>
              <a:ext uri="{FF2B5EF4-FFF2-40B4-BE49-F238E27FC236}">
                <a16:creationId xmlns:a16="http://schemas.microsoft.com/office/drawing/2014/main" id="{1AAF1E83-0BB9-65EB-B3F4-C9025B81592E}"/>
              </a:ext>
            </a:extLst>
          </p:cNvPr>
          <p:cNvSpPr txBox="1"/>
          <p:nvPr/>
        </p:nvSpPr>
        <p:spPr>
          <a:xfrm>
            <a:off x="1709530" y="5644392"/>
            <a:ext cx="8767860" cy="509519"/>
          </a:xfrm>
          <a:prstGeom prst="rect">
            <a:avLst/>
          </a:prstGeom>
        </p:spPr>
        <p:txBody>
          <a:bodyPr vert="horz" lIns="91440" tIns="45720" rIns="91440" bIns="45720" rtlCol="0">
            <a:normAutofit/>
          </a:bodyPr>
          <a:lstStyle/>
          <a:p>
            <a:pPr algn="ctr" defTabSz="914400">
              <a:lnSpc>
                <a:spcPct val="90000"/>
              </a:lnSpc>
              <a:spcBef>
                <a:spcPts val="1400"/>
              </a:spcBef>
              <a:buClr>
                <a:schemeClr val="tx1"/>
              </a:buClr>
              <a:buSzPct val="80000"/>
            </a:pPr>
            <a:r>
              <a:rPr lang="en-US" sz="2000" dirty="0"/>
              <a:t>The LLM fills structures. Compilers write code.</a:t>
            </a:r>
          </a:p>
        </p:txBody>
      </p:sp>
      <p:graphicFrame>
        <p:nvGraphicFramePr>
          <p:cNvPr id="6" name="내용 개체 틀 5">
            <a:extLst>
              <a:ext uri="{FF2B5EF4-FFF2-40B4-BE49-F238E27FC236}">
                <a16:creationId xmlns:a16="http://schemas.microsoft.com/office/drawing/2014/main" id="{A1FC1DE9-C94C-BE10-0747-6F18563EE280}"/>
              </a:ext>
            </a:extLst>
          </p:cNvPr>
          <p:cNvGraphicFramePr>
            <a:graphicFrameLocks noGrp="1"/>
          </p:cNvGraphicFramePr>
          <p:nvPr>
            <p:ph idx="1"/>
          </p:nvPr>
        </p:nvGraphicFramePr>
        <p:xfrm>
          <a:off x="933385" y="741172"/>
          <a:ext cx="10325231" cy="3279648"/>
        </p:xfrm>
        <a:graphic>
          <a:graphicData uri="http://schemas.openxmlformats.org/drawingml/2006/table">
            <a:tbl>
              <a:tblPr firstRow="1" bandRow="1">
                <a:noFill/>
                <a:tableStyleId>{5C22544A-7EE6-4342-B048-85BDC9FD1C3A}</a:tableStyleId>
              </a:tblPr>
              <a:tblGrid>
                <a:gridCol w="1888722">
                  <a:extLst>
                    <a:ext uri="{9D8B030D-6E8A-4147-A177-3AD203B41FA5}">
                      <a16:colId xmlns:a16="http://schemas.microsoft.com/office/drawing/2014/main" val="2197739396"/>
                    </a:ext>
                  </a:extLst>
                </a:gridCol>
                <a:gridCol w="2638776">
                  <a:extLst>
                    <a:ext uri="{9D8B030D-6E8A-4147-A177-3AD203B41FA5}">
                      <a16:colId xmlns:a16="http://schemas.microsoft.com/office/drawing/2014/main" val="3096524490"/>
                    </a:ext>
                  </a:extLst>
                </a:gridCol>
                <a:gridCol w="5797733">
                  <a:extLst>
                    <a:ext uri="{9D8B030D-6E8A-4147-A177-3AD203B41FA5}">
                      <a16:colId xmlns:a16="http://schemas.microsoft.com/office/drawing/2014/main" val="571538464"/>
                    </a:ext>
                  </a:extLst>
                </a:gridCol>
              </a:tblGrid>
              <a:tr h="586918">
                <a:tc>
                  <a:txBody>
                    <a:bodyPr/>
                    <a:lstStyle/>
                    <a:p>
                      <a:r>
                        <a:rPr lang="en-US" sz="1700" b="0" cap="all" spc="150">
                          <a:solidFill>
                            <a:schemeClr val="lt1"/>
                          </a:solidFill>
                        </a:rPr>
                        <a:t>Phase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AST Type</a:t>
                      </a:r>
                    </a:p>
                  </a:txBody>
                  <a:tcPr marL="145117" marR="145117" marT="145117" marB="145117">
                    <a:lnL w="12700" cmpd="sng">
                      <a:noFill/>
                    </a:lnL>
                    <a:lnR w="12700" cmpd="sng">
                      <a:noFill/>
                    </a:lnR>
                    <a:lnT w="12700" cmpd="sng">
                      <a:noFill/>
                    </a:lnT>
                    <a:lnB w="38100" cmpd="sng">
                      <a:noFill/>
                    </a:lnB>
                    <a:solidFill>
                      <a:srgbClr val="505356"/>
                    </a:solidFill>
                  </a:tcPr>
                </a:tc>
                <a:tc>
                  <a:txBody>
                    <a:bodyPr/>
                    <a:lstStyle/>
                    <a:p>
                      <a:r>
                        <a:rPr lang="en-US" sz="1700" b="0" cap="all" spc="150">
                          <a:solidFill>
                            <a:schemeClr val="lt1"/>
                          </a:solidFill>
                        </a:rPr>
                        <a:t>Description</a:t>
                      </a:r>
                    </a:p>
                  </a:txBody>
                  <a:tcPr marL="145117" marR="145117" marT="145117" marB="145117">
                    <a:lnL w="12700" cmpd="sng">
                      <a:noFill/>
                    </a:lnL>
                    <a:lnR w="12700" cmpd="sng">
                      <a:noFill/>
                    </a:lnR>
                    <a:lnT w="12700" cmpd="sng">
                      <a:noFill/>
                    </a:lnT>
                    <a:lnB w="38100" cmpd="sng">
                      <a:noFill/>
                    </a:lnB>
                    <a:solidFill>
                      <a:srgbClr val="505356"/>
                    </a:solidFill>
                  </a:tcPr>
                </a:tc>
                <a:extLst>
                  <a:ext uri="{0D108BD9-81ED-4DB2-BD59-A6C34878D82A}">
                    <a16:rowId xmlns:a16="http://schemas.microsoft.com/office/drawing/2014/main" val="3887477869"/>
                  </a:ext>
                </a:extLst>
              </a:tr>
              <a:tr h="538546">
                <a:tc>
                  <a:txBody>
                    <a:bodyPr/>
                    <a:lstStyle/>
                    <a:p>
                      <a:r>
                        <a:rPr lang="en-US" sz="1400" cap="none" spc="0">
                          <a:solidFill>
                            <a:schemeClr val="tx1"/>
                          </a:solidFill>
                        </a:rPr>
                        <a:t>Analyze</a:t>
                      </a: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u="none" cap="none" spc="0" dirty="0">
                          <a:solidFill>
                            <a:schemeClr val="tx1"/>
                          </a:solidFill>
                          <a:hlinkClick r:id="rId3"/>
                        </a:rPr>
                        <a:t>AutoBeAnalyze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38100" cmpd="sng">
                      <a:noFill/>
                    </a:lnT>
                    <a:lnB w="12700" cmpd="sng">
                      <a:noFill/>
                      <a:prstDash val="solid"/>
                    </a:lnB>
                    <a:noFill/>
                  </a:tcPr>
                </a:tc>
                <a:tc>
                  <a:txBody>
                    <a:bodyPr/>
                    <a:lstStyle/>
                    <a:p>
                      <a:r>
                        <a:rPr lang="en-US" sz="1400" cap="none" spc="0">
                          <a:solidFill>
                            <a:schemeClr val="tx1"/>
                          </a:solidFill>
                        </a:rPr>
                        <a:t>Structured SRS (</a:t>
                      </a:r>
                      <a:r>
                        <a:rPr lang="en-US" sz="1400" cap="none" spc="0" err="1">
                          <a:solidFill>
                            <a:schemeClr val="tx1"/>
                          </a:solidFill>
                        </a:rPr>
                        <a:t>Software</a:t>
                      </a:r>
                      <a:r>
                        <a:rPr lang="en-US" sz="1400" cap="none" spc="0">
                          <a:solidFill>
                            <a:schemeClr val="tx1"/>
                          </a:solidFill>
                        </a:rPr>
                        <a:t> Requirements Specification)</a:t>
                      </a:r>
                    </a:p>
                  </a:txBody>
                  <a:tcPr marL="145117" marR="145117" marT="145117" marB="145117">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4069786596"/>
                  </a:ext>
                </a:extLst>
              </a:tr>
              <a:tr h="538546">
                <a:tc>
                  <a:txBody>
                    <a:bodyPr/>
                    <a:lstStyle/>
                    <a:p>
                      <a:r>
                        <a:rPr lang="en-US" sz="1400" cap="none" spc="0">
                          <a:solidFill>
                            <a:schemeClr val="tx1"/>
                          </a:solidFill>
                        </a:rPr>
                        <a:t>Database</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4"/>
                        </a:rPr>
                        <a:t>AutoBeDatabase</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dirty="0">
                          <a:solidFill>
                            <a:schemeClr val="tx1"/>
                          </a:solidFill>
                        </a:rPr>
                        <a:t>Database Compiler ensuring Integrity</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4213482767"/>
                  </a:ext>
                </a:extLst>
              </a:tr>
              <a:tr h="538546">
                <a:tc>
                  <a:txBody>
                    <a:bodyPr/>
                    <a:lstStyle/>
                    <a:p>
                      <a:r>
                        <a:rPr lang="en-US" sz="1400" cap="none" spc="0">
                          <a:solidFill>
                            <a:schemeClr val="tx1"/>
                          </a:solidFill>
                        </a:rPr>
                        <a:t>Interface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u="none" cap="none" spc="0" dirty="0">
                          <a:solidFill>
                            <a:schemeClr val="tx1"/>
                          </a:solidFill>
                          <a:hlinkClick r:id="rId5"/>
                        </a:rPr>
                        <a:t>AutoBeOpenApi</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OpenAPI Compiler for API &amp; DTO Generation</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68858939"/>
                  </a:ext>
                </a:extLst>
              </a:tr>
              <a:tr h="538546">
                <a:tc>
                  <a:txBody>
                    <a:bodyPr/>
                    <a:lstStyle/>
                    <a:p>
                      <a:r>
                        <a:rPr lang="en-US" sz="1400" cap="none" spc="0">
                          <a:solidFill>
                            <a:schemeClr val="tx1"/>
                          </a:solidFill>
                        </a:rPr>
                        <a:t>Test</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u="none" cap="none" spc="0" dirty="0">
                          <a:solidFill>
                            <a:schemeClr val="tx1"/>
                          </a:solidFill>
                          <a:hlinkClick r:id="rId6"/>
                        </a:rPr>
                        <a:t>AutoBeTest</a:t>
                      </a:r>
                      <a:endParaRPr lang="en-US" sz="1400" u="none" cap="none" spc="0" dirty="0">
                        <a:solidFill>
                          <a:schemeClr val="tx1"/>
                        </a:solidFill>
                      </a:endParaRP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tc>
                  <a:txBody>
                    <a:bodyPr/>
                    <a:lstStyle/>
                    <a:p>
                      <a:r>
                        <a:rPr lang="en-US" sz="1400" cap="none" spc="0">
                          <a:solidFill>
                            <a:schemeClr val="tx1"/>
                          </a:solidFill>
                        </a:rPr>
                        <a:t>Test Compiler for API E2E Testing</a:t>
                      </a:r>
                    </a:p>
                  </a:txBody>
                  <a:tcPr marL="145117" marR="145117" marT="145117" marB="145117">
                    <a:lnL w="12700" cmpd="sng">
                      <a:noFill/>
                      <a:prstDash val="solid"/>
                    </a:lnL>
                    <a:lnR w="12700" cmpd="sng">
                      <a:noFill/>
                      <a:prstDash val="solid"/>
                    </a:lnR>
                    <a:lnT w="12700" cmpd="sng">
                      <a:noFill/>
                      <a:prstDash val="solid"/>
                    </a:lnT>
                    <a:lnB w="12700" cmpd="sng">
                      <a:noFill/>
                      <a:prstDash val="solid"/>
                    </a:lnB>
                    <a:solidFill>
                      <a:srgbClr val="000000">
                        <a:alpha val="7843"/>
                      </a:srgbClr>
                    </a:solidFill>
                  </a:tcPr>
                </a:tc>
                <a:extLst>
                  <a:ext uri="{0D108BD9-81ED-4DB2-BD59-A6C34878D82A}">
                    <a16:rowId xmlns:a16="http://schemas.microsoft.com/office/drawing/2014/main" val="2232306712"/>
                  </a:ext>
                </a:extLst>
              </a:tr>
              <a:tr h="538546">
                <a:tc>
                  <a:txBody>
                    <a:bodyPr/>
                    <a:lstStyle/>
                    <a:p>
                      <a:r>
                        <a:rPr lang="en-US" sz="1400" cap="none" spc="0">
                          <a:solidFill>
                            <a:schemeClr val="tx1"/>
                          </a:solidFill>
                        </a:rPr>
                        <a:t>Realize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Modular Code</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400" cap="none" spc="0" dirty="0">
                          <a:solidFill>
                            <a:schemeClr val="tx1"/>
                          </a:solidFill>
                        </a:rPr>
                        <a:t>TypeScript Compiler</a:t>
                      </a:r>
                    </a:p>
                  </a:txBody>
                  <a:tcPr marL="145117" marR="145117" marT="145117" marB="145117">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832388765"/>
                  </a:ext>
                </a:extLst>
              </a:tr>
            </a:tbl>
          </a:graphicData>
        </a:graphic>
      </p:graphicFrame>
    </p:spTree>
    <p:extLst>
      <p:ext uri="{BB962C8B-B14F-4D97-AF65-F5344CB8AC3E}">
        <p14:creationId xmlns:p14="http://schemas.microsoft.com/office/powerpoint/2010/main" val="17011330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D1117">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0" tIns="0" rIns="0" bIns="0" anchor="b"/>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The Forms Are Not Simple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0" tIns="0" rIns="0" bIns="0" anchor="t"/>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808080"/>
                </a:solidFill>
                <a:effectLst/>
                <a:uLnTx/>
                <a:uFillTx/>
                <a:latin typeface="Segoe UI"/>
                <a:ea typeface="+mn-ea"/>
                <a:cs typeface="+mn-cs"/>
              </a:rPr>
              <a:t>IJsonSchema: 10 variants, infinitely recursive nesting</a:t>
            </a:r>
          </a:p>
        </p:txBody>
      </p:sp>
      <p:sp>
        <p:nvSpPr>
          <p:cNvPr id="12" name="CodeBg"/>
          <p:cNvSpPr/>
          <p:nvPr/>
        </p:nvSpPr>
        <p:spPr>
          <a:xfrm>
            <a:off x="508000" y="1270000"/>
            <a:ext cx="11176000" cy="4445000"/>
          </a:xfrm>
          <a:prstGeom prst="roundRect">
            <a:avLst>
              <a:gd name="adj" fmla="val 4000"/>
            </a:avLst>
          </a:prstGeom>
          <a:solidFill>
            <a:srgbClr val="1E1E1E"/>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3" name="Code"/>
          <p:cNvSpPr/>
          <p:nvPr/>
        </p:nvSpPr>
        <p:spPr>
          <a:xfrm>
            <a:off x="762000" y="1422400"/>
            <a:ext cx="10795000" cy="4191000"/>
          </a:xfrm>
          <a:prstGeom prst="rect">
            <a:avLst/>
          </a:prstGeom>
          <a:noFill/>
          <a:ln>
            <a:noFill/>
          </a:ln>
        </p:spPr>
        <p:txBody>
          <a:bodyPr wrap="square" lIns="127000" tIns="101600" rIns="127000" bIns="101600" anchor="t"/>
          <a:lstStyle/>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IJsonSchema.IConstant</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IJsonSchema.IBoolean</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IJsonSchema.IInteger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IJsonSchema.INumber</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IJsonSchema.IString</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IJsonSchema.IArray</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items: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IJsonSchema.IObject</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properties: Record&lt;string, </a:t>
            </a:r>
            <a:r>
              <a:rPr kumimoji="0" lang="en-US" sz="1800" b="0" i="0" u="sng" strike="noStrike" kern="1200" cap="none" spc="0" normalizeH="0" baseline="0" noProof="0" dirty="0" err="1">
                <a:ln>
                  <a:noFill/>
                </a:ln>
                <a:solidFill>
                  <a:srgbClr val="6A9955"/>
                </a:solidFill>
                <a:effectLst/>
                <a:uLnTx/>
                <a:uFillTx/>
                <a:latin typeface="Consolas"/>
                <a:ea typeface="+mn-ea"/>
                <a:cs typeface="+mn-cs"/>
              </a:rPr>
              <a:t>IJsonSchema</a:t>
            </a:r>
            <a:r>
              <a:rPr kumimoji="0" lang="en-US" sz="1800" b="0" i="0" u="sng" strike="noStrike" kern="1200" cap="none" spc="0" normalizeH="0" baseline="0" noProof="0" dirty="0">
                <a:ln>
                  <a:noFill/>
                </a:ln>
                <a:solidFill>
                  <a:srgbClr val="6A9955"/>
                </a:solidFill>
                <a:effectLst/>
                <a:uLnTx/>
                <a:uFillTx/>
                <a:latin typeface="Consolas"/>
                <a:ea typeface="+mn-ea"/>
                <a:cs typeface="+mn-cs"/>
              </a:rPr>
              <a:t>&gt;</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IJsonSchema.IReference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IJsonSchema.IOneOf</a:t>
            </a: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6A9955"/>
                </a:solidFill>
                <a:effectLst/>
                <a:uLnTx/>
                <a:uFillTx/>
                <a:latin typeface="Consolas"/>
                <a:ea typeface="+mn-ea"/>
                <a:cs typeface="+mn-cs"/>
              </a:rPr>
              <a:t>// </a:t>
            </a:r>
            <a:r>
              <a:rPr kumimoji="0" lang="en-US" sz="1800" b="0" i="0" u="sng" strike="noStrike" kern="1200" cap="none" spc="0" normalizeH="0" baseline="0" noProof="0" dirty="0">
                <a:ln>
                  <a:noFill/>
                </a:ln>
                <a:solidFill>
                  <a:srgbClr val="6A9955"/>
                </a:solidFill>
                <a:effectLst/>
                <a:uLnTx/>
                <a:uFillTx/>
                <a:latin typeface="Consolas"/>
                <a:ea typeface="+mn-ea"/>
                <a:cs typeface="+mn-cs"/>
              </a:rPr>
              <a:t>oneOf: IJsonSchema[]</a:t>
            </a:r>
            <a:r>
              <a:rPr kumimoji="0" lang="en-US" sz="1800" b="0" i="0" u="none" strike="noStrike" kern="1200" cap="none" spc="0" normalizeH="0" baseline="0" noProof="0" dirty="0">
                <a:ln>
                  <a:noFill/>
                </a:ln>
                <a:solidFill>
                  <a:srgbClr val="6A9955"/>
                </a:solidFill>
                <a:effectLst/>
                <a:uLnTx/>
                <a:uFillTx/>
                <a:latin typeface="Consolas"/>
                <a:ea typeface="+mn-ea"/>
                <a:cs typeface="+mn-cs"/>
              </a:rPr>
              <a:t> ← recursive</a:t>
            </a:r>
          </a:p>
          <a:p>
            <a:pPr marL="0" marR="0" lvl="0" indent="0" algn="l" defTabSz="457200" rtl="0" eaLnBrk="1" fontAlgn="auto" latinLnBrk="0" hangingPunct="1">
              <a:lnSpc>
                <a:spcPts val="28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4D4D4"/>
                </a:solidFill>
                <a:effectLst/>
                <a:uLnTx/>
                <a:uFillTx/>
                <a:latin typeface="Consolas"/>
                <a:ea typeface="+mn-ea"/>
                <a:cs typeface="+mn-cs"/>
              </a:rPr>
              <a:t>  </a:t>
            </a:r>
            <a:r>
              <a:rPr kumimoji="0" lang="en-US" sz="1800" b="0" i="0" u="none" strike="noStrike" kern="1200" cap="none" spc="0" normalizeH="0" baseline="0" noProof="0" dirty="0">
                <a:ln>
                  <a:noFill/>
                </a:ln>
                <a:solidFill>
                  <a:srgbClr val="C586C0"/>
                </a:solidFill>
                <a:effectLst/>
                <a:uLnTx/>
                <a:uFillTx/>
                <a:latin typeface="Consolas"/>
                <a:ea typeface="+mn-ea"/>
                <a:cs typeface="+mn-cs"/>
              </a:rPr>
              <a:t>| </a:t>
            </a:r>
            <a:r>
              <a:rPr kumimoji="0" lang="en-US" sz="1800" b="0" i="0" u="none" strike="noStrike" kern="1200" cap="none" spc="0" normalizeH="0" baseline="0" noProof="0" dirty="0">
                <a:ln>
                  <a:noFill/>
                </a:ln>
                <a:solidFill>
                  <a:srgbClr val="4EC9B0"/>
                </a:solidFill>
                <a:effectLst/>
                <a:uLnTx/>
                <a:uFillTx/>
                <a:latin typeface="Consolas"/>
                <a:ea typeface="+mn-ea"/>
                <a:cs typeface="+mn-cs"/>
              </a:rPr>
              <a:t>IJsonSchema.INull</a:t>
            </a:r>
            <a:r>
              <a:rPr kumimoji="0" lang="en-US" sz="18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4" name="Badge"/>
          <p:cNvSpPr/>
          <p:nvPr/>
        </p:nvSpPr>
        <p:spPr>
          <a:xfrm>
            <a:off x="1270000" y="5867400"/>
            <a:ext cx="9652000" cy="508000"/>
          </a:xfrm>
          <a:prstGeom prst="roundRect">
            <a:avLst>
              <a:gd name="adj" fmla="val 20000"/>
            </a:avLst>
          </a:prstGeom>
          <a:solidFill>
            <a:srgbClr val="FF6B6B">
              <a:alpha val="15000"/>
            </a:srgbClr>
          </a:solidFill>
          <a:ln w="9525">
            <a:solidFill>
              <a:srgbClr val="FF6B6B">
                <a:alpha val="50000"/>
              </a:srgbClr>
            </a:solidFill>
          </a:ln>
        </p:spPr>
        <p:txBody>
          <a:bodyPr wrap="square"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6B6B"/>
                </a:solidFill>
                <a:effectLst/>
                <a:uLnTx/>
                <a:uFillTx/>
                <a:latin typeface="Segoe UI Semibold"/>
                <a:ea typeface="+mn-ea"/>
                <a:cs typeface="+mn-cs"/>
              </a:rPr>
              <a:t>First-try success rate: 6.75%</a:t>
            </a:r>
            <a:r>
              <a:rPr kumimoji="0" lang="en-US" sz="1800" b="0" i="0" u="none" strike="noStrike" kern="1200" cap="none" spc="0" normalizeH="0" baseline="0" noProof="0" dirty="0">
                <a:ln>
                  <a:noFill/>
                </a:ln>
                <a:solidFill>
                  <a:srgbClr val="A0A0A0"/>
                </a:solidFill>
                <a:effectLst/>
                <a:uLnTx/>
                <a:uFillTx/>
                <a:latin typeface="Segoe UI"/>
                <a:ea typeface="+mn-ea"/>
                <a:cs typeface="+mn-cs"/>
              </a:rPr>
              <a:t>  —  10 variants × recursive nesting = combinatorial explosion</a:t>
            </a:r>
          </a:p>
        </p:txBody>
      </p:sp>
    </p:spTree>
    <p:extLst>
      <p:ext uri="{BB962C8B-B14F-4D97-AF65-F5344CB8AC3E}">
        <p14:creationId xmlns:p14="http://schemas.microsoft.com/office/powerpoint/2010/main" val="1252896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17500"/>
            <a:ext cx="10668000" cy="508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fr-FR" sz="2400" b="1" i="0" u="none" strike="noStrike" kern="1200" cap="none" spc="0" normalizeH="0" baseline="0" noProof="0">
                <a:ln>
                  <a:noFill/>
                </a:ln>
                <a:solidFill>
                  <a:srgbClr val="F0F0F0"/>
                </a:solidFill>
                <a:effectLst/>
                <a:uLnTx/>
                <a:uFillTx/>
                <a:latin typeface="Segoe UI Semibold"/>
                <a:ea typeface="+mn-ea"/>
                <a:cs typeface="+mn-cs"/>
              </a:rPr>
              <a:t>IExpression — 30+ Variants, Recursive</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1" name="Sub"/>
          <p:cNvSpPr/>
          <p:nvPr/>
        </p:nvSpPr>
        <p:spPr>
          <a:xfrm>
            <a:off x="762000" y="863600"/>
            <a:ext cx="10668000" cy="3175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08080"/>
                </a:solidFill>
                <a:effectLst/>
                <a:uLnTx/>
                <a:uFillTx/>
                <a:latin typeface="Segoe UI"/>
                <a:ea typeface="+mn-ea"/>
                <a:cs typeface="+mn-cs"/>
              </a:rPr>
              <a:t>Test expression type — programming-language-level complexity in a single function call</a:t>
            </a:r>
          </a:p>
        </p:txBody>
      </p:sp>
      <p:sp>
        <p:nvSpPr>
          <p:cNvPr id="13" name="Code"/>
          <p:cNvSpPr/>
          <p:nvPr/>
        </p:nvSpPr>
        <p:spPr>
          <a:xfrm>
            <a:off x="762000" y="1422400"/>
            <a:ext cx="10795000" cy="4191000"/>
          </a:xfrm>
          <a:prstGeom prst="rect">
            <a:avLst/>
          </a:prstGeom>
          <a:noFill/>
          <a:ln>
            <a:noFill/>
          </a:ln>
        </p:spPr>
        <p:txBody>
          <a:bodyPr wrap="square" lIns="36000" tIns="36000" rIns="36000" bIns="36000"/>
          <a:lstStyle/>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C586C0"/>
                </a:solidFill>
                <a:effectLst/>
                <a:uLnTx/>
                <a:uFillTx/>
                <a:latin typeface="Consolas"/>
                <a:ea typeface="+mn-ea"/>
                <a:cs typeface="+mn-cs"/>
              </a:rPr>
              <a:t>export type </a:t>
            </a:r>
            <a:r>
              <a:rPr kumimoji="0" lang="en-US" sz="1600" b="0" i="0" u="none" strike="noStrike" kern="1200" cap="none" spc="0" normalizeH="0" baseline="0" noProof="0" dirty="0">
                <a:ln>
                  <a:noFill/>
                </a:ln>
                <a:solidFill>
                  <a:srgbClr val="4EC9B0"/>
                </a:solidFill>
                <a:effectLst/>
                <a:uLnTx/>
                <a:uFillTx/>
                <a:latin typeface="Consolas"/>
                <a:ea typeface="+mn-ea"/>
                <a:cs typeface="+mn-cs"/>
              </a:rPr>
              <a:t>IExpression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INumericLiteral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IObjectLiteralExpression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compound literals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INullLiteral</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IUndefinedKeyword</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null/undefined</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IIdentifier</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IPropertyAccessExpression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accessors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IElementAccessExpression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ITypeOfExpression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access/operations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IPrefixUnaryExpression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IPostfixUnaryExpression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unary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IBinaryExpression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binary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IArrowFunction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ICallExpression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INewExpression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functions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IArrayFilterExpression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IArrayForEachExpression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IArrayMapExpression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err="1">
                <a:ln>
                  <a:noFill/>
                </a:ln>
                <a:solidFill>
                  <a:srgbClr val="4EC9B0"/>
                </a:solidFill>
                <a:effectLst/>
                <a:uLnTx/>
                <a:uFillTx/>
                <a:latin typeface="Consolas"/>
                <a:ea typeface="+mn-ea"/>
                <a:cs typeface="+mn-cs"/>
              </a:rPr>
              <a:t>IArrayRepeatExpression</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array operations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IPickRandom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ISampleRandom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IBooleanRandom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IIntegerRandom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INumberRandom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IStringRandom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IPatternRandom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IFormatRandom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IKeywordRandom</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random generation</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INotEqualPredicate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a:p>
            <a:pPr marL="0" marR="0" lvl="0" indent="0" algn="l" defTabSz="457200" rtl="0" eaLnBrk="1" fontAlgn="auto" latinLnBrk="0" hangingPunct="1">
              <a:spcBef>
                <a:spcPts val="0"/>
              </a:spcBef>
              <a:spcAft>
                <a:spcPts val="0"/>
              </a:spcAft>
              <a:buClrTx/>
              <a:buSzTx/>
              <a:buFontTx/>
              <a:buNone/>
              <a:tabLst/>
              <a:defRPr/>
            </a:pP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IConditionalPredicate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C586C0"/>
                </a:solidFill>
                <a:effectLst/>
                <a:uLnTx/>
                <a:uFillTx/>
                <a:latin typeface="Consolas"/>
                <a:ea typeface="+mn-ea"/>
                <a:cs typeface="+mn-cs"/>
              </a:rPr>
              <a:t>| </a:t>
            </a:r>
            <a:r>
              <a:rPr kumimoji="0" lang="en-US" sz="1600" b="0" i="0" u="none" strike="noStrike" kern="1200" cap="none" spc="0" normalizeH="0" baseline="0" noProof="0" dirty="0">
                <a:ln>
                  <a:noFill/>
                </a:ln>
                <a:solidFill>
                  <a:srgbClr val="4EC9B0"/>
                </a:solidFill>
                <a:effectLst/>
                <a:uLnTx/>
                <a:uFillTx/>
                <a:latin typeface="Consolas"/>
                <a:ea typeface="+mn-ea"/>
                <a:cs typeface="+mn-cs"/>
              </a:rPr>
              <a:t>IErrorPredicate</a:t>
            </a:r>
            <a:r>
              <a:rPr kumimoji="0" lang="en-US" sz="1600" b="0" i="0" u="none" strike="noStrike" kern="1200" cap="none" spc="0" normalizeH="0" baseline="0" noProof="0" dirty="0">
                <a:ln>
                  <a:noFill/>
                </a:ln>
                <a:solidFill>
                  <a:srgbClr val="D4D4D4"/>
                </a:solidFill>
                <a:effectLst/>
                <a:uLnTx/>
                <a:uFillTx/>
                <a:latin typeface="Consolas"/>
                <a:ea typeface="+mn-ea"/>
                <a:cs typeface="+mn-cs"/>
              </a:rPr>
              <a:t>;                 </a:t>
            </a:r>
            <a:r>
              <a:rPr kumimoji="0" lang="en-US" sz="1600" b="0" i="0" u="none" strike="noStrike" kern="1200" cap="none" spc="0" normalizeH="0" baseline="0" noProof="0" dirty="0">
                <a:ln>
                  <a:noFill/>
                </a:ln>
                <a:solidFill>
                  <a:srgbClr val="6A9955"/>
                </a:solidFill>
                <a:effectLst/>
                <a:uLnTx/>
                <a:uFillTx/>
                <a:latin typeface="Consolas"/>
                <a:ea typeface="+mn-ea"/>
                <a:cs typeface="+mn-cs"/>
              </a:rPr>
              <a:t>// assertions</a:t>
            </a:r>
          </a:p>
        </p:txBody>
      </p:sp>
      <p:sp>
        <p:nvSpPr>
          <p:cNvPr id="14" name="Badge"/>
          <p:cNvSpPr/>
          <p:nvPr/>
        </p:nvSpPr>
        <p:spPr>
          <a:xfrm>
            <a:off x="1270000" y="5867400"/>
            <a:ext cx="9652000" cy="5080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30+ variants with recursive nesting</a:t>
            </a:r>
            <a:br>
              <a:rPr kumimoji="0" lang="en-US" sz="1800" b="1" i="0" u="none" strike="noStrike" kern="1200" cap="none" spc="0" normalizeH="0" baseline="0" noProof="0" dirty="0">
                <a:ln>
                  <a:noFill/>
                </a:ln>
                <a:solidFill>
                  <a:srgbClr val="FFD93D"/>
                </a:solidFill>
                <a:effectLst/>
                <a:uLnTx/>
                <a:uFillTx/>
                <a:latin typeface="Segoe UI Semibold"/>
                <a:ea typeface="+mn-ea"/>
                <a:cs typeface="+mn-cs"/>
              </a:rPr>
            </a:br>
            <a:r>
              <a:rPr kumimoji="0" lang="en-US" sz="1800" b="1" i="0" u="none" strike="noStrike" kern="1200" cap="none" spc="0" normalizeH="0" baseline="0" noProof="0" dirty="0">
                <a:ln>
                  <a:noFill/>
                </a:ln>
                <a:solidFill>
                  <a:srgbClr val="FFD93D"/>
                </a:solidFill>
                <a:effectLst/>
                <a:uLnTx/>
                <a:uFillTx/>
                <a:latin typeface="Segoe UI Semibold"/>
                <a:ea typeface="+mn-ea"/>
                <a:cs typeface="+mn-cs"/>
              </a:rPr>
              <a:t>programming-language complexity in one function call</a:t>
            </a:r>
          </a:p>
        </p:txBody>
      </p:sp>
    </p:spTree>
    <p:extLst>
      <p:ext uri="{BB962C8B-B14F-4D97-AF65-F5344CB8AC3E}">
        <p14:creationId xmlns:p14="http://schemas.microsoft.com/office/powerpoint/2010/main" val="3485282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BEB7520-46D6-F1A1-FB4B-0CA1EAD7EEB0}"/>
              </a:ext>
            </a:extLst>
          </p:cNvPr>
          <p:cNvSpPr>
            <a:spLocks noGrp="1"/>
          </p:cNvSpPr>
          <p:nvPr>
            <p:ph type="title"/>
          </p:nvPr>
        </p:nvSpPr>
        <p:spPr/>
        <p:txBody>
          <a:bodyPr/>
          <a:lstStyle/>
          <a:p>
            <a:r>
              <a:rPr lang="en-US" dirty="0"/>
              <a:t>2.3. Self-Healing Loops</a:t>
            </a:r>
          </a:p>
        </p:txBody>
      </p:sp>
      <p:sp>
        <p:nvSpPr>
          <p:cNvPr id="3" name="내용 개체 틀 2">
            <a:extLst>
              <a:ext uri="{FF2B5EF4-FFF2-40B4-BE49-F238E27FC236}">
                <a16:creationId xmlns:a16="http://schemas.microsoft.com/office/drawing/2014/main" id="{0E41761D-E93C-E0BD-6C2B-B48C4AE1E0D6}"/>
              </a:ext>
            </a:extLst>
          </p:cNvPr>
          <p:cNvSpPr>
            <a:spLocks noGrp="1"/>
          </p:cNvSpPr>
          <p:nvPr>
            <p:ph idx="1"/>
          </p:nvPr>
        </p:nvSpPr>
        <p:spPr>
          <a:xfrm>
            <a:off x="1143000" y="3683000"/>
            <a:ext cx="9872338" cy="2540000"/>
          </a:xfrm>
        </p:spPr>
        <p:txBody>
          <a:bodyPr>
            <a:normAutofit/>
          </a:bodyPr>
          <a:lstStyle/>
          <a:p>
            <a:pPr>
              <a:buFont typeface="Arial"/>
              <a:buChar char="•"/>
            </a:pPr>
            <a:r>
              <a:rPr lang="en-US" sz="2000" b="1" dirty="0"/>
              <a:t>Write</a:t>
            </a:r>
            <a:r>
              <a:rPr lang="en-US" sz="2000" dirty="0"/>
              <a:t> — LLM fills AST-typed data via function calling</a:t>
            </a:r>
          </a:p>
          <a:p>
            <a:pPr>
              <a:buFont typeface="Arial"/>
              <a:buChar char="•"/>
            </a:pPr>
            <a:r>
              <a:rPr lang="en-US" sz="2000" b="1" dirty="0"/>
              <a:t>Validate</a:t>
            </a:r>
            <a:r>
              <a:rPr lang="en-US" sz="2000" dirty="0"/>
              <a:t> — Typia checks if value conforms to the AST type</a:t>
            </a:r>
          </a:p>
          <a:p>
            <a:pPr>
              <a:buFont typeface="Arial"/>
              <a:buChar char="•"/>
            </a:pPr>
            <a:r>
              <a:rPr lang="en-US" sz="2000" b="1" dirty="0"/>
              <a:t>Diagnose</a:t>
            </a:r>
            <a:r>
              <a:rPr lang="en-US" sz="2000" dirty="0"/>
              <a:t> — Compiler verifies the AST data (DB, OpenAPI, TS)</a:t>
            </a:r>
          </a:p>
          <a:p>
            <a:pPr>
              <a:buFont typeface="Arial"/>
              <a:buChar char="•"/>
            </a:pPr>
            <a:r>
              <a:rPr lang="en-US" sz="2000" b="1" dirty="0"/>
              <a:t>Correct</a:t>
            </a:r>
            <a:r>
              <a:rPr lang="en-US" sz="2000" dirty="0"/>
              <a:t> — On failure, feed precise diagnostics back to the LLM</a:t>
            </a:r>
          </a:p>
          <a:p>
            <a:pPr>
              <a:buFont typeface="Arial"/>
              <a:buChar char="•"/>
            </a:pPr>
            <a:r>
              <a:rPr lang="en-US" sz="2000" b="1" dirty="0"/>
              <a:t>Generate</a:t>
            </a:r>
            <a:r>
              <a:rPr lang="en-US" sz="2000" dirty="0"/>
              <a:t> — Once all checks pass, compiler emits final code</a:t>
            </a:r>
          </a:p>
        </p:txBody>
      </p:sp>
      <p:sp>
        <p:nvSpPr>
          <p:cNvPr id="100" name="Step100"/>
          <p:cNvSpPr/>
          <p:nvPr/>
        </p:nvSpPr>
        <p:spPr>
          <a:xfrm>
            <a:off x="1473200" y="2222500"/>
            <a:ext cx="1524000" cy="533400"/>
          </a:xfrm>
          <a:prstGeom prst="roundRect">
            <a:avLst>
              <a:gd name="adj" fmla="val 16667"/>
            </a:avLst>
          </a:prstGeom>
          <a:solidFill>
            <a:srgbClr val="418AB3"/>
          </a:solidFill>
          <a:ln>
            <a:noFill/>
          </a:ln>
        </p:spPr>
        <p:txBody>
          <a:bodyPr wrap="none" lIns="0" tIns="0" rIns="0" bIns="0" anchor="ctr" anchorCtr="1"/>
          <a:lstStyle/>
          <a:p>
            <a:pPr algn="ctr"/>
            <a:r>
              <a:rPr lang="en-US" sz="1800" b="1" dirty="0">
                <a:solidFill>
                  <a:srgbClr val="FFFFFF"/>
                </a:solidFill>
              </a:rPr>
              <a:t>Write</a:t>
            </a:r>
          </a:p>
        </p:txBody>
      </p:sp>
      <p:sp>
        <p:nvSpPr>
          <p:cNvPr id="101" name="Arr101"/>
          <p:cNvSpPr/>
          <p:nvPr/>
        </p:nvSpPr>
        <p:spPr>
          <a:xfrm>
            <a:off x="3048000" y="2387600"/>
            <a:ext cx="304800" cy="203200"/>
          </a:xfrm>
          <a:prstGeom prst="rightArrow">
            <a:avLst/>
          </a:prstGeom>
          <a:solidFill>
            <a:srgbClr val="565349"/>
          </a:solidFill>
          <a:ln>
            <a:noFill/>
          </a:ln>
        </p:spPr>
        <p:txBody>
          <a:bodyPr/>
          <a:lstStyle/>
          <a:p>
            <a:endParaRPr lang="en-US"/>
          </a:p>
        </p:txBody>
      </p:sp>
      <p:sp>
        <p:nvSpPr>
          <p:cNvPr id="102" name="Step102"/>
          <p:cNvSpPr/>
          <p:nvPr/>
        </p:nvSpPr>
        <p:spPr>
          <a:xfrm>
            <a:off x="3403600" y="2222500"/>
            <a:ext cx="1524000" cy="533400"/>
          </a:xfrm>
          <a:prstGeom prst="roundRect">
            <a:avLst>
              <a:gd name="adj" fmla="val 16667"/>
            </a:avLst>
          </a:prstGeom>
          <a:solidFill>
            <a:srgbClr val="A6B727"/>
          </a:solidFill>
          <a:ln>
            <a:noFill/>
          </a:ln>
        </p:spPr>
        <p:txBody>
          <a:bodyPr wrap="none" lIns="0" tIns="0" rIns="0" bIns="0" anchor="ctr" anchorCtr="1"/>
          <a:lstStyle/>
          <a:p>
            <a:pPr algn="ctr"/>
            <a:r>
              <a:rPr lang="en-US" sz="1800" b="1" dirty="0">
                <a:solidFill>
                  <a:srgbClr val="FFFFFF"/>
                </a:solidFill>
              </a:rPr>
              <a:t>Validate</a:t>
            </a:r>
          </a:p>
        </p:txBody>
      </p:sp>
      <p:sp>
        <p:nvSpPr>
          <p:cNvPr id="103" name="Arr103"/>
          <p:cNvSpPr/>
          <p:nvPr/>
        </p:nvSpPr>
        <p:spPr>
          <a:xfrm>
            <a:off x="4978400" y="2387600"/>
            <a:ext cx="304800" cy="203200"/>
          </a:xfrm>
          <a:prstGeom prst="rightArrow">
            <a:avLst/>
          </a:prstGeom>
          <a:solidFill>
            <a:srgbClr val="565349"/>
          </a:solidFill>
          <a:ln>
            <a:noFill/>
          </a:ln>
        </p:spPr>
        <p:txBody>
          <a:bodyPr/>
          <a:lstStyle/>
          <a:p>
            <a:endParaRPr lang="en-US"/>
          </a:p>
        </p:txBody>
      </p:sp>
      <p:sp>
        <p:nvSpPr>
          <p:cNvPr id="104" name="Step104"/>
          <p:cNvSpPr/>
          <p:nvPr/>
        </p:nvSpPr>
        <p:spPr>
          <a:xfrm>
            <a:off x="5334000" y="2222500"/>
            <a:ext cx="1524000" cy="533400"/>
          </a:xfrm>
          <a:prstGeom prst="roundRect">
            <a:avLst>
              <a:gd name="adj" fmla="val 16667"/>
            </a:avLst>
          </a:prstGeom>
          <a:solidFill>
            <a:srgbClr val="FE9E00"/>
          </a:solidFill>
          <a:ln>
            <a:noFill/>
          </a:ln>
        </p:spPr>
        <p:txBody>
          <a:bodyPr wrap="none" lIns="0" tIns="0" rIns="0" bIns="0" anchor="ctr" anchorCtr="1"/>
          <a:lstStyle/>
          <a:p>
            <a:pPr algn="ctr"/>
            <a:r>
              <a:rPr lang="en-US" sz="1800" b="1" dirty="0">
                <a:solidFill>
                  <a:srgbClr val="FFFFFF"/>
                </a:solidFill>
              </a:rPr>
              <a:t>Diagnose</a:t>
            </a:r>
          </a:p>
        </p:txBody>
      </p:sp>
      <p:sp>
        <p:nvSpPr>
          <p:cNvPr id="105" name="Arr105"/>
          <p:cNvSpPr/>
          <p:nvPr/>
        </p:nvSpPr>
        <p:spPr>
          <a:xfrm>
            <a:off x="6908800" y="2387600"/>
            <a:ext cx="304800" cy="203200"/>
          </a:xfrm>
          <a:prstGeom prst="rightArrow">
            <a:avLst/>
          </a:prstGeom>
          <a:solidFill>
            <a:srgbClr val="565349"/>
          </a:solidFill>
          <a:ln>
            <a:noFill/>
          </a:ln>
        </p:spPr>
        <p:txBody>
          <a:bodyPr/>
          <a:lstStyle/>
          <a:p>
            <a:endParaRPr lang="en-US"/>
          </a:p>
        </p:txBody>
      </p:sp>
      <p:sp>
        <p:nvSpPr>
          <p:cNvPr id="106" name="Step106"/>
          <p:cNvSpPr/>
          <p:nvPr/>
        </p:nvSpPr>
        <p:spPr>
          <a:xfrm>
            <a:off x="7264400" y="2222500"/>
            <a:ext cx="1524000" cy="533400"/>
          </a:xfrm>
          <a:prstGeom prst="roundRect">
            <a:avLst>
              <a:gd name="adj" fmla="val 16667"/>
            </a:avLst>
          </a:prstGeom>
          <a:solidFill>
            <a:srgbClr val="DF5327"/>
          </a:solidFill>
          <a:ln>
            <a:noFill/>
          </a:ln>
        </p:spPr>
        <p:txBody>
          <a:bodyPr wrap="none" lIns="0" tIns="0" rIns="0" bIns="0" anchor="ctr" anchorCtr="1"/>
          <a:lstStyle/>
          <a:p>
            <a:pPr algn="ctr"/>
            <a:r>
              <a:rPr lang="en-US" sz="1800" b="1" dirty="0">
                <a:solidFill>
                  <a:srgbClr val="FFFFFF"/>
                </a:solidFill>
              </a:rPr>
              <a:t>Correct</a:t>
            </a:r>
          </a:p>
        </p:txBody>
      </p:sp>
      <p:sp>
        <p:nvSpPr>
          <p:cNvPr id="107" name="Arr107"/>
          <p:cNvSpPr/>
          <p:nvPr/>
        </p:nvSpPr>
        <p:spPr>
          <a:xfrm>
            <a:off x="8839200" y="2387600"/>
            <a:ext cx="304800" cy="203200"/>
          </a:xfrm>
          <a:prstGeom prst="rightArrow">
            <a:avLst/>
          </a:prstGeom>
          <a:solidFill>
            <a:srgbClr val="565349"/>
          </a:solidFill>
          <a:ln>
            <a:noFill/>
          </a:ln>
        </p:spPr>
        <p:txBody>
          <a:bodyPr/>
          <a:lstStyle/>
          <a:p>
            <a:endParaRPr lang="en-US"/>
          </a:p>
        </p:txBody>
      </p:sp>
      <p:sp>
        <p:nvSpPr>
          <p:cNvPr id="108" name="Step108"/>
          <p:cNvSpPr/>
          <p:nvPr/>
        </p:nvSpPr>
        <p:spPr>
          <a:xfrm>
            <a:off x="9194800" y="2222500"/>
            <a:ext cx="1524000" cy="533400"/>
          </a:xfrm>
          <a:prstGeom prst="roundRect">
            <a:avLst>
              <a:gd name="adj" fmla="val 16667"/>
            </a:avLst>
          </a:prstGeom>
          <a:solidFill>
            <a:srgbClr val="818183"/>
          </a:solidFill>
          <a:ln>
            <a:noFill/>
          </a:ln>
        </p:spPr>
        <p:txBody>
          <a:bodyPr wrap="none" lIns="0" tIns="0" rIns="0" bIns="0" anchor="ctr" anchorCtr="1"/>
          <a:lstStyle/>
          <a:p>
            <a:pPr algn="ctr"/>
            <a:r>
              <a:rPr lang="en-US" sz="1800" b="1" dirty="0">
                <a:solidFill>
                  <a:srgbClr val="FFFFFF"/>
                </a:solidFill>
              </a:rPr>
              <a:t>Generate</a:t>
            </a:r>
          </a:p>
        </p:txBody>
      </p:sp>
      <p:sp>
        <p:nvSpPr>
          <p:cNvPr id="109" name="Bracket109"/>
          <p:cNvSpPr/>
          <p:nvPr/>
        </p:nvSpPr>
        <p:spPr>
          <a:xfrm>
            <a:off x="3352800" y="2044700"/>
            <a:ext cx="5486400" cy="889000"/>
          </a:xfrm>
          <a:prstGeom prst="roundRect">
            <a:avLst>
              <a:gd name="adj" fmla="val 16667"/>
            </a:avLst>
          </a:prstGeom>
          <a:noFill/>
          <a:ln w="19050">
            <a:solidFill>
              <a:srgbClr val="A6B727"/>
            </a:solidFill>
            <a:prstDash val="dash"/>
          </a:ln>
        </p:spPr>
        <p:txBody>
          <a:bodyPr/>
          <a:lstStyle/>
          <a:p>
            <a:endParaRPr lang="en-US"/>
          </a:p>
        </p:txBody>
      </p:sp>
      <p:sp>
        <p:nvSpPr>
          <p:cNvPr id="110" name="Label110"/>
          <p:cNvSpPr/>
          <p:nvPr/>
        </p:nvSpPr>
        <p:spPr>
          <a:xfrm>
            <a:off x="3352800" y="2959100"/>
            <a:ext cx="5486400" cy="279400"/>
          </a:xfrm>
          <a:prstGeom prst="rect">
            <a:avLst/>
          </a:prstGeom>
          <a:noFill/>
          <a:ln>
            <a:noFill/>
          </a:ln>
        </p:spPr>
        <p:txBody>
          <a:bodyPr wrap="square" lIns="0" tIns="0" rIns="0" bIns="0" anchor="t" anchorCtr="1"/>
          <a:lstStyle/>
          <a:p>
            <a:pPr algn="ctr"/>
            <a:r>
              <a:rPr lang="en-US" sz="1400" b="1" dirty="0">
                <a:solidFill>
                  <a:srgbClr val="A6B727"/>
                </a:solidFill>
              </a:rPr>
              <a:t>↻ repeat until success</a:t>
            </a:r>
          </a:p>
        </p:txBody>
      </p:sp>
    </p:spTree>
    <p:extLst>
      <p:ext uri="{BB962C8B-B14F-4D97-AF65-F5344CB8AC3E}">
        <p14:creationId xmlns:p14="http://schemas.microsoft.com/office/powerpoint/2010/main" val="12429283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5166CA40-9CDD-FB49-7579-301ADE88F2D0}"/>
              </a:ext>
            </a:extLst>
          </p:cNvPr>
          <p:cNvSpPr>
            <a:spLocks noGrp="1"/>
          </p:cNvSpPr>
          <p:nvPr>
            <p:ph type="title"/>
          </p:nvPr>
        </p:nvSpPr>
        <p:spPr/>
        <p:txBody>
          <a:bodyPr/>
          <a:lstStyle/>
          <a:p>
            <a:r>
              <a:rPr lang="en-US" dirty="0"/>
              <a:t>2.4. AST Specs Are Better</a:t>
            </a:r>
          </a:p>
        </p:txBody>
      </p:sp>
      <p:sp>
        <p:nvSpPr>
          <p:cNvPr id="5" name="내용 개체 틀 4">
            <a:extLst>
              <a:ext uri="{FF2B5EF4-FFF2-40B4-BE49-F238E27FC236}">
                <a16:creationId xmlns:a16="http://schemas.microsoft.com/office/drawing/2014/main" id="{1BD9C0F0-720F-54CA-9147-E583E83D5E43}"/>
              </a:ext>
            </a:extLst>
          </p:cNvPr>
          <p:cNvSpPr>
            <a:spLocks noGrp="1"/>
          </p:cNvSpPr>
          <p:nvPr>
            <p:ph idx="1"/>
          </p:nvPr>
        </p:nvSpPr>
        <p:spPr/>
        <p:txBody>
          <a:bodyPr>
            <a:normAutofit lnSpcReduction="10000"/>
          </a:bodyPr>
          <a:lstStyle/>
          <a:p>
            <a:pPr>
              <a:buNone/>
            </a:pPr>
            <a:r>
              <a:rPr lang="en-US" sz="1800" b="1" dirty="0"/>
              <a:t>Total Control — constraint by structure, not prohibition</a:t>
            </a:r>
          </a:p>
          <a:p>
            <a:pPr>
              <a:buFont typeface="Arial"/>
              <a:buChar char="•"/>
            </a:pPr>
            <a:r>
              <a:rPr lang="en-US" sz="1800" dirty="0"/>
              <a:t>Output space is defined by the type, not by rules</a:t>
            </a:r>
          </a:p>
          <a:p>
            <a:pPr>
              <a:buFont typeface="Arial"/>
              <a:buChar char="•"/>
            </a:pPr>
            <a:r>
              <a:rPr lang="en-US" sz="1800" dirty="0"/>
              <a:t>Invalid outputs are structurally impossible, not merely forbidden</a:t>
            </a:r>
          </a:p>
          <a:p>
            <a:pPr>
              <a:buNone/>
            </a:pPr>
            <a:endParaRPr lang="en-US" sz="600" dirty="0"/>
          </a:p>
          <a:p>
            <a:pPr>
              <a:buNone/>
            </a:pPr>
            <a:r>
              <a:rPr lang="en-US" sz="1800" b="1" dirty="0"/>
              <a:t>Total Diagnosis — every failure is mechanically decomposable</a:t>
            </a:r>
          </a:p>
          <a:p>
            <a:pPr>
              <a:buFont typeface="Arial"/>
              <a:buChar char="•"/>
            </a:pPr>
            <a:r>
              <a:rPr lang="en-US" sz="1800" dirty="0"/>
              <a:t>Errors localized to exact paths with expected vs. actual</a:t>
            </a:r>
          </a:p>
          <a:p>
            <a:pPr>
              <a:buFont typeface="Arial"/>
              <a:buChar char="•"/>
            </a:pPr>
            <a:r>
              <a:rPr lang="en-US" sz="1800" dirty="0"/>
              <a:t>Correction is targeted — only broken fields are retried</a:t>
            </a:r>
          </a:p>
          <a:p>
            <a:pPr>
              <a:buNone/>
            </a:pPr>
            <a:endParaRPr lang="en-US" sz="600" dirty="0"/>
          </a:p>
          <a:p>
            <a:pPr>
              <a:buNone/>
            </a:pPr>
            <a:r>
              <a:rPr lang="en-US" sz="1800" b="1" dirty="0"/>
              <a:t>Total Portability — model-neutral and language-neutral</a:t>
            </a:r>
          </a:p>
          <a:p>
            <a:pPr>
              <a:buFont typeface="Arial"/>
              <a:buChar char="•"/>
            </a:pPr>
            <a:r>
              <a:rPr lang="en-US" sz="1800" dirty="0"/>
              <a:t>Same schema works across any LLM without prompt rewriting</a:t>
            </a:r>
          </a:p>
          <a:p>
            <a:pPr>
              <a:buFont typeface="Arial"/>
              <a:buChar char="•"/>
            </a:pPr>
            <a:r>
              <a:rPr lang="en-US" sz="1800" dirty="0"/>
              <a:t>Same schema works across any programming language</a:t>
            </a:r>
          </a:p>
        </p:txBody>
      </p:sp>
    </p:spTree>
    <p:extLst>
      <p:ext uri="{BB962C8B-B14F-4D97-AF65-F5344CB8AC3E}">
        <p14:creationId xmlns:p14="http://schemas.microsoft.com/office/powerpoint/2010/main" val="6965247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15DB102-2EDE-05EC-171A-D30A549E36CD}"/>
              </a:ext>
            </a:extLst>
          </p:cNvPr>
          <p:cNvSpPr>
            <a:spLocks noGrp="1"/>
          </p:cNvSpPr>
          <p:nvPr>
            <p:ph type="title"/>
          </p:nvPr>
        </p:nvSpPr>
        <p:spPr/>
        <p:txBody>
          <a:bodyPr/>
          <a:lstStyle/>
          <a:p>
            <a:r>
              <a:rPr lang="en-US" dirty="0"/>
              <a:t>2.5. Four Qwen Models, All 100%</a:t>
            </a:r>
          </a:p>
        </p:txBody>
      </p:sp>
      <p:sp>
        <p:nvSpPr>
          <p:cNvPr id="3" name="내용 개체 틀 2">
            <a:extLst>
              <a:ext uri="{FF2B5EF4-FFF2-40B4-BE49-F238E27FC236}">
                <a16:creationId xmlns:a16="http://schemas.microsoft.com/office/drawing/2014/main" id="{EC85E0D1-0C3A-3478-92D4-E495D4983874}"/>
              </a:ext>
            </a:extLst>
          </p:cNvPr>
          <p:cNvSpPr>
            <a:spLocks noGrp="1"/>
          </p:cNvSpPr>
          <p:nvPr>
            <p:ph idx="1"/>
          </p:nvPr>
        </p:nvSpPr>
        <p:spPr/>
        <p:txBody>
          <a:bodyPr/>
          <a:lstStyle/>
          <a:p>
            <a:pPr>
              <a:buNone/>
            </a:pPr>
            <a:r>
              <a:rPr lang="en-US" sz="1800" b="1" dirty="0"/>
              <a:t>Compilation success rate across all tested Qwen models</a:t>
            </a:r>
          </a:p>
          <a:p>
            <a:pPr>
              <a:buNone/>
            </a:pPr>
            <a:endParaRPr lang="en-US" sz="800" dirty="0"/>
          </a:p>
          <a:p>
            <a:pPr>
              <a:buFont typeface="Arial"/>
              <a:buChar char="•"/>
            </a:pPr>
            <a:r>
              <a:rPr lang="en-US" sz="1800" b="1" dirty="0"/>
              <a:t>qwen3-coder-next</a:t>
            </a:r>
            <a:r>
              <a:rPr lang="en-US" sz="1800" dirty="0"/>
              <a:t>  (3B / 80B) — Coding-specialized → 100%</a:t>
            </a:r>
          </a:p>
          <a:p>
            <a:pPr>
              <a:buFont typeface="Arial"/>
              <a:buChar char="•"/>
            </a:pPr>
            <a:r>
              <a:rPr lang="en-US" sz="1800" b="1" dirty="0"/>
              <a:t>qwen3.5-397b-a17b</a:t>
            </a:r>
            <a:r>
              <a:rPr lang="en-US" sz="1800" dirty="0"/>
              <a:t>  (17B / 397B) — Largest MoE → 100%</a:t>
            </a:r>
          </a:p>
          <a:p>
            <a:pPr>
              <a:buFont typeface="Arial"/>
              <a:buChar char="•"/>
            </a:pPr>
            <a:r>
              <a:rPr lang="en-US" sz="1800" b="1" dirty="0"/>
              <a:t>qwen3.5-122b-a10b</a:t>
            </a:r>
            <a:r>
              <a:rPr lang="en-US" sz="1800" dirty="0"/>
              <a:t>  (10B / 122B) — Medium MoE → 100%</a:t>
            </a:r>
          </a:p>
          <a:p>
            <a:pPr>
              <a:buFont typeface="Arial"/>
              <a:buChar char="•"/>
            </a:pPr>
            <a:r>
              <a:rPr lang="en-US" sz="1800" b="1" dirty="0"/>
              <a:t>qwen3.5-27b</a:t>
            </a:r>
            <a:r>
              <a:rPr lang="en-US" sz="1800" dirty="0"/>
              <a:t>  (27B Dense) — Medium Dense → 100%</a:t>
            </a:r>
          </a:p>
          <a:p>
            <a:pPr>
              <a:buFont typeface="Arial"/>
              <a:buChar char="•"/>
            </a:pPr>
            <a:r>
              <a:rPr lang="en-US" sz="1800" b="1" dirty="0"/>
              <a:t>qwen3.5-35b-a3b</a:t>
            </a:r>
            <a:r>
              <a:rPr lang="en-US" sz="1800" dirty="0"/>
              <a:t>  (3B / 35B) — Small MoE → 100%</a:t>
            </a:r>
          </a:p>
          <a:p>
            <a:pPr>
              <a:buNone/>
            </a:pPr>
            <a:endParaRPr lang="en-US" sz="800" dirty="0"/>
          </a:p>
          <a:p>
            <a:pPr>
              <a:buNone/>
            </a:pPr>
            <a:r>
              <a:rPr lang="en-US" sz="1800" b="1" dirty="0"/>
              <a:t>From 397B to 35B. Same schema, same pipeline, same result.</a:t>
            </a:r>
          </a:p>
        </p:txBody>
      </p:sp>
    </p:spTree>
    <p:extLst>
      <p:ext uri="{BB962C8B-B14F-4D97-AF65-F5344CB8AC3E}">
        <p14:creationId xmlns:p14="http://schemas.microsoft.com/office/powerpoint/2010/main" val="15070117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2F8B4D0-7BAB-1B37-4945-71881B2C5A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546" b="14036"/>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07439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93B686DA-38FC-7B33-58FC-491F29CE66D4}"/>
              </a:ext>
            </a:extLst>
          </p:cNvPr>
          <p:cNvPicPr>
            <a:picLocks noChangeAspect="1"/>
          </p:cNvPicPr>
          <p:nvPr/>
        </p:nvPicPr>
        <p:blipFill>
          <a:blip r:embed="rId3"/>
          <a:srcRect t="6639"/>
          <a:stretch>
            <a:fillRect/>
          </a:stretch>
        </p:blipFill>
        <p:spPr>
          <a:xfrm>
            <a:off x="20" y="10"/>
            <a:ext cx="12191980" cy="6857990"/>
          </a:xfrm>
          <a:prstGeom prst="rect">
            <a:avLst/>
          </a:prstGeom>
        </p:spPr>
      </p:pic>
      <p:sp>
        <p:nvSpPr>
          <p:cNvPr id="8" name="Rectangle 7">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795322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4" name="그림 3">
            <a:extLst>
              <a:ext uri="{FF2B5EF4-FFF2-40B4-BE49-F238E27FC236}">
                <a16:creationId xmlns:a16="http://schemas.microsoft.com/office/drawing/2014/main" id="{1AAF891C-34D8-D001-7475-0AAC30B1525D}"/>
              </a:ext>
            </a:extLst>
          </p:cNvPr>
          <p:cNvPicPr>
            <a:picLocks noChangeAspect="1"/>
          </p:cNvPicPr>
          <p:nvPr/>
        </p:nvPicPr>
        <p:blipFill>
          <a:blip r:embed="rId3"/>
          <a:srcRect t="1807" b="4832"/>
          <a:stretch>
            <a:fillRect/>
          </a:stretch>
        </p:blipFill>
        <p:spPr>
          <a:xfrm>
            <a:off x="20" y="10"/>
            <a:ext cx="12191980" cy="6857990"/>
          </a:xfrm>
          <a:prstGeom prst="rect">
            <a:avLst/>
          </a:prstGeom>
        </p:spPr>
      </p:pic>
      <p:sp>
        <p:nvSpPr>
          <p:cNvPr id="14" name="Rectangle 13">
            <a:extLst>
              <a:ext uri="{FF2B5EF4-FFF2-40B4-BE49-F238E27FC236}">
                <a16:creationId xmlns:a16="http://schemas.microsoft.com/office/drawing/2014/main" id="{F557AC3B-63D5-4181-AD35-0D051F7C82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729431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7A39217E-66D0-0BC8-CBF8-F13215E6FAFF}"/>
              </a:ext>
            </a:extLst>
          </p:cNvPr>
          <p:cNvSpPr>
            <a:spLocks noGrp="1"/>
          </p:cNvSpPr>
          <p:nvPr>
            <p:ph type="title"/>
          </p:nvPr>
        </p:nvSpPr>
        <p:spPr/>
        <p:txBody>
          <a:bodyPr/>
          <a:lstStyle/>
          <a:p>
            <a:r>
              <a:rPr lang="en-US" dirty="0"/>
              <a:t>Typia</a:t>
            </a:r>
          </a:p>
        </p:txBody>
      </p:sp>
      <p:sp>
        <p:nvSpPr>
          <p:cNvPr id="5" name="텍스트 개체 틀 4">
            <a:extLst>
              <a:ext uri="{FF2B5EF4-FFF2-40B4-BE49-F238E27FC236}">
                <a16:creationId xmlns:a16="http://schemas.microsoft.com/office/drawing/2014/main" id="{394D4894-558C-5CAA-E572-E3EC3FD9BC20}"/>
              </a:ext>
            </a:extLst>
          </p:cNvPr>
          <p:cNvSpPr>
            <a:spLocks noGrp="1"/>
          </p:cNvSpPr>
          <p:nvPr>
            <p:ph type="body" idx="1"/>
          </p:nvPr>
        </p:nvSpPr>
        <p:spPr/>
        <p:txBody>
          <a:bodyPr/>
          <a:lstStyle/>
          <a:p>
            <a:r>
              <a:rPr lang="en-US" dirty="0"/>
              <a:t>The Infrastructure for LLM Function Calling</a:t>
            </a:r>
          </a:p>
          <a:p>
            <a:r>
              <a:rPr lang="en-US" dirty="0"/>
              <a:t>Turns 6.75% into 100% by Compiler Skills</a:t>
            </a:r>
          </a:p>
        </p:txBody>
      </p:sp>
    </p:spTree>
    <p:extLst>
      <p:ext uri="{BB962C8B-B14F-4D97-AF65-F5344CB8AC3E}">
        <p14:creationId xmlns:p14="http://schemas.microsoft.com/office/powerpoint/2010/main" val="22383554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E53FEA-569B-4423-64DE-8221C07D5464}"/>
              </a:ext>
            </a:extLst>
          </p:cNvPr>
          <p:cNvSpPr>
            <a:spLocks noGrp="1"/>
          </p:cNvSpPr>
          <p:nvPr>
            <p:ph type="title"/>
          </p:nvPr>
        </p:nvSpPr>
        <p:spPr/>
        <p:txBody>
          <a:bodyPr>
            <a:normAutofit/>
          </a:bodyPr>
          <a:lstStyle/>
          <a:p>
            <a:r>
              <a:rPr lang="en-US" dirty="0"/>
              <a:t>2.1. What Is Typia</a:t>
            </a:r>
          </a:p>
        </p:txBody>
      </p:sp>
      <p:sp>
        <p:nvSpPr>
          <p:cNvPr id="3" name="내용 개체 틀 2">
            <a:extLst>
              <a:ext uri="{FF2B5EF4-FFF2-40B4-BE49-F238E27FC236}">
                <a16:creationId xmlns:a16="http://schemas.microsoft.com/office/drawing/2014/main" id="{E0E8E6B4-4C10-FBBD-69EB-EC2C19883F9F}"/>
              </a:ext>
            </a:extLst>
          </p:cNvPr>
          <p:cNvSpPr>
            <a:spLocks noGrp="1"/>
          </p:cNvSpPr>
          <p:nvPr>
            <p:ph sz="half" idx="1"/>
          </p:nvPr>
        </p:nvSpPr>
        <p:spPr/>
        <p:txBody>
          <a:bodyPr>
            <a:normAutofit/>
          </a:bodyPr>
          <a:lstStyle/>
          <a:p>
            <a:pPr>
              <a:buNone/>
            </a:pPr>
            <a:r>
              <a:rPr lang="en-US" sz="1800" dirty="0"/>
              <a:t>A TypeScript compiler plugin that analyzes source code at compile time</a:t>
            </a:r>
          </a:p>
          <a:p>
            <a:pPr>
              <a:buNone/>
            </a:pPr>
            <a:endParaRPr lang="en-US" sz="800" dirty="0"/>
          </a:p>
          <a:p>
            <a:pPr>
              <a:buFont typeface="Arial"/>
              <a:buChar char="•"/>
            </a:pPr>
            <a:r>
              <a:rPr lang="en-US" sz="1800" dirty="0"/>
              <a:t>Overcomes TypeScript's runtime type erasure</a:t>
            </a:r>
          </a:p>
          <a:p>
            <a:pPr>
              <a:buFont typeface="Arial"/>
              <a:buChar char="•"/>
            </a:pPr>
            <a:r>
              <a:rPr lang="en-US" sz="1800" dirty="0"/>
              <a:t>Generates optimal validation code (AOT — Ahead of Time)</a:t>
            </a:r>
          </a:p>
          <a:p>
            <a:pPr>
              <a:buFont typeface="Arial"/>
              <a:buChar char="•"/>
            </a:pPr>
            <a:r>
              <a:rPr lang="en-US" sz="1800" dirty="0"/>
              <a:t>20,000× faster than class-validator</a:t>
            </a:r>
          </a:p>
          <a:p>
            <a:pPr>
              <a:buFont typeface="Arial"/>
              <a:buChar char="•"/>
            </a:pPr>
            <a:r>
              <a:rPr lang="en-US" sz="1800" dirty="0"/>
              <a:t>One line of code — no extra schema definitions needed</a:t>
            </a:r>
          </a:p>
          <a:p>
            <a:pPr>
              <a:buNone/>
            </a:pPr>
            <a:endParaRPr lang="en-US" sz="800" dirty="0"/>
          </a:p>
          <a:p>
            <a:pPr>
              <a:buNone/>
            </a:pPr>
            <a:r>
              <a:rPr lang="en-US" sz="1800" b="1" dirty="0"/>
              <a:t>typia.validate&lt;T&gt;(input) — that's it</a:t>
            </a:r>
          </a:p>
        </p:txBody>
      </p:sp>
      <p:pic>
        <p:nvPicPr>
          <p:cNvPr id="6" name="내용 개체 틀 5">
            <a:extLst>
              <a:ext uri="{FF2B5EF4-FFF2-40B4-BE49-F238E27FC236}">
                <a16:creationId xmlns:a16="http://schemas.microsoft.com/office/drawing/2014/main" id="{90504929-B81A-E009-9149-D3C2DB160B0D}"/>
              </a:ext>
            </a:extLst>
          </p:cNvPr>
          <p:cNvPicPr>
            <a:picLocks noGrp="1" noChangeAspect="1"/>
          </p:cNvPicPr>
          <p:nvPr>
            <p:ph sz="half" idx="2"/>
          </p:nvPr>
        </p:nvPicPr>
        <p:blipFill>
          <a:blip r:embed="rId3"/>
          <a:stretch>
            <a:fillRect/>
          </a:stretch>
        </p:blipFill>
        <p:spPr>
          <a:xfrm>
            <a:off x="6031908" y="407019"/>
            <a:ext cx="5763376" cy="6045820"/>
          </a:xfrm>
          <a:prstGeom prst="rect">
            <a:avLst/>
          </a:prstGeom>
        </p:spPr>
      </p:pic>
    </p:spTree>
    <p:extLst>
      <p:ext uri="{BB962C8B-B14F-4D97-AF65-F5344CB8AC3E}">
        <p14:creationId xmlns:p14="http://schemas.microsoft.com/office/powerpoint/2010/main" val="29166214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0F0F0"/>
                </a:solidFill>
                <a:effectLst/>
                <a:uLnTx/>
                <a:uFillTx/>
                <a:latin typeface="Segoe UI Semibold"/>
                <a:ea typeface="+mn-ea"/>
                <a:cs typeface="+mn-cs"/>
              </a:rPr>
              <a:t>Typia's Core: TS → JS Transform</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Before Compilation: TypeScript</a:t>
            </a:r>
          </a:p>
        </p:txBody>
      </p:sp>
      <p:sp>
        <p:nvSpPr>
          <p:cNvPr id="13" name="LBg"/>
          <p:cNvSpPr/>
          <p:nvPr/>
        </p:nvSpPr>
        <p:spPr>
          <a:xfrm>
            <a:off x="762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id: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"uuid"</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&gt;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check: </a:t>
            </a:r>
            <a:r>
              <a:rPr kumimoji="0" lang="en-US" sz="1400" b="1" i="0" u="sng" strike="noStrike" kern="1200" cap="none" spc="0" normalizeH="0" baseline="0" noProof="0" dirty="0">
                <a:ln>
                  <a:noFill/>
                </a:ln>
                <a:solidFill>
                  <a:srgbClr val="569CD6"/>
                </a:solidFill>
                <a:effectLst/>
                <a:uLnTx/>
                <a:uFillTx/>
                <a:latin typeface="Consolas"/>
                <a:ea typeface="+mn-ea"/>
                <a:cs typeface="+mn-cs"/>
              </a:rPr>
              <a:t>boolean</a:t>
            </a:r>
            <a:r>
              <a:rPr kumimoji="0" lang="en-US" sz="1400" b="1" i="0" u="sng" strike="noStrike" kern="1200" cap="none" spc="0" normalizeH="0" baseline="0" noProof="0" dirty="0">
                <a:ln>
                  <a:noFill/>
                </a:ln>
                <a:solidFill>
                  <a:srgbClr val="D4D4D4"/>
                </a:solidFill>
                <a:effectLst/>
                <a:uLnTx/>
                <a:uFillTx/>
                <a:latin typeface="Consolas"/>
                <a:ea typeface="+mn-ea"/>
                <a:cs typeface="+mn-cs"/>
              </a:rPr>
              <a:t> = typia.</a:t>
            </a:r>
            <a:r>
              <a:rPr kumimoji="0" lang="en-US" sz="1400" b="1" i="0" u="sng" strike="noStrike" kern="1200" cap="none" spc="0" normalizeH="0" baseline="0" noProof="0" dirty="0">
                <a:ln>
                  <a:noFill/>
                </a:ln>
                <a:solidFill>
                  <a:srgbClr val="4EC9B0"/>
                </a:solidFill>
                <a:effectLst/>
                <a:uLnTx/>
                <a:uFillTx/>
                <a:latin typeface="Consolas"/>
                <a:ea typeface="+mn-ea"/>
                <a:cs typeface="+mn-cs"/>
              </a:rPr>
              <a:t>is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&gt;(input);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After Compilation: JavaScript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=&gt;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return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null</a:t>
            </a:r>
            <a:r>
              <a:rPr kumimoji="0" lang="en-US" sz="1400" b="0" i="0" u="none" strike="noStrike" kern="1200" cap="none" spc="0" normalizeH="0" baseline="0" noProof="0" dirty="0">
                <a:ln>
                  <a:noFill/>
                </a:ln>
                <a:solidFill>
                  <a:srgbClr val="D4D4D4"/>
                </a:solidFill>
                <a:effectLst/>
                <a:uLnTx/>
                <a:uFillTx/>
                <a:latin typeface="Consolas"/>
                <a:ea typeface="+mn-ea"/>
                <a:cs typeface="+mn-cs"/>
              </a:rPr>
              <a:t> !== input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/^[0-9a-f]{8}-.../.</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(input.id)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/^[a-z0-9._%+-]+@.../.</a:t>
            </a:r>
            <a:r>
              <a:rPr kumimoji="0" lang="en-US" sz="1400" b="0" i="0" u="none" strike="noStrike" kern="1200" cap="none" spc="0" normalizeH="0" baseline="0" noProof="0" dirty="0">
                <a:ln>
                  <a:noFill/>
                </a:ln>
                <a:solidFill>
                  <a:srgbClr val="4EC9B0"/>
                </a:solidFill>
                <a:effectLst/>
                <a:uLnTx/>
                <a:uFillTx/>
                <a:latin typeface="Consolas"/>
                <a:ea typeface="+mn-ea"/>
                <a:cs typeface="+mn-cs"/>
              </a:rPr>
              <a:t>test</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(input.email)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 </a:t>
            </a:r>
            <a:r>
              <a:rPr kumimoji="0" lang="en-US" sz="1400" b="0" i="0" u="none" strike="noStrike" kern="1200" cap="none" spc="0" normalizeH="0" baseline="0" noProof="0" dirty="0">
                <a:ln>
                  <a:noFill/>
                </a:ln>
                <a:solidFill>
                  <a:srgbClr val="C586C0"/>
                </a:solidFill>
                <a:effectLst/>
                <a:uLnTx/>
                <a:uFillTx/>
                <a:latin typeface="Consolas"/>
                <a:ea typeface="+mn-ea"/>
                <a:cs typeface="+mn-cs"/>
              </a:rPr>
              <a:t>typeof</a:t>
            </a: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Number.</a:t>
            </a:r>
            <a:r>
              <a:rPr kumimoji="0" lang="en-US" sz="1400" b="0" i="0" u="none" strike="noStrike" kern="1200" cap="none" spc="0" normalizeH="0" baseline="0" noProof="0" dirty="0">
                <a:ln>
                  <a:noFill/>
                </a:ln>
                <a:solidFill>
                  <a:srgbClr val="4EC9B0"/>
                </a:solidFill>
                <a:effectLst/>
                <a:uLnTx/>
                <a:uFillTx/>
                <a:latin typeface="Consolas"/>
                <a:ea typeface="+mn-ea"/>
                <a:cs typeface="+mn-cs"/>
              </a:rPr>
              <a:t>isInteger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input.age &gt;= </a:t>
            </a:r>
            <a:r>
              <a:rPr kumimoji="0" lang="en-US" sz="1400" b="0" i="0" u="none" strike="noStrike" kern="1200" cap="none" spc="0" normalizeH="0" baseline="0" noProof="0" dirty="0">
                <a:ln>
                  <a:noFill/>
                </a:ln>
                <a:solidFill>
                  <a:srgbClr val="B5CEA8"/>
                </a:solidFill>
                <a:effectLst/>
                <a:uLnTx/>
                <a:uFillTx/>
                <a:latin typeface="Consolas"/>
                <a:ea typeface="+mn-ea"/>
                <a:cs typeface="+mn-cs"/>
              </a:rPr>
              <a:t>0</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19</a:t>
            </a:r>
            <a:r>
              <a:rPr kumimoji="0" lang="en-US" sz="1400" b="0" i="0" u="none" strike="noStrike" kern="1200" cap="none" spc="0" normalizeH="0" baseline="0" noProof="0" dirty="0">
                <a:ln>
                  <a:noFill/>
                </a:ln>
                <a:solidFill>
                  <a:srgbClr val="D4D4D4"/>
                </a:solidFill>
                <a:effectLst/>
                <a:uLnTx/>
                <a:uFillTx/>
                <a:latin typeface="Consolas"/>
                <a:ea typeface="+mn-ea"/>
                <a:cs typeface="+mn-cs"/>
              </a:rPr>
              <a:t> &lt; input.age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&amp;&amp;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 &gt;= input.age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D0D0D0"/>
                </a:solidFill>
                <a:effectLst/>
                <a:uLnTx/>
                <a:uFillTx/>
                <a:latin typeface="Segoe UI"/>
                <a:ea typeface="+mn-ea"/>
                <a:cs typeface="+mn-cs"/>
              </a:rPr>
              <a:t>A single line — </a:t>
            </a:r>
            <a:r>
              <a:rPr kumimoji="0" lang="en-US" sz="1800" b="1" i="0" u="none" strike="noStrike" kern="1200" cap="none" spc="0" normalizeH="0" baseline="0" noProof="0" dirty="0">
                <a:ln>
                  <a:noFill/>
                </a:ln>
                <a:solidFill>
                  <a:srgbClr val="00D4AA"/>
                </a:solidFill>
                <a:effectLst/>
                <a:uLnTx/>
                <a:uFillTx/>
                <a:latin typeface="Consolas"/>
                <a:ea typeface="+mn-ea"/>
                <a:cs typeface="+mn-cs"/>
              </a:rPr>
              <a:t>typia.is&lt;IMember&gt;(input)</a:t>
            </a:r>
            <a:br>
              <a:rPr kumimoji="0" lang="en-US" sz="1800" b="1" i="0" u="none" strike="noStrike" kern="1200" cap="none" spc="0" normalizeH="0" baseline="0" noProof="0" dirty="0">
                <a:ln>
                  <a:noFill/>
                </a:ln>
                <a:solidFill>
                  <a:srgbClr val="D0D0D0"/>
                </a:solidFill>
                <a:effectLst/>
                <a:uLnTx/>
                <a:uFillTx/>
                <a:latin typeface="Segoe UI"/>
                <a:ea typeface="+mn-ea"/>
                <a:cs typeface="+mn-cs"/>
              </a:rPr>
            </a:br>
            <a:r>
              <a:rPr kumimoji="0" lang="en-US" sz="1800" b="0" i="0" u="none" strike="noStrike" kern="1200" cap="none" spc="0" normalizeH="0" baseline="0" noProof="0" dirty="0">
                <a:ln>
                  <a:noFill/>
                </a:ln>
                <a:solidFill>
                  <a:srgbClr val="D0D0D0"/>
                </a:solidFill>
                <a:effectLst/>
                <a:uLnTx/>
                <a:uFillTx/>
                <a:latin typeface="Segoe UI"/>
                <a:ea typeface="+mn-ea"/>
                <a:cs typeface="+mn-cs"/>
              </a:rPr>
              <a:t>transforms into UUID regex, email regex, integer + range checks</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383362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2400" b="1" i="0" u="none" strike="noStrike" kern="1200" cap="none" spc="0" normalizeH="0" baseline="0" noProof="0">
                <a:ln>
                  <a:noFill/>
                </a:ln>
                <a:solidFill>
                  <a:srgbClr val="F0F0F0"/>
                </a:solidFill>
                <a:effectLst/>
                <a:uLnTx/>
                <a:uFillTx/>
                <a:latin typeface="Segoe UI Semibold"/>
                <a:ea typeface="+mn-ea"/>
                <a:cs typeface="+mn-cs"/>
              </a:rPr>
              <a:t>Type → Schema: Automatic Generation</a:t>
            </a:r>
            <a:endParaRPr kumimoji="0" lang="en-US" sz="2400" b="1" i="0" u="none" strike="noStrike" kern="1200" cap="none" spc="0" normalizeH="0" baseline="0" noProof="0" dirty="0">
              <a:ln>
                <a:noFill/>
              </a:ln>
              <a:solidFill>
                <a:srgbClr val="F0F0F0"/>
              </a:solidFill>
              <a:effectLst/>
              <a:uLnTx/>
              <a:uFillTx/>
              <a:latin typeface="Segoe UI Semibold"/>
              <a:ea typeface="+mn-ea"/>
              <a:cs typeface="+mn-cs"/>
            </a:endParaRP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0D4AA"/>
                </a:solidFill>
                <a:effectLst/>
                <a:uLnTx/>
                <a:uFillTx/>
                <a:latin typeface="Segoe UI Semibold"/>
                <a:ea typeface="+mn-ea"/>
                <a:cs typeface="+mn-cs"/>
              </a:rPr>
              <a:t>TypeScript Type (input)</a:t>
            </a:r>
          </a:p>
        </p:txBody>
      </p:sp>
      <p:sp>
        <p:nvSpPr>
          <p:cNvPr id="13" name="LBg"/>
          <p:cNvSpPr/>
          <p:nvPr/>
        </p:nvSpPr>
        <p:spPr>
          <a:xfrm>
            <a:off x="762000" y="16256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import </a:t>
            </a:r>
            <a:r>
              <a:rPr kumimoji="0" lang="en-US" sz="1400" b="0" i="0" u="none" strike="noStrike" kern="1200" cap="none" spc="0" normalizeH="0" baseline="0" noProof="0" dirty="0">
                <a:ln>
                  <a:noFill/>
                </a:ln>
                <a:solidFill>
                  <a:srgbClr val="D4D4D4"/>
                </a:solidFill>
                <a:effectLst/>
                <a:uLnTx/>
                <a:uFillTx/>
                <a:latin typeface="Consolas"/>
                <a:ea typeface="+mn-ea"/>
                <a:cs typeface="+mn-cs"/>
              </a:rPr>
              <a:t>typia, { tags } </a:t>
            </a:r>
            <a:r>
              <a:rPr kumimoji="0" lang="en-US" sz="1400" b="0" i="0" u="none" strike="noStrike" kern="1200" cap="none" spc="0" normalizeH="0" baseline="0" noProof="0" dirty="0">
                <a:ln>
                  <a:noFill/>
                </a:ln>
                <a:solidFill>
                  <a:srgbClr val="C586C0"/>
                </a:solidFill>
                <a:effectLst/>
                <a:uLnTx/>
                <a:uFillTx/>
                <a:latin typeface="Consolas"/>
                <a:ea typeface="+mn-ea"/>
                <a:cs typeface="+mn-cs"/>
              </a:rPr>
              <a:t>from </a:t>
            </a:r>
            <a:r>
              <a:rPr kumimoji="0" lang="en-US" sz="1400" b="0" i="0" u="none" strike="noStrike" kern="1200" cap="none" spc="0" normalizeH="0" baseline="0" noProof="0" dirty="0">
                <a:ln>
                  <a:noFill/>
                </a:ln>
                <a:solidFill>
                  <a:srgbClr val="CE9178"/>
                </a:solidFill>
                <a:effectLst/>
                <a:uLnTx/>
                <a:uFillTx/>
                <a:latin typeface="Consolas"/>
                <a:ea typeface="+mn-ea"/>
                <a:cs typeface="+mn-cs"/>
              </a:rPr>
              <a:t>"typia"</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C586C0"/>
                </a:solidFill>
                <a:effectLst/>
                <a:uLnTx/>
                <a:uFillTx/>
                <a:latin typeface="Consolas"/>
                <a:ea typeface="+mn-ea"/>
                <a:cs typeface="+mn-cs"/>
              </a:rPr>
              <a:t>interface </a:t>
            </a:r>
            <a:r>
              <a:rPr kumimoji="0" lang="en-US" sz="1400" b="0" i="0" u="none" strike="noStrike" kern="1200" cap="none" spc="0" normalizeH="0" baseline="0" noProof="0" dirty="0">
                <a:ln>
                  <a:noFill/>
                </a:ln>
                <a:solidFill>
                  <a:srgbClr val="4EC9B0"/>
                </a:solidFill>
                <a:effectLst/>
                <a:uLnTx/>
                <a:uFillTx/>
                <a:latin typeface="Consolas"/>
                <a:ea typeface="+mn-ea"/>
                <a:cs typeface="+mn-cs"/>
              </a:rPr>
              <a:t>IMember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Member's age.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Only adults aged 19 or older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 can register.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6A9955"/>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age: </a:t>
            </a:r>
            <a:r>
              <a:rPr kumimoji="0" lang="en-US" sz="1400" b="0" i="0" u="none" strike="noStrike" kern="1200" cap="none" spc="0" normalizeH="0" baseline="0" noProof="0" dirty="0">
                <a:ln>
                  <a:noFill/>
                </a:ln>
                <a:solidFill>
                  <a:srgbClr val="569CD6"/>
                </a:solidFill>
                <a:effectLst/>
                <a:uLnTx/>
                <a:uFillTx/>
                <a:latin typeface="Consolas"/>
                <a:ea typeface="+mn-ea"/>
                <a:cs typeface="+mn-cs"/>
              </a:rPr>
              <a:t>number</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"uint32"</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email: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name: </a:t>
            </a:r>
            <a:r>
              <a:rPr kumimoji="0" lang="en-US" sz="1400" b="0" i="0" u="none" strike="noStrike" kern="1200" cap="none" spc="0" normalizeH="0" baseline="0" noProof="0" dirty="0">
                <a:ln>
                  <a:noFill/>
                </a:ln>
                <a:solidFill>
                  <a:srgbClr val="569CD6"/>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586C0"/>
                </a:solidFill>
                <a:effectLst/>
                <a:uLnTx/>
                <a:uFillTx/>
                <a:latin typeface="Consolas"/>
                <a:ea typeface="+mn-ea"/>
                <a:cs typeface="+mn-cs"/>
              </a:rPr>
              <a:t>&amp;</a:t>
            </a:r>
            <a:r>
              <a:rPr kumimoji="0" lang="en-US" sz="1400" b="0" i="0" u="none" strike="noStrike" kern="1200" cap="none" spc="0" normalizeH="0" baseline="0" noProof="0" dirty="0">
                <a:ln>
                  <a:noFill/>
                </a:ln>
                <a:solidFill>
                  <a:srgbClr val="D4D4D4"/>
                </a:solidFill>
                <a:effectLst/>
                <a:uLnTx/>
                <a:uFillTx/>
                <a:latin typeface="Consolas"/>
                <a:ea typeface="+mn-ea"/>
                <a:cs typeface="+mn-cs"/>
              </a:rPr>
              <a:t> tags.</a:t>
            </a:r>
            <a:r>
              <a:rPr kumimoji="0" lang="en-US" sz="1400" b="0" i="0" u="none" strike="noStrike" kern="1200" cap="none" spc="0" normalizeH="0" baseline="0" noProof="0" dirty="0">
                <a:ln>
                  <a:noFill/>
                </a:ln>
                <a:solidFill>
                  <a:srgbClr val="4EC9B0"/>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&lt;</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r>
              <a:rPr kumimoji="0" lang="en-US" sz="1400" b="0" i="0" u="none" strike="noStrike" kern="1200" cap="none" spc="0" normalizeH="0" baseline="0" noProof="0" dirty="0">
                <a:ln>
                  <a:noFill/>
                </a:ln>
                <a:solidFill>
                  <a:srgbClr val="D4D4D4"/>
                </a:solidFill>
                <a:effectLst/>
                <a:uLnTx/>
                <a:uFillTx/>
                <a:latin typeface="Consolas"/>
                <a:ea typeface="+mn-ea"/>
                <a:cs typeface="+mn-cs"/>
              </a:rPr>
              <a:t>&gt;;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D4D4D4"/>
              </a:solidFill>
              <a:effectLst/>
              <a:uLnTx/>
              <a:uFillTx/>
              <a:latin typeface="Consolas"/>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sng" strike="noStrike" kern="1200" cap="none" spc="0" normalizeH="0" baseline="0" noProof="0" dirty="0">
                <a:ln>
                  <a:noFill/>
                </a:ln>
                <a:solidFill>
                  <a:srgbClr val="C586C0"/>
                </a:solidFill>
                <a:effectLst/>
                <a:uLnTx/>
                <a:uFillTx/>
                <a:latin typeface="Consolas"/>
                <a:ea typeface="+mn-ea"/>
                <a:cs typeface="+mn-cs"/>
              </a:rPr>
              <a:t>const </a:t>
            </a:r>
            <a:r>
              <a:rPr kumimoji="0" lang="en-US" sz="1400" b="1" i="0" u="sng" strike="noStrike" kern="1200" cap="none" spc="0" normalizeH="0" baseline="0" noProof="0" dirty="0">
                <a:ln>
                  <a:noFill/>
                </a:ln>
                <a:solidFill>
                  <a:srgbClr val="D4D4D4"/>
                </a:solidFill>
                <a:effectLst/>
                <a:uLnTx/>
                <a:uFillTx/>
                <a:latin typeface="Consolas"/>
                <a:ea typeface="+mn-ea"/>
                <a:cs typeface="+mn-cs"/>
              </a:rPr>
              <a:t>schema = typia.llm.</a:t>
            </a:r>
            <a:r>
              <a:rPr kumimoji="0" lang="en-US" sz="1400" b="1" i="0" u="sng" strike="noStrike" kern="1200" cap="none" spc="0" normalizeH="0" baseline="0" noProof="0" dirty="0">
                <a:ln>
                  <a:noFill/>
                </a:ln>
                <a:solidFill>
                  <a:srgbClr val="4EC9B0"/>
                </a:solidFill>
                <a:effectLst/>
                <a:uLnTx/>
                <a:uFillTx/>
                <a:latin typeface="Consolas"/>
                <a:ea typeface="+mn-ea"/>
                <a:cs typeface="+mn-cs"/>
              </a:rPr>
              <a:t>parameters</a:t>
            </a:r>
            <a:r>
              <a:rPr kumimoji="0" lang="en-US" sz="1400" b="1" i="0" u="sng" strike="noStrike" kern="1200" cap="none" spc="0" normalizeH="0" baseline="0" noProof="0" dirty="0">
                <a:ln>
                  <a:noFill/>
                </a:ln>
                <a:solidFill>
                  <a:srgbClr val="D4D4D4"/>
                </a:solidFill>
                <a:effectLst/>
                <a:uLnTx/>
                <a:uFillTx/>
                <a:latin typeface="Consolas"/>
                <a:ea typeface="+mn-ea"/>
                <a:cs typeface="+mn-cs"/>
              </a:rPr>
              <a:t>&lt;</a:t>
            </a:r>
            <a:r>
              <a:rPr kumimoji="0" lang="en-US" sz="1400" b="1" i="0" u="sng" strike="noStrike" kern="1200" cap="none" spc="0" normalizeH="0" baseline="0" noProof="0" dirty="0">
                <a:ln>
                  <a:noFill/>
                </a:ln>
                <a:solidFill>
                  <a:srgbClr val="4EC9B0"/>
                </a:solidFill>
                <a:effectLst/>
                <a:uLnTx/>
                <a:uFillTx/>
                <a:latin typeface="Consolas"/>
                <a:ea typeface="+mn-ea"/>
                <a:cs typeface="+mn-cs"/>
              </a:rPr>
              <a:t>IMember</a:t>
            </a:r>
            <a:r>
              <a:rPr kumimoji="0" lang="en-US" sz="1400" b="1" i="0" u="sng" strike="noStrike" kern="1200" cap="none" spc="0" normalizeH="0" baseline="0" noProof="0" dirty="0">
                <a:ln>
                  <a:noFill/>
                </a:ln>
                <a:solidFill>
                  <a:srgbClr val="D4D4D4"/>
                </a:solidFill>
                <a:effectLst/>
                <a:uLnTx/>
                <a:uFillTx/>
                <a:latin typeface="Consolas"/>
                <a:ea typeface="+mn-ea"/>
                <a:cs typeface="+mn-cs"/>
              </a:rPr>
              <a:t>&gt;();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FD93D"/>
                </a:solidFill>
                <a:effectLst/>
                <a:uLnTx/>
                <a:uFillTx/>
                <a:latin typeface="Segoe UI Semibold"/>
                <a:ea typeface="+mn-ea"/>
                <a:cs typeface="+mn-cs"/>
              </a:rPr>
              <a:t>Generated JSON Schema (output)</a:t>
            </a:r>
          </a:p>
        </p:txBody>
      </p:sp>
      <p:sp>
        <p:nvSpPr>
          <p:cNvPr id="16" name="RBg"/>
          <p:cNvSpPr/>
          <p:nvPr/>
        </p:nvSpPr>
        <p:spPr>
          <a:xfrm>
            <a:off x="6350000" y="1651000"/>
            <a:ext cx="5080000" cy="4191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ONCode"/>
          <p:cNvSpPr/>
          <p:nvPr/>
        </p:nvSpPr>
        <p:spPr>
          <a:xfrm>
            <a:off x="6477000" y="1676400"/>
            <a:ext cx="4826000" cy="4064000"/>
          </a:xfrm>
          <a:prstGeom prst="rect">
            <a:avLst/>
          </a:prstGeom>
          <a:noFill/>
          <a:ln>
            <a:noFill/>
          </a:ln>
        </p:spPr>
        <p:txBody>
          <a:bodyPr wrap="square" lIns="36000" tIns="36000" rIns="36000" bIns="36000"/>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"object"</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"properties"</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"integer"</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"description"</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"Member's age.\n...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"exclusiveMinimum"</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18</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"format"</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"type"</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"string"</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"minLength"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"maxLength"</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B5CEA8"/>
                </a:solidFill>
                <a:effectLst/>
                <a:uLnTx/>
                <a:uFillTx/>
                <a:latin typeface="Consolas"/>
                <a:ea typeface="+mn-ea"/>
                <a:cs typeface="+mn-cs"/>
              </a:rPr>
              <a:t>100</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569CD6"/>
                </a:solidFill>
                <a:effectLst/>
                <a:uLnTx/>
                <a:uFillTx/>
                <a:latin typeface="Consolas"/>
                <a:ea typeface="+mn-ea"/>
                <a:cs typeface="+mn-cs"/>
              </a:rPr>
              <a:t>"required"</a:t>
            </a:r>
            <a:r>
              <a:rPr kumimoji="0" lang="en-US" sz="1400" b="0" i="0" u="none" strike="noStrike" kern="1200" cap="none" spc="0" normalizeH="0" baseline="0" noProof="0" dirty="0">
                <a:ln>
                  <a:noFill/>
                </a:ln>
                <a:solidFill>
                  <a:srgbClr val="D4D4D4"/>
                </a:solidFill>
                <a:effectLst/>
                <a:uLnTx/>
                <a:uFillTx/>
                <a:latin typeface="Consolas"/>
                <a:ea typeface="+mn-ea"/>
                <a:cs typeface="+mn-cs"/>
              </a:rPr>
              <a:t>: [</a:t>
            </a:r>
            <a:r>
              <a:rPr kumimoji="0" lang="en-US" sz="1400" b="0" i="0" u="none" strike="noStrike" kern="1200" cap="none" spc="0" normalizeH="0" baseline="0" noProof="0" dirty="0">
                <a:ln>
                  <a:noFill/>
                </a:ln>
                <a:solidFill>
                  <a:srgbClr val="CE9178"/>
                </a:solidFill>
                <a:effectLst/>
                <a:uLnTx/>
                <a:uFillTx/>
                <a:latin typeface="Consolas"/>
                <a:ea typeface="+mn-ea"/>
                <a:cs typeface="+mn-cs"/>
              </a:rPr>
              <a:t>"age"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"email"</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r>
              <a:rPr kumimoji="0" lang="en-US" sz="1400" b="0" i="0" u="none" strike="noStrike" kern="1200" cap="none" spc="0" normalizeH="0" baseline="0" noProof="0" dirty="0">
                <a:ln>
                  <a:noFill/>
                </a:ln>
                <a:solidFill>
                  <a:srgbClr val="CE9178"/>
                </a:solidFill>
                <a:effectLst/>
                <a:uLnTx/>
                <a:uFillTx/>
                <a:latin typeface="Consolas"/>
                <a:ea typeface="+mn-ea"/>
                <a:cs typeface="+mn-cs"/>
              </a:rPr>
              <a:t>"name"</a:t>
            </a: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D4D4D4"/>
                </a:solidFill>
                <a:effectLst/>
                <a:uLnTx/>
                <a:uFillTx/>
                <a:latin typeface="Consolas"/>
                <a:ea typeface="+mn-ea"/>
                <a:cs typeface="+mn-cs"/>
              </a:rPr>
              <a:t>}</a:t>
            </a:r>
          </a:p>
        </p:txBody>
      </p:sp>
      <p:sp>
        <p:nvSpPr>
          <p:cNvPr id="18" name="Arr"/>
          <p:cNvSpPr/>
          <p:nvPr/>
        </p:nvSpPr>
        <p:spPr>
          <a:xfrm>
            <a:off x="5867400" y="3429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19" name="Insight"/>
          <p:cNvSpPr/>
          <p:nvPr/>
        </p:nvSpPr>
        <p:spPr>
          <a:xfrm>
            <a:off x="762000" y="6032500"/>
            <a:ext cx="10668000" cy="5715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D93D"/>
                </a:solidFill>
                <a:effectLst/>
                <a:uLnTx/>
                <a:uFillTx/>
                <a:latin typeface="Segoe UI Semibold"/>
                <a:ea typeface="+mn-ea"/>
                <a:cs typeface="+mn-cs"/>
              </a:rPr>
              <a:t>JSDoc comments → description fields  |  Type constraints → validation rules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D0D0D0"/>
                </a:solidFill>
                <a:effectLst/>
                <a:uLnTx/>
                <a:uFillTx/>
                <a:latin typeface="Segoe UI"/>
                <a:ea typeface="+mn-ea"/>
                <a:cs typeface="+mn-cs"/>
              </a:rPr>
              <a:t>One type = LLM guidance + validation rules</a:t>
            </a:r>
          </a:p>
        </p:txBody>
      </p:sp>
      <p:sp>
        <p:nvSpPr>
          <p:cNvPr id="2" name="AL">
            <a:extLst>
              <a:ext uri="{FF2B5EF4-FFF2-40B4-BE49-F238E27FC236}">
                <a16:creationId xmlns:a16="http://schemas.microsoft.com/office/drawing/2014/main" id="{10E637CF-DE1E-4A7C-871C-04334855BCAB}"/>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Tree>
    <p:extLst>
      <p:ext uri="{BB962C8B-B14F-4D97-AF65-F5344CB8AC3E}">
        <p14:creationId xmlns:p14="http://schemas.microsoft.com/office/powerpoint/2010/main" val="10868157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JSDoc → LLM Description</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buNone/>
            </a:pPr>
            <a:r>
              <a:rPr lang="en-US" sz="1800" b="1" dirty="0"/>
              <a:t>JSDoc Comments → description fields</a:t>
            </a:r>
          </a:p>
          <a:p>
            <a:pPr>
              <a:buFont typeface="Arial"/>
              <a:buChar char="•"/>
            </a:pPr>
            <a:r>
              <a:rPr lang="en-US" sz="1800" dirty="0"/>
              <a:t>LLM reads description to decide what values to generate</a:t>
            </a:r>
          </a:p>
          <a:p>
            <a:pPr>
              <a:buNone/>
            </a:pPr>
            <a:endParaRPr lang="en-US" sz="800" dirty="0"/>
          </a:p>
          <a:p>
            <a:pPr>
              <a:buNone/>
            </a:pPr>
            <a:r>
              <a:rPr lang="en-US" sz="1800" b="1" dirty="0"/>
              <a:t>Type constraints → validation rules</a:t>
            </a:r>
          </a:p>
          <a:p>
            <a:pPr>
              <a:buFont typeface="Arial"/>
              <a:buChar char="•"/>
            </a:pPr>
            <a:r>
              <a:rPr lang="en-US" sz="1800" dirty="0"/>
              <a:t>ExclusiveMinimum&lt;18&gt; → "&gt; 18" rule</a:t>
            </a:r>
          </a:p>
          <a:p>
            <a:pPr>
              <a:buFont typeface="Arial"/>
              <a:buChar char="•"/>
            </a:pPr>
            <a:r>
              <a:rPr lang="en-US" sz="1800" dirty="0"/>
              <a:t>Format&lt;"email"&gt; → email format check</a:t>
            </a:r>
          </a:p>
          <a:p>
            <a:pPr>
              <a:buNone/>
            </a:pPr>
            <a:endParaRPr lang="en-US" sz="800" dirty="0"/>
          </a:p>
          <a:p>
            <a:pPr>
              <a:buNone/>
            </a:pPr>
            <a:r>
              <a:rPr lang="en-US" sz="1800" b="1" dirty="0"/>
              <a:t>One type definition simultaneously generates LLM guidance AND validation rules</a:t>
            </a:r>
          </a:p>
        </p:txBody>
      </p:sp>
    </p:spTree>
    <p:extLst>
      <p:ext uri="{BB962C8B-B14F-4D97-AF65-F5344CB8AC3E}">
        <p14:creationId xmlns:p14="http://schemas.microsoft.com/office/powerpoint/2010/main" val="29601169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a:xfrm>
            <a:off x="1143000" y="381000"/>
            <a:ext cx="9880600" cy="762000"/>
          </a:xfrm>
        </p:spPr>
        <p:txBody>
          <a:bodyPr>
            <a:normAutofit/>
          </a:bodyPr>
          <a:lstStyle/>
          <a:p>
            <a:r>
              <a:rPr lang="en-US" dirty="0"/>
              <a:t>2.2. </a:t>
            </a:r>
            <a:r>
              <a:rPr lang="en-US" dirty="0" err="1"/>
              <a:t>typia.llm.application</a:t>
            </a:r>
            <a:r>
              <a:rPr lang="en-US" dirty="0"/>
              <a:t>&lt;Class&gt;()</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a:xfrm>
            <a:off x="776748" y="1397000"/>
            <a:ext cx="5954252" cy="4826000"/>
          </a:xfrm>
        </p:spPr>
        <p:txBody>
          <a:bodyPr>
            <a:normAutofit/>
          </a:bodyPr>
          <a:lstStyle/>
          <a:p>
            <a:pPr>
              <a:buNone/>
            </a:pPr>
            <a:r>
              <a:rPr lang="en-US" sz="1800" dirty="0"/>
              <a:t>Scales schema generation to entire classes — every method becomes a function calling schema</a:t>
            </a:r>
          </a:p>
          <a:p>
            <a:pPr>
              <a:buNone/>
            </a:pPr>
            <a:endParaRPr lang="en-US" sz="800" dirty="0"/>
          </a:p>
          <a:p>
            <a:pPr>
              <a:buNone/>
            </a:pPr>
            <a:r>
              <a:rPr lang="en-US" sz="1800" b="1" dirty="0"/>
              <a:t>Each ILlmFunction automatically provides:</a:t>
            </a:r>
          </a:p>
          <a:p>
            <a:pPr>
              <a:buFont typeface="Arial"/>
              <a:buChar char="•"/>
            </a:pPr>
            <a:r>
              <a:rPr lang="en-US" sz="1800" b="1" dirty="0"/>
              <a:t>parameters</a:t>
            </a:r>
            <a:r>
              <a:rPr lang="en-US" sz="1800" dirty="0"/>
              <a:t> — JSON Schema for the LLM to fill</a:t>
            </a:r>
          </a:p>
          <a:p>
            <a:pPr>
              <a:buFont typeface="Arial"/>
              <a:buChar char="•"/>
            </a:pPr>
            <a:r>
              <a:rPr lang="en-US" sz="1800" b="1" dirty="0"/>
              <a:t>parse()</a:t>
            </a:r>
            <a:r>
              <a:rPr lang="en-US" sz="1800" dirty="0"/>
              <a:t> — lenient JSON parsing + type coercion</a:t>
            </a:r>
          </a:p>
          <a:p>
            <a:pPr>
              <a:buFont typeface="Arial"/>
              <a:buChar char="•"/>
            </a:pPr>
            <a:r>
              <a:rPr lang="en-US" sz="1800" b="1" dirty="0"/>
              <a:t>coerce()</a:t>
            </a:r>
            <a:r>
              <a:rPr lang="en-US" sz="1800" dirty="0"/>
              <a:t> — schema-based type conversion</a:t>
            </a:r>
          </a:p>
          <a:p>
            <a:pPr>
              <a:buFont typeface="Arial"/>
              <a:buChar char="•"/>
            </a:pPr>
            <a:r>
              <a:rPr lang="en-US" sz="1800" b="1" dirty="0"/>
              <a:t>validate()</a:t>
            </a:r>
            <a:r>
              <a:rPr lang="en-US" sz="1800" dirty="0"/>
              <a:t> — precise error detection with exact paths</a:t>
            </a:r>
          </a:p>
          <a:p>
            <a:pPr>
              <a:buNone/>
            </a:pPr>
            <a:endParaRPr lang="en-US" sz="800" dirty="0"/>
          </a:p>
          <a:p>
            <a:pPr>
              <a:buNone/>
            </a:pPr>
            <a:r>
              <a:rPr lang="en-US" sz="1800" b="1" dirty="0"/>
              <a:t>Define one class → get the full function calling pipeline</a:t>
            </a:r>
          </a:p>
        </p:txBody>
      </p:sp>
      <p:grpSp>
        <p:nvGrpSpPr>
          <p:cNvPr id="4" name="그룹 3">
            <a:extLst>
              <a:ext uri="{FF2B5EF4-FFF2-40B4-BE49-F238E27FC236}">
                <a16:creationId xmlns:a16="http://schemas.microsoft.com/office/drawing/2014/main" id="{635A3A35-FA13-F844-235E-C80912BA854A}"/>
              </a:ext>
            </a:extLst>
          </p:cNvPr>
          <p:cNvGrpSpPr/>
          <p:nvPr/>
        </p:nvGrpSpPr>
        <p:grpSpPr>
          <a:xfrm>
            <a:off x="7112000" y="1714091"/>
            <a:ext cx="3937000" cy="4356100"/>
            <a:chOff x="6667500" y="1016000"/>
            <a:chExt cx="3937000" cy="4356100"/>
          </a:xfrm>
        </p:grpSpPr>
        <p:sp>
          <p:nvSpPr>
            <p:cNvPr id="200" name="Compile"/>
            <p:cNvSpPr/>
            <p:nvPr/>
          </p:nvSpPr>
          <p:spPr>
            <a:xfrm>
              <a:off x="6731000" y="1016000"/>
              <a:ext cx="3810000" cy="698500"/>
            </a:xfrm>
            <a:prstGeom prst="roundRect">
              <a:avLst/>
            </a:prstGeom>
            <a:solidFill>
              <a:srgbClr val="4A90D9"/>
            </a:solidFill>
            <a:ln w="0">
              <a:noFill/>
            </a:ln>
          </p:spPr>
          <p:txBody>
            <a:bodyPr wrap="square" lIns="54000" tIns="36000" rIns="54000" bIns="36000" anchor="ctr"/>
            <a:lstStyle/>
            <a:p>
              <a:pPr algn="ctr">
                <a:buNone/>
              </a:pPr>
              <a:r>
                <a:rPr lang="en-US" sz="1800" b="1" dirty="0">
                  <a:solidFill>
                    <a:srgbClr val="FFFFFF"/>
                  </a:solidFill>
                  <a:latin typeface="Consolas"/>
                </a:rPr>
                <a:t>Compile</a:t>
              </a:r>
            </a:p>
            <a:p>
              <a:pPr algn="ctr">
                <a:buNone/>
              </a:pPr>
              <a:r>
                <a:rPr lang="en-US" sz="1400" dirty="0">
                  <a:solidFill>
                    <a:srgbClr val="FFFFFF">
                      <a:alpha val="80000"/>
                    </a:srgbClr>
                  </a:solidFill>
                  <a:latin typeface="Segoe UI"/>
                </a:rPr>
                <a:t>TS Class → Schema</a:t>
              </a:r>
            </a:p>
          </p:txBody>
        </p:sp>
        <p:sp>
          <p:nvSpPr>
            <p:cNvPr id="201" name="Arr1"/>
            <p:cNvSpPr/>
            <p:nvPr/>
          </p:nvSpPr>
          <p:spPr>
            <a:xfrm>
              <a:off x="8534400" y="1752600"/>
              <a:ext cx="203200" cy="254000"/>
            </a:xfrm>
            <a:prstGeom prst="downArrow">
              <a:avLst/>
            </a:prstGeom>
            <a:solidFill>
              <a:srgbClr val="666666"/>
            </a:solidFill>
            <a:ln w="0">
              <a:noFill/>
            </a:ln>
          </p:spPr>
          <p:txBody>
            <a:bodyPr/>
            <a:lstStyle/>
            <a:p>
              <a:endParaRPr lang="en-US"/>
            </a:p>
          </p:txBody>
        </p:sp>
        <p:sp>
          <p:nvSpPr>
            <p:cNvPr id="210" name="Parse"/>
            <p:cNvSpPr/>
            <p:nvPr/>
          </p:nvSpPr>
          <p:spPr>
            <a:xfrm>
              <a:off x="6731000" y="2095500"/>
              <a:ext cx="1714500" cy="698500"/>
            </a:xfrm>
            <a:prstGeom prst="roundRect">
              <a:avLst/>
            </a:prstGeom>
            <a:solidFill>
              <a:srgbClr val="FF9F43"/>
            </a:solidFill>
            <a:ln w="0">
              <a:noFill/>
            </a:ln>
          </p:spPr>
          <p:txBody>
            <a:bodyPr wrap="square" lIns="54000" tIns="36000" rIns="54000" bIns="36000" anchor="ctr"/>
            <a:lstStyle/>
            <a:p>
              <a:pPr algn="ctr">
                <a:buNone/>
              </a:pPr>
              <a:r>
                <a:rPr lang="en-US" sz="1800" b="1" dirty="0">
                  <a:solidFill>
                    <a:srgbClr val="FFFFFF"/>
                  </a:solidFill>
                  <a:latin typeface="Consolas"/>
                </a:rPr>
                <a:t>parse()</a:t>
              </a:r>
            </a:p>
            <a:p>
              <a:pPr algn="ctr">
                <a:buNone/>
              </a:pPr>
              <a:r>
                <a:rPr lang="en-US" sz="1400" dirty="0">
                  <a:solidFill>
                    <a:srgbClr val="FFFFFF">
                      <a:alpha val="80000"/>
                    </a:srgbClr>
                  </a:solidFill>
                  <a:latin typeface="Segoe UI"/>
                </a:rPr>
                <a:t>Lenient parsing</a:t>
              </a:r>
            </a:p>
          </p:txBody>
        </p:sp>
        <p:sp>
          <p:nvSpPr>
            <p:cNvPr id="211" name="Coerce"/>
            <p:cNvSpPr/>
            <p:nvPr/>
          </p:nvSpPr>
          <p:spPr>
            <a:xfrm>
              <a:off x="8826500" y="2095500"/>
              <a:ext cx="1714500" cy="698500"/>
            </a:xfrm>
            <a:prstGeom prst="roundRect">
              <a:avLst/>
            </a:prstGeom>
            <a:solidFill>
              <a:srgbClr val="A855F7"/>
            </a:solidFill>
            <a:ln w="0">
              <a:noFill/>
            </a:ln>
          </p:spPr>
          <p:txBody>
            <a:bodyPr wrap="square" lIns="54000" tIns="36000" rIns="54000" bIns="36000" anchor="ctr"/>
            <a:lstStyle/>
            <a:p>
              <a:pPr algn="ctr">
                <a:buNone/>
              </a:pPr>
              <a:r>
                <a:rPr lang="en-US" sz="1800" b="1" dirty="0">
                  <a:solidFill>
                    <a:srgbClr val="FFFFFF"/>
                  </a:solidFill>
                  <a:latin typeface="Consolas"/>
                </a:rPr>
                <a:t>coerce()</a:t>
              </a:r>
            </a:p>
            <a:p>
              <a:pPr algn="ctr">
                <a:buNone/>
              </a:pPr>
              <a:r>
                <a:rPr lang="en-US" sz="1400" dirty="0">
                  <a:solidFill>
                    <a:srgbClr val="FFFFFF">
                      <a:alpha val="80000"/>
                    </a:srgbClr>
                  </a:solidFill>
                  <a:latin typeface="Segoe UI"/>
                </a:rPr>
                <a:t>Type conversion</a:t>
              </a:r>
            </a:p>
          </p:txBody>
        </p:sp>
        <p:sp>
          <p:nvSpPr>
            <p:cNvPr id="212" name="PC_R"/>
            <p:cNvSpPr/>
            <p:nvPr/>
          </p:nvSpPr>
          <p:spPr>
            <a:xfrm>
              <a:off x="8470900" y="2273300"/>
              <a:ext cx="330200" cy="152400"/>
            </a:xfrm>
            <a:prstGeom prst="rightArrow">
              <a:avLst/>
            </a:prstGeom>
            <a:solidFill>
              <a:srgbClr val="808080"/>
            </a:solidFill>
            <a:ln w="0">
              <a:noFill/>
            </a:ln>
          </p:spPr>
          <p:txBody>
            <a:bodyPr/>
            <a:lstStyle/>
            <a:p>
              <a:endParaRPr lang="en-US"/>
            </a:p>
          </p:txBody>
        </p:sp>
        <p:sp>
          <p:nvSpPr>
            <p:cNvPr id="213" name="PC_L"/>
            <p:cNvSpPr/>
            <p:nvPr/>
          </p:nvSpPr>
          <p:spPr>
            <a:xfrm>
              <a:off x="8470900" y="2476500"/>
              <a:ext cx="330200" cy="152400"/>
            </a:xfrm>
            <a:prstGeom prst="leftArrow">
              <a:avLst/>
            </a:prstGeom>
            <a:solidFill>
              <a:srgbClr val="808080"/>
            </a:solidFill>
            <a:ln w="0">
              <a:noFill/>
            </a:ln>
          </p:spPr>
          <p:txBody>
            <a:bodyPr/>
            <a:lstStyle/>
            <a:p>
              <a:endParaRPr lang="en-US"/>
            </a:p>
          </p:txBody>
        </p:sp>
        <p:sp>
          <p:nvSpPr>
            <p:cNvPr id="214" name="Loop1Label"/>
            <p:cNvSpPr/>
            <p:nvPr/>
          </p:nvSpPr>
          <p:spPr>
            <a:xfrm>
              <a:off x="6667500" y="2832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Correction Loop</a:t>
              </a:r>
            </a:p>
          </p:txBody>
        </p:sp>
        <p:sp>
          <p:nvSpPr>
            <p:cNvPr id="220" name="Arr2"/>
            <p:cNvSpPr/>
            <p:nvPr/>
          </p:nvSpPr>
          <p:spPr>
            <a:xfrm>
              <a:off x="8534400" y="3149600"/>
              <a:ext cx="203200" cy="254000"/>
            </a:xfrm>
            <a:prstGeom prst="downArrow">
              <a:avLst/>
            </a:prstGeom>
            <a:solidFill>
              <a:srgbClr val="666666"/>
            </a:solidFill>
            <a:ln w="0">
              <a:noFill/>
            </a:ln>
          </p:spPr>
          <p:txBody>
            <a:bodyPr/>
            <a:lstStyle/>
            <a:p>
              <a:endParaRPr lang="en-US"/>
            </a:p>
          </p:txBody>
        </p:sp>
        <p:sp>
          <p:nvSpPr>
            <p:cNvPr id="230" name="Validate"/>
            <p:cNvSpPr/>
            <p:nvPr/>
          </p:nvSpPr>
          <p:spPr>
            <a:xfrm>
              <a:off x="6731000" y="3492500"/>
              <a:ext cx="1714500" cy="698500"/>
            </a:xfrm>
            <a:prstGeom prst="roundRect">
              <a:avLst/>
            </a:prstGeom>
            <a:solidFill>
              <a:srgbClr val="EF4444"/>
            </a:solidFill>
            <a:ln w="0">
              <a:noFill/>
            </a:ln>
          </p:spPr>
          <p:txBody>
            <a:bodyPr wrap="square" lIns="54000" tIns="36000" rIns="54000" bIns="36000" anchor="ctr"/>
            <a:lstStyle/>
            <a:p>
              <a:pPr algn="ctr">
                <a:buNone/>
              </a:pPr>
              <a:r>
                <a:rPr lang="en-US" sz="1800" b="1" dirty="0">
                  <a:solidFill>
                    <a:srgbClr val="FFFFFF"/>
                  </a:solidFill>
                  <a:latin typeface="Consolas"/>
                </a:rPr>
                <a:t>validate()</a:t>
              </a:r>
            </a:p>
            <a:p>
              <a:pPr algn="ctr">
                <a:buNone/>
              </a:pPr>
              <a:r>
                <a:rPr lang="en-US" sz="1400" dirty="0">
                  <a:solidFill>
                    <a:srgbClr val="FFFFFF">
                      <a:alpha val="80000"/>
                    </a:srgbClr>
                  </a:solidFill>
                  <a:latin typeface="Segoe UI"/>
                </a:rPr>
                <a:t>Error feedback</a:t>
              </a:r>
            </a:p>
          </p:txBody>
        </p:sp>
        <p:sp>
          <p:nvSpPr>
            <p:cNvPr id="231" name="Execute"/>
            <p:cNvSpPr/>
            <p:nvPr/>
          </p:nvSpPr>
          <p:spPr>
            <a:xfrm>
              <a:off x="8826500" y="3492500"/>
              <a:ext cx="1714500" cy="698500"/>
            </a:xfrm>
            <a:prstGeom prst="roundRect">
              <a:avLst/>
            </a:prstGeom>
            <a:solidFill>
              <a:srgbClr val="10B981"/>
            </a:solidFill>
            <a:ln w="0">
              <a:noFill/>
            </a:ln>
          </p:spPr>
          <p:txBody>
            <a:bodyPr wrap="square" lIns="54000" tIns="36000" rIns="54000" bIns="36000" anchor="ctr"/>
            <a:lstStyle/>
            <a:p>
              <a:pPr algn="ctr">
                <a:buNone/>
              </a:pPr>
              <a:r>
                <a:rPr lang="en-US" sz="1800" b="1" dirty="0">
                  <a:solidFill>
                    <a:srgbClr val="FFFFFF"/>
                  </a:solidFill>
                  <a:latin typeface="Consolas"/>
                </a:rPr>
                <a:t>execute()</a:t>
              </a:r>
            </a:p>
            <a:p>
              <a:pPr algn="ctr">
                <a:buNone/>
              </a:pPr>
              <a:r>
                <a:rPr lang="en-US" sz="1400" dirty="0">
                  <a:solidFill>
                    <a:srgbClr val="FFFFFF">
                      <a:alpha val="80000"/>
                    </a:srgbClr>
                  </a:solidFill>
                  <a:latin typeface="Segoe UI"/>
                </a:rPr>
                <a:t>Function call</a:t>
              </a:r>
            </a:p>
          </p:txBody>
        </p:sp>
        <p:sp>
          <p:nvSpPr>
            <p:cNvPr id="232" name="VE_R"/>
            <p:cNvSpPr/>
            <p:nvPr/>
          </p:nvSpPr>
          <p:spPr>
            <a:xfrm>
              <a:off x="8470900" y="3670300"/>
              <a:ext cx="330200" cy="152400"/>
            </a:xfrm>
            <a:prstGeom prst="rightArrow">
              <a:avLst/>
            </a:prstGeom>
            <a:solidFill>
              <a:srgbClr val="808080"/>
            </a:solidFill>
            <a:ln w="0">
              <a:noFill/>
            </a:ln>
          </p:spPr>
          <p:txBody>
            <a:bodyPr/>
            <a:lstStyle/>
            <a:p>
              <a:endParaRPr lang="en-US"/>
            </a:p>
          </p:txBody>
        </p:sp>
        <p:sp>
          <p:nvSpPr>
            <p:cNvPr id="233" name="VE_L"/>
            <p:cNvSpPr/>
            <p:nvPr/>
          </p:nvSpPr>
          <p:spPr>
            <a:xfrm>
              <a:off x="8470900" y="3873500"/>
              <a:ext cx="330200" cy="152400"/>
            </a:xfrm>
            <a:prstGeom prst="leftArrow">
              <a:avLst/>
            </a:prstGeom>
            <a:solidFill>
              <a:srgbClr val="808080"/>
            </a:solidFill>
            <a:ln w="0">
              <a:noFill/>
            </a:ln>
          </p:spPr>
          <p:txBody>
            <a:bodyPr/>
            <a:lstStyle/>
            <a:p>
              <a:endParaRPr lang="en-US"/>
            </a:p>
          </p:txBody>
        </p:sp>
        <p:sp>
          <p:nvSpPr>
            <p:cNvPr id="234" name="Loop2Label"/>
            <p:cNvSpPr/>
            <p:nvPr/>
          </p:nvSpPr>
          <p:spPr>
            <a:xfrm>
              <a:off x="6667500" y="4229100"/>
              <a:ext cx="3937000" cy="279400"/>
            </a:xfrm>
            <a:prstGeom prst="rect">
              <a:avLst/>
            </a:prstGeom>
            <a:solidFill>
              <a:srgbClr val="333333"/>
            </a:solidFill>
            <a:ln w="0">
              <a:noFill/>
            </a:ln>
          </p:spPr>
          <p:txBody>
            <a:bodyPr wrap="square" lIns="54000" tIns="36000" rIns="54000" bIns="36000" anchor="ctr"/>
            <a:lstStyle/>
            <a:p>
              <a:pPr algn="ctr">
                <a:buNone/>
              </a:pPr>
              <a:r>
                <a:rPr lang="en-US" sz="1400" dirty="0">
                  <a:solidFill>
                    <a:srgbClr val="FFFFFF">
                      <a:alpha val="80000"/>
                    </a:srgbClr>
                  </a:solidFill>
                  <a:latin typeface="Segoe UI"/>
                </a:rPr>
                <a:t>Feedback Loop</a:t>
              </a:r>
            </a:p>
          </p:txBody>
        </p:sp>
        <p:sp>
          <p:nvSpPr>
            <p:cNvPr id="240" name="Arr3"/>
            <p:cNvSpPr/>
            <p:nvPr/>
          </p:nvSpPr>
          <p:spPr>
            <a:xfrm>
              <a:off x="8534400" y="4546600"/>
              <a:ext cx="203200" cy="254000"/>
            </a:xfrm>
            <a:prstGeom prst="downArrow">
              <a:avLst/>
            </a:prstGeom>
            <a:solidFill>
              <a:srgbClr val="666666"/>
            </a:solidFill>
            <a:ln w="0">
              <a:noFill/>
            </a:ln>
          </p:spPr>
          <p:txBody>
            <a:bodyPr/>
            <a:lstStyle/>
            <a:p>
              <a:endParaRPr lang="en-US"/>
            </a:p>
          </p:txBody>
        </p:sp>
        <p:sp>
          <p:nvSpPr>
            <p:cNvPr id="250" name="Result"/>
            <p:cNvSpPr/>
            <p:nvPr/>
          </p:nvSpPr>
          <p:spPr>
            <a:xfrm>
              <a:off x="7366000" y="4864100"/>
              <a:ext cx="2540000" cy="508000"/>
            </a:xfrm>
            <a:prstGeom prst="roundRect">
              <a:avLst/>
            </a:prstGeom>
            <a:solidFill>
              <a:srgbClr val="00D4AA"/>
            </a:solidFill>
            <a:ln w="0">
              <a:noFill/>
            </a:ln>
          </p:spPr>
          <p:txBody>
            <a:bodyPr wrap="square" lIns="54000" tIns="36000" rIns="54000" bIns="36000" anchor="ctr"/>
            <a:lstStyle/>
            <a:p>
              <a:pPr algn="ctr">
                <a:buNone/>
              </a:pPr>
              <a:r>
                <a:rPr lang="en-US" sz="1800" b="1" dirty="0">
                  <a:solidFill>
                    <a:srgbClr val="FFFFFF"/>
                  </a:solidFill>
                  <a:latin typeface="Consolas"/>
                </a:rPr>
                <a:t>Result</a:t>
              </a:r>
            </a:p>
          </p:txBody>
        </p:sp>
      </p:grpSp>
    </p:spTree>
    <p:extLst>
      <p:ext uri="{BB962C8B-B14F-4D97-AF65-F5344CB8AC3E}">
        <p14:creationId xmlns:p14="http://schemas.microsoft.com/office/powerpoint/2010/main" val="23836745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10" name="T"/>
          <p:cNvSpPr/>
          <p:nvPr/>
        </p:nvSpPr>
        <p:spPr>
          <a:xfrm>
            <a:off x="762000" y="381000"/>
            <a:ext cx="10668000" cy="635000"/>
          </a:xfrm>
          <a:prstGeom prst="rect">
            <a:avLst/>
          </a:prstGeom>
          <a:noFill/>
          <a:ln>
            <a:noFill/>
          </a:ln>
        </p:spPr>
        <p:txBody>
          <a:bodyPr wrap="square" lIns="36000" tIns="36000" rIns="36000" bIns="36000"/>
          <a:lstStyle/>
          <a:p>
            <a:pPr algn="l">
              <a:buNone/>
            </a:pPr>
            <a:r>
              <a:rPr lang="en-US" sz="2400" b="1" dirty="0">
                <a:solidFill>
                  <a:srgbClr val="F0F0F0"/>
                </a:solidFill>
                <a:latin typeface="Segoe UI Semibold"/>
              </a:rPr>
              <a:t>Type Coercion</a:t>
            </a:r>
          </a:p>
        </p:txBody>
      </p:sp>
      <p:sp>
        <p:nvSpPr>
          <p:cNvPr id="12" name="LH"/>
          <p:cNvSpPr/>
          <p:nvPr/>
        </p:nvSpPr>
        <p:spPr>
          <a:xfrm>
            <a:off x="762000" y="1270000"/>
            <a:ext cx="5080000" cy="355600"/>
          </a:xfrm>
          <a:prstGeom prst="rect">
            <a:avLst/>
          </a:prstGeom>
          <a:noFill/>
          <a:ln>
            <a:noFill/>
          </a:ln>
        </p:spPr>
        <p:txBody>
          <a:bodyPr wrap="square" lIns="36000" tIns="36000" rIns="36000" bIns="36000"/>
          <a:lstStyle/>
          <a:p>
            <a:pPr algn="ctr">
              <a:buNone/>
            </a:pPr>
            <a:r>
              <a:rPr lang="en-US" sz="1800" b="1" dirty="0">
                <a:solidFill>
                  <a:srgbClr val="00D4AA"/>
                </a:solidFill>
                <a:latin typeface="Segoe UI Semibold"/>
              </a:rPr>
              <a:t>LLM Output</a:t>
            </a:r>
          </a:p>
        </p:txBody>
      </p:sp>
      <p:sp>
        <p:nvSpPr>
          <p:cNvPr id="13" name="LBg"/>
          <p:cNvSpPr/>
          <p:nvPr/>
        </p:nvSpPr>
        <p:spPr>
          <a:xfrm>
            <a:off x="762000" y="1651000"/>
            <a:ext cx="5080000" cy="2286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4" name="TSCode"/>
          <p:cNvSpPr/>
          <p:nvPr/>
        </p:nvSpPr>
        <p:spPr>
          <a:xfrm>
            <a:off x="889000" y="1714500"/>
            <a:ext cx="4826000" cy="2621526"/>
          </a:xfrm>
          <a:prstGeom prst="rect">
            <a:avLst/>
          </a:prstGeom>
          <a:noFill/>
          <a:ln>
            <a:noFill/>
          </a:ln>
        </p:spPr>
        <p:txBody>
          <a:bodyPr wrap="square" lIns="36000" tIns="36000" rIns="36000" bIns="36000"/>
          <a:lstStyle/>
          <a:p>
            <a:pPr>
              <a:lnSpc>
                <a:spcPct val="100000"/>
              </a:lnSpc>
              <a:spcBef>
                <a:spcPts val="0"/>
              </a:spcBef>
              <a:spcAft>
                <a:spcPts val="0"/>
              </a:spcAft>
              <a:buNone/>
            </a:pPr>
            <a:r>
              <a:rPr lang="en-US" sz="1400" dirty="0">
                <a:solidFill>
                  <a:srgbClr val="6A9955"/>
                </a:solidFill>
                <a:latin typeface="Consolas"/>
              </a:rPr>
              <a:t>// Expected</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t>
            </a:r>
            <a:r>
              <a:rPr lang="en-US" sz="1400" dirty="0" err="1">
                <a:solidFill>
                  <a:srgbClr val="9CDCFE"/>
                </a:solidFill>
                <a:latin typeface="Consolas"/>
              </a:rPr>
              <a:t>cardNumber</a:t>
            </a:r>
            <a:r>
              <a:rPr lang="en-US" sz="1400" dirty="0">
                <a:solidFill>
                  <a:srgbClr val="9CDCFE"/>
                </a:solidFill>
                <a:latin typeface="Consolas"/>
              </a:rPr>
              <a:t>"</a:t>
            </a:r>
            <a:r>
              <a:rPr lang="en-US" sz="1400" dirty="0">
                <a:solidFill>
                  <a:srgbClr val="D4D4D4"/>
                </a:solidFill>
                <a:latin typeface="Consolas"/>
              </a:rPr>
              <a:t>: </a:t>
            </a:r>
            <a:r>
              <a:rPr lang="en-US" sz="1400" dirty="0">
                <a:solidFill>
                  <a:srgbClr val="CE9178"/>
                </a:solidFill>
                <a:latin typeface="Consolas"/>
              </a:rPr>
              <a:t>"1234-5678“</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6A9955"/>
                </a:solidFill>
                <a:latin typeface="Consolas"/>
              </a:rPr>
              <a:t>// Actual LLM output</a:t>
            </a:r>
          </a:p>
          <a:p>
            <a:pPr>
              <a:lnSpc>
                <a:spcPct val="100000"/>
              </a:lnSpc>
              <a:spcBef>
                <a:spcPts val="0"/>
              </a:spcBef>
              <a:spcAft>
                <a:spcPts val="0"/>
              </a:spcAft>
              <a:buNone/>
            </a:pPr>
            <a:r>
              <a:rPr lang="en-US" sz="1400" dirty="0">
                <a:solidFill>
                  <a:srgbClr val="FF6B6B"/>
                </a:solidFill>
                <a:latin typeface="Consolas"/>
              </a:rPr>
              <a:t>"{</a:t>
            </a:r>
          </a:p>
          <a:p>
            <a:pPr>
              <a:lnSpc>
                <a:spcPct val="100000"/>
              </a:lnSpc>
              <a:spcBef>
                <a:spcPts val="0"/>
              </a:spcBef>
              <a:spcAft>
                <a:spcPts val="0"/>
              </a:spcAft>
              <a:buNone/>
            </a:pPr>
            <a:r>
              <a:rPr lang="en-US" sz="1400" dirty="0">
                <a:solidFill>
                  <a:srgbClr val="FF6B6B"/>
                </a:solidFill>
                <a:latin typeface="Consolas"/>
              </a:rPr>
              <a:t>   \"type\":\"card\",</a:t>
            </a:r>
          </a:p>
          <a:p>
            <a:pPr>
              <a:lnSpc>
                <a:spcPct val="100000"/>
              </a:lnSpc>
              <a:spcBef>
                <a:spcPts val="0"/>
              </a:spcBef>
              <a:spcAft>
                <a:spcPts val="0"/>
              </a:spcAft>
              <a:buNone/>
            </a:pPr>
            <a:r>
              <a:rPr lang="en-US" sz="1400" dirty="0">
                <a:solidFill>
                  <a:srgbClr val="FF6B6B"/>
                </a:solidFill>
                <a:latin typeface="Consolas"/>
              </a:rPr>
              <a:t>   \"cardNumber\":\"1234-5678\“</a:t>
            </a:r>
          </a:p>
          <a:p>
            <a:pPr>
              <a:lnSpc>
                <a:spcPct val="100000"/>
              </a:lnSpc>
              <a:spcBef>
                <a:spcPts val="0"/>
              </a:spcBef>
              <a:spcAft>
                <a:spcPts val="0"/>
              </a:spcAft>
              <a:buNone/>
            </a:pPr>
            <a:r>
              <a:rPr lang="en-US" sz="1400" dirty="0">
                <a:solidFill>
                  <a:srgbClr val="FF6B6B"/>
                </a:solidFill>
                <a:latin typeface="Consolas"/>
              </a:rPr>
              <a:t>}"</a:t>
            </a:r>
          </a:p>
        </p:txBody>
      </p:sp>
      <p:sp>
        <p:nvSpPr>
          <p:cNvPr id="15" name="RH"/>
          <p:cNvSpPr/>
          <p:nvPr/>
        </p:nvSpPr>
        <p:spPr>
          <a:xfrm>
            <a:off x="6350000" y="1270000"/>
            <a:ext cx="5080000" cy="355600"/>
          </a:xfrm>
          <a:prstGeom prst="rect">
            <a:avLst/>
          </a:prstGeom>
          <a:noFill/>
          <a:ln>
            <a:noFill/>
          </a:ln>
        </p:spPr>
        <p:txBody>
          <a:bodyPr wrap="square" lIns="36000" tIns="36000" rIns="36000" bIns="36000"/>
          <a:lstStyle/>
          <a:p>
            <a:pPr algn="ctr">
              <a:buNone/>
            </a:pPr>
            <a:r>
              <a:rPr lang="en-US" sz="1800" b="1" dirty="0">
                <a:solidFill>
                  <a:srgbClr val="FFD93D"/>
                </a:solidFill>
                <a:latin typeface="Segoe UI Semibold"/>
              </a:rPr>
              <a:t>Type Definition</a:t>
            </a:r>
          </a:p>
        </p:txBody>
      </p:sp>
      <p:sp>
        <p:nvSpPr>
          <p:cNvPr id="16" name="RBg"/>
          <p:cNvSpPr/>
          <p:nvPr/>
        </p:nvSpPr>
        <p:spPr>
          <a:xfrm>
            <a:off x="6350000" y="1651000"/>
            <a:ext cx="5080000" cy="2286000"/>
          </a:xfrm>
          <a:prstGeom prst="rect">
            <a:avLst/>
          </a:prstGeom>
          <a:solidFill>
            <a:srgbClr val="0D1117"/>
          </a:solidFill>
          <a:ln>
            <a:noFill/>
          </a:ln>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Segoe UI" panose="020B0503020204020204"/>
              <a:ea typeface="+mn-ea"/>
              <a:cs typeface="+mn-cs"/>
            </a:endParaRPr>
          </a:p>
        </p:txBody>
      </p:sp>
      <p:sp>
        <p:nvSpPr>
          <p:cNvPr id="17" name="JSCode"/>
          <p:cNvSpPr/>
          <p:nvPr/>
        </p:nvSpPr>
        <p:spPr>
          <a:xfrm>
            <a:off x="6477000" y="1714500"/>
            <a:ext cx="4826000" cy="2159000"/>
          </a:xfrm>
          <a:prstGeom prst="rect">
            <a:avLst/>
          </a:prstGeom>
          <a:noFill/>
          <a:ln>
            <a:noFill/>
          </a:ln>
        </p:spPr>
        <p:txBody>
          <a:bodyPr wrap="square" lIns="36000" tIns="36000" rIns="36000" bIns="36000"/>
          <a:lstStyle/>
          <a:p>
            <a:pPr>
              <a:lnSpc>
                <a:spcPct val="100000"/>
              </a:lnSpc>
              <a:spcBef>
                <a:spcPts val="0"/>
              </a:spcBef>
              <a:spcAft>
                <a:spcPts val="0"/>
              </a:spcAft>
              <a:buNone/>
            </a:pPr>
            <a:r>
              <a:rPr lang="en-US" sz="1400" dirty="0">
                <a:solidFill>
                  <a:srgbClr val="6A9955"/>
                </a:solidFill>
                <a:latin typeface="Consolas"/>
              </a:rPr>
              <a:t>// Union type occurs double JSON stringified</a:t>
            </a:r>
            <a:endParaRPr lang="en-US" sz="1400" dirty="0">
              <a:solidFill>
                <a:srgbClr val="569CD6"/>
              </a:solidFill>
              <a:latin typeface="Consolas"/>
            </a:endParaRPr>
          </a:p>
          <a:p>
            <a:pPr>
              <a:lnSpc>
                <a:spcPct val="100000"/>
              </a:lnSpc>
              <a:spcBef>
                <a:spcPts val="0"/>
              </a:spcBef>
              <a:spcAft>
                <a:spcPts val="0"/>
              </a:spcAft>
              <a:buNone/>
            </a:pPr>
            <a:r>
              <a:rPr lang="en-US" sz="1400" dirty="0">
                <a:solidFill>
                  <a:srgbClr val="569CD6"/>
                </a:solidFill>
                <a:latin typeface="Consolas"/>
              </a:rPr>
              <a:t>type </a:t>
            </a:r>
            <a:r>
              <a:rPr lang="en-US" sz="1400" dirty="0">
                <a:solidFill>
                  <a:srgbClr val="4EC9B0"/>
                </a:solidFill>
                <a:latin typeface="Consolas"/>
              </a:rPr>
              <a:t>IPayment</a:t>
            </a:r>
            <a:r>
              <a:rPr lang="en-US" sz="1400" dirty="0">
                <a:solidFill>
                  <a:srgbClr val="D4D4D4"/>
                </a:solidFill>
                <a:latin typeface="Consolas"/>
              </a:rPr>
              <a:t> = </a:t>
            </a:r>
            <a:r>
              <a:rPr lang="en-US" sz="1400" dirty="0">
                <a:solidFill>
                  <a:srgbClr val="4EC9B0"/>
                </a:solidFill>
                <a:latin typeface="Consolas"/>
              </a:rPr>
              <a:t>ICardPayment</a:t>
            </a:r>
            <a:r>
              <a:rPr lang="en-US" sz="1400" dirty="0">
                <a:solidFill>
                  <a:srgbClr val="D4D4D4"/>
                </a:solidFill>
                <a:latin typeface="Consolas"/>
              </a:rPr>
              <a:t> | </a:t>
            </a:r>
            <a:r>
              <a:rPr lang="en-US" sz="1400" dirty="0">
                <a:solidFill>
                  <a:srgbClr val="4EC9B0"/>
                </a:solidFill>
                <a:latin typeface="Consolas"/>
              </a:rPr>
              <a:t>IBankPayment</a:t>
            </a: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ICardPayment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a:p>
            <a:pPr>
              <a:lnSpc>
                <a:spcPct val="100000"/>
              </a:lnSpc>
              <a:spcBef>
                <a:spcPts val="0"/>
              </a:spcBef>
              <a:spcAft>
                <a:spcPts val="0"/>
              </a:spcAft>
              <a:buNone/>
            </a:pPr>
            <a:endParaRPr lang="en-US" sz="1400" dirty="0">
              <a:solidFill>
                <a:srgbClr val="D4D4D4"/>
              </a:solidFill>
              <a:latin typeface="Consolas"/>
            </a:endParaRPr>
          </a:p>
          <a:p>
            <a:pPr>
              <a:lnSpc>
                <a:spcPct val="100000"/>
              </a:lnSpc>
              <a:spcBef>
                <a:spcPts val="0"/>
              </a:spcBef>
              <a:spcAft>
                <a:spcPts val="0"/>
              </a:spcAft>
              <a:buNone/>
            </a:pPr>
            <a:r>
              <a:rPr lang="en-US" sz="1400" dirty="0">
                <a:solidFill>
                  <a:srgbClr val="569CD6"/>
                </a:solidFill>
                <a:latin typeface="Consolas"/>
              </a:rPr>
              <a:t>interface </a:t>
            </a:r>
            <a:r>
              <a:rPr lang="en-US" sz="1400" dirty="0">
                <a:solidFill>
                  <a:srgbClr val="4EC9B0"/>
                </a:solidFill>
                <a:latin typeface="Consolas"/>
              </a:rPr>
              <a:t>IBankPayment</a:t>
            </a:r>
            <a:r>
              <a:rPr lang="en-US" sz="1400" dirty="0">
                <a:solidFill>
                  <a:srgbClr val="D4D4D4"/>
                </a:solidFill>
                <a:latin typeface="Consolas"/>
              </a:rPr>
              <a:t> {</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"bank"</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  </a:t>
            </a:r>
            <a:r>
              <a:rPr lang="en-US" sz="1400" dirty="0">
                <a:solidFill>
                  <a:srgbClr val="9CDCFE"/>
                </a:solidFill>
                <a:latin typeface="Consolas"/>
              </a:rPr>
              <a:t>accountNumber</a:t>
            </a:r>
            <a:r>
              <a:rPr lang="en-US" sz="1400" dirty="0">
                <a:solidFill>
                  <a:srgbClr val="D4D4D4"/>
                </a:solidFill>
                <a:latin typeface="Consolas"/>
              </a:rPr>
              <a:t>: </a:t>
            </a:r>
            <a:r>
              <a:rPr lang="en-US" sz="1400" dirty="0">
                <a:solidFill>
                  <a:srgbClr val="569CD6"/>
                </a:solidFill>
                <a:latin typeface="Consolas"/>
              </a:rPr>
              <a:t>string</a:t>
            </a:r>
            <a:r>
              <a:rPr lang="en-US" sz="1400" dirty="0">
                <a:solidFill>
                  <a:srgbClr val="D4D4D4"/>
                </a:solidFill>
                <a:latin typeface="Consolas"/>
              </a:rPr>
              <a:t>;</a:t>
            </a:r>
          </a:p>
          <a:p>
            <a:pPr>
              <a:lnSpc>
                <a:spcPct val="100000"/>
              </a:lnSpc>
              <a:spcBef>
                <a:spcPts val="0"/>
              </a:spcBef>
              <a:spcAft>
                <a:spcPts val="0"/>
              </a:spcAft>
              <a:buNone/>
            </a:pPr>
            <a:r>
              <a:rPr lang="en-US" sz="1400" dirty="0">
                <a:solidFill>
                  <a:srgbClr val="D4D4D4"/>
                </a:solidFill>
                <a:latin typeface="Consolas"/>
              </a:rPr>
              <a:t>}</a:t>
            </a:r>
          </a:p>
        </p:txBody>
      </p:sp>
      <p:sp>
        <p:nvSpPr>
          <p:cNvPr id="18" name="Arr"/>
          <p:cNvSpPr/>
          <p:nvPr/>
        </p:nvSpPr>
        <p:spPr>
          <a:xfrm>
            <a:off x="5867400" y="2540000"/>
            <a:ext cx="457200" cy="457200"/>
          </a:xfrm>
          <a:prstGeom prst="rect">
            <a:avLst/>
          </a:prstGeom>
          <a:noFill/>
          <a:ln>
            <a:noFill/>
          </a:ln>
        </p:spPr>
        <p:txBody>
          <a:bodyPr wrap="square" lIns="36000" tIns="36000" rIns="36000" bIns="36000"/>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0D4AA"/>
                </a:solidFill>
                <a:effectLst/>
                <a:uLnTx/>
                <a:uFillTx/>
                <a:latin typeface="Segoe UI"/>
                <a:ea typeface="+mn-ea"/>
                <a:cs typeface="+mn-cs"/>
              </a:rPr>
              <a:t>→</a:t>
            </a:r>
          </a:p>
        </p:txBody>
      </p:sp>
      <p:sp>
        <p:nvSpPr>
          <p:cNvPr id="2" name="AL">
            <a:extLst>
              <a:ext uri="{FF2B5EF4-FFF2-40B4-BE49-F238E27FC236}">
                <a16:creationId xmlns:a16="http://schemas.microsoft.com/office/drawing/2014/main" id="{202CEDE0-EA16-47C5-A9E7-C4A3984FF2DA}"/>
              </a:ext>
            </a:extLst>
          </p:cNvPr>
          <p:cNvSpPr/>
          <p:nvPr/>
        </p:nvSpPr>
        <p:spPr>
          <a:xfrm>
            <a:off x="762000" y="10414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D1117"/>
              </a:solidFill>
              <a:effectLst/>
              <a:uLnTx/>
              <a:uFillTx/>
              <a:latin typeface="Segoe UI" panose="020B0503020204020204"/>
              <a:ea typeface="+mn-ea"/>
              <a:cs typeface="+mn-cs"/>
            </a:endParaRPr>
          </a:p>
        </p:txBody>
      </p:sp>
      <p:sp>
        <p:nvSpPr>
          <p:cNvPr id="20" name="Desc"/>
          <p:cNvSpPr/>
          <p:nvPr/>
        </p:nvSpPr>
        <p:spPr>
          <a:xfrm>
            <a:off x="762000" y="4670322"/>
            <a:ext cx="10668000" cy="1806677"/>
          </a:xfrm>
          <a:prstGeom prst="rect">
            <a:avLst/>
          </a:prstGeom>
          <a:noFill/>
          <a:ln>
            <a:noFill/>
          </a:ln>
        </p:spPr>
        <p:txBody>
          <a:bodyPr wrap="square" lIns="72000" tIns="36000" rIns="72000" bIns="36000" anchor="t"/>
          <a:lstStyle/>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LLM returns a </a:t>
            </a:r>
            <a:r>
              <a:rPr lang="en-US" sz="1600" b="1" dirty="0">
                <a:solidFill>
                  <a:srgbClr val="FF6B6B"/>
                </a:solidFill>
                <a:latin typeface="Segoe UI Semibold"/>
              </a:rPr>
              <a:t>string</a:t>
            </a:r>
            <a:r>
              <a:rPr lang="en-US" sz="1600" dirty="0">
                <a:solidFill>
                  <a:srgbClr val="D0D0D0"/>
                </a:solidFill>
                <a:latin typeface="Segoe UI"/>
              </a:rPr>
              <a:t> containing JSON — not the object itself</a:t>
            </a:r>
          </a:p>
          <a:p>
            <a:pPr>
              <a:lnSpc>
                <a:spcPct val="115000"/>
              </a:lnSpc>
              <a:spcBef>
                <a:spcPts val="400"/>
              </a:spcBef>
              <a:buNone/>
            </a:pPr>
            <a:r>
              <a:rPr lang="en-US" sz="1600" dirty="0">
                <a:solidFill>
                  <a:srgbClr val="808080"/>
                </a:solidFill>
                <a:latin typeface="Segoe UI"/>
              </a:rPr>
              <a:t>•  </a:t>
            </a:r>
            <a:r>
              <a:rPr lang="en-US" sz="1600" b="1" dirty="0">
                <a:solidFill>
                  <a:srgbClr val="FE9E00"/>
                </a:solidFill>
                <a:latin typeface="Segoe UI Semibold"/>
              </a:rPr>
              <a:t>Valid JSON</a:t>
            </a:r>
            <a:r>
              <a:rPr lang="en-US" sz="1600" dirty="0">
                <a:solidFill>
                  <a:srgbClr val="D0D0D0"/>
                </a:solidFill>
                <a:latin typeface="Segoe UI"/>
              </a:rPr>
              <a:t> — jsonrepair, dirty-json, LangChain all pass it through</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Qwen 3.5: </a:t>
            </a:r>
            <a:r>
              <a:rPr lang="en-US" sz="1600" b="1" dirty="0">
                <a:solidFill>
                  <a:srgbClr val="FF6B6B"/>
                </a:solidFill>
                <a:latin typeface="Segoe UI Semibold"/>
              </a:rPr>
              <a:t>100%</a:t>
            </a:r>
            <a:r>
              <a:rPr lang="en-US" sz="1600" dirty="0">
                <a:solidFill>
                  <a:srgbClr val="D0D0D0"/>
                </a:solidFill>
                <a:latin typeface="Segoe UI"/>
              </a:rPr>
              <a:t> of </a:t>
            </a:r>
            <a:r>
              <a:rPr lang="en-US" sz="1600" u="sng" dirty="0">
                <a:solidFill>
                  <a:srgbClr val="D0D0D0"/>
                </a:solidFill>
                <a:latin typeface="Segoe UI"/>
              </a:rPr>
              <a:t>anyOf</a:t>
            </a:r>
            <a:r>
              <a:rPr lang="en-US" sz="1600" dirty="0">
                <a:solidFill>
                  <a:srgbClr val="D0D0D0"/>
                </a:solidFill>
                <a:latin typeface="Segoe UI"/>
              </a:rPr>
              <a:t> fields. Claude: same on </a:t>
            </a:r>
            <a:r>
              <a:rPr lang="en-US" sz="1600" u="sng" dirty="0">
                <a:solidFill>
                  <a:srgbClr val="D0D0D0"/>
                </a:solidFill>
                <a:latin typeface="Segoe UI"/>
              </a:rPr>
              <a:t>oneOf</a:t>
            </a:r>
          </a:p>
          <a:p>
            <a:pPr>
              <a:lnSpc>
                <a:spcPct val="115000"/>
              </a:lnSpc>
              <a:spcBef>
                <a:spcPts val="400"/>
              </a:spcBef>
              <a:buNone/>
            </a:pPr>
            <a:r>
              <a:rPr lang="en-US" sz="1600" dirty="0">
                <a:solidFill>
                  <a:srgbClr val="808080"/>
                </a:solidFill>
                <a:latin typeface="Segoe UI"/>
              </a:rPr>
              <a:t>•  </a:t>
            </a:r>
            <a:r>
              <a:rPr lang="en-US" sz="1600" dirty="0">
                <a:solidFill>
                  <a:srgbClr val="D0D0D0"/>
                </a:solidFill>
                <a:latin typeface="Segoe UI"/>
              </a:rPr>
              <a:t>Only </a:t>
            </a:r>
            <a:r>
              <a:rPr lang="en-US" sz="1600" b="1" dirty="0">
                <a:solidFill>
                  <a:srgbClr val="00D4AA"/>
                </a:solidFill>
                <a:latin typeface="Segoe UI Semibold"/>
              </a:rPr>
              <a:t>type-aware</a:t>
            </a:r>
            <a:r>
              <a:rPr lang="en-US" sz="1600" dirty="0">
                <a:solidFill>
                  <a:srgbClr val="D0D0D0"/>
                </a:solidFill>
                <a:latin typeface="Segoe UI"/>
              </a:rPr>
              <a:t> parsing can detect and unwrap it</a:t>
            </a:r>
          </a:p>
        </p:txBody>
      </p:sp>
    </p:spTree>
    <p:extLst>
      <p:ext uri="{BB962C8B-B14F-4D97-AF65-F5344CB8AC3E}">
        <p14:creationId xmlns:p14="http://schemas.microsoft.com/office/powerpoint/2010/main" val="19529743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9A19F7BE-8E98-4792-93FA-813F56ED5601}"/>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Seven Sins in One Output</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Markdown wrapper, prefix text, wrong types, incomplete keywords, unclosed brackets</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191000"/>
          </a:xfrm>
          <a:prstGeom prst="rect">
            <a:avLst/>
          </a:prstGeom>
          <a:noFill/>
          <a:ln>
            <a:noFill/>
          </a:ln>
        </p:spPr>
        <p:txBody>
          <a:bodyPr wrap="square" lIns="0" tIns="0" rIns="0" bIns="0"/>
          <a:lstStyle/>
          <a:p>
            <a:r>
              <a:rPr lang="en-US" sz="1400" dirty="0">
                <a:solidFill>
                  <a:srgbClr val="569CD6"/>
                </a:solidFill>
                <a:latin typeface="Consolas"/>
              </a:rPr>
              <a:t>const </a:t>
            </a:r>
            <a:r>
              <a:rPr lang="en-US" sz="1400" dirty="0">
                <a:solidFill>
                  <a:srgbClr val="D4D4D4"/>
                </a:solidFill>
                <a:latin typeface="Consolas"/>
              </a:rPr>
              <a:t>llmOutput = </a:t>
            </a:r>
            <a:r>
              <a:rPr lang="en-US" sz="1400" dirty="0">
                <a:solidFill>
                  <a:srgbClr val="CE9178"/>
                </a:solidFill>
                <a:latin typeface="Consolas"/>
              </a:rPr>
              <a:t>`</a:t>
            </a:r>
          </a:p>
          <a:p>
            <a:r>
              <a:rPr lang="en-US" sz="1400" dirty="0">
                <a:solidFill>
                  <a:srgbClr val="CE9178"/>
                </a:solidFill>
                <a:latin typeface="Consolas"/>
              </a:rPr>
              <a:t>  I'd be happy to help! </a:t>
            </a:r>
            <a:r>
              <a:rPr lang="en-US" sz="1400" dirty="0">
                <a:solidFill>
                  <a:srgbClr val="6A9955"/>
                </a:solidFill>
                <a:latin typeface="Consolas"/>
              </a:rPr>
              <a:t>← prefix text</a:t>
            </a:r>
          </a:p>
          <a:p>
            <a:endParaRPr lang="en-US" sz="1400" dirty="0">
              <a:solidFill>
                <a:srgbClr val="6A9955"/>
              </a:solidFill>
              <a:latin typeface="Consolas"/>
            </a:endParaRPr>
          </a:p>
          <a:p>
            <a:r>
              <a:rPr lang="en-US" sz="1400" dirty="0">
                <a:solidFill>
                  <a:srgbClr val="CE9178"/>
                </a:solidFill>
                <a:latin typeface="Consolas"/>
              </a:rPr>
              <a:t>  ```</a:t>
            </a:r>
            <a:r>
              <a:rPr lang="en-US" sz="1400" dirty="0" err="1">
                <a:solidFill>
                  <a:srgbClr val="CE9178"/>
                </a:solidFill>
                <a:latin typeface="Consolas"/>
              </a:rPr>
              <a:t>json</a:t>
            </a:r>
            <a:r>
              <a:rPr lang="en-US" sz="1400" dirty="0">
                <a:solidFill>
                  <a:srgbClr val="6A9955"/>
                </a:solidFill>
                <a:latin typeface="Consolas"/>
              </a:rPr>
              <a:t> ← markdown block</a:t>
            </a:r>
          </a:p>
          <a:p>
            <a:r>
              <a:rPr lang="en-US" sz="1400" dirty="0">
                <a:solidFill>
                  <a:srgbClr val="CE9178"/>
                </a:solidFill>
                <a:latin typeface="Consolas"/>
              </a:rPr>
              <a:t>  {</a:t>
            </a:r>
          </a:p>
          <a:p>
            <a:r>
              <a:rPr lang="en-US" sz="1400" dirty="0">
                <a:solidFill>
                  <a:srgbClr val="CE9178"/>
                </a:solidFill>
                <a:latin typeface="Consolas"/>
              </a:rPr>
              <a:t>    "order": {</a:t>
            </a:r>
          </a:p>
          <a:p>
            <a:r>
              <a:rPr lang="en-US" sz="1400" dirty="0">
                <a:solidFill>
                  <a:srgbClr val="CE9178"/>
                </a:solidFill>
                <a:latin typeface="Consolas"/>
              </a:rPr>
              <a:t>      "payment": </a:t>
            </a:r>
            <a:r>
              <a:rPr lang="en-US" sz="1400" dirty="0">
                <a:solidFill>
                  <a:srgbClr val="FF6B6B"/>
                </a:solidFill>
                <a:latin typeface="Consolas"/>
              </a:rPr>
              <a:t>"{\"type\":\"card\“, </a:t>
            </a:r>
            <a:r>
              <a:rPr lang="en-US" sz="1400" dirty="0" err="1">
                <a:solidFill>
                  <a:srgbClr val="FF6B6B"/>
                </a:solidFill>
                <a:latin typeface="Consolas"/>
              </a:rPr>
              <a:t>cardNumber</a:t>
            </a:r>
            <a:r>
              <a:rPr lang="en-US" sz="1400" dirty="0">
                <a:solidFill>
                  <a:srgbClr val="FF6B6B"/>
                </a:solidFill>
                <a:latin typeface="Consolas"/>
              </a:rPr>
              <a:t>: “\1234"</a:t>
            </a:r>
            <a:r>
              <a:rPr lang="en-US" sz="1400" dirty="0">
                <a:solidFill>
                  <a:srgbClr val="6A9955"/>
                </a:solidFill>
                <a:latin typeface="Consolas"/>
              </a:rPr>
              <a:t>  ← double-stringify, but </a:t>
            </a:r>
            <a:r>
              <a:rPr lang="en-US" sz="1400" dirty="0" err="1">
                <a:solidFill>
                  <a:srgbClr val="6A9955"/>
                </a:solidFill>
                <a:latin typeface="Consolas"/>
              </a:rPr>
              <a:t>broken</a:t>
            </a:r>
            <a:endParaRPr lang="en-US" sz="1400" dirty="0">
              <a:solidFill>
                <a:srgbClr val="6A9955"/>
              </a:solidFill>
              <a:latin typeface="Consolas"/>
            </a:endParaRPr>
          </a:p>
          <a:p>
            <a:r>
              <a:rPr lang="en-US" sz="1400" dirty="0">
                <a:solidFill>
                  <a:srgbClr val="CE9178"/>
                </a:solidFill>
                <a:latin typeface="Consolas"/>
              </a:rPr>
              <a:t>      "product": {</a:t>
            </a:r>
          </a:p>
          <a:p>
            <a:r>
              <a:rPr lang="en-US" sz="1400" dirty="0">
                <a:solidFill>
                  <a:srgbClr val="FF6B6B"/>
                </a:solidFill>
                <a:latin typeface="Consolas"/>
              </a:rPr>
              <a:t>        name</a:t>
            </a:r>
            <a:r>
              <a:rPr lang="en-US" sz="1400" dirty="0">
                <a:solidFill>
                  <a:srgbClr val="CE9178"/>
                </a:solidFill>
                <a:latin typeface="Consolas"/>
              </a:rPr>
              <a:t>: "Laptop",</a:t>
            </a:r>
            <a:r>
              <a:rPr lang="en-US" sz="1400" dirty="0">
                <a:solidFill>
                  <a:srgbClr val="6A9955"/>
                </a:solidFill>
                <a:latin typeface="Consolas"/>
              </a:rPr>
              <a:t>    ← unquoted key</a:t>
            </a:r>
          </a:p>
          <a:p>
            <a:r>
              <a:rPr lang="en-US" sz="1400" dirty="0">
                <a:solidFill>
                  <a:srgbClr val="CE9178"/>
                </a:solidFill>
                <a:latin typeface="Consolas"/>
              </a:rPr>
              <a:t>        price: </a:t>
            </a:r>
            <a:r>
              <a:rPr lang="en-US" sz="1400" dirty="0">
                <a:solidFill>
                  <a:srgbClr val="FF6B6B"/>
                </a:solidFill>
                <a:latin typeface="Consolas"/>
              </a:rPr>
              <a:t>“1299.99”</a:t>
            </a:r>
            <a:r>
              <a:rPr lang="en-US" sz="1400" dirty="0">
                <a:solidFill>
                  <a:srgbClr val="CE9178"/>
                </a:solidFill>
                <a:latin typeface="Consolas"/>
              </a:rPr>
              <a:t>,</a:t>
            </a:r>
            <a:r>
              <a:rPr lang="en-US" sz="1400" dirty="0">
                <a:solidFill>
                  <a:srgbClr val="6A9955"/>
                </a:solidFill>
                <a:latin typeface="Consolas"/>
              </a:rPr>
              <a:t>  ← string→number</a:t>
            </a:r>
          </a:p>
          <a:p>
            <a:r>
              <a:rPr lang="en-US" sz="1400" dirty="0">
                <a:solidFill>
                  <a:srgbClr val="CE9178"/>
                </a:solidFill>
                <a:latin typeface="Consolas"/>
              </a:rPr>
              <a:t>        quantity: 2</a:t>
            </a:r>
            <a:r>
              <a:rPr lang="en-US" sz="1400" dirty="0">
                <a:solidFill>
                  <a:srgbClr val="FF6B6B"/>
                </a:solidFill>
                <a:latin typeface="Consolas"/>
              </a:rPr>
              <a:t>,</a:t>
            </a:r>
            <a:r>
              <a:rPr lang="en-US" sz="1400" dirty="0">
                <a:solidFill>
                  <a:srgbClr val="6A9955"/>
                </a:solidFill>
                <a:latin typeface="Consolas"/>
              </a:rPr>
              <a:t>       ← trailing comma</a:t>
            </a:r>
          </a:p>
          <a:p>
            <a:r>
              <a:rPr lang="en-US" sz="1400" dirty="0">
                <a:solidFill>
                  <a:srgbClr val="CE9178"/>
                </a:solidFill>
                <a:latin typeface="Consolas"/>
              </a:rPr>
              <a:t>      },</a:t>
            </a:r>
          </a:p>
          <a:p>
            <a:r>
              <a:rPr lang="en-US" sz="1400" dirty="0">
                <a:solidFill>
                  <a:srgbClr val="CE9178"/>
                </a:solidFill>
                <a:latin typeface="Consolas"/>
              </a:rPr>
              <a:t>      "customer": {</a:t>
            </a:r>
          </a:p>
          <a:p>
            <a:r>
              <a:rPr lang="en-US" sz="1400" dirty="0">
                <a:solidFill>
                  <a:srgbClr val="CE9178"/>
                </a:solidFill>
                <a:latin typeface="Consolas"/>
              </a:rPr>
              <a:t>        vip: </a:t>
            </a:r>
            <a:r>
              <a:rPr lang="en-US" sz="1400" dirty="0" err="1">
                <a:solidFill>
                  <a:srgbClr val="CE9178"/>
                </a:solidFill>
                <a:latin typeface="Consolas"/>
              </a:rPr>
              <a:t>tru</a:t>
            </a:r>
            <a:r>
              <a:rPr lang="en-US" sz="1400" dirty="0">
                <a:solidFill>
                  <a:srgbClr val="6A9955"/>
                </a:solidFill>
                <a:latin typeface="Consolas"/>
              </a:rPr>
              <a:t> ← incomplete keyword</a:t>
            </a:r>
          </a:p>
          <a:p>
            <a:r>
              <a:rPr lang="en-US" sz="1400" dirty="0">
                <a:solidFill>
                  <a:srgbClr val="6A9955"/>
                </a:solidFill>
                <a:latin typeface="Consolas"/>
              </a:rPr>
              <a:t>  ← unclosed brackets</a:t>
            </a:r>
          </a:p>
          <a:p>
            <a:r>
              <a:rPr lang="en-US" sz="1400" dirty="0">
                <a:solidFill>
                  <a:srgbClr val="6A9955"/>
                </a:solidFill>
                <a:latin typeface="Consolas"/>
              </a:rPr>
              <a:t>  ← unclosed markdown block</a:t>
            </a:r>
          </a:p>
          <a:p>
            <a:r>
              <a:rPr lang="en-US" sz="1400" dirty="0">
                <a:solidFill>
                  <a:srgbClr val="CE9178"/>
                </a:solidFill>
                <a:latin typeface="Consolas"/>
              </a:rPr>
              <a:t>`</a:t>
            </a:r>
            <a:r>
              <a:rPr lang="en-US" sz="1400" dirty="0">
                <a:solidFill>
                  <a:srgbClr val="D4D4D4"/>
                </a:solidFill>
                <a:latin typeface="Consolas"/>
              </a:rPr>
              <a:t>;</a:t>
            </a:r>
          </a:p>
          <a:p>
            <a:endParaRPr lang="en-US" sz="1400" dirty="0">
              <a:solidFill>
                <a:srgbClr val="D4D4D4"/>
              </a:solidFill>
              <a:latin typeface="Consolas"/>
            </a:endParaRPr>
          </a:p>
          <a:p>
            <a:r>
              <a:rPr lang="en-US" sz="1400" dirty="0">
                <a:solidFill>
                  <a:srgbClr val="569CD6"/>
                </a:solidFill>
                <a:latin typeface="Consolas"/>
              </a:rPr>
              <a:t>const </a:t>
            </a:r>
            <a:r>
              <a:rPr lang="en-US" sz="1400" dirty="0">
                <a:solidFill>
                  <a:srgbClr val="D4D4D4"/>
                </a:solidFill>
                <a:latin typeface="Consolas"/>
              </a:rPr>
              <a:t>result = func</a:t>
            </a:r>
            <a:r>
              <a:rPr lang="en-US" sz="1400" dirty="0">
                <a:solidFill>
                  <a:srgbClr val="9CDCFE"/>
                </a:solidFill>
                <a:latin typeface="Consolas"/>
              </a:rPr>
              <a:t>.parse</a:t>
            </a:r>
            <a:r>
              <a:rPr lang="en-US" sz="1400" dirty="0">
                <a:solidFill>
                  <a:srgbClr val="D4D4D4"/>
                </a:solidFill>
                <a:latin typeface="Consolas"/>
              </a:rPr>
              <a:t>(llmOutput);</a:t>
            </a:r>
            <a:r>
              <a:rPr lang="en-US" sz="1400" dirty="0">
                <a:solidFill>
                  <a:srgbClr val="4EC9B0"/>
                </a:solidFill>
                <a:latin typeface="Consolas"/>
              </a:rPr>
              <a:t> // ✓ all 7 fixed</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A6B727"/>
                </a:solidFill>
                <a:latin typeface="Segoe UI Semibold"/>
                <a:ea typeface="+mn-ea"/>
                <a:cs typeface="+mn-cs"/>
              </a:rPr>
              <a:t>One call to func.parse()</a:t>
            </a:r>
            <a:r>
              <a:rPr lang="en-US" sz="1800" dirty="0">
                <a:ln>
                  <a:noFill/>
                </a:ln>
                <a:solidFill>
                  <a:srgbClr val="A0A0A0"/>
                </a:solidFill>
                <a:latin typeface="Segoe UI"/>
                <a:ea typeface="+mn-ea"/>
                <a:cs typeface="+mn-cs"/>
              </a:rPr>
              <a:t>  —  all 7 problems fixed, zero model changes</a:t>
            </a:r>
          </a:p>
        </p:txBody>
      </p:sp>
      <p:sp>
        <p:nvSpPr>
          <p:cNvPr id="3" name="AL">
            <a:extLst>
              <a:ext uri="{FF2B5EF4-FFF2-40B4-BE49-F238E27FC236}">
                <a16:creationId xmlns:a16="http://schemas.microsoft.com/office/drawing/2014/main" id="{5DF2FFDE-C7D0-496E-96EF-59AE99EE4224}"/>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2869798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63F53E74-F1FC-4710-9856-CF000DE5319E}"/>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Schema-Aware Coercion</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Same JSON string — what it becomes depends entirely on the target type</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191000"/>
          </a:xfrm>
          <a:prstGeom prst="rect">
            <a:avLst/>
          </a:prstGeom>
          <a:noFill/>
          <a:ln>
            <a:noFill/>
          </a:ln>
        </p:spPr>
        <p:txBody>
          <a:bodyPr wrap="square" lIns="0" tIns="0" rIns="0" bIns="0"/>
          <a:lstStyle/>
          <a:p>
            <a:pPr>
              <a:lnSpc>
                <a:spcPts val="1700"/>
              </a:lnSpc>
            </a:pPr>
            <a:r>
              <a:rPr lang="en-US" sz="1300" dirty="0">
                <a:solidFill>
                  <a:srgbClr val="6A9955"/>
                </a:solidFill>
                <a:latin typeface="Consolas"/>
              </a:rPr>
              <a:t>// Simple coercion — schema-aware</a:t>
            </a:r>
          </a:p>
          <a:p>
            <a:pPr>
              <a:lnSpc>
                <a:spcPts val="1700"/>
              </a:lnSpc>
            </a:pPr>
            <a:r>
              <a:rPr lang="en-US" sz="1300" dirty="0">
                <a:solidFill>
                  <a:srgbClr val="CE9178"/>
                </a:solidFill>
                <a:latin typeface="Consolas"/>
              </a:rPr>
              <a:t>"42"</a:t>
            </a:r>
            <a:r>
              <a:rPr lang="en-US" sz="1300" dirty="0">
                <a:solidFill>
                  <a:srgbClr val="D4D4D4"/>
                </a:solidFill>
                <a:latin typeface="Consolas"/>
              </a:rPr>
              <a:t>          → </a:t>
            </a:r>
            <a:r>
              <a:rPr lang="en-US" sz="1300" dirty="0">
                <a:solidFill>
                  <a:srgbClr val="B5CEA8"/>
                </a:solidFill>
                <a:latin typeface="Consolas"/>
              </a:rPr>
              <a:t>42</a:t>
            </a:r>
            <a:r>
              <a:rPr lang="en-US" sz="1300" dirty="0">
                <a:solidFill>
                  <a:srgbClr val="D4D4D4"/>
                </a:solidFill>
                <a:latin typeface="Consolas"/>
              </a:rPr>
              <a:t>        </a:t>
            </a:r>
            <a:r>
              <a:rPr lang="en-US" sz="1300" dirty="0">
                <a:solidFill>
                  <a:srgbClr val="6A9955"/>
                </a:solidFill>
                <a:latin typeface="Consolas"/>
              </a:rPr>
              <a:t>// schema: number</a:t>
            </a:r>
          </a:p>
          <a:p>
            <a:pPr>
              <a:lnSpc>
                <a:spcPts val="1700"/>
              </a:lnSpc>
            </a:pPr>
            <a:r>
              <a:rPr lang="en-US" sz="1300" dirty="0">
                <a:solidFill>
                  <a:srgbClr val="CE9178"/>
                </a:solidFill>
                <a:latin typeface="Consolas"/>
              </a:rPr>
              <a:t>"true"</a:t>
            </a:r>
            <a:r>
              <a:rPr lang="en-US" sz="1300" dirty="0">
                <a:solidFill>
                  <a:srgbClr val="D4D4D4"/>
                </a:solidFill>
                <a:latin typeface="Consolas"/>
              </a:rPr>
              <a:t>        → </a:t>
            </a:r>
            <a:r>
              <a:rPr lang="en-US" sz="1300" dirty="0">
                <a:solidFill>
                  <a:srgbClr val="569CD6"/>
                </a:solidFill>
                <a:latin typeface="Consolas"/>
              </a:rPr>
              <a:t>true</a:t>
            </a:r>
            <a:r>
              <a:rPr lang="en-US" sz="1300" dirty="0">
                <a:solidFill>
                  <a:srgbClr val="D4D4D4"/>
                </a:solidFill>
                <a:latin typeface="Consolas"/>
              </a:rPr>
              <a:t>      </a:t>
            </a:r>
            <a:r>
              <a:rPr lang="en-US" sz="1300" dirty="0">
                <a:solidFill>
                  <a:srgbClr val="6A9955"/>
                </a:solidFill>
                <a:latin typeface="Consolas"/>
              </a:rPr>
              <a:t>// schema: boolean</a:t>
            </a:r>
          </a:p>
          <a:p>
            <a:pPr>
              <a:lnSpc>
                <a:spcPts val="1700"/>
              </a:lnSpc>
            </a:pPr>
            <a:r>
              <a:rPr lang="en-US" sz="1300" dirty="0">
                <a:solidFill>
                  <a:srgbClr val="CE9178"/>
                </a:solidFill>
                <a:latin typeface="Consolas"/>
              </a:rPr>
              <a:t>"[1,2,3]"</a:t>
            </a:r>
            <a:r>
              <a:rPr lang="en-US" sz="1300" dirty="0">
                <a:solidFill>
                  <a:srgbClr val="D4D4D4"/>
                </a:solidFill>
                <a:latin typeface="Consolas"/>
              </a:rPr>
              <a:t>     → </a:t>
            </a:r>
            <a:r>
              <a:rPr lang="en-US" sz="1300" dirty="0">
                <a:solidFill>
                  <a:srgbClr val="B5CEA8"/>
                </a:solidFill>
                <a:latin typeface="Consolas"/>
              </a:rPr>
              <a:t>[1,2,3]</a:t>
            </a:r>
            <a:r>
              <a:rPr lang="en-US" sz="1300" dirty="0">
                <a:solidFill>
                  <a:srgbClr val="D4D4D4"/>
                </a:solidFill>
                <a:latin typeface="Consolas"/>
              </a:rPr>
              <a:t>   </a:t>
            </a:r>
            <a:r>
              <a:rPr lang="en-US" sz="1300" dirty="0">
                <a:solidFill>
                  <a:srgbClr val="6A9955"/>
                </a:solidFill>
                <a:latin typeface="Consolas"/>
              </a:rPr>
              <a:t>// schema: array</a:t>
            </a:r>
          </a:p>
          <a:p>
            <a:pPr>
              <a:lnSpc>
                <a:spcPts val="1700"/>
              </a:lnSpc>
            </a:pPr>
            <a:endParaRPr lang="en-US" sz="1300" dirty="0">
              <a:solidFill>
                <a:srgbClr val="6A9955"/>
              </a:solidFill>
              <a:latin typeface="Consolas"/>
            </a:endParaRPr>
          </a:p>
          <a:p>
            <a:pPr>
              <a:lnSpc>
                <a:spcPts val="1700"/>
              </a:lnSpc>
            </a:pPr>
            <a:r>
              <a:rPr lang="en-US" sz="1300" dirty="0">
                <a:solidFill>
                  <a:srgbClr val="6A9955"/>
                </a:solidFill>
                <a:latin typeface="Consolas"/>
              </a:rPr>
              <a:t>// The killer: union types (anyOf)</a:t>
            </a:r>
          </a:p>
          <a:p>
            <a:pPr>
              <a:lnSpc>
                <a:spcPts val="1700"/>
              </a:lnSpc>
            </a:pPr>
            <a:r>
              <a:rPr lang="en-US" sz="1300" dirty="0">
                <a:solidFill>
                  <a:srgbClr val="6A9955"/>
                </a:solidFill>
                <a:latin typeface="Consolas"/>
              </a:rPr>
              <a:t>// payment: </a:t>
            </a:r>
            <a:r>
              <a:rPr lang="en-US" sz="1300" dirty="0">
                <a:solidFill>
                  <a:srgbClr val="4EC9B0"/>
                </a:solidFill>
                <a:latin typeface="Consolas"/>
              </a:rPr>
              <a:t>ICardPayment</a:t>
            </a:r>
            <a:r>
              <a:rPr lang="en-US" sz="1300" dirty="0">
                <a:solidFill>
                  <a:srgbClr val="6A9955"/>
                </a:solidFill>
                <a:latin typeface="Consolas"/>
              </a:rPr>
              <a:t> | </a:t>
            </a:r>
            <a:r>
              <a:rPr lang="en-US" sz="1300" dirty="0">
                <a:solidFill>
                  <a:srgbClr val="4EC9B0"/>
                </a:solidFill>
                <a:latin typeface="Consolas"/>
              </a:rPr>
              <a:t>IBankTransfer</a:t>
            </a:r>
          </a:p>
          <a:p>
            <a:pPr>
              <a:lnSpc>
                <a:spcPts val="1700"/>
              </a:lnSpc>
            </a:pPr>
            <a:endParaRPr lang="en-US" sz="1300" dirty="0">
              <a:solidFill>
                <a:srgbClr val="4EC9B0"/>
              </a:solidFill>
              <a:latin typeface="Consolas"/>
            </a:endParaRPr>
          </a:p>
          <a:p>
            <a:pPr>
              <a:lnSpc>
                <a:spcPts val="1700"/>
              </a:lnSpc>
            </a:pPr>
            <a:r>
              <a:rPr lang="en-US" sz="1300" dirty="0">
                <a:solidFill>
                  <a:srgbClr val="6A9955"/>
                </a:solidFill>
                <a:latin typeface="Consolas"/>
              </a:rPr>
              <a:t>// LLM returns:</a:t>
            </a:r>
          </a:p>
          <a:p>
            <a:pPr>
              <a:lnSpc>
                <a:spcPts val="1700"/>
              </a:lnSpc>
            </a:pPr>
            <a:r>
              <a:rPr lang="en-US" sz="1300" dirty="0">
                <a:solidFill>
                  <a:srgbClr val="CE9178"/>
                </a:solidFill>
                <a:latin typeface="Consolas"/>
              </a:rPr>
              <a:t>"{\"type\":\"card\",</a:t>
            </a:r>
            <a:r>
              <a:rPr lang="en-US" sz="1300" dirty="0" err="1">
                <a:solidFill>
                  <a:srgbClr val="CE9178"/>
                </a:solidFill>
                <a:latin typeface="Consolas"/>
              </a:rPr>
              <a:t>cardNumber</a:t>
            </a:r>
            <a:r>
              <a:rPr lang="en-US" sz="1300" dirty="0">
                <a:solidFill>
                  <a:srgbClr val="CE9178"/>
                </a:solidFill>
                <a:latin typeface="Consolas"/>
              </a:rPr>
              <a:t>:\"1234</a:t>
            </a:r>
          </a:p>
          <a:p>
            <a:pPr>
              <a:lnSpc>
                <a:spcPts val="1700"/>
              </a:lnSpc>
            </a:pPr>
            <a:endParaRPr lang="en-US" sz="1300" dirty="0">
              <a:solidFill>
                <a:srgbClr val="CE9178"/>
              </a:solidFill>
              <a:latin typeface="Consolas"/>
            </a:endParaRPr>
          </a:p>
          <a:p>
            <a:pPr>
              <a:lnSpc>
                <a:spcPts val="1700"/>
              </a:lnSpc>
            </a:pPr>
            <a:r>
              <a:rPr lang="en-US" sz="1300" dirty="0">
                <a:solidFill>
                  <a:srgbClr val="FF6B6B"/>
                </a:solidFill>
                <a:latin typeface="Consolas"/>
              </a:rPr>
              <a:t>// jsonrepair, dirty-json, LangChain:</a:t>
            </a:r>
          </a:p>
          <a:p>
            <a:pPr>
              <a:lnSpc>
                <a:spcPts val="1700"/>
              </a:lnSpc>
            </a:pPr>
            <a:r>
              <a:rPr lang="en-US" sz="1300" dirty="0">
                <a:solidFill>
                  <a:srgbClr val="FF6B6B"/>
                </a:solidFill>
                <a:latin typeface="Consolas"/>
              </a:rPr>
              <a:t>//   → passes through. Valid string. No schema = no clue.</a:t>
            </a:r>
          </a:p>
          <a:p>
            <a:pPr>
              <a:lnSpc>
                <a:spcPts val="1700"/>
              </a:lnSpc>
            </a:pPr>
            <a:endParaRPr lang="en-US" sz="1300" dirty="0">
              <a:solidFill>
                <a:srgbClr val="FF6B6B"/>
              </a:solidFill>
              <a:latin typeface="Consolas"/>
            </a:endParaRPr>
          </a:p>
          <a:p>
            <a:pPr>
              <a:lnSpc>
                <a:spcPts val="1700"/>
              </a:lnSpc>
            </a:pPr>
            <a:r>
              <a:rPr lang="en-US" sz="1300" dirty="0">
                <a:solidFill>
                  <a:srgbClr val="4EC9B0"/>
                </a:solidFill>
                <a:latin typeface="Consolas"/>
              </a:rPr>
              <a:t>// Typia coerce():</a:t>
            </a:r>
          </a:p>
          <a:p>
            <a:pPr>
              <a:lnSpc>
                <a:spcPts val="1700"/>
              </a:lnSpc>
            </a:pPr>
            <a:r>
              <a:rPr lang="en-US" sz="1300" dirty="0">
                <a:solidFill>
                  <a:srgbClr val="4EC9B0"/>
                </a:solidFill>
                <a:latin typeface="Consolas"/>
              </a:rPr>
              <a:t>//   schema expects object → string found → re-enter parse()</a:t>
            </a:r>
          </a:p>
          <a:p>
            <a:pPr>
              <a:lnSpc>
                <a:spcPts val="1700"/>
              </a:lnSpc>
            </a:pPr>
            <a:r>
              <a:rPr lang="en-US" sz="1300" dirty="0">
                <a:solidFill>
                  <a:srgbClr val="4EC9B0"/>
                </a:solidFill>
                <a:latin typeface="Consolas"/>
              </a:rPr>
              <a:t>//   → </a:t>
            </a:r>
            <a:r>
              <a:rPr lang="en-US" sz="1300" dirty="0">
                <a:solidFill>
                  <a:srgbClr val="D4D4D4"/>
                </a:solidFill>
                <a:latin typeface="Consolas"/>
              </a:rPr>
              <a:t>{ type: </a:t>
            </a:r>
            <a:r>
              <a:rPr lang="en-US" sz="1300" dirty="0">
                <a:solidFill>
                  <a:srgbClr val="CE9178"/>
                </a:solidFill>
                <a:latin typeface="Consolas"/>
              </a:rPr>
              <a:t>"card"</a:t>
            </a:r>
            <a:r>
              <a:rPr lang="en-US" sz="1300" dirty="0">
                <a:solidFill>
                  <a:srgbClr val="D4D4D4"/>
                </a:solidFill>
                <a:latin typeface="Consolas"/>
              </a:rPr>
              <a:t>, cardNumber: </a:t>
            </a:r>
            <a:r>
              <a:rPr lang="en-US" sz="1300" dirty="0">
                <a:solidFill>
                  <a:srgbClr val="CE9178"/>
                </a:solidFill>
                <a:latin typeface="Consolas"/>
              </a:rPr>
              <a:t>"1234"</a:t>
            </a:r>
            <a:r>
              <a:rPr lang="en-US" sz="1300" dirty="0">
                <a:solidFill>
                  <a:srgbClr val="D4D4D4"/>
                </a:solidFill>
                <a:latin typeface="Consolas"/>
              </a:rPr>
              <a:t> }</a:t>
            </a:r>
            <a:r>
              <a:rPr lang="en-US" sz="1300" dirty="0">
                <a:solidFill>
                  <a:srgbClr val="4EC9B0"/>
                </a:solidFill>
                <a:latin typeface="Consolas"/>
              </a:rPr>
              <a:t>  ✓</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FE9E00"/>
                </a:solidFill>
                <a:latin typeface="Segoe UI Semibold"/>
                <a:ea typeface="+mn-ea"/>
                <a:cs typeface="+mn-cs"/>
              </a:rPr>
              <a:t>No schema = no coercion.</a:t>
            </a:r>
            <a:r>
              <a:rPr lang="en-US" sz="1800" dirty="0">
                <a:ln>
                  <a:noFill/>
                </a:ln>
                <a:solidFill>
                  <a:srgbClr val="A0A0A0"/>
                </a:solidFill>
                <a:latin typeface="Segoe UI"/>
                <a:ea typeface="+mn-ea"/>
                <a:cs typeface="+mn-cs"/>
              </a:rPr>
              <a:t>  The compiler-generated schema is the coercion engine.</a:t>
            </a:r>
          </a:p>
        </p:txBody>
      </p:sp>
      <p:sp>
        <p:nvSpPr>
          <p:cNvPr id="3" name="AL">
            <a:extLst>
              <a:ext uri="{FF2B5EF4-FFF2-40B4-BE49-F238E27FC236}">
                <a16:creationId xmlns:a16="http://schemas.microsoft.com/office/drawing/2014/main" id="{8104B758-4654-4197-8C48-EFF6B39A0E40}"/>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353743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The parse() coerce() Recursive Cycle</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normAutofit fontScale="92500" lnSpcReduction="10000"/>
          </a:bodyPr>
          <a:lstStyle/>
          <a:p>
            <a:pPr>
              <a:buNone/>
            </a:pPr>
            <a:r>
              <a:rPr lang="en-US" sz="1800" b="1" dirty="0"/>
              <a:t>parse()</a:t>
            </a:r>
          </a:p>
          <a:p>
            <a:pPr>
              <a:buFont typeface="Arial"/>
              <a:buChar char="•"/>
            </a:pPr>
            <a:r>
              <a:rPr lang="en-US" sz="1800" dirty="0"/>
              <a:t>LLM raw output → schema-aware greedy parsing</a:t>
            </a:r>
          </a:p>
          <a:p>
            <a:pPr>
              <a:buFont typeface="Arial"/>
              <a:buChar char="•"/>
            </a:pPr>
            <a:r>
              <a:rPr lang="en-US" sz="1800" dirty="0"/>
              <a:t>Broken JSON recovery</a:t>
            </a:r>
          </a:p>
          <a:p>
            <a:pPr>
              <a:buFont typeface="Arial"/>
              <a:buChar char="•"/>
            </a:pPr>
            <a:r>
              <a:rPr lang="en-US" sz="1800" dirty="0"/>
              <a:t>String where schema expects object? → Re-enters parse()</a:t>
            </a:r>
          </a:p>
          <a:p>
            <a:pPr>
              <a:buNone/>
            </a:pPr>
            <a:endParaRPr lang="en-US" sz="800" dirty="0"/>
          </a:p>
          <a:p>
            <a:pPr>
              <a:buNone/>
            </a:pPr>
            <a:r>
              <a:rPr lang="en-US" sz="1800" b="1" dirty="0"/>
              <a:t>coerce()</a:t>
            </a:r>
          </a:p>
          <a:p>
            <a:pPr>
              <a:buFont typeface="Arial"/>
              <a:buChar char="•"/>
            </a:pPr>
            <a:r>
              <a:rPr lang="en-US" sz="1800" dirty="0"/>
              <a:t>Typed object → schema-based type conversion</a:t>
            </a:r>
          </a:p>
          <a:p>
            <a:pPr>
              <a:buFont typeface="Arial"/>
              <a:buChar char="•"/>
            </a:pPr>
            <a:r>
              <a:rPr lang="en-US" sz="1800" dirty="0"/>
              <a:t>Finds another string-where-object? → Back to parse()</a:t>
            </a:r>
          </a:p>
          <a:p>
            <a:pPr>
              <a:buFont typeface="Arial"/>
              <a:buChar char="•"/>
            </a:pPr>
            <a:r>
              <a:rPr lang="en-US" sz="1800" dirty="0"/>
              <a:t>Repeat until all layers unwound</a:t>
            </a:r>
          </a:p>
          <a:p>
            <a:pPr>
              <a:buNone/>
            </a:pPr>
            <a:endParaRPr lang="en-US" sz="800" dirty="0"/>
          </a:p>
          <a:p>
            <a:pPr>
              <a:buNone/>
            </a:pPr>
            <a:r>
              <a:rPr lang="en-US" sz="1800" b="1" dirty="0"/>
              <a:t>string → parse() → object → coerce() → finds string → parse() → ... → fully typed result</a:t>
            </a:r>
          </a:p>
        </p:txBody>
      </p:sp>
    </p:spTree>
    <p:extLst>
      <p:ext uri="{BB962C8B-B14F-4D97-AF65-F5344CB8AC3E}">
        <p14:creationId xmlns:p14="http://schemas.microsoft.com/office/powerpoint/2010/main" val="3474072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Validation &amp; Precise Feedback</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buNone/>
            </a:pPr>
            <a:r>
              <a:rPr lang="en-US" sz="1800" b="1" dirty="0"/>
              <a:t>validate() detects violations at exact paths</a:t>
            </a:r>
          </a:p>
          <a:p>
            <a:pPr>
              <a:buFont typeface="Arial"/>
              <a:buChar char="•"/>
            </a:pPr>
            <a:r>
              <a:rPr lang="en-US" sz="1800" dirty="0"/>
              <a:t>path: $input.order.product.price</a:t>
            </a:r>
          </a:p>
          <a:p>
            <a:pPr>
              <a:buFont typeface="Arial"/>
              <a:buChar char="•"/>
            </a:pPr>
            <a:r>
              <a:rPr lang="en-US" sz="1800" dirty="0"/>
              <a:t>expected: number &amp; Minimum&lt;0&gt;  |  value: -100</a:t>
            </a:r>
          </a:p>
          <a:p>
            <a:pPr>
              <a:buNone/>
            </a:pPr>
            <a:endParaRPr lang="en-US" sz="800" dirty="0"/>
          </a:p>
          <a:p>
            <a:pPr>
              <a:buNone/>
            </a:pPr>
            <a:r>
              <a:rPr lang="en-US" sz="1800" b="1" dirty="0"/>
              <a:t>Surgical precision</a:t>
            </a:r>
          </a:p>
          <a:p>
            <a:pPr>
              <a:buFont typeface="Arial"/>
              <a:buChar char="•"/>
            </a:pPr>
            <a:r>
              <a:rPr lang="en-US" sz="1800" dirty="0"/>
              <a:t>Exact path + expected type + actual value</a:t>
            </a:r>
          </a:p>
          <a:p>
            <a:pPr>
              <a:buFont typeface="Arial"/>
              <a:buChar char="•"/>
            </a:pPr>
            <a:r>
              <a:rPr lang="en-US" sz="1800" dirty="0"/>
              <a:t>= LLM can self-correct in the next attempt</a:t>
            </a:r>
          </a:p>
          <a:p>
            <a:pPr>
              <a:buNone/>
            </a:pPr>
            <a:endParaRPr lang="en-US" sz="800" dirty="0"/>
          </a:p>
          <a:p>
            <a:pPr>
              <a:buNone/>
            </a:pPr>
            <a:r>
              <a:rPr lang="en-US" sz="1800" b="1" dirty="0"/>
              <a:t>Not "none of the 10 variants matched" — but exactly which field failed and why</a:t>
            </a:r>
          </a:p>
        </p:txBody>
      </p:sp>
    </p:spTree>
    <p:extLst>
      <p:ext uri="{BB962C8B-B14F-4D97-AF65-F5344CB8AC3E}">
        <p14:creationId xmlns:p14="http://schemas.microsoft.com/office/powerpoint/2010/main" val="14320010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DarkBg">
            <a:extLst>
              <a:ext uri="{FF2B5EF4-FFF2-40B4-BE49-F238E27FC236}">
                <a16:creationId xmlns:a16="http://schemas.microsoft.com/office/drawing/2014/main" id="{298AA57F-AEB2-4790-A8B7-B62A0F532266}"/>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0" name="T"/>
          <p:cNvSpPr/>
          <p:nvPr/>
        </p:nvSpPr>
        <p:spPr>
          <a:xfrm>
            <a:off x="762000" y="317500"/>
            <a:ext cx="10668000" cy="508000"/>
          </a:xfrm>
          <a:prstGeom prst="rect">
            <a:avLst/>
          </a:prstGeom>
          <a:noFill/>
          <a:ln>
            <a:noFill/>
          </a:ln>
        </p:spPr>
        <p:txBody>
          <a:bodyPr wrap="square" lIns="0" tIns="0" rIns="0" bIns="0"/>
          <a:lstStyle/>
          <a:p>
            <a:pPr marL="0" indent="0" algn="l">
              <a:buNone/>
            </a:pPr>
            <a:r>
              <a:rPr lang="en-US" sz="2400" b="1" dirty="0">
                <a:ln>
                  <a:noFill/>
                </a:ln>
                <a:solidFill>
                  <a:srgbClr val="F0F0F0"/>
                </a:solidFill>
                <a:latin typeface="Segoe UI Semibold"/>
                <a:ea typeface="+mn-ea"/>
                <a:cs typeface="+mn-cs"/>
              </a:rPr>
              <a:t>Validation Feedback</a:t>
            </a:r>
          </a:p>
        </p:txBody>
      </p:sp>
      <p:sp>
        <p:nvSpPr>
          <p:cNvPr id="201" name="Sub"/>
          <p:cNvSpPr/>
          <p:nvPr/>
        </p:nvSpPr>
        <p:spPr>
          <a:xfrm>
            <a:off x="762000" y="965200"/>
            <a:ext cx="10668000" cy="317500"/>
          </a:xfrm>
          <a:prstGeom prst="rect">
            <a:avLst/>
          </a:prstGeom>
          <a:noFill/>
          <a:ln>
            <a:noFill/>
          </a:ln>
        </p:spPr>
        <p:txBody>
          <a:bodyPr wrap="square" lIns="0" tIns="0" rIns="0" bIns="0"/>
          <a:lstStyle/>
          <a:p>
            <a:pPr marL="0" indent="0" algn="l">
              <a:buNone/>
            </a:pPr>
            <a:r>
              <a:rPr lang="en-US" sz="1800" dirty="0">
                <a:ln>
                  <a:noFill/>
                </a:ln>
                <a:solidFill>
                  <a:srgbClr val="808080"/>
                </a:solidFill>
                <a:latin typeface="Segoe UI"/>
                <a:ea typeface="+mn-ea"/>
                <a:cs typeface="+mn-cs"/>
              </a:rPr>
              <a:t>The LLM sees exactly where it went wrong — on its own JSON</a:t>
            </a:r>
          </a:p>
        </p:txBody>
      </p:sp>
      <p:sp>
        <p:nvSpPr>
          <p:cNvPr id="202" name="CodeBg"/>
          <p:cNvSpPr/>
          <p:nvPr/>
        </p:nvSpPr>
        <p:spPr>
          <a:xfrm>
            <a:off x="508000" y="1333500"/>
            <a:ext cx="11176000" cy="4445000"/>
          </a:xfrm>
          <a:prstGeom prst="roundRect">
            <a:avLst>
              <a:gd name="adj" fmla="val 3000"/>
            </a:avLst>
          </a:prstGeom>
          <a:solidFill>
            <a:srgbClr val="1E1E1E"/>
          </a:solidFill>
          <a:ln>
            <a:noFill/>
          </a:ln>
        </p:spPr>
        <p:txBody>
          <a:bodyPr/>
          <a:lstStyle/>
          <a:p>
            <a:endParaRPr lang="en-US"/>
          </a:p>
        </p:txBody>
      </p:sp>
      <p:sp>
        <p:nvSpPr>
          <p:cNvPr id="203" name="Code"/>
          <p:cNvSpPr/>
          <p:nvPr/>
        </p:nvSpPr>
        <p:spPr>
          <a:xfrm>
            <a:off x="762000" y="1460500"/>
            <a:ext cx="10795000" cy="4254500"/>
          </a:xfrm>
          <a:prstGeom prst="rect">
            <a:avLst/>
          </a:prstGeom>
          <a:noFill/>
          <a:ln>
            <a:noFill/>
          </a:ln>
        </p:spPr>
        <p:txBody>
          <a:bodyPr wrap="square" lIns="0" tIns="0" rIns="0" bIns="0"/>
          <a:lstStyle/>
          <a:p>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"order"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"payment"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B5CEA8"/>
                </a:solidFill>
                <a:latin typeface="Consolas"/>
              </a:rPr>
              <a:t>12345678 </a:t>
            </a:r>
            <a:r>
              <a:rPr lang="en-US" sz="1400" dirty="0">
                <a:solidFill>
                  <a:srgbClr val="FF6B6B"/>
                </a:solidFill>
                <a:latin typeface="Consolas"/>
              </a:rPr>
              <a:t>// ❌ [{"path":"$input.order.payment.cardNumber","expected":"string"}]</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"product"</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"Laptop"</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"price"</a:t>
            </a:r>
            <a:r>
              <a:rPr lang="en-US" sz="1400" dirty="0">
                <a:solidFill>
                  <a:srgbClr val="D4D4D4"/>
                </a:solidFill>
                <a:latin typeface="Consolas"/>
              </a:rPr>
              <a:t>: </a:t>
            </a:r>
            <a:r>
              <a:rPr lang="en-US" sz="1400" dirty="0">
                <a:solidFill>
                  <a:srgbClr val="B5CEA8"/>
                </a:solidFill>
                <a:latin typeface="Consolas"/>
              </a:rPr>
              <a:t>-100, </a:t>
            </a:r>
            <a:r>
              <a:rPr lang="en-US" sz="1400" dirty="0">
                <a:solidFill>
                  <a:srgbClr val="FF6B6B"/>
                </a:solidFill>
                <a:latin typeface="Consolas"/>
              </a:rPr>
              <a:t>// ❌ [{"path":"$input.order.product.price","expected":"number &amp; Minimum&lt;0&gt;"}]</a:t>
            </a:r>
          </a:p>
          <a:p>
            <a:r>
              <a:rPr lang="en-US" sz="1400" dirty="0">
                <a:solidFill>
                  <a:srgbClr val="D4D4D4"/>
                </a:solidFill>
                <a:latin typeface="Consolas"/>
              </a:rPr>
              <a:t>      </a:t>
            </a:r>
            <a:r>
              <a:rPr lang="en-US" sz="1400" dirty="0">
                <a:solidFill>
                  <a:srgbClr val="9CDCFE"/>
                </a:solidFill>
                <a:latin typeface="Consolas"/>
              </a:rPr>
              <a:t>"quantity"</a:t>
            </a:r>
            <a:r>
              <a:rPr lang="en-US" sz="1400" dirty="0">
                <a:solidFill>
                  <a:srgbClr val="D4D4D4"/>
                </a:solidFill>
                <a:latin typeface="Consolas"/>
              </a:rPr>
              <a:t>: </a:t>
            </a:r>
            <a:r>
              <a:rPr lang="en-US" sz="1400" dirty="0">
                <a:solidFill>
                  <a:srgbClr val="B5CEA8"/>
                </a:solidFill>
                <a:latin typeface="Consolas"/>
              </a:rPr>
              <a:t>2.5 </a:t>
            </a:r>
            <a:r>
              <a:rPr lang="en-US" sz="1400" dirty="0">
                <a:solidFill>
                  <a:srgbClr val="FF6B6B"/>
                </a:solidFill>
                <a:latin typeface="Consolas"/>
              </a:rPr>
              <a:t>// ❌ [{"path":"$input.order.product.quantity","expected":"number &amp; Type&lt;\"uint32\"&gt;"}]</a:t>
            </a:r>
          </a:p>
          <a:p>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"customer"</a:t>
            </a:r>
            <a:r>
              <a:rPr lang="en-US" sz="1400" dirty="0">
                <a:solidFill>
                  <a:srgbClr val="D4D4D4"/>
                </a:solidFill>
                <a:latin typeface="Consolas"/>
              </a:rPr>
              <a:t>: {</a:t>
            </a:r>
          </a:p>
          <a:p>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"John Doe"</a:t>
            </a:r>
            <a:r>
              <a:rPr lang="en-US" sz="1400" dirty="0">
                <a:solidFill>
                  <a:srgbClr val="D4D4D4"/>
                </a:solidFill>
                <a:latin typeface="Consolas"/>
              </a:rPr>
              <a:t>,</a:t>
            </a:r>
          </a:p>
          <a:p>
            <a:r>
              <a:rPr lang="en-US" sz="1400" dirty="0">
                <a:solidFill>
                  <a:srgbClr val="D4D4D4"/>
                </a:solidFill>
                <a:latin typeface="Consolas"/>
              </a:rPr>
              <a:t>      </a:t>
            </a:r>
            <a:r>
              <a:rPr lang="en-US" sz="1400" dirty="0">
                <a:solidFill>
                  <a:srgbClr val="9CDCFE"/>
                </a:solidFill>
                <a:latin typeface="Consolas"/>
              </a:rPr>
              <a:t>"email"</a:t>
            </a:r>
            <a:r>
              <a:rPr lang="en-US" sz="1400" dirty="0">
                <a:solidFill>
                  <a:srgbClr val="D4D4D4"/>
                </a:solidFill>
                <a:latin typeface="Consolas"/>
              </a:rPr>
              <a:t>: </a:t>
            </a:r>
            <a:r>
              <a:rPr lang="en-US" sz="1400" dirty="0">
                <a:solidFill>
                  <a:srgbClr val="CE9178"/>
                </a:solidFill>
                <a:latin typeface="Consolas"/>
              </a:rPr>
              <a:t>"invalid-email", </a:t>
            </a:r>
            <a:r>
              <a:rPr lang="en-US" sz="1400" dirty="0">
                <a:solidFill>
                  <a:srgbClr val="FF6B6B"/>
                </a:solidFill>
                <a:latin typeface="Consolas"/>
              </a:rPr>
              <a:t>// ❌ [{"path":"$input.order.customer.email","expected":"string &amp; Format&lt;\"email\"&gt;"}]</a:t>
            </a:r>
          </a:p>
          <a:p>
            <a:r>
              <a:rPr lang="en-US" sz="1400" dirty="0">
                <a:solidFill>
                  <a:srgbClr val="D4D4D4"/>
                </a:solidFill>
                <a:latin typeface="Consolas"/>
              </a:rPr>
              <a:t>      </a:t>
            </a:r>
            <a:r>
              <a:rPr lang="en-US" sz="1400" dirty="0">
                <a:solidFill>
                  <a:srgbClr val="9CDCFE"/>
                </a:solidFill>
                <a:latin typeface="Consolas"/>
              </a:rPr>
              <a:t>"vip"</a:t>
            </a:r>
            <a:r>
              <a:rPr lang="en-US" sz="1400" dirty="0">
                <a:solidFill>
                  <a:srgbClr val="D4D4D4"/>
                </a:solidFill>
                <a:latin typeface="Consolas"/>
              </a:rPr>
              <a:t>: </a:t>
            </a:r>
            <a:r>
              <a:rPr lang="en-US" sz="1400" dirty="0">
                <a:solidFill>
                  <a:srgbClr val="CE9178"/>
                </a:solidFill>
                <a:latin typeface="Consolas"/>
              </a:rPr>
              <a:t>"yes" </a:t>
            </a:r>
            <a:r>
              <a:rPr lang="en-US" sz="1400" dirty="0">
                <a:solidFill>
                  <a:srgbClr val="FF6B6B"/>
                </a:solidFill>
                <a:latin typeface="Consolas"/>
              </a:rPr>
              <a:t>// ❌ [{"path":"$input.order.customer.vip","expected":"boolean"}]</a:t>
            </a:r>
          </a:p>
          <a:p>
            <a:r>
              <a:rPr lang="en-US" sz="1400" dirty="0">
                <a:solidFill>
                  <a:srgbClr val="D4D4D4"/>
                </a:solidFill>
                <a:latin typeface="Consolas"/>
              </a:rPr>
              <a:t>    }</a:t>
            </a:r>
          </a:p>
          <a:p>
            <a:r>
              <a:rPr lang="en-US" sz="1400" dirty="0">
                <a:solidFill>
                  <a:srgbClr val="D4D4D4"/>
                </a:solidFill>
                <a:latin typeface="Consolas"/>
              </a:rPr>
              <a:t>  }</a:t>
            </a:r>
          </a:p>
          <a:p>
            <a:r>
              <a:rPr lang="en-US" sz="1400" dirty="0">
                <a:solidFill>
                  <a:srgbClr val="D4D4D4"/>
                </a:solidFill>
                <a:latin typeface="Consolas"/>
              </a:rPr>
              <a:t>}</a:t>
            </a:r>
          </a:p>
        </p:txBody>
      </p:sp>
      <p:sp>
        <p:nvSpPr>
          <p:cNvPr id="204" name="Badge"/>
          <p:cNvSpPr/>
          <p:nvPr/>
        </p:nvSpPr>
        <p:spPr>
          <a:xfrm>
            <a:off x="1270000" y="5969000"/>
            <a:ext cx="9652000" cy="508000"/>
          </a:xfrm>
          <a:prstGeom prst="rect">
            <a:avLst/>
          </a:prstGeom>
          <a:noFill/>
          <a:ln>
            <a:noFill/>
          </a:ln>
        </p:spPr>
        <p:txBody>
          <a:bodyPr wrap="square" anchor="ctr" anchorCtr="1"/>
          <a:lstStyle/>
          <a:p>
            <a:pPr marL="0" indent="0" algn="ctr">
              <a:buNone/>
            </a:pPr>
            <a:r>
              <a:rPr lang="en-US" sz="1800" b="1" dirty="0">
                <a:ln>
                  <a:noFill/>
                </a:ln>
                <a:solidFill>
                  <a:srgbClr val="DF5327"/>
                </a:solidFill>
                <a:latin typeface="Segoe UI Semibold"/>
                <a:ea typeface="+mn-ea"/>
                <a:cs typeface="+mn-cs"/>
              </a:rPr>
              <a:t>5 errors, 5 exact paths</a:t>
            </a:r>
            <a:r>
              <a:rPr lang="en-US" sz="1800" dirty="0">
                <a:ln>
                  <a:noFill/>
                </a:ln>
                <a:solidFill>
                  <a:srgbClr val="A0A0A0"/>
                </a:solidFill>
                <a:latin typeface="Segoe UI"/>
                <a:ea typeface="+mn-ea"/>
                <a:cs typeface="+mn-cs"/>
              </a:rPr>
              <a:t>  —  fix only what’s broken, keep everything else</a:t>
            </a:r>
          </a:p>
        </p:txBody>
      </p:sp>
      <p:sp>
        <p:nvSpPr>
          <p:cNvPr id="3" name="AL">
            <a:extLst>
              <a:ext uri="{FF2B5EF4-FFF2-40B4-BE49-F238E27FC236}">
                <a16:creationId xmlns:a16="http://schemas.microsoft.com/office/drawing/2014/main" id="{5AAB71ED-8F04-4FD9-9941-57A8837F6261}"/>
              </a:ext>
            </a:extLst>
          </p:cNvPr>
          <p:cNvSpPr/>
          <p:nvPr/>
        </p:nvSpPr>
        <p:spPr>
          <a:xfrm>
            <a:off x="762000" y="8636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122088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24024-5850-4C2B-1D47-1E40A9357DA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FB0B2D8-6AAF-F6FA-71CE-16D43D3F6F4F}"/>
              </a:ext>
            </a:extLst>
          </p:cNvPr>
          <p:cNvSpPr>
            <a:spLocks noGrp="1"/>
          </p:cNvSpPr>
          <p:nvPr>
            <p:ph type="title"/>
          </p:nvPr>
        </p:nvSpPr>
        <p:spPr/>
        <p:txBody>
          <a:bodyPr/>
          <a:lstStyle/>
          <a:p>
            <a:pPr>
              <a:buNone/>
            </a:pPr>
            <a:r>
              <a:rPr lang="en-US" sz="2800" b="1" dirty="0">
                <a:solidFill>
                  <a:srgbClr val="222222"/>
                </a:solidFill>
                <a:latin typeface="Segoe UI Semibold"/>
              </a:rPr>
              <a:t>The Only Compiler-Level Solution</a:t>
            </a:r>
          </a:p>
        </p:txBody>
      </p:sp>
      <p:sp>
        <p:nvSpPr>
          <p:cNvPr id="3" name="내용 개체 틀 2">
            <a:extLst>
              <a:ext uri="{FF2B5EF4-FFF2-40B4-BE49-F238E27FC236}">
                <a16:creationId xmlns:a16="http://schemas.microsoft.com/office/drawing/2014/main" id="{B5B743BA-3E45-D5E4-43F6-0E70D319E0DE}"/>
              </a:ext>
            </a:extLst>
          </p:cNvPr>
          <p:cNvSpPr>
            <a:spLocks noGrp="1"/>
          </p:cNvSpPr>
          <p:nvPr>
            <p:ph idx="1"/>
          </p:nvPr>
        </p:nvSpPr>
        <p:spPr/>
        <p:txBody>
          <a:bodyPr/>
          <a:lstStyle/>
          <a:p>
            <a:pPr>
              <a:buNone/>
            </a:pPr>
            <a:r>
              <a:rPr lang="en-US" sz="1800" dirty="0">
                <a:solidFill>
                  <a:srgbClr val="555555"/>
                </a:solidFill>
                <a:latin typeface="Segoe UI"/>
              </a:rPr>
              <a:t>Typia is the only framework that operates at the compiler level</a:t>
            </a:r>
          </a:p>
          <a:p>
            <a:pPr>
              <a:buNone/>
            </a:pPr>
            <a:r>
              <a:rPr lang="en-US" sz="1800" dirty="0">
                <a:solidFill>
                  <a:srgbClr val="555555"/>
                </a:solidFill>
                <a:latin typeface="Segoe UI"/>
              </a:rPr>
              <a:t>and supports all four in a single integrated pipeline:</a:t>
            </a:r>
          </a:p>
          <a:p>
            <a:pPr>
              <a:buNone/>
            </a:pPr>
            <a:endParaRPr lang="en-US" sz="1400" dirty="0"/>
          </a:p>
          <a:p>
            <a:pPr marL="457200" indent="-457200">
              <a:buFont typeface="Segoe UI Semibold"/>
              <a:buAutoNum type="arabicPeriod"/>
            </a:pPr>
            <a:r>
              <a:rPr lang="en-US" sz="2000" b="1" dirty="0">
                <a:solidFill>
                  <a:srgbClr val="222222"/>
                </a:solidFill>
                <a:latin typeface="Segoe UI Semibold"/>
              </a:rPr>
              <a:t>Schema Generation</a:t>
            </a:r>
            <a:r>
              <a:rPr lang="en-US" sz="2000" dirty="0">
                <a:solidFill>
                  <a:srgbClr val="555555"/>
                </a:solidFill>
                <a:latin typeface="Segoe UI"/>
              </a:rPr>
              <a:t>  —  from TypeScript types at compile time</a:t>
            </a:r>
          </a:p>
          <a:p>
            <a:pPr marL="457200" indent="-457200">
              <a:buFont typeface="Segoe UI Semibold"/>
              <a:buAutoNum type="arabicPeriod"/>
            </a:pPr>
            <a:r>
              <a:rPr lang="en-US" sz="2000" b="1" dirty="0">
                <a:solidFill>
                  <a:srgbClr val="222222"/>
                </a:solidFill>
                <a:latin typeface="Segoe UI Semibold"/>
              </a:rPr>
              <a:t>Lenient Parsing</a:t>
            </a:r>
            <a:r>
              <a:rPr lang="en-US" sz="2000" dirty="0">
                <a:solidFill>
                  <a:srgbClr val="555555"/>
                </a:solidFill>
                <a:latin typeface="Segoe UI"/>
              </a:rPr>
              <a:t>  —  broken JSON recovery + type coercion</a:t>
            </a:r>
          </a:p>
          <a:p>
            <a:pPr marL="457200" indent="-457200">
              <a:buFont typeface="Segoe UI Semibold"/>
              <a:buAutoNum type="arabicPeriod"/>
            </a:pPr>
            <a:r>
              <a:rPr lang="en-US" sz="2000" b="1" dirty="0">
                <a:solidFill>
                  <a:srgbClr val="222222"/>
                </a:solidFill>
                <a:latin typeface="Segoe UI Semibold"/>
              </a:rPr>
              <a:t>Validation</a:t>
            </a:r>
            <a:r>
              <a:rPr lang="en-US" sz="2000" dirty="0">
                <a:solidFill>
                  <a:srgbClr val="555555"/>
                </a:solidFill>
                <a:latin typeface="Segoe UI"/>
              </a:rPr>
              <a:t>  —  exact path + expected type for every error</a:t>
            </a:r>
          </a:p>
          <a:p>
            <a:pPr marL="457200" indent="-457200">
              <a:buFont typeface="Segoe UI Semibold"/>
              <a:buAutoNum type="arabicPeriod"/>
            </a:pPr>
            <a:r>
              <a:rPr lang="en-US" sz="2000" b="1" dirty="0">
                <a:solidFill>
                  <a:srgbClr val="222222"/>
                </a:solidFill>
                <a:latin typeface="Segoe UI Semibold"/>
              </a:rPr>
              <a:t>Feedback Generation</a:t>
            </a:r>
            <a:r>
              <a:rPr lang="en-US" sz="2000" dirty="0">
                <a:solidFill>
                  <a:srgbClr val="555555"/>
                </a:solidFill>
                <a:latin typeface="Segoe UI"/>
              </a:rPr>
              <a:t>  —  LLM-readable structured error report</a:t>
            </a:r>
          </a:p>
          <a:p>
            <a:pPr>
              <a:buNone/>
            </a:pPr>
            <a:endParaRPr lang="en-US" sz="1400" dirty="0"/>
          </a:p>
        </p:txBody>
      </p:sp>
    </p:spTree>
    <p:extLst>
      <p:ext uri="{BB962C8B-B14F-4D97-AF65-F5344CB8AC3E}">
        <p14:creationId xmlns:p14="http://schemas.microsoft.com/office/powerpoint/2010/main" val="3738898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49663B1-8B78-A46F-3EC2-96FCB1420C93}"/>
              </a:ext>
            </a:extLst>
          </p:cNvPr>
          <p:cNvSpPr>
            <a:spLocks noGrp="1"/>
          </p:cNvSpPr>
          <p:nvPr>
            <p:ph type="title"/>
          </p:nvPr>
        </p:nvSpPr>
        <p:spPr/>
        <p:txBody>
          <a:bodyPr/>
          <a:lstStyle/>
          <a:p>
            <a:pPr>
              <a:buNone/>
            </a:pPr>
            <a:r>
              <a:rPr lang="en-US" sz="2800" b="1" dirty="0">
                <a:solidFill>
                  <a:srgbClr val="222222"/>
                </a:solidFill>
                <a:latin typeface="Segoe UI Semibold"/>
              </a:rPr>
              <a:t>The Only Union Type Support</a:t>
            </a:r>
          </a:p>
        </p:txBody>
      </p:sp>
      <p:sp>
        <p:nvSpPr>
          <p:cNvPr id="3" name="내용 개체 틀 2">
            <a:extLst>
              <a:ext uri="{FF2B5EF4-FFF2-40B4-BE49-F238E27FC236}">
                <a16:creationId xmlns:a16="http://schemas.microsoft.com/office/drawing/2014/main" id="{83299BB8-7EC8-6B6F-3519-49D1697D7520}"/>
              </a:ext>
            </a:extLst>
          </p:cNvPr>
          <p:cNvSpPr>
            <a:spLocks noGrp="1"/>
          </p:cNvSpPr>
          <p:nvPr>
            <p:ph idx="1"/>
          </p:nvPr>
        </p:nvSpPr>
        <p:spPr/>
        <p:txBody>
          <a:bodyPr>
            <a:normAutofit fontScale="92500" lnSpcReduction="10000"/>
          </a:bodyPr>
          <a:lstStyle/>
          <a:p>
            <a:pPr>
              <a:buNone/>
            </a:pPr>
            <a:r>
              <a:rPr lang="en-US" sz="1800" dirty="0">
                <a:solidFill>
                  <a:srgbClr val="555555"/>
                </a:solidFill>
                <a:latin typeface="Segoe UI"/>
              </a:rPr>
              <a:t>Recursive unions (anyOf / oneOf) cause combinatorial explosion.</a:t>
            </a:r>
          </a:p>
          <a:p>
            <a:pPr>
              <a:buNone/>
            </a:pPr>
            <a:r>
              <a:rPr lang="en-US" sz="1800" dirty="0">
                <a:solidFill>
                  <a:srgbClr val="555555"/>
                </a:solidFill>
                <a:latin typeface="Segoe UI"/>
              </a:rPr>
              <a:t>10 variants × 3 levels = 1,000 paths.  30 variants = 27,000.</a:t>
            </a:r>
          </a:p>
          <a:p>
            <a:pPr>
              <a:buNone/>
            </a:pPr>
            <a:endParaRPr lang="en-US" sz="1200" dirty="0"/>
          </a:p>
          <a:p>
            <a:pPr>
              <a:buNone/>
            </a:pPr>
            <a:r>
              <a:rPr lang="en-US" sz="1800" dirty="0">
                <a:solidFill>
                  <a:srgbClr val="555555"/>
                </a:solidFill>
                <a:latin typeface="Segoe UI"/>
              </a:rPr>
              <a:t>Only Typia handles union types across the entire pipeline:</a:t>
            </a:r>
          </a:p>
          <a:p>
            <a:pPr>
              <a:buNone/>
            </a:pPr>
            <a:endParaRPr lang="en-US" sz="1000" dirty="0"/>
          </a:p>
          <a:p>
            <a:pPr marL="457200" indent="-457200">
              <a:buFont typeface="Segoe UI Semibold"/>
              <a:buAutoNum type="arabicPeriod"/>
            </a:pPr>
            <a:r>
              <a:rPr lang="en-US" sz="2000" b="1" dirty="0">
                <a:solidFill>
                  <a:srgbClr val="222222"/>
                </a:solidFill>
                <a:latin typeface="Segoe UI Semibold"/>
              </a:rPr>
              <a:t>parse()</a:t>
            </a:r>
            <a:r>
              <a:rPr lang="en-US" sz="2000" dirty="0">
                <a:solidFill>
                  <a:srgbClr val="555555"/>
                </a:solidFill>
                <a:latin typeface="Segoe UI"/>
              </a:rPr>
              <a:t>  —  schema-aware parsing that unwraps double-stringify</a:t>
            </a:r>
          </a:p>
          <a:p>
            <a:pPr marL="457200" indent="-457200">
              <a:buFont typeface="Segoe UI Semibold"/>
              <a:buAutoNum type="arabicPeriod"/>
            </a:pPr>
            <a:r>
              <a:rPr lang="en-US" sz="2000" b="1" dirty="0">
                <a:solidFill>
                  <a:srgbClr val="222222"/>
                </a:solidFill>
                <a:latin typeface="Segoe UI Semibold"/>
              </a:rPr>
              <a:t>coerce()</a:t>
            </a:r>
            <a:r>
              <a:rPr lang="en-US" sz="2000" dirty="0">
                <a:solidFill>
                  <a:srgbClr val="555555"/>
                </a:solidFill>
                <a:latin typeface="Segoe UI"/>
              </a:rPr>
              <a:t>  —  type coercion that identifies the intended variant</a:t>
            </a:r>
          </a:p>
          <a:p>
            <a:pPr marL="457200" indent="-457200">
              <a:buFont typeface="Segoe UI Semibold"/>
              <a:buAutoNum type="arabicPeriod"/>
            </a:pPr>
            <a:r>
              <a:rPr lang="en-US" sz="2000" b="1" dirty="0">
                <a:solidFill>
                  <a:srgbClr val="222222"/>
                </a:solidFill>
                <a:latin typeface="Segoe UI Semibold"/>
              </a:rPr>
              <a:t>validate()</a:t>
            </a:r>
            <a:r>
              <a:rPr lang="en-US" sz="2000" dirty="0">
                <a:solidFill>
                  <a:srgbClr val="555555"/>
                </a:solidFill>
                <a:latin typeface="Segoe UI"/>
              </a:rPr>
              <a:t>  —  pinpoints errors within the correct variant</a:t>
            </a:r>
          </a:p>
          <a:p>
            <a:pPr>
              <a:buNone/>
            </a:pPr>
            <a:endParaRPr lang="en-US" sz="1200" dirty="0"/>
          </a:p>
          <a:p>
            <a:pPr>
              <a:buNone/>
            </a:pPr>
            <a:r>
              <a:rPr lang="en-US" sz="1800" b="1" dirty="0">
                <a:solidFill>
                  <a:srgbClr val="222222"/>
                </a:solidFill>
                <a:latin typeface="Segoe UI Semibold"/>
              </a:rPr>
              <a:t>Especially, validation feedback on union types</a:t>
            </a:r>
          </a:p>
          <a:p>
            <a:pPr>
              <a:buNone/>
            </a:pPr>
            <a:r>
              <a:rPr lang="en-US" sz="1800" b="1" dirty="0">
                <a:solidFill>
                  <a:srgbClr val="222222"/>
                </a:solidFill>
                <a:latin typeface="Segoe UI Semibold"/>
              </a:rPr>
              <a:t>is a Typia-only capability. No alternative exists.</a:t>
            </a:r>
          </a:p>
        </p:txBody>
      </p:sp>
    </p:spTree>
    <p:extLst>
      <p:ext uri="{BB962C8B-B14F-4D97-AF65-F5344CB8AC3E}">
        <p14:creationId xmlns:p14="http://schemas.microsoft.com/office/powerpoint/2010/main" val="11494703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Harness Engineering: AutoBe + Typia</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normAutofit fontScale="92500" lnSpcReduction="20000"/>
          </a:bodyPr>
          <a:lstStyle/>
          <a:p>
            <a:pPr>
              <a:buNone/>
            </a:pPr>
            <a:r>
              <a:rPr lang="en-US" sz="1800" b="1" dirty="0"/>
              <a:t>Typia Layer (Function Calling level)</a:t>
            </a:r>
          </a:p>
          <a:p>
            <a:pPr>
              <a:buFont typeface="Arial"/>
              <a:buChar char="•"/>
            </a:pPr>
            <a:r>
              <a:rPr lang="en-US" sz="1800" dirty="0"/>
              <a:t>Type → auto schema generation</a:t>
            </a:r>
          </a:p>
          <a:p>
            <a:pPr>
              <a:buFont typeface="Arial"/>
              <a:buChar char="•"/>
            </a:pPr>
            <a:r>
              <a:rPr lang="en-US" sz="1800" dirty="0"/>
              <a:t>Broken JSON recovery (lenient parsing)</a:t>
            </a:r>
          </a:p>
          <a:p>
            <a:pPr>
              <a:buFont typeface="Arial"/>
              <a:buChar char="•"/>
            </a:pPr>
            <a:r>
              <a:rPr lang="en-US" sz="1800" dirty="0"/>
              <a:t>Schema-based type coercion</a:t>
            </a:r>
          </a:p>
          <a:p>
            <a:pPr>
              <a:buFont typeface="Arial"/>
              <a:buChar char="•"/>
            </a:pPr>
            <a:r>
              <a:rPr lang="en-US" sz="1800" dirty="0"/>
              <a:t>Precise error feedback (validation feedback)</a:t>
            </a:r>
          </a:p>
          <a:p>
            <a:pPr>
              <a:buNone/>
            </a:pPr>
            <a:endParaRPr lang="en-US" sz="800" dirty="0"/>
          </a:p>
          <a:p>
            <a:pPr>
              <a:buNone/>
            </a:pPr>
            <a:r>
              <a:rPr lang="en-US" sz="1800" b="1" dirty="0"/>
              <a:t>AutoBe Layer (system level)</a:t>
            </a:r>
          </a:p>
          <a:p>
            <a:pPr>
              <a:buFont typeface="Arial"/>
              <a:buChar char="•"/>
            </a:pPr>
            <a:r>
              <a:rPr lang="en-US" sz="1800" dirty="0"/>
              <a:t>4 AST types + 4-tier compiler validation</a:t>
            </a:r>
          </a:p>
          <a:p>
            <a:pPr>
              <a:buFont typeface="Arial"/>
              <a:buChar char="•"/>
            </a:pPr>
            <a:r>
              <a:rPr lang="en-US" sz="1800" dirty="0"/>
              <a:t>Self-healing loops (diagnostics → correction)</a:t>
            </a:r>
          </a:p>
          <a:p>
            <a:pPr>
              <a:buFont typeface="Arial"/>
              <a:buChar char="•"/>
            </a:pPr>
            <a:r>
              <a:rPr lang="en-US" sz="1800" dirty="0"/>
              <a:t>40+ agent collaboration + batch + prompt caching</a:t>
            </a:r>
          </a:p>
          <a:p>
            <a:pPr>
              <a:buNone/>
            </a:pPr>
            <a:endParaRPr lang="en-US" sz="800" dirty="0"/>
          </a:p>
          <a:p>
            <a:pPr>
              <a:buNone/>
            </a:pPr>
            <a:r>
              <a:rPr lang="en-US" sz="1800" b="1" dirty="0"/>
              <a:t>Typia makes FC I/O robust. AutoBe ensures system-wide consistency. Together = the harness.</a:t>
            </a:r>
          </a:p>
        </p:txBody>
      </p:sp>
    </p:spTree>
    <p:extLst>
      <p:ext uri="{BB962C8B-B14F-4D97-AF65-F5344CB8AC3E}">
        <p14:creationId xmlns:p14="http://schemas.microsoft.com/office/powerpoint/2010/main" val="8701798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13ACF9C-9335-A922-EC24-515B0C39B9CD}"/>
              </a:ext>
            </a:extLst>
          </p:cNvPr>
          <p:cNvSpPr>
            <a:spLocks noGrp="1"/>
          </p:cNvSpPr>
          <p:nvPr>
            <p:ph type="title"/>
          </p:nvPr>
        </p:nvSpPr>
        <p:spPr/>
        <p:txBody>
          <a:bodyPr/>
          <a:lstStyle/>
          <a:p>
            <a:r>
              <a:rPr lang="en-US" dirty="0"/>
              <a:t> </a:t>
            </a:r>
          </a:p>
        </p:txBody>
      </p:sp>
      <p:sp>
        <p:nvSpPr>
          <p:cNvPr id="3" name="내용 개체 틀 2">
            <a:extLst>
              <a:ext uri="{FF2B5EF4-FFF2-40B4-BE49-F238E27FC236}">
                <a16:creationId xmlns:a16="http://schemas.microsoft.com/office/drawing/2014/main" id="{3E6D3964-0D57-8F46-B5DC-780FA61A0563}"/>
              </a:ext>
            </a:extLst>
          </p:cNvPr>
          <p:cNvSpPr>
            <a:spLocks noGrp="1"/>
          </p:cNvSpPr>
          <p:nvPr>
            <p:ph idx="1"/>
          </p:nvPr>
        </p:nvSpPr>
        <p:spPr/>
        <p:txBody>
          <a:bodyPr/>
          <a:lstStyle/>
          <a:p>
            <a:pPr algn="ctr">
              <a:buNone/>
            </a:pPr>
            <a:endParaRPr lang="en-US" sz="1800" dirty="0"/>
          </a:p>
          <a:p>
            <a:pPr algn="ctr">
              <a:buNone/>
            </a:pPr>
            <a:r>
              <a:rPr lang="en-US" sz="2400" i="1" dirty="0"/>
              <a:t>"The type is the schema,</a:t>
            </a:r>
          </a:p>
          <a:p>
            <a:pPr algn="ctr">
              <a:buNone/>
            </a:pPr>
            <a:r>
              <a:rPr lang="en-US" sz="2400" i="1" dirty="0"/>
              <a:t>the validator,</a:t>
            </a:r>
          </a:p>
          <a:p>
            <a:pPr algn="ctr">
              <a:buNone/>
            </a:pPr>
            <a:r>
              <a:rPr lang="en-US" sz="2400" i="1" dirty="0"/>
              <a:t>and the prompt."</a:t>
            </a:r>
          </a:p>
          <a:p>
            <a:pPr algn="ctr">
              <a:buNone/>
            </a:pPr>
            <a:endParaRPr lang="en-US" sz="1800" dirty="0"/>
          </a:p>
          <a:p>
            <a:pPr algn="ctr">
              <a:buNone/>
            </a:pPr>
            <a:r>
              <a:rPr lang="en-US" sz="1800" dirty="0"/>
              <a:t>The harness is everything around it.</a:t>
            </a:r>
          </a:p>
        </p:txBody>
      </p:sp>
    </p:spTree>
    <p:extLst>
      <p:ext uri="{BB962C8B-B14F-4D97-AF65-F5344CB8AC3E}">
        <p14:creationId xmlns:p14="http://schemas.microsoft.com/office/powerpoint/2010/main" val="425735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7F071FCC-F169-B831-AD6A-798DA5EE49B0}"/>
              </a:ext>
            </a:extLst>
          </p:cNvPr>
          <p:cNvSpPr>
            <a:spLocks noGrp="1"/>
          </p:cNvSpPr>
          <p:nvPr>
            <p:ph type="title"/>
          </p:nvPr>
        </p:nvSpPr>
        <p:spPr/>
        <p:txBody>
          <a:bodyPr/>
          <a:lstStyle/>
          <a:p>
            <a:r>
              <a:rPr lang="en-US" dirty="0"/>
              <a:t>Function Calling</a:t>
            </a:r>
          </a:p>
        </p:txBody>
      </p:sp>
      <p:sp>
        <p:nvSpPr>
          <p:cNvPr id="5" name="텍스트 개체 틀 4">
            <a:extLst>
              <a:ext uri="{FF2B5EF4-FFF2-40B4-BE49-F238E27FC236}">
                <a16:creationId xmlns:a16="http://schemas.microsoft.com/office/drawing/2014/main" id="{3BC3F71E-05C6-D697-4F24-D4CF0784978D}"/>
              </a:ext>
            </a:extLst>
          </p:cNvPr>
          <p:cNvSpPr>
            <a:spLocks noGrp="1"/>
          </p:cNvSpPr>
          <p:nvPr>
            <p:ph type="body" idx="1"/>
          </p:nvPr>
        </p:nvSpPr>
        <p:spPr/>
        <p:txBody>
          <a:bodyPr/>
          <a:lstStyle/>
          <a:p>
            <a:pPr algn="ctr">
              <a:buNone/>
            </a:pPr>
            <a:r>
              <a:rPr lang="en-US" dirty="0"/>
              <a:t>Types eliminate ambiguity; schemas constrain through absence</a:t>
            </a:r>
          </a:p>
          <a:p>
            <a:pPr algn="ctr">
              <a:buNone/>
            </a:pPr>
            <a:r>
              <a:rPr lang="en-US" dirty="0"/>
              <a:t>Model-neutral, mechanically verifiable, deterministically convergent</a:t>
            </a:r>
          </a:p>
        </p:txBody>
      </p:sp>
    </p:spTree>
    <p:extLst>
      <p:ext uri="{BB962C8B-B14F-4D97-AF65-F5344CB8AC3E}">
        <p14:creationId xmlns:p14="http://schemas.microsoft.com/office/powerpoint/2010/main" val="34886882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48A5411-B2F4-5F32-6EB1-19BE2AEC747C}"/>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1FBA0717-BF22-A901-5514-2746EC8C428E}"/>
              </a:ext>
            </a:extLst>
          </p:cNvPr>
          <p:cNvSpPr>
            <a:spLocks noGrp="1"/>
          </p:cNvSpPr>
          <p:nvPr>
            <p:ph idx="1"/>
          </p:nvPr>
        </p:nvSpPr>
        <p:spPr/>
        <p:txBody>
          <a:bodyPr>
            <a:normAutofit/>
          </a:bodyPr>
          <a:lstStyle/>
          <a:p>
            <a:r>
              <a:rPr lang="en-US" dirty="0"/>
              <a:t>Types eliminate ambiguity</a:t>
            </a:r>
          </a:p>
          <a:p>
            <a:pPr lvl="1"/>
            <a:r>
              <a:rPr lang="en-US" dirty="0"/>
              <a:t>ExclusiveMinimum&lt;18&gt; vs "greater than 18"</a:t>
            </a:r>
          </a:p>
          <a:p>
            <a:endParaRPr lang="en-US" dirty="0"/>
          </a:p>
          <a:p>
            <a:r>
              <a:rPr lang="en-US" dirty="0"/>
              <a:t>Schemas constrain by absence, not prohibition</a:t>
            </a:r>
          </a:p>
          <a:p>
            <a:pPr lvl="1"/>
            <a:r>
              <a:rPr lang="en-US" dirty="0"/>
              <a:t>No "any" in schema → can't generate it</a:t>
            </a:r>
          </a:p>
          <a:p>
            <a:endParaRPr lang="en-US" dirty="0"/>
          </a:p>
          <a:p>
            <a:r>
              <a:rPr lang="en-US" dirty="0"/>
              <a:t>Model-neutral: same schema, any model</a:t>
            </a:r>
          </a:p>
          <a:p>
            <a:r>
              <a:rPr lang="en-US" dirty="0"/>
              <a:t>Deterministically convergent: 6.75% → 100%</a:t>
            </a:r>
          </a:p>
        </p:txBody>
      </p:sp>
    </p:spTree>
    <p:extLst>
      <p:ext uri="{BB962C8B-B14F-4D97-AF65-F5344CB8AC3E}">
        <p14:creationId xmlns:p14="http://schemas.microsoft.com/office/powerpoint/2010/main" val="24617418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4.1. Natural Language vs Types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Via Prompt:</a:t>
            </a:r>
          </a:p>
          <a:p>
            <a:pPr lvl="1"/>
            <a:r>
              <a:rPr lang="en-US" dirty="0"/>
              <a:t>"The age field must be a positive integer greater than 18. Don't use string types for numeric fields. All required fields must be present..."</a:t>
            </a:r>
          </a:p>
          <a:p>
            <a:endParaRPr lang="en-US" dirty="0"/>
          </a:p>
          <a:p>
            <a:r>
              <a:rPr lang="en-US" dirty="0"/>
              <a:t>Problems:</a:t>
            </a:r>
          </a:p>
          <a:p>
            <a:pPr lvl="1"/>
            <a:r>
              <a:rPr lang="en-US" dirty="0"/>
              <a:t>Is "&gt;18" or "≥18"? No way to verify</a:t>
            </a:r>
          </a:p>
          <a:p>
            <a:pPr lvl="1"/>
            <a:r>
              <a:rPr lang="en-US" dirty="0"/>
              <a:t>Rules multiply endlessly as schemas grow</a:t>
            </a:r>
          </a:p>
        </p:txBody>
      </p:sp>
      <p:sp>
        <p:nvSpPr>
          <p:cNvPr id="4" name="사각형: 둥근 모서리 3">
            <a:extLst>
              <a:ext uri="{FF2B5EF4-FFF2-40B4-BE49-F238E27FC236}">
                <a16:creationId xmlns:a16="http://schemas.microsoft.com/office/drawing/2014/main" id="{176F7788-94AE-4E05-84B1-A2823EE762E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D4D4D4"/>
                </a:solidFill>
                <a:latin typeface="Consolas"/>
              </a:rPr>
              <a:t>Via Type:</a:t>
            </a:r>
          </a:p>
          <a:p>
            <a:pPr algn="l">
              <a:buNone/>
            </a:pPr>
            <a:r>
              <a:rPr lang="en-US" sz="1600" dirty="0">
                <a:solidFill>
                  <a:srgbClr val="569CD6"/>
                </a:solidFill>
                <a:latin typeface="Consolas"/>
              </a:rPr>
              <a:t>interface </a:t>
            </a:r>
            <a:r>
              <a:rPr lang="en-US" sz="1600" dirty="0">
                <a:solidFill>
                  <a:srgbClr val="4EC9B0"/>
                </a:solidFill>
                <a:latin typeface="Consolas"/>
              </a:rPr>
              <a:t>IMember</a:t>
            </a:r>
            <a:r>
              <a:rPr lang="en-US" sz="1600" dirty="0">
                <a:solidFill>
                  <a:srgbClr val="D4D4D4"/>
                </a:solidFill>
                <a:latin typeface="Consolas"/>
              </a:rPr>
              <a:t> {</a:t>
            </a:r>
          </a:p>
          <a:p>
            <a:pPr algn="l">
              <a:buNone/>
            </a:pPr>
            <a:r>
              <a:rPr lang="en-US" sz="1600" dirty="0">
                <a:solidFill>
                  <a:srgbClr val="D4D4D4"/>
                </a:solidFill>
                <a:latin typeface="Consolas"/>
              </a:rPr>
              <a:t>  age: </a:t>
            </a:r>
            <a:r>
              <a:rPr lang="en-US" sz="1600" dirty="0">
                <a:solidFill>
                  <a:srgbClr val="4EC9B0"/>
                </a:solidFill>
                <a:latin typeface="Consolas"/>
              </a:rPr>
              <a:t>number</a:t>
            </a:r>
          </a:p>
          <a:p>
            <a:pPr algn="l">
              <a:buNone/>
            </a:pPr>
            <a:r>
              <a:rPr lang="en-US" sz="1600" dirty="0">
                <a:solidFill>
                  <a:srgbClr val="D4D4D4"/>
                </a:solidFill>
                <a:latin typeface="Consolas"/>
              </a:rPr>
              <a:t>    &amp; </a:t>
            </a:r>
            <a:r>
              <a:rPr lang="en-US" sz="1600" dirty="0">
                <a:solidFill>
                  <a:srgbClr val="4EC9B0"/>
                </a:solidFill>
                <a:latin typeface="Consolas"/>
              </a:rPr>
              <a:t>Type</a:t>
            </a:r>
            <a:r>
              <a:rPr lang="en-US" sz="1600" dirty="0">
                <a:solidFill>
                  <a:srgbClr val="D4D4D4"/>
                </a:solidFill>
                <a:latin typeface="Consolas"/>
              </a:rPr>
              <a:t>&lt;</a:t>
            </a:r>
            <a:r>
              <a:rPr lang="en-US" sz="1600" dirty="0">
                <a:solidFill>
                  <a:srgbClr val="CE9178"/>
                </a:solidFill>
                <a:latin typeface="Consolas"/>
              </a:rPr>
              <a:t>"uint32"</a:t>
            </a:r>
            <a:r>
              <a:rPr lang="en-US" sz="1600" dirty="0">
                <a:solidFill>
                  <a:srgbClr val="D4D4D4"/>
                </a:solidFill>
                <a:latin typeface="Consolas"/>
              </a:rPr>
              <a:t>&gt;</a:t>
            </a:r>
          </a:p>
          <a:p>
            <a:pPr algn="l">
              <a:buNone/>
            </a:pPr>
            <a:r>
              <a:rPr lang="en-US" sz="1600" dirty="0">
                <a:solidFill>
                  <a:srgbClr val="D4D4D4"/>
                </a:solidFill>
                <a:latin typeface="Consolas"/>
              </a:rPr>
              <a:t>    &amp; </a:t>
            </a:r>
            <a:r>
              <a:rPr lang="en-US" sz="1600" dirty="0">
                <a:solidFill>
                  <a:srgbClr val="4EC9B0"/>
                </a:solidFill>
                <a:latin typeface="Consolas"/>
              </a:rPr>
              <a:t>ExclusiveMinimum</a:t>
            </a:r>
            <a:r>
              <a:rPr lang="en-US" sz="1600" dirty="0">
                <a:solidFill>
                  <a:srgbClr val="D4D4D4"/>
                </a:solidFill>
                <a:latin typeface="Consolas"/>
              </a:rPr>
              <a:t>&lt;18&gt;;</a:t>
            </a:r>
          </a:p>
          <a:p>
            <a:pPr algn="l">
              <a:buNone/>
            </a:pPr>
            <a:r>
              <a:rPr lang="en-US" sz="1600" dirty="0">
                <a:solidFill>
                  <a:srgbClr val="D4D4D4"/>
                </a:solidFill>
                <a:latin typeface="Consolas"/>
              </a:rPr>
              <a:t>}</a:t>
            </a:r>
          </a:p>
          <a:p>
            <a:pPr algn="l">
              <a:buNone/>
            </a:pPr>
            <a:endParaRPr lang="en-US" sz="1600" dirty="0">
              <a:solidFill>
                <a:srgbClr val="D4D4D4"/>
              </a:solidFill>
              <a:latin typeface="Consolas"/>
            </a:endParaRPr>
          </a:p>
          <a:p>
            <a:pPr algn="l">
              <a:buNone/>
            </a:pPr>
            <a:r>
              <a:rPr lang="en-US" sz="1600" dirty="0">
                <a:solidFill>
                  <a:srgbClr val="6A9955"/>
                </a:solidFill>
                <a:latin typeface="Consolas"/>
              </a:rPr>
              <a:t>// ✓ Mechanically verifiable</a:t>
            </a:r>
          </a:p>
          <a:p>
            <a:pPr algn="l">
              <a:buNone/>
            </a:pPr>
            <a:r>
              <a:rPr lang="en-US" sz="1600" dirty="0">
                <a:solidFill>
                  <a:srgbClr val="6A9955"/>
                </a:solidFill>
                <a:latin typeface="Consolas"/>
              </a:rPr>
              <a:t>// ExclusiveMinimum&lt;18&gt; is &gt;18.</a:t>
            </a:r>
          </a:p>
          <a:p>
            <a:pPr algn="l">
              <a:buNone/>
            </a:pPr>
            <a:r>
              <a:rPr lang="en-US" sz="1600" dirty="0">
                <a:solidFill>
                  <a:srgbClr val="6A9955"/>
                </a:solidFill>
                <a:latin typeface="Consolas"/>
              </a:rPr>
              <a:t>// It's an integer. It's required.</a:t>
            </a:r>
          </a:p>
          <a:p>
            <a:pPr algn="l">
              <a:buNone/>
            </a:pPr>
            <a:r>
              <a:rPr lang="en-US" sz="1600" dirty="0">
                <a:solidFill>
                  <a:srgbClr val="6A9955"/>
                </a:solidFill>
                <a:latin typeface="Consolas"/>
              </a:rPr>
              <a:t>// No ambiguity.</a:t>
            </a:r>
          </a:p>
        </p:txBody>
      </p:sp>
    </p:spTree>
    <p:extLst>
      <p:ext uri="{BB962C8B-B14F-4D97-AF65-F5344CB8AC3E}">
        <p14:creationId xmlns:p14="http://schemas.microsoft.com/office/powerpoint/2010/main" val="21020435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10">
            <a:extLst>
              <a:ext uri="{FF2B5EF4-FFF2-40B4-BE49-F238E27FC236}">
                <a16:creationId xmlns:a16="http://schemas.microsoft.com/office/drawing/2014/main" id="{3015786B-EDF9-4D06-86F8-138A81A377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12">
            <a:extLst>
              <a:ext uri="{FF2B5EF4-FFF2-40B4-BE49-F238E27FC236}">
                <a16:creationId xmlns:a16="http://schemas.microsoft.com/office/drawing/2014/main" id="{8AC3B7FA-53FD-4D89-BFA4-2DE5AB86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a:xfrm>
            <a:off x="1143000" y="609600"/>
            <a:ext cx="6858000" cy="1356360"/>
          </a:xfrm>
        </p:spPr>
        <p:txBody>
          <a:bodyPr vert="horz" lIns="91440" tIns="45720" rIns="91440" bIns="45720" rtlCol="0" anchor="ct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sz="half" idx="1"/>
          </p:nvPr>
        </p:nvSpPr>
        <p:spPr>
          <a:xfrm>
            <a:off x="1143001" y="2057400"/>
            <a:ext cx="6858000" cy="4038600"/>
          </a:xfrm>
        </p:spPr>
        <p:txBody>
          <a:bodyPr vert="horz" lIns="91440" tIns="45720" rIns="91440" bIns="45720" rtlCol="0">
            <a:normAutofit/>
          </a:bodyPr>
          <a:lstStyle/>
          <a:p>
            <a:r>
              <a:rPr lang="en-US" sz="1800" dirty="0"/>
              <a:t>"Don't think of a pink elephant“</a:t>
            </a:r>
          </a:p>
          <a:p>
            <a:pPr lvl="1"/>
            <a:r>
              <a:rPr lang="en-US" sz="1600" dirty="0"/>
              <a:t>"Don't do X" places X at the center of attention</a:t>
            </a:r>
          </a:p>
          <a:p>
            <a:pPr lvl="1"/>
            <a:r>
              <a:rPr lang="en-US" sz="1600" dirty="0"/>
              <a:t>Paradoxically</a:t>
            </a:r>
            <a:r>
              <a:rPr lang="ko-KR" altLang="en-US" sz="1600" dirty="0"/>
              <a:t> </a:t>
            </a:r>
            <a:r>
              <a:rPr lang="en-US" altLang="ko-KR" sz="1600" dirty="0"/>
              <a:t>increases</a:t>
            </a:r>
            <a:r>
              <a:rPr lang="ko-KR" altLang="en-US" sz="1600" dirty="0"/>
              <a:t> </a:t>
            </a:r>
            <a:r>
              <a:rPr lang="en-US" altLang="ko-KR" sz="1600" dirty="0"/>
              <a:t>generation</a:t>
            </a:r>
            <a:r>
              <a:rPr lang="ko-KR" altLang="en-US" sz="1600" dirty="0"/>
              <a:t> </a:t>
            </a:r>
            <a:r>
              <a:rPr lang="en-US" altLang="ko-KR" sz="1600" dirty="0"/>
              <a:t>probability</a:t>
            </a:r>
          </a:p>
          <a:p>
            <a:pPr lvl="1"/>
            <a:endParaRPr lang="en-US" sz="1800" dirty="0"/>
          </a:p>
          <a:p>
            <a:r>
              <a:rPr lang="en-US" sz="1800" dirty="0"/>
              <a:t>With schemas, this problem disappears</a:t>
            </a:r>
          </a:p>
          <a:p>
            <a:pPr lvl="1"/>
            <a:r>
              <a:rPr lang="en-US" sz="1600" dirty="0"/>
              <a:t>No "any" in schema → LLM cannot generate it</a:t>
            </a:r>
          </a:p>
          <a:p>
            <a:pPr lvl="1"/>
            <a:r>
              <a:rPr lang="en-US" sz="1600" dirty="0"/>
              <a:t>Field types limited to 7 choices → no "varchar“</a:t>
            </a:r>
          </a:p>
          <a:p>
            <a:pPr lvl="1"/>
            <a:endParaRPr lang="en-US" sz="1800" dirty="0"/>
          </a:p>
          <a:p>
            <a:r>
              <a:rPr lang="en-US" sz="1800" dirty="0"/>
              <a:t>Not prohibition, but absence</a:t>
            </a:r>
          </a:p>
          <a:p>
            <a:pPr lvl="1"/>
            <a:r>
              <a:rPr lang="en-US" sz="1600" dirty="0"/>
              <a:t>Prompts prohibit what you don't want</a:t>
            </a:r>
          </a:p>
          <a:p>
            <a:pPr lvl="1"/>
            <a:r>
              <a:rPr lang="en-US" sz="1600" dirty="0"/>
              <a:t>Schemas allow only what you do want</a:t>
            </a:r>
          </a:p>
        </p:txBody>
      </p:sp>
      <p:pic>
        <p:nvPicPr>
          <p:cNvPr id="6" name="내용 개체 틀 5">
            <a:extLst>
              <a:ext uri="{FF2B5EF4-FFF2-40B4-BE49-F238E27FC236}">
                <a16:creationId xmlns:a16="http://schemas.microsoft.com/office/drawing/2014/main" id="{B5942124-FF8B-D9BD-7304-3FDC6CBF3AD5}"/>
              </a:ext>
            </a:extLst>
          </p:cNvPr>
          <p:cNvPicPr>
            <a:picLocks noGrp="1" noChangeAspect="1"/>
          </p:cNvPicPr>
          <p:nvPr>
            <p:ph sz="half" idx="2"/>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1669" r="26877"/>
          <a:stretch>
            <a:fillRect/>
          </a:stretch>
        </p:blipFill>
        <p:spPr>
          <a:xfrm>
            <a:off x="8301386" y="243840"/>
            <a:ext cx="3646837" cy="6377939"/>
          </a:xfrm>
          <a:prstGeom prst="rect">
            <a:avLst/>
          </a:prstGeom>
        </p:spPr>
      </p:pic>
      <p:sp>
        <p:nvSpPr>
          <p:cNvPr id="10" name="Rectangle 14">
            <a:extLst>
              <a:ext uri="{FF2B5EF4-FFF2-40B4-BE49-F238E27FC236}">
                <a16:creationId xmlns:a16="http://schemas.microsoft.com/office/drawing/2014/main" id="{E3C6F6B7-7899-41D8-AB85-2854E032D0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2924491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use the any type"</a:t>
            </a:r>
          </a:p>
          <a:p>
            <a:endParaRPr lang="en-US" dirty="0"/>
          </a:p>
          <a:p>
            <a:r>
              <a:rPr lang="en-US" dirty="0"/>
              <a:t>Schema:</a:t>
            </a:r>
          </a:p>
          <a:p>
            <a:pPr lvl="1"/>
            <a:r>
              <a:rPr lang="en-US" dirty="0"/>
              <a:t>IJsonSchema = 10 variants</a:t>
            </a:r>
          </a:p>
          <a:p>
            <a:pPr lvl="1"/>
            <a:r>
              <a:rPr lang="en-US" dirty="0"/>
              <a:t>No "any" in the union</a:t>
            </a:r>
          </a:p>
          <a:p>
            <a:pPr lvl="1"/>
            <a:r>
              <a:rPr lang="en-US" dirty="0"/>
              <a:t>→ Can't generate it</a:t>
            </a:r>
          </a:p>
        </p:txBody>
      </p:sp>
      <p:sp>
        <p:nvSpPr>
          <p:cNvPr id="4" name="사각형: 둥근 모서리 3">
            <a:extLst>
              <a:ext uri="{FF2B5EF4-FFF2-40B4-BE49-F238E27FC236}">
                <a16:creationId xmlns:a16="http://schemas.microsoft.com/office/drawing/2014/main" id="{F8702D85-A6E1-4B85-A971-D080F22BD8B5}"/>
              </a:ext>
            </a:extLst>
          </p:cNvPr>
          <p:cNvSpPr/>
          <p:nvPr/>
        </p:nvSpPr>
        <p:spPr>
          <a:xfrm>
            <a:off x="6273800" y="2057400"/>
            <a:ext cx="4749800" cy="403860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600" dirty="0">
                <a:solidFill>
                  <a:srgbClr val="569CD6"/>
                </a:solidFill>
                <a:latin typeface="Consolas"/>
              </a:rPr>
              <a:t>export type </a:t>
            </a:r>
            <a:r>
              <a:rPr lang="en-US" sz="1600" dirty="0">
                <a:solidFill>
                  <a:srgbClr val="4EC9B0"/>
                </a:solidFill>
                <a:latin typeface="Consolas"/>
              </a:rPr>
              <a:t>IJsonSchema</a:t>
            </a:r>
            <a:r>
              <a:rPr lang="en-US" sz="1600" dirty="0">
                <a:solidFill>
                  <a:srgbClr val="D4D4D4"/>
                </a:solidFill>
                <a:latin typeface="Consolas"/>
              </a:rPr>
              <a:t> =</a:t>
            </a:r>
          </a:p>
          <a:p>
            <a:pPr algn="l">
              <a:buNone/>
            </a:pPr>
            <a:r>
              <a:rPr lang="en-US" sz="1600" dirty="0">
                <a:solidFill>
                  <a:srgbClr val="D4D4D4"/>
                </a:solidFill>
                <a:latin typeface="Consolas"/>
              </a:rPr>
              <a:t>  | </a:t>
            </a:r>
            <a:r>
              <a:rPr lang="en-US" sz="1600" dirty="0">
                <a:solidFill>
                  <a:srgbClr val="4EC9B0"/>
                </a:solidFill>
                <a:latin typeface="Consolas"/>
              </a:rPr>
              <a:t>IJsonSchema.IConstant</a:t>
            </a:r>
          </a:p>
          <a:p>
            <a:pPr algn="l">
              <a:buNone/>
            </a:pPr>
            <a:r>
              <a:rPr lang="en-US" sz="1600" dirty="0">
                <a:solidFill>
                  <a:srgbClr val="D4D4D4"/>
                </a:solidFill>
                <a:latin typeface="Consolas"/>
              </a:rPr>
              <a:t>  | </a:t>
            </a:r>
            <a:r>
              <a:rPr lang="en-US" sz="1600" dirty="0">
                <a:solidFill>
                  <a:srgbClr val="4EC9B0"/>
                </a:solidFill>
                <a:latin typeface="Consolas"/>
              </a:rPr>
              <a:t>IJsonSchema.IBoolean</a:t>
            </a:r>
          </a:p>
          <a:p>
            <a:pPr algn="l">
              <a:buNone/>
            </a:pPr>
            <a:r>
              <a:rPr lang="en-US" sz="1600" dirty="0">
                <a:solidFill>
                  <a:srgbClr val="D4D4D4"/>
                </a:solidFill>
                <a:latin typeface="Consolas"/>
              </a:rPr>
              <a:t>  | </a:t>
            </a:r>
            <a:r>
              <a:rPr lang="en-US" sz="1600" dirty="0">
                <a:solidFill>
                  <a:srgbClr val="4EC9B0"/>
                </a:solidFill>
                <a:latin typeface="Consolas"/>
              </a:rPr>
              <a:t>IJsonSchema.IInteger</a:t>
            </a:r>
          </a:p>
          <a:p>
            <a:pPr algn="l">
              <a:buNone/>
            </a:pPr>
            <a:r>
              <a:rPr lang="en-US" sz="1600" dirty="0">
                <a:solidFill>
                  <a:srgbClr val="D4D4D4"/>
                </a:solidFill>
                <a:latin typeface="Consolas"/>
              </a:rPr>
              <a:t>  | </a:t>
            </a:r>
            <a:r>
              <a:rPr lang="en-US" sz="1600" dirty="0">
                <a:solidFill>
                  <a:srgbClr val="4EC9B0"/>
                </a:solidFill>
                <a:latin typeface="Consolas"/>
              </a:rPr>
              <a:t>IJsonSchema.INumber</a:t>
            </a:r>
          </a:p>
          <a:p>
            <a:pPr algn="l">
              <a:buNone/>
            </a:pPr>
            <a:r>
              <a:rPr lang="en-US" sz="1600" dirty="0">
                <a:solidFill>
                  <a:srgbClr val="D4D4D4"/>
                </a:solidFill>
                <a:latin typeface="Consolas"/>
              </a:rPr>
              <a:t>  | </a:t>
            </a:r>
            <a:r>
              <a:rPr lang="en-US" sz="1600" dirty="0">
                <a:solidFill>
                  <a:srgbClr val="4EC9B0"/>
                </a:solidFill>
                <a:latin typeface="Consolas"/>
              </a:rPr>
              <a:t>IJsonSchema.IString</a:t>
            </a:r>
          </a:p>
          <a:p>
            <a:pPr algn="l">
              <a:buNone/>
            </a:pPr>
            <a:r>
              <a:rPr lang="en-US" sz="1600" dirty="0">
                <a:solidFill>
                  <a:srgbClr val="D4D4D4"/>
                </a:solidFill>
                <a:latin typeface="Consolas"/>
              </a:rPr>
              <a:t>  | </a:t>
            </a:r>
            <a:r>
              <a:rPr lang="en-US" sz="1600" dirty="0">
                <a:solidFill>
                  <a:srgbClr val="4EC9B0"/>
                </a:solidFill>
                <a:latin typeface="Consolas"/>
              </a:rPr>
              <a:t>IJsonSchema.IArray</a:t>
            </a:r>
          </a:p>
          <a:p>
            <a:pPr algn="l">
              <a:buNone/>
            </a:pPr>
            <a:r>
              <a:rPr lang="en-US" sz="1600" dirty="0">
                <a:solidFill>
                  <a:srgbClr val="D4D4D4"/>
                </a:solidFill>
                <a:latin typeface="Consolas"/>
              </a:rPr>
              <a:t>  | </a:t>
            </a:r>
            <a:r>
              <a:rPr lang="en-US" sz="1600" dirty="0">
                <a:solidFill>
                  <a:srgbClr val="4EC9B0"/>
                </a:solidFill>
                <a:latin typeface="Consolas"/>
              </a:rPr>
              <a:t>IJsonSchema.IObject</a:t>
            </a:r>
          </a:p>
          <a:p>
            <a:pPr algn="l">
              <a:buNone/>
            </a:pPr>
            <a:r>
              <a:rPr lang="en-US" sz="1600" dirty="0">
                <a:solidFill>
                  <a:srgbClr val="D4D4D4"/>
                </a:solidFill>
                <a:latin typeface="Consolas"/>
              </a:rPr>
              <a:t>  | </a:t>
            </a:r>
            <a:r>
              <a:rPr lang="en-US" sz="1600" dirty="0">
                <a:solidFill>
                  <a:srgbClr val="4EC9B0"/>
                </a:solidFill>
                <a:latin typeface="Consolas"/>
              </a:rPr>
              <a:t>IJsonSchema.IReference</a:t>
            </a:r>
          </a:p>
          <a:p>
            <a:pPr algn="l">
              <a:buNone/>
            </a:pPr>
            <a:r>
              <a:rPr lang="en-US" sz="1600" dirty="0">
                <a:solidFill>
                  <a:srgbClr val="D4D4D4"/>
                </a:solidFill>
                <a:latin typeface="Consolas"/>
              </a:rPr>
              <a:t>  | </a:t>
            </a:r>
            <a:r>
              <a:rPr lang="en-US" sz="1600" dirty="0">
                <a:solidFill>
                  <a:srgbClr val="4EC9B0"/>
                </a:solidFill>
                <a:latin typeface="Consolas"/>
              </a:rPr>
              <a:t>IJsonSchema.IOneOf</a:t>
            </a:r>
          </a:p>
          <a:p>
            <a:pPr algn="l">
              <a:buNone/>
            </a:pPr>
            <a:r>
              <a:rPr lang="en-US" sz="1600" dirty="0">
                <a:solidFill>
                  <a:srgbClr val="D4D4D4"/>
                </a:solidFill>
                <a:latin typeface="Consolas"/>
              </a:rPr>
              <a:t>  | </a:t>
            </a:r>
            <a:r>
              <a:rPr lang="en-US" sz="1600" dirty="0">
                <a:solidFill>
                  <a:srgbClr val="4EC9B0"/>
                </a:solidFill>
                <a:latin typeface="Consolas"/>
              </a:rPr>
              <a:t>IJsonSchema.INull</a:t>
            </a:r>
            <a:r>
              <a:rPr lang="en-US" sz="1600" dirty="0">
                <a:solidFill>
                  <a:srgbClr val="D4D4D4"/>
                </a:solidFill>
                <a:latin typeface="Consolas"/>
              </a:rPr>
              <a:t>;</a:t>
            </a:r>
          </a:p>
          <a:p>
            <a:pPr algn="l">
              <a:buNone/>
            </a:pPr>
            <a:endParaRPr lang="en-US" sz="1600" dirty="0">
              <a:latin typeface="Consolas"/>
            </a:endParaRPr>
          </a:p>
          <a:p>
            <a:pPr algn="l">
              <a:buNone/>
            </a:pPr>
            <a:r>
              <a:rPr lang="en-US" sz="1600" dirty="0">
                <a:solidFill>
                  <a:srgbClr val="6A9955"/>
                </a:solidFill>
                <a:latin typeface="Consolas"/>
              </a:rPr>
              <a:t>// 10 variants. No "any".</a:t>
            </a:r>
          </a:p>
          <a:p>
            <a:pPr algn="l">
              <a:buNone/>
            </a:pPr>
            <a:r>
              <a:rPr lang="en-US" sz="1600" dirty="0">
                <a:solidFill>
                  <a:srgbClr val="6A9955"/>
                </a:solidFill>
                <a:latin typeface="Consolas"/>
              </a:rPr>
              <a:t>// Can't generate what doesn't exist.</a:t>
            </a:r>
          </a:p>
        </p:txBody>
      </p:sp>
    </p:spTree>
    <p:extLst>
      <p:ext uri="{BB962C8B-B14F-4D97-AF65-F5344CB8AC3E}">
        <p14:creationId xmlns:p14="http://schemas.microsoft.com/office/powerpoint/2010/main" val="451125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4.2. Pink Elephant Problem</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a:xfrm>
            <a:off x="1143000" y="2057400"/>
            <a:ext cx="4953000" cy="4038600"/>
          </a:xfrm>
        </p:spPr>
        <p:txBody>
          <a:bodyPr>
            <a:normAutofit/>
          </a:bodyPr>
          <a:lstStyle/>
          <a:p>
            <a:r>
              <a:rPr lang="en-US" dirty="0"/>
              <a:t>Prompt:</a:t>
            </a:r>
          </a:p>
          <a:p>
            <a:pPr lvl="1"/>
            <a:r>
              <a:rPr lang="en-US" dirty="0"/>
              <a:t>"Don't make object type as literal type"</a:t>
            </a:r>
          </a:p>
          <a:p>
            <a:endParaRPr lang="en-US" dirty="0"/>
          </a:p>
          <a:p>
            <a:r>
              <a:rPr lang="en-US" dirty="0"/>
              <a:t>Schema:</a:t>
            </a:r>
          </a:p>
          <a:p>
            <a:pPr lvl="1"/>
            <a:r>
              <a:rPr lang="en-US" dirty="0"/>
              <a:t>Exclude&lt;IJsonSchema, IObject&gt;</a:t>
            </a:r>
          </a:p>
          <a:p>
            <a:pPr lvl="1"/>
            <a:r>
              <a:rPr lang="en-US" dirty="0"/>
              <a:t>Inline object excluded by type</a:t>
            </a:r>
          </a:p>
          <a:p>
            <a:pPr lvl="1"/>
            <a:r>
              <a:rPr lang="en-US" dirty="0"/>
              <a:t>→ Can't generate it</a:t>
            </a:r>
          </a:p>
        </p:txBody>
      </p:sp>
      <p:sp>
        <p:nvSpPr>
          <p:cNvPr id="4" name="사각형: 둥근 모서리 3">
            <a:extLst>
              <a:ext uri="{FF2B5EF4-FFF2-40B4-BE49-F238E27FC236}">
                <a16:creationId xmlns:a16="http://schemas.microsoft.com/office/drawing/2014/main" id="{3FF25A35-1385-41C0-8E18-D4F5958DDCF9}"/>
              </a:ext>
            </a:extLst>
          </p:cNvPr>
          <p:cNvSpPr/>
          <p:nvPr/>
        </p:nvSpPr>
        <p:spPr>
          <a:xfrm>
            <a:off x="6080760" y="2057400"/>
            <a:ext cx="5730240" cy="4399280"/>
          </a:xfrm>
          <a:prstGeom prst="roundRect">
            <a:avLst/>
          </a:prstGeom>
          <a:solidFill>
            <a:srgbClr val="1E1E1E"/>
          </a:solidFill>
          <a:ln w="19050" cap="flat" cmpd="sng" algn="ctr">
            <a:solidFill>
              <a:srgbClr val="569CD6"/>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72000" tIns="54000" rIns="72000" bIns="54000" rtlCol="0" anchor="t"/>
          <a:lstStyle/>
          <a:p>
            <a:pPr algn="l">
              <a:buNone/>
            </a:pPr>
            <a:r>
              <a:rPr lang="en-US" sz="1400" dirty="0">
                <a:solidFill>
                  <a:srgbClr val="569CD6"/>
                </a:solidFill>
                <a:latin typeface="Consolas"/>
              </a:rPr>
              <a:t>export namespace </a:t>
            </a:r>
            <a:r>
              <a:rPr lang="en-US" sz="1400" dirty="0">
                <a:solidFill>
                  <a:srgbClr val="4EC9B0"/>
                </a:solidFill>
                <a:latin typeface="Consolas"/>
              </a:rPr>
              <a:t>IJsonSchema</a:t>
            </a:r>
            <a:r>
              <a:rPr lang="en-US" sz="1400" dirty="0">
                <a:solidFill>
                  <a:srgbClr val="D4D4D4"/>
                </a:solidFill>
                <a:latin typeface="Consolas"/>
              </a:rPr>
              <a:t> {</a:t>
            </a:r>
          </a:p>
          <a:p>
            <a:pPr algn="l">
              <a:buNone/>
            </a:pPr>
            <a:r>
              <a:rPr lang="en-US" sz="1400" dirty="0">
                <a:solidFill>
                  <a:srgbClr val="569CD6"/>
                </a:solidFill>
                <a:latin typeface="Consolas"/>
              </a:rPr>
              <a:t>  export interface </a:t>
            </a:r>
            <a:r>
              <a:rPr lang="en-US" sz="1400" dirty="0">
                <a:solidFill>
                  <a:srgbClr val="4EC9B0"/>
                </a:solidFill>
                <a:latin typeface="Consolas"/>
              </a:rPr>
              <a:t>IObject</a:t>
            </a:r>
            <a:r>
              <a:rPr lang="en-US" sz="1400" dirty="0">
                <a:solidFill>
                  <a:srgbClr val="D4D4D4"/>
                </a:solidFill>
                <a:latin typeface="Consolas"/>
              </a:rPr>
              <a:t> {</a:t>
            </a:r>
          </a:p>
          <a:p>
            <a:pPr algn="l">
              <a:buNone/>
            </a:pPr>
            <a:r>
              <a:rPr lang="en-US" sz="1400" dirty="0">
                <a:solidFill>
                  <a:srgbClr val="D4D4D4"/>
                </a:solidFill>
                <a:latin typeface="Consolas"/>
              </a:rPr>
              <a:t>    type: </a:t>
            </a:r>
            <a:r>
              <a:rPr lang="en-US" sz="1400" dirty="0">
                <a:solidFill>
                  <a:srgbClr val="CE9178"/>
                </a:solidFill>
                <a:latin typeface="Consolas"/>
              </a:rPr>
              <a:t>"object"</a:t>
            </a:r>
            <a:r>
              <a:rPr lang="en-US" sz="1400" dirty="0">
                <a:solidFill>
                  <a:srgbClr val="D4D4D4"/>
                </a:solidFill>
                <a:latin typeface="Consolas"/>
              </a:rPr>
              <a:t>;</a:t>
            </a:r>
          </a:p>
          <a:p>
            <a:pPr algn="l">
              <a:buNone/>
            </a:pPr>
            <a:r>
              <a:rPr lang="en-US" sz="1400" dirty="0">
                <a:solidFill>
                  <a:srgbClr val="D4D4D4"/>
                </a:solidFill>
                <a:latin typeface="Consolas"/>
              </a:rPr>
              <a:t>    properties?: </a:t>
            </a:r>
            <a:r>
              <a:rPr lang="en-US" sz="1400" dirty="0">
                <a:solidFill>
                  <a:srgbClr val="4EC9B0"/>
                </a:solidFill>
                <a:latin typeface="Consolas"/>
              </a:rPr>
              <a:t>Record</a:t>
            </a:r>
            <a:r>
              <a:rPr lang="en-US" sz="1400" dirty="0">
                <a:solidFill>
                  <a:srgbClr val="D4D4D4"/>
                </a:solidFill>
                <a:latin typeface="Consolas"/>
              </a:rPr>
              <a:t>&lt;</a:t>
            </a:r>
          </a:p>
          <a:p>
            <a:pPr algn="l">
              <a:buNone/>
            </a:pPr>
            <a:r>
              <a:rPr lang="en-US" sz="1400" dirty="0">
                <a:solidFill>
                  <a:srgbClr val="D4D4D4"/>
                </a:solidFill>
                <a:latin typeface="Consolas"/>
              </a:rPr>
              <a:t>      </a:t>
            </a:r>
            <a:r>
              <a:rPr lang="en-US" sz="1400" dirty="0">
                <a:solidFill>
                  <a:srgbClr val="4EC9B0"/>
                </a:solidFill>
                <a:latin typeface="Consolas"/>
              </a:rPr>
              <a:t>string</a:t>
            </a:r>
            <a:r>
              <a:rPr lang="en-US" sz="1400" dirty="0">
                <a:solidFill>
                  <a:srgbClr val="D4D4D4"/>
                </a:solidFill>
                <a:latin typeface="Consolas"/>
              </a:rPr>
              <a:t>, </a:t>
            </a:r>
          </a:p>
          <a:p>
            <a:pPr algn="l">
              <a:buNone/>
            </a:pPr>
            <a:r>
              <a:rPr lang="en-US" sz="1400" dirty="0">
                <a:solidFill>
                  <a:srgbClr val="D4D4D4"/>
                </a:solidFill>
                <a:latin typeface="Consolas"/>
              </a:rPr>
              <a:t>      </a:t>
            </a:r>
            <a:r>
              <a:rPr lang="en-US" sz="1400" b="1" dirty="0">
                <a:solidFill>
                  <a:srgbClr val="4EC9B0"/>
                </a:solidFill>
                <a:latin typeface="Consolas"/>
              </a:rPr>
              <a:t>Exclude</a:t>
            </a:r>
            <a:r>
              <a:rPr lang="en-US" sz="1400" b="1" dirty="0">
                <a:solidFill>
                  <a:srgbClr val="D4D4D4"/>
                </a:solidFill>
                <a:latin typeface="Consolas"/>
              </a:rPr>
              <a:t>&lt;</a:t>
            </a:r>
            <a:r>
              <a:rPr lang="en-US" sz="1400" b="1" dirty="0" err="1">
                <a:solidFill>
                  <a:srgbClr val="4EC9B0"/>
                </a:solidFill>
                <a:latin typeface="Consolas"/>
              </a:rPr>
              <a:t>IJsonSchema</a:t>
            </a:r>
            <a:r>
              <a:rPr lang="en-US" sz="1400" b="1" dirty="0">
                <a:solidFill>
                  <a:srgbClr val="D4D4D4"/>
                </a:solidFill>
                <a:latin typeface="Consolas"/>
              </a:rPr>
              <a:t>, </a:t>
            </a:r>
            <a:r>
              <a:rPr lang="en-US" sz="1400" b="1" dirty="0" err="1">
                <a:solidFill>
                  <a:srgbClr val="4EC9B0"/>
                </a:solidFill>
                <a:latin typeface="Consolas"/>
              </a:rPr>
              <a:t>IJsonSchema.IObject</a:t>
            </a:r>
            <a:r>
              <a:rPr lang="en-US" sz="1400" b="1" dirty="0">
                <a:solidFill>
                  <a:srgbClr val="D4D4D4"/>
                </a:solidFill>
                <a:latin typeface="Consolas"/>
              </a:rPr>
              <a:t>&gt;</a:t>
            </a:r>
          </a:p>
          <a:p>
            <a:pPr algn="l">
              <a:buNone/>
            </a:pPr>
            <a:r>
              <a:rPr lang="en-US" sz="1400" dirty="0">
                <a:solidFill>
                  <a:srgbClr val="D4D4D4"/>
                </a:solidFill>
                <a:latin typeface="Consolas"/>
              </a:rPr>
              <a:t>    &gt;;</a:t>
            </a:r>
          </a:p>
          <a:p>
            <a:pPr algn="l">
              <a:buNone/>
            </a:pPr>
            <a:r>
              <a:rPr lang="en-US" sz="1400" dirty="0">
                <a:solidFill>
                  <a:srgbClr val="D4D4D4"/>
                </a:solidFill>
                <a:latin typeface="Consolas"/>
              </a:rPr>
              <a:t>    additionalProperties?: </a:t>
            </a:r>
          </a:p>
          <a:p>
            <a:pPr algn="l">
              <a:buNone/>
            </a:pPr>
            <a:r>
              <a:rPr lang="en-US" sz="1400" dirty="0">
                <a:solidFill>
                  <a:srgbClr val="D4D4D4"/>
                </a:solidFill>
                <a:latin typeface="Consolas"/>
              </a:rPr>
              <a:t>      | </a:t>
            </a:r>
            <a:r>
              <a:rPr lang="en-US" sz="1400" dirty="0" err="1">
                <a:solidFill>
                  <a:srgbClr val="4EC9B0"/>
                </a:solidFill>
                <a:latin typeface="Consolas"/>
              </a:rPr>
              <a:t>boolean</a:t>
            </a:r>
            <a:r>
              <a:rPr lang="en-US" sz="1400" dirty="0">
                <a:solidFill>
                  <a:srgbClr val="D4D4D4"/>
                </a:solidFill>
                <a:latin typeface="Consolas"/>
              </a:rPr>
              <a:t> </a:t>
            </a:r>
          </a:p>
          <a:p>
            <a:pPr algn="l">
              <a:buNone/>
            </a:pPr>
            <a:r>
              <a:rPr lang="en-US" sz="1400" dirty="0">
                <a:solidFill>
                  <a:srgbClr val="D4D4D4"/>
                </a:solidFill>
                <a:latin typeface="Consolas"/>
              </a:rPr>
              <a:t>      | </a:t>
            </a:r>
            <a:r>
              <a:rPr lang="en-US" sz="1400" b="1" dirty="0">
                <a:solidFill>
                  <a:srgbClr val="4EC9B0"/>
                </a:solidFill>
                <a:latin typeface="Consolas"/>
              </a:rPr>
              <a:t>Exclude</a:t>
            </a:r>
            <a:r>
              <a:rPr lang="en-US" sz="1400" b="1" dirty="0">
                <a:solidFill>
                  <a:srgbClr val="D4D4D4"/>
                </a:solidFill>
                <a:latin typeface="Consolas"/>
              </a:rPr>
              <a:t>&lt;</a:t>
            </a:r>
            <a:r>
              <a:rPr lang="en-US" sz="1400" b="1" dirty="0" err="1">
                <a:solidFill>
                  <a:srgbClr val="4EC9B0"/>
                </a:solidFill>
                <a:latin typeface="Consolas"/>
              </a:rPr>
              <a:t>IJsonSchema</a:t>
            </a:r>
            <a:r>
              <a:rPr lang="en-US" sz="1400" b="1" dirty="0">
                <a:solidFill>
                  <a:srgbClr val="D4D4D4"/>
                </a:solidFill>
                <a:latin typeface="Consolas"/>
              </a:rPr>
              <a:t>, </a:t>
            </a:r>
            <a:r>
              <a:rPr lang="en-US" sz="1400" b="1" dirty="0" err="1">
                <a:solidFill>
                  <a:srgbClr val="4EC9B0"/>
                </a:solidFill>
                <a:latin typeface="Consolas"/>
              </a:rPr>
              <a:t>IJsonSchema.IObject</a:t>
            </a:r>
            <a:r>
              <a:rPr lang="en-US" sz="1400" b="1" dirty="0">
                <a:solidFill>
                  <a:srgbClr val="D4D4D4"/>
                </a:solidFill>
                <a:latin typeface="Consolas"/>
              </a:rPr>
              <a:t>&gt;</a:t>
            </a:r>
            <a:r>
              <a:rPr lang="en-US" sz="1400" dirty="0">
                <a:solidFill>
                  <a:srgbClr val="D4D4D4"/>
                </a:solidFill>
                <a:latin typeface="Consolas"/>
              </a:rPr>
              <a:t>;</a:t>
            </a:r>
          </a:p>
          <a:p>
            <a:pPr algn="l">
              <a:buNone/>
            </a:pPr>
            <a:r>
              <a:rPr lang="en-US" sz="1400" dirty="0">
                <a:solidFill>
                  <a:srgbClr val="D4D4D4"/>
                </a:solidFill>
                <a:latin typeface="Consolas"/>
              </a:rPr>
              <a:t>    required?: </a:t>
            </a:r>
            <a:r>
              <a:rPr lang="en-US" sz="1400" dirty="0">
                <a:solidFill>
                  <a:srgbClr val="4EC9B0"/>
                </a:solidFill>
                <a:latin typeface="Consolas"/>
              </a:rPr>
              <a:t>string</a:t>
            </a:r>
            <a:r>
              <a:rPr lang="en-US" sz="1400" dirty="0">
                <a:solidFill>
                  <a:srgbClr val="D4D4D4"/>
                </a:solidFill>
                <a:latin typeface="Consolas"/>
              </a:rPr>
              <a:t>[];</a:t>
            </a:r>
          </a:p>
          <a:p>
            <a:pPr algn="l">
              <a:buNone/>
            </a:pPr>
            <a:r>
              <a:rPr lang="en-US" sz="1400" dirty="0">
                <a:solidFill>
                  <a:srgbClr val="D4D4D4"/>
                </a:solidFill>
                <a:latin typeface="Consolas"/>
              </a:rPr>
              <a:t>    description?: </a:t>
            </a:r>
            <a:r>
              <a:rPr lang="en-US" sz="1400" dirty="0">
                <a:solidFill>
                  <a:srgbClr val="4EC9B0"/>
                </a:solidFill>
                <a:latin typeface="Consolas"/>
              </a:rPr>
              <a:t>string</a:t>
            </a:r>
            <a:r>
              <a:rPr lang="en-US" sz="1400" dirty="0">
                <a:solidFill>
                  <a:srgbClr val="D4D4D4"/>
                </a:solidFill>
                <a:latin typeface="Consolas"/>
              </a:rPr>
              <a:t> | </a:t>
            </a:r>
            <a:r>
              <a:rPr lang="en-US" sz="1400" dirty="0">
                <a:solidFill>
                  <a:srgbClr val="4EC9B0"/>
                </a:solidFill>
                <a:latin typeface="Consolas"/>
              </a:rPr>
              <a:t>undefined</a:t>
            </a:r>
            <a:r>
              <a:rPr lang="en-US" sz="1400" dirty="0">
                <a:solidFill>
                  <a:srgbClr val="D4D4D4"/>
                </a:solidFill>
                <a:latin typeface="Consolas"/>
              </a:rPr>
              <a:t>;</a:t>
            </a:r>
          </a:p>
          <a:p>
            <a:pPr algn="l">
              <a:buNone/>
            </a:pPr>
            <a:r>
              <a:rPr lang="en-US" sz="1400" dirty="0">
                <a:solidFill>
                  <a:srgbClr val="D4D4D4"/>
                </a:solidFill>
                <a:latin typeface="Consolas"/>
              </a:rPr>
              <a:t>  }</a:t>
            </a:r>
          </a:p>
          <a:p>
            <a:pPr algn="l">
              <a:buNone/>
            </a:pPr>
            <a:r>
              <a:rPr lang="en-US" sz="1400" dirty="0">
                <a:solidFill>
                  <a:srgbClr val="D4D4D4"/>
                </a:solidFill>
                <a:latin typeface="Consolas"/>
              </a:rPr>
              <a:t>}</a:t>
            </a:r>
          </a:p>
        </p:txBody>
      </p:sp>
    </p:spTree>
    <p:extLst>
      <p:ext uri="{BB962C8B-B14F-4D97-AF65-F5344CB8AC3E}">
        <p14:creationId xmlns:p14="http://schemas.microsoft.com/office/powerpoint/2010/main" val="2935137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r>
              <a:rPr lang="en-US" dirty="0"/>
              <a:t>Prompt engineering is inherently model-dependent</a:t>
            </a:r>
          </a:p>
          <a:p>
            <a:pPr lvl="1"/>
            <a:r>
              <a:rPr lang="en-US" sz="1900" dirty="0"/>
              <a:t>Optimized for GPT ≠ works on Claude ≠ works on Qwen</a:t>
            </a:r>
          </a:p>
          <a:p>
            <a:endParaRPr lang="en-US" dirty="0"/>
          </a:p>
          <a:p>
            <a:r>
              <a:rPr lang="en-US" dirty="0"/>
              <a:t>Function calling is model-neutral</a:t>
            </a:r>
          </a:p>
          <a:p>
            <a:pPr lvl="1"/>
            <a:r>
              <a:rPr lang="en-US" sz="1900" dirty="0"/>
              <a:t>JSON Schema means the same regardless of model</a:t>
            </a:r>
          </a:p>
          <a:p>
            <a:pPr lvl="1"/>
            <a:r>
              <a:rPr lang="en-US" sz="1900" dirty="0"/>
              <a:t>Strong models: 1–2 attempts, weaker: 3–4, both → 100%</a:t>
            </a:r>
          </a:p>
          <a:p>
            <a:endParaRPr lang="en-US" dirty="0"/>
          </a:p>
          <a:p>
            <a:r>
              <a:rPr lang="en-US" dirty="0"/>
              <a:t>Same schema, same pipeline → 100% on all models</a:t>
            </a:r>
          </a:p>
          <a:p>
            <a:pPr lvl="1"/>
            <a:r>
              <a:rPr lang="en-US" sz="1900" dirty="0"/>
              <a:t>Qwen, GLM, DeepSeek, OpenAI — no model-specific tuning</a:t>
            </a:r>
          </a:p>
          <a:p>
            <a:pPr lvl="1"/>
            <a:r>
              <a:rPr lang="en-US" sz="1900" dirty="0"/>
              <a:t>"Can this model do it?" → "Which is most cost-effective?"</a:t>
            </a:r>
          </a:p>
          <a:p>
            <a:pPr lvl="1"/>
            <a:r>
              <a:rPr lang="en-US" sz="1900" dirty="0"/>
              <a:t>Cost = avg retries × tokens/attempt × cost/token</a:t>
            </a:r>
          </a:p>
        </p:txBody>
      </p:sp>
    </p:spTree>
    <p:extLst>
      <p:ext uri="{BB962C8B-B14F-4D97-AF65-F5344CB8AC3E}">
        <p14:creationId xmlns:p14="http://schemas.microsoft.com/office/powerpoint/2010/main" val="26197857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OpenAI Cases</a:t>
            </a:r>
          </a:p>
          <a:p>
            <a:endParaRPr lang="en-US" sz="1800" dirty="0"/>
          </a:p>
          <a:p>
            <a:r>
              <a:rPr lang="en-US" sz="1800" dirty="0"/>
              <a:t>GPT-4 → GPT-4o: same prompts suddenly fail</a:t>
            </a:r>
          </a:p>
          <a:p>
            <a:pPr lvl="1"/>
            <a:r>
              <a:rPr lang="en-US" sz="1800" u="sng" dirty="0">
                <a:solidFill>
                  <a:srgbClr val="4A86C8"/>
                </a:solidFill>
              </a:rPr>
              <a:t>github.com/chapman4444/gpt4o-regression-report</a:t>
            </a:r>
            <a:endParaRPr lang="en-US" sz="1800" dirty="0"/>
          </a:p>
          <a:p>
            <a:endParaRPr lang="en-US" sz="1800" dirty="0"/>
          </a:p>
          <a:p>
            <a:r>
              <a:rPr lang="en-US" sz="1800" dirty="0"/>
              <a:t>GPT-4 → GPT-5: prompt rewrite required</a:t>
            </a:r>
          </a:p>
          <a:p>
            <a:pPr lvl="1"/>
            <a:r>
              <a:rPr lang="en-US" sz="1800" dirty="0"/>
              <a:t>OpenAI had to ship a Prompt Optimizer tool</a:t>
            </a:r>
          </a:p>
          <a:p>
            <a:pPr lvl="1"/>
            <a:r>
              <a:rPr lang="en-US" sz="1800" u="sng" dirty="0">
                <a:solidFill>
                  <a:srgbClr val="4A86C8"/>
                </a:solidFill>
              </a:rPr>
              <a:t>cookbook.openai.com/examples/gpt-5</a:t>
            </a:r>
            <a:endParaRPr lang="en-US" sz="1800" dirty="0"/>
          </a:p>
          <a:p>
            <a:endParaRPr lang="en-US" sz="1800" dirty="0"/>
          </a:p>
          <a:p>
            <a:r>
              <a:rPr lang="en-US" sz="1800" dirty="0"/>
              <a:t>GPT-4o retirement (2026.03.31): API endpoints shut down</a:t>
            </a:r>
          </a:p>
          <a:p>
            <a:pPr lvl="1"/>
            <a:r>
              <a:rPr lang="en-US" sz="1800" u="sng" dirty="0">
                <a:solidFill>
                  <a:srgbClr val="4A86C8"/>
                </a:solidFill>
              </a:rPr>
              <a:t>echostash.app/blog/gpt-4o-retirement</a:t>
            </a:r>
            <a:endParaRPr lang="en-US" sz="1800" dirty="0"/>
          </a:p>
        </p:txBody>
      </p:sp>
    </p:spTree>
    <p:extLst>
      <p:ext uri="{BB962C8B-B14F-4D97-AF65-F5344CB8AC3E}">
        <p14:creationId xmlns:p14="http://schemas.microsoft.com/office/powerpoint/2010/main" val="37361437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4.3. Model Neutrality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lnSpcReduction="10000"/>
          </a:bodyPr>
          <a:lstStyle/>
          <a:p>
            <a:pPr>
              <a:buNone/>
            </a:pPr>
            <a:r>
              <a:rPr lang="en-US" sz="1800" b="1" dirty="0"/>
              <a:t>Prompt Fragility — Anthropic + Conclusion</a:t>
            </a:r>
          </a:p>
          <a:p>
            <a:endParaRPr lang="en-US" sz="1800" dirty="0"/>
          </a:p>
          <a:p>
            <a:r>
              <a:rPr lang="en-US" sz="1800" dirty="0"/>
              <a:t>Claude 3.x → 4.x: breaking changes every major version</a:t>
            </a:r>
          </a:p>
          <a:p>
            <a:pPr lvl="1"/>
            <a:r>
              <a:rPr lang="en-US" sz="1800" dirty="0"/>
              <a:t>Prefill removed, tool versions changed, style shifted</a:t>
            </a:r>
          </a:p>
          <a:p>
            <a:pPr lvl="1"/>
            <a:r>
              <a:rPr lang="en-US" sz="1800" u="sng" dirty="0">
                <a:solidFill>
                  <a:srgbClr val="4A86C8"/>
                </a:solidFill>
              </a:rPr>
              <a:t>docs.anthropic.com/en/docs/about-claude/models/migrating-to-claude-4</a:t>
            </a:r>
            <a:endParaRPr lang="en-US" sz="1800" dirty="0"/>
          </a:p>
          <a:p>
            <a:endParaRPr lang="en-US" sz="1800" dirty="0"/>
          </a:p>
          <a:p>
            <a:r>
              <a:rPr lang="en-US" sz="1800" dirty="0"/>
              <a:t>Every vendor, every version: prompts must be rewritten</a:t>
            </a:r>
          </a:p>
          <a:p>
            <a:pPr lvl="1"/>
            <a:r>
              <a:rPr lang="en-US" sz="1800" dirty="0"/>
              <a:t>Model-specific tricks = vendor lock-in + technical debt</a:t>
            </a:r>
          </a:p>
          <a:p>
            <a:endParaRPr lang="en-US" sz="1800" dirty="0"/>
          </a:p>
          <a:p>
            <a:r>
              <a:rPr lang="en-US" sz="1800" b="1" dirty="0"/>
              <a:t>Type schemas don't break across versions.</a:t>
            </a:r>
          </a:p>
          <a:p>
            <a:r>
              <a:rPr lang="en-US" sz="1800" b="1" dirty="0"/>
              <a:t>JSON Schema is an industry standard — zero rewrite.</a:t>
            </a:r>
          </a:p>
        </p:txBody>
      </p:sp>
    </p:spTree>
    <p:extLst>
      <p:ext uri="{BB962C8B-B14F-4D97-AF65-F5344CB8AC3E}">
        <p14:creationId xmlns:p14="http://schemas.microsoft.com/office/powerpoint/2010/main" val="23186505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Function calling brings LLM output into software engineering</a:t>
            </a:r>
          </a:p>
          <a:p>
            <a:endParaRPr lang="en-US" dirty="0"/>
          </a:p>
          <a:p>
            <a:r>
              <a:rPr lang="en-US" dirty="0"/>
              <a:t>Structured output → engineering problem</a:t>
            </a:r>
          </a:p>
          <a:p>
            <a:pPr lvl="1"/>
            <a:r>
              <a:rPr lang="en-US" dirty="0"/>
              <a:t>Validation is deterministic — pass/fail</a:t>
            </a:r>
          </a:p>
          <a:p>
            <a:pPr lvl="1"/>
            <a:r>
              <a:rPr lang="en-US" dirty="0"/>
              <a:t>Feedback is precise — "Field X should be Y but got Z"</a:t>
            </a:r>
          </a:p>
          <a:p>
            <a:pPr lvl="1"/>
            <a:r>
              <a:rPr lang="en-US" dirty="0"/>
              <a:t>Correction converges — fix only that part</a:t>
            </a:r>
          </a:p>
          <a:p>
            <a:endParaRPr lang="en-US" dirty="0"/>
          </a:p>
          <a:p>
            <a:r>
              <a:rPr lang="en-US" dirty="0"/>
              <a:t>Type schema + deterministic validator + structured feedback</a:t>
            </a:r>
          </a:p>
          <a:p>
            <a:pPr lvl="1"/>
            <a:r>
              <a:rPr lang="en-US" dirty="0"/>
              <a:t>= harness</a:t>
            </a:r>
          </a:p>
          <a:p>
            <a:pPr lvl="1"/>
            <a:r>
              <a:rPr lang="en-US" dirty="0"/>
              <a:t>6.75% → 100%</a:t>
            </a:r>
          </a:p>
        </p:txBody>
      </p:sp>
    </p:spTree>
    <p:extLst>
      <p:ext uri="{BB962C8B-B14F-4D97-AF65-F5344CB8AC3E}">
        <p14:creationId xmlns:p14="http://schemas.microsoft.com/office/powerpoint/2010/main" val="42589648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Type Schema</a:t>
            </a:r>
          </a:p>
          <a:p>
            <a:r>
              <a:rPr lang="en-US" dirty="0"/>
              <a:t>+ Deterministic Validator</a:t>
            </a:r>
          </a:p>
          <a:p>
            <a:r>
              <a:rPr lang="en-US" dirty="0"/>
              <a:t>+ Structured Feedback</a:t>
            </a:r>
          </a:p>
          <a:p>
            <a:endParaRPr lang="en-US" dirty="0"/>
          </a:p>
          <a:p>
            <a:r>
              <a:rPr lang="en-US" dirty="0"/>
              <a:t>Prompt engineering tries to make the probabilistic part reliable.</a:t>
            </a:r>
          </a:p>
          <a:p>
            <a:r>
              <a:rPr lang="en-US" dirty="0"/>
              <a:t>The harness makes the deterministic part airtight.</a:t>
            </a:r>
          </a:p>
          <a:p>
            <a:endParaRPr lang="en-US" dirty="0"/>
          </a:p>
          <a:p>
            <a:r>
              <a:rPr lang="en-US" dirty="0"/>
              <a:t>In domains that demand precision: 6.75% → 100%</a:t>
            </a:r>
          </a:p>
        </p:txBody>
      </p:sp>
    </p:spTree>
    <p:extLst>
      <p:ext uri="{BB962C8B-B14F-4D97-AF65-F5344CB8AC3E}">
        <p14:creationId xmlns:p14="http://schemas.microsoft.com/office/powerpoint/2010/main" val="32593381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4.4. The Core: Verifiability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"The LLM doesn't need to be accurate.</a:t>
            </a:r>
          </a:p>
          <a:p>
            <a:r>
              <a:rPr lang="en-US" dirty="0"/>
              <a:t>It just needs to be harnessed."</a:t>
            </a:r>
          </a:p>
          <a:p>
            <a:endParaRPr lang="en-US" dirty="0"/>
          </a:p>
          <a:p>
            <a:r>
              <a:rPr lang="en-US" dirty="0"/>
              <a:t>Correctability is not a property of the model —</a:t>
            </a:r>
          </a:p>
          <a:p>
            <a:r>
              <a:rPr lang="en-US" dirty="0"/>
              <a:t>it's a property of the validation infrastructure.</a:t>
            </a:r>
          </a:p>
        </p:txBody>
      </p:sp>
    </p:spTree>
    <p:extLst>
      <p:ext uri="{BB962C8B-B14F-4D97-AF65-F5344CB8AC3E}">
        <p14:creationId xmlns:p14="http://schemas.microsoft.com/office/powerpoint/2010/main" val="42289778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4.5. This Pattern Is Universal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Every domain where output is mechanically verifiable</a:t>
            </a:r>
          </a:p>
          <a:p>
            <a:endParaRPr lang="en-US" dirty="0"/>
          </a:p>
          <a:p>
            <a:r>
              <a:rPr lang="en-US" dirty="0"/>
              <a:t>Applicable Domains</a:t>
            </a:r>
          </a:p>
          <a:p>
            <a:pPr lvl="1"/>
            <a:r>
              <a:rPr lang="en-US" dirty="0"/>
              <a:t>Software: type check → compilation → test execution</a:t>
            </a:r>
          </a:p>
          <a:p>
            <a:pPr lvl="1"/>
            <a:r>
              <a:rPr lang="en-US" dirty="0"/>
              <a:t>Semiconductor: DRC → LVS → SPICE simulation</a:t>
            </a:r>
          </a:p>
          <a:p>
            <a:pPr lvl="1"/>
            <a:r>
              <a:rPr lang="en-US" dirty="0"/>
              <a:t>Chemical Process: mass balance → energy balance → simulation</a:t>
            </a:r>
          </a:p>
          <a:p>
            <a:pPr lvl="1"/>
            <a:r>
              <a:rPr lang="en-US" dirty="0"/>
              <a:t>Control Systems: transfer function → stability → time-domain</a:t>
            </a:r>
          </a:p>
          <a:p>
            <a:endParaRPr lang="en-US" dirty="0"/>
          </a:p>
          <a:p>
            <a:r>
              <a:rPr lang="en-US" dirty="0"/>
              <a:t>Inapplicable: creative writing, strategic decisions</a:t>
            </a:r>
          </a:p>
          <a:p>
            <a:pPr lvl="1"/>
            <a:r>
              <a:rPr lang="en-US" dirty="0"/>
              <a:t>No validator → no feedback loop → no convergence</a:t>
            </a:r>
          </a:p>
        </p:txBody>
      </p:sp>
    </p:spTree>
    <p:extLst>
      <p:ext uri="{BB962C8B-B14F-4D97-AF65-F5344CB8AC3E}">
        <p14:creationId xmlns:p14="http://schemas.microsoft.com/office/powerpoint/2010/main" val="31500816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13D6CDE0-ED4D-44B9-A561-485A02015F23}"/>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Semiconductors — Chip Layout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DRC (fast) → LVS (med) → SPICE simulation (deep) — all deterministic</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IBlock</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ILogicBlock</a:t>
            </a:r>
            <a:r>
              <a:rPr lang="en-US" sz="1400" dirty="0">
                <a:solidFill>
                  <a:srgbClr val="6A9955"/>
                </a:solidFill>
                <a:latin typeface="Consolas"/>
              </a:rPr>
              <a:t>        // children: IBlock[]  ← recursive</a:t>
            </a:r>
          </a:p>
          <a:p>
            <a:pPr>
              <a:buNone/>
            </a:pPr>
            <a:r>
              <a:rPr lang="en-US" sz="1400" dirty="0">
                <a:solidFill>
                  <a:srgbClr val="D4D4D4"/>
                </a:solidFill>
                <a:latin typeface="Consolas"/>
              </a:rPr>
              <a:t>  | </a:t>
            </a:r>
            <a:r>
              <a:rPr lang="en-US" sz="1400" dirty="0">
                <a:solidFill>
                  <a:srgbClr val="4EC9B0"/>
                </a:solidFill>
                <a:latin typeface="Consolas"/>
              </a:rPr>
              <a:t>IMemoryBlock</a:t>
            </a:r>
            <a:r>
              <a:rPr lang="en-US" sz="1400" dirty="0">
                <a:solidFill>
                  <a:srgbClr val="6A9955"/>
                </a:solidFill>
                <a:latin typeface="Consolas"/>
              </a:rPr>
              <a:t>       // children: IBlock[]  ← SRAM, DRAM, ROM, Flash, MRAM</a:t>
            </a:r>
          </a:p>
          <a:p>
            <a:pPr>
              <a:buNone/>
            </a:pPr>
            <a:r>
              <a:rPr lang="en-US" sz="1400" dirty="0">
                <a:solidFill>
                  <a:srgbClr val="D4D4D4"/>
                </a:solidFill>
                <a:latin typeface="Consolas"/>
              </a:rPr>
              <a:t>  | </a:t>
            </a:r>
            <a:r>
              <a:rPr lang="en-US" sz="1400" dirty="0">
                <a:solidFill>
                  <a:srgbClr val="4EC9B0"/>
                </a:solidFill>
                <a:latin typeface="Consolas"/>
              </a:rPr>
              <a:t>IAnalogBlock</a:t>
            </a:r>
            <a:r>
              <a:rPr lang="en-US" sz="1400" dirty="0">
                <a:solidFill>
                  <a:srgbClr val="6A9955"/>
                </a:solidFill>
                <a:latin typeface="Consolas"/>
              </a:rPr>
              <a:t>       // children: IBlock[]  ← PLL, ADC, DAC, SerDes, LDO</a:t>
            </a:r>
          </a:p>
          <a:p>
            <a:pPr>
              <a:buNone/>
            </a:pPr>
            <a:r>
              <a:rPr lang="en-US" sz="1400" dirty="0">
                <a:solidFill>
                  <a:srgbClr val="D4D4D4"/>
                </a:solidFill>
                <a:latin typeface="Consolas"/>
              </a:rPr>
              <a:t>  | </a:t>
            </a:r>
            <a:r>
              <a:rPr lang="en-US" sz="1400" dirty="0">
                <a:solidFill>
                  <a:srgbClr val="4EC9B0"/>
                </a:solidFill>
                <a:latin typeface="Consolas"/>
              </a:rPr>
              <a:t>IIOBlock</a:t>
            </a:r>
            <a:r>
              <a:rPr lang="en-US" sz="1400" dirty="0">
                <a:solidFill>
                  <a:srgbClr val="D4D4D4"/>
                </a:solidFill>
                <a:latin typeface="Consolas"/>
              </a:rPr>
              <a:t> | </a:t>
            </a:r>
            <a:r>
              <a:rPr lang="en-US" sz="1400" dirty="0">
                <a:solidFill>
                  <a:srgbClr val="4EC9B0"/>
                </a:solidFill>
                <a:latin typeface="Consolas"/>
              </a:rPr>
              <a:t>IClockTree</a:t>
            </a:r>
            <a:r>
              <a:rPr lang="en-US" sz="1400" dirty="0">
                <a:solidFill>
                  <a:srgbClr val="D4D4D4"/>
                </a:solidFill>
                <a:latin typeface="Consolas"/>
              </a:rPr>
              <a:t> | </a:t>
            </a:r>
            <a:r>
              <a:rPr lang="en-US" sz="1400" dirty="0">
                <a:solidFill>
                  <a:srgbClr val="4EC9B0"/>
                </a:solidFill>
                <a:latin typeface="Consolas"/>
              </a:rPr>
              <a:t>IInterconnect</a:t>
            </a:r>
            <a:r>
              <a:rPr lang="en-US" sz="1400" dirty="0">
                <a:solidFill>
                  <a:srgbClr val="D4D4D4"/>
                </a:solidFill>
                <a:latin typeface="Consolas"/>
              </a:rPr>
              <a:t> | </a:t>
            </a:r>
            <a:r>
              <a:rPr lang="en-US" sz="1400" dirty="0">
                <a:solidFill>
                  <a:srgbClr val="4EC9B0"/>
                </a:solidFill>
                <a:latin typeface="Consolas"/>
              </a:rPr>
              <a:t>IPowerGrid</a:t>
            </a:r>
            <a:r>
              <a:rPr lang="en-US" sz="1400" dirty="0">
                <a:solidFill>
                  <a:srgbClr val="D4D4D4"/>
                </a:solidFill>
                <a:latin typeface="Consolas"/>
              </a:rPr>
              <a:t> | </a:t>
            </a:r>
            <a:r>
              <a:rPr lang="en-US" sz="1400" dirty="0">
                <a:solidFill>
                  <a:srgbClr val="4EC9B0"/>
                </a:solidFill>
                <a:latin typeface="Consolas"/>
              </a:rPr>
              <a:t>ICPU</a:t>
            </a:r>
            <a:r>
              <a:rPr lang="en-US" sz="1400" dirty="0">
                <a:solidFill>
                  <a:srgbClr val="D4D4D4"/>
                </a:solidFill>
                <a:latin typeface="Consolas"/>
              </a:rPr>
              <a:t> | </a:t>
            </a:r>
            <a:r>
              <a:rPr lang="en-US" sz="1400" dirty="0">
                <a:solidFill>
                  <a:srgbClr val="4EC9B0"/>
                </a:solidFill>
                <a:latin typeface="Consolas"/>
              </a:rPr>
              <a:t>IGPU</a:t>
            </a:r>
          </a:p>
          <a:p>
            <a:pPr>
              <a:buNone/>
            </a:pPr>
            <a:r>
              <a:rPr lang="en-US" sz="1400" dirty="0">
                <a:solidFill>
                  <a:srgbClr val="D4D4D4"/>
                </a:solidFill>
                <a:latin typeface="Consolas"/>
              </a:rPr>
              <a:t>  | </a:t>
            </a:r>
            <a:r>
              <a:rPr lang="en-US" sz="1400" dirty="0">
                <a:solidFill>
                  <a:srgbClr val="4EC9B0"/>
                </a:solidFill>
                <a:latin typeface="Consolas"/>
              </a:rPr>
              <a:t>INPU</a:t>
            </a:r>
            <a:r>
              <a:rPr lang="en-US" sz="1400" dirty="0">
                <a:solidFill>
                  <a:srgbClr val="D4D4D4"/>
                </a:solidFill>
                <a:latin typeface="Consolas"/>
              </a:rPr>
              <a:t> | </a:t>
            </a:r>
            <a:r>
              <a:rPr lang="en-US" sz="1400" dirty="0">
                <a:solidFill>
                  <a:srgbClr val="4EC9B0"/>
                </a:solidFill>
                <a:latin typeface="Consolas"/>
              </a:rPr>
              <a:t>IDSP</a:t>
            </a:r>
            <a:r>
              <a:rPr lang="en-US" sz="1400" dirty="0">
                <a:solidFill>
                  <a:srgbClr val="D4D4D4"/>
                </a:solidFill>
                <a:latin typeface="Consolas"/>
              </a:rPr>
              <a:t> | </a:t>
            </a:r>
            <a:r>
              <a:rPr lang="en-US" sz="1400" dirty="0">
                <a:solidFill>
                  <a:srgbClr val="4EC9B0"/>
                </a:solidFill>
                <a:latin typeface="Consolas"/>
              </a:rPr>
              <a:t>ISecurityBlock</a:t>
            </a:r>
            <a:r>
              <a:rPr lang="en-US" sz="1400" dirty="0">
                <a:solidFill>
                  <a:srgbClr val="D4D4D4"/>
                </a:solidFill>
                <a:latin typeface="Consolas"/>
              </a:rPr>
              <a:t> | </a:t>
            </a:r>
            <a:r>
              <a:rPr lang="en-US" sz="1400" dirty="0">
                <a:solidFill>
                  <a:srgbClr val="4EC9B0"/>
                </a:solidFill>
                <a:latin typeface="Consolas"/>
              </a:rPr>
              <a:t>IDebugBlock</a:t>
            </a:r>
            <a:r>
              <a:rPr lang="en-US" sz="1400" dirty="0">
                <a:solidFill>
                  <a:srgbClr val="D4D4D4"/>
                </a:solidFill>
                <a:latin typeface="Consolas"/>
              </a:rPr>
              <a:t> | </a:t>
            </a:r>
            <a:r>
              <a:rPr lang="en-US" sz="1400" dirty="0">
                <a:solidFill>
                  <a:srgbClr val="4EC9B0"/>
                </a:solidFill>
                <a:latin typeface="Consolas"/>
              </a:rPr>
              <a:t>IPhyBlock</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IStandardCell</a:t>
            </a:r>
            <a:r>
              <a:rPr lang="en-US" sz="1400" dirty="0">
                <a:solidFill>
                  <a:srgbClr val="D4D4D4"/>
                </a:solidFill>
                <a:latin typeface="Consolas"/>
              </a:rPr>
              <a:t> =</a:t>
            </a:r>
            <a:r>
              <a:rPr lang="en-US" sz="1400" dirty="0">
                <a:solidFill>
                  <a:srgbClr val="6A9955"/>
                </a:solidFill>
                <a:latin typeface="Consolas"/>
              </a:rPr>
              <a:t>                    // hundreds per PDK</a:t>
            </a:r>
          </a:p>
          <a:p>
            <a:pPr>
              <a:buNone/>
            </a:pPr>
            <a:r>
              <a:rPr lang="en-US" sz="1400" dirty="0">
                <a:solidFill>
                  <a:srgbClr val="D4D4D4"/>
                </a:solidFill>
                <a:latin typeface="Consolas"/>
              </a:rPr>
              <a:t>  | </a:t>
            </a:r>
            <a:r>
              <a:rPr lang="en-US" sz="1400" dirty="0">
                <a:solidFill>
                  <a:srgbClr val="4EC9B0"/>
                </a:solidFill>
                <a:latin typeface="Consolas"/>
              </a:rPr>
              <a:t>IAND</a:t>
            </a:r>
            <a:r>
              <a:rPr lang="en-US" sz="1400" dirty="0">
                <a:solidFill>
                  <a:srgbClr val="D4D4D4"/>
                </a:solidFill>
                <a:latin typeface="Consolas"/>
              </a:rPr>
              <a:t> | </a:t>
            </a:r>
            <a:r>
              <a:rPr lang="en-US" sz="1400" dirty="0">
                <a:solidFill>
                  <a:srgbClr val="4EC9B0"/>
                </a:solidFill>
                <a:latin typeface="Consolas"/>
              </a:rPr>
              <a:t>IOR</a:t>
            </a:r>
            <a:r>
              <a:rPr lang="en-US" sz="1400" dirty="0">
                <a:solidFill>
                  <a:srgbClr val="D4D4D4"/>
                </a:solidFill>
                <a:latin typeface="Consolas"/>
              </a:rPr>
              <a:t> | </a:t>
            </a:r>
            <a:r>
              <a:rPr lang="en-US" sz="1400" dirty="0">
                <a:solidFill>
                  <a:srgbClr val="4EC9B0"/>
                </a:solidFill>
                <a:latin typeface="Consolas"/>
              </a:rPr>
              <a:t>INAND</a:t>
            </a:r>
            <a:r>
              <a:rPr lang="en-US" sz="1400" dirty="0">
                <a:solidFill>
                  <a:srgbClr val="D4D4D4"/>
                </a:solidFill>
                <a:latin typeface="Consolas"/>
              </a:rPr>
              <a:t> | </a:t>
            </a:r>
            <a:r>
              <a:rPr lang="en-US" sz="1400" dirty="0">
                <a:solidFill>
                  <a:srgbClr val="4EC9B0"/>
                </a:solidFill>
                <a:latin typeface="Consolas"/>
              </a:rPr>
              <a:t>INOR</a:t>
            </a:r>
            <a:r>
              <a:rPr lang="en-US" sz="1400" dirty="0">
                <a:solidFill>
                  <a:srgbClr val="D4D4D4"/>
                </a:solidFill>
                <a:latin typeface="Consolas"/>
              </a:rPr>
              <a:t> | </a:t>
            </a:r>
            <a:r>
              <a:rPr lang="en-US" sz="1400" dirty="0">
                <a:solidFill>
                  <a:srgbClr val="4EC9B0"/>
                </a:solidFill>
                <a:latin typeface="Consolas"/>
              </a:rPr>
              <a:t>IXOR</a:t>
            </a:r>
            <a:r>
              <a:rPr lang="en-US" sz="1400" dirty="0">
                <a:solidFill>
                  <a:srgbClr val="D4D4D4"/>
                </a:solidFill>
                <a:latin typeface="Consolas"/>
              </a:rPr>
              <a:t> | </a:t>
            </a:r>
            <a:r>
              <a:rPr lang="en-US" sz="1400" dirty="0">
                <a:solidFill>
                  <a:srgbClr val="4EC9B0"/>
                </a:solidFill>
                <a:latin typeface="Consolas"/>
              </a:rPr>
              <a:t>IXNOR</a:t>
            </a:r>
            <a:r>
              <a:rPr lang="en-US" sz="1400" dirty="0">
                <a:solidFill>
                  <a:srgbClr val="D4D4D4"/>
                </a:solidFill>
                <a:latin typeface="Consolas"/>
              </a:rPr>
              <a:t> | </a:t>
            </a:r>
            <a:r>
              <a:rPr lang="en-US" sz="1400" dirty="0">
                <a:solidFill>
                  <a:srgbClr val="4EC9B0"/>
                </a:solidFill>
                <a:latin typeface="Consolas"/>
              </a:rPr>
              <a:t>INOT</a:t>
            </a:r>
            <a:r>
              <a:rPr lang="en-US" sz="1400" dirty="0">
                <a:solidFill>
                  <a:srgbClr val="D4D4D4"/>
                </a:solidFill>
                <a:latin typeface="Consolas"/>
              </a:rPr>
              <a:t> | </a:t>
            </a:r>
            <a:r>
              <a:rPr lang="en-US" sz="1400" dirty="0">
                <a:solidFill>
                  <a:srgbClr val="4EC9B0"/>
                </a:solidFill>
                <a:latin typeface="Consolas"/>
              </a:rPr>
              <a:t>IBUF</a:t>
            </a:r>
            <a:r>
              <a:rPr lang="en-US" sz="1400" dirty="0">
                <a:solidFill>
                  <a:srgbClr val="D4D4D4"/>
                </a:solidFill>
                <a:latin typeface="Consolas"/>
              </a:rPr>
              <a:t> | </a:t>
            </a:r>
            <a:r>
              <a:rPr lang="en-US" sz="1400" dirty="0">
                <a:solidFill>
                  <a:srgbClr val="4EC9B0"/>
                </a:solidFill>
                <a:latin typeface="Consolas"/>
              </a:rPr>
              <a:t>IMUX</a:t>
            </a:r>
            <a:r>
              <a:rPr lang="en-US" sz="1400" dirty="0">
                <a:solidFill>
                  <a:srgbClr val="D4D4D4"/>
                </a:solidFill>
                <a:latin typeface="Consolas"/>
              </a:rPr>
              <a:t> | </a:t>
            </a:r>
            <a:r>
              <a:rPr lang="en-US" sz="1400" dirty="0">
                <a:solidFill>
                  <a:srgbClr val="4EC9B0"/>
                </a:solidFill>
                <a:latin typeface="Consolas"/>
              </a:rPr>
              <a:t>IDEMUX</a:t>
            </a:r>
          </a:p>
          <a:p>
            <a:pPr>
              <a:buNone/>
            </a:pPr>
            <a:r>
              <a:rPr lang="en-US" sz="1400" dirty="0">
                <a:solidFill>
                  <a:srgbClr val="D4D4D4"/>
                </a:solidFill>
                <a:latin typeface="Consolas"/>
              </a:rPr>
              <a:t>  | </a:t>
            </a:r>
            <a:r>
              <a:rPr lang="en-US" sz="1400" dirty="0">
                <a:solidFill>
                  <a:srgbClr val="4EC9B0"/>
                </a:solidFill>
                <a:latin typeface="Consolas"/>
              </a:rPr>
              <a:t>IAOI</a:t>
            </a:r>
            <a:r>
              <a:rPr lang="en-US" sz="1400" dirty="0">
                <a:solidFill>
                  <a:srgbClr val="D4D4D4"/>
                </a:solidFill>
                <a:latin typeface="Consolas"/>
              </a:rPr>
              <a:t> | </a:t>
            </a:r>
            <a:r>
              <a:rPr lang="en-US" sz="1400" dirty="0">
                <a:solidFill>
                  <a:srgbClr val="4EC9B0"/>
                </a:solidFill>
                <a:latin typeface="Consolas"/>
              </a:rPr>
              <a:t>IOAI</a:t>
            </a:r>
            <a:r>
              <a:rPr lang="en-US" sz="1400" dirty="0">
                <a:solidFill>
                  <a:srgbClr val="D4D4D4"/>
                </a:solidFill>
                <a:latin typeface="Consolas"/>
              </a:rPr>
              <a:t> | </a:t>
            </a:r>
            <a:r>
              <a:rPr lang="en-US" sz="1400" dirty="0">
                <a:solidFill>
                  <a:srgbClr val="4EC9B0"/>
                </a:solidFill>
                <a:latin typeface="Consolas"/>
              </a:rPr>
              <a:t>IHA</a:t>
            </a:r>
            <a:r>
              <a:rPr lang="en-US" sz="1400" dirty="0">
                <a:solidFill>
                  <a:srgbClr val="D4D4D4"/>
                </a:solidFill>
                <a:latin typeface="Consolas"/>
              </a:rPr>
              <a:t> | </a:t>
            </a:r>
            <a:r>
              <a:rPr lang="en-US" sz="1400" dirty="0">
                <a:solidFill>
                  <a:srgbClr val="4EC9B0"/>
                </a:solidFill>
                <a:latin typeface="Consolas"/>
              </a:rPr>
              <a:t>IFA</a:t>
            </a:r>
            <a:r>
              <a:rPr lang="en-US" sz="1400" dirty="0">
                <a:solidFill>
                  <a:srgbClr val="D4D4D4"/>
                </a:solidFill>
                <a:latin typeface="Consolas"/>
              </a:rPr>
              <a:t> | </a:t>
            </a:r>
            <a:r>
              <a:rPr lang="en-US" sz="1400" dirty="0">
                <a:solidFill>
                  <a:srgbClr val="4EC9B0"/>
                </a:solidFill>
                <a:latin typeface="Consolas"/>
              </a:rPr>
              <a:t>IDFF</a:t>
            </a:r>
            <a:r>
              <a:rPr lang="en-US" sz="1400" dirty="0">
                <a:solidFill>
                  <a:srgbClr val="D4D4D4"/>
                </a:solidFill>
                <a:latin typeface="Consolas"/>
              </a:rPr>
              <a:t> | </a:t>
            </a:r>
            <a:r>
              <a:rPr lang="en-US" sz="1400" dirty="0">
                <a:solidFill>
                  <a:srgbClr val="4EC9B0"/>
                </a:solidFill>
                <a:latin typeface="Consolas"/>
              </a:rPr>
              <a:t>IJKFF</a:t>
            </a:r>
            <a:r>
              <a:rPr lang="en-US" sz="1400" dirty="0">
                <a:solidFill>
                  <a:srgbClr val="D4D4D4"/>
                </a:solidFill>
                <a:latin typeface="Consolas"/>
              </a:rPr>
              <a:t> | </a:t>
            </a:r>
            <a:r>
              <a:rPr lang="en-US" sz="1400" dirty="0">
                <a:solidFill>
                  <a:srgbClr val="4EC9B0"/>
                </a:solidFill>
                <a:latin typeface="Consolas"/>
              </a:rPr>
              <a:t>ILatch</a:t>
            </a:r>
            <a:r>
              <a:rPr lang="en-US" sz="1400" dirty="0">
                <a:solidFill>
                  <a:srgbClr val="D4D4D4"/>
                </a:solidFill>
                <a:latin typeface="Consolas"/>
              </a:rPr>
              <a:t> | </a:t>
            </a:r>
            <a:r>
              <a:rPr lang="en-US" sz="1400" dirty="0">
                <a:solidFill>
                  <a:srgbClr val="4EC9B0"/>
                </a:solidFill>
                <a:latin typeface="Consolas"/>
              </a:rPr>
              <a:t>IScanFF</a:t>
            </a:r>
            <a:r>
              <a:rPr lang="en-US" sz="1400" dirty="0">
                <a:solidFill>
                  <a:srgbClr val="D4D4D4"/>
                </a:solidFill>
                <a:latin typeface="Consolas"/>
              </a:rPr>
              <a:t> | </a:t>
            </a:r>
            <a:r>
              <a:rPr lang="en-US" sz="1400" dirty="0">
                <a:solidFill>
                  <a:srgbClr val="4EC9B0"/>
                </a:solidFill>
                <a:latin typeface="Consolas"/>
              </a:rPr>
              <a:t>IRetentionFF</a:t>
            </a:r>
          </a:p>
          <a:p>
            <a:pPr>
              <a:buNone/>
            </a:pPr>
            <a:r>
              <a:rPr lang="en-US" sz="1400" dirty="0">
                <a:solidFill>
                  <a:srgbClr val="D4D4D4"/>
                </a:solidFill>
                <a:latin typeface="Consolas"/>
              </a:rPr>
              <a:t>  | </a:t>
            </a:r>
            <a:r>
              <a:rPr lang="en-US" sz="1400" dirty="0">
                <a:solidFill>
                  <a:srgbClr val="4EC9B0"/>
                </a:solidFill>
                <a:latin typeface="Consolas"/>
              </a:rPr>
              <a:t>IICG</a:t>
            </a:r>
            <a:r>
              <a:rPr lang="en-US" sz="1400" dirty="0">
                <a:solidFill>
                  <a:srgbClr val="D4D4D4"/>
                </a:solidFill>
                <a:latin typeface="Consolas"/>
              </a:rPr>
              <a:t> | </a:t>
            </a:r>
            <a:r>
              <a:rPr lang="en-US" sz="1400" dirty="0">
                <a:solidFill>
                  <a:srgbClr val="4EC9B0"/>
                </a:solidFill>
                <a:latin typeface="Consolas"/>
              </a:rPr>
              <a:t>IClkBuf</a:t>
            </a:r>
            <a:r>
              <a:rPr lang="en-US" sz="1400" dirty="0">
                <a:solidFill>
                  <a:srgbClr val="D4D4D4"/>
                </a:solidFill>
                <a:latin typeface="Consolas"/>
              </a:rPr>
              <a:t> | </a:t>
            </a:r>
            <a:r>
              <a:rPr lang="en-US" sz="1400" dirty="0">
                <a:solidFill>
                  <a:srgbClr val="4EC9B0"/>
                </a:solidFill>
                <a:latin typeface="Consolas"/>
              </a:rPr>
              <a:t>IClkInv</a:t>
            </a:r>
            <a:r>
              <a:rPr lang="en-US" sz="1400" dirty="0">
                <a:solidFill>
                  <a:srgbClr val="D4D4D4"/>
                </a:solidFill>
                <a:latin typeface="Consolas"/>
              </a:rPr>
              <a:t> | </a:t>
            </a:r>
            <a:r>
              <a:rPr lang="en-US" sz="1400" dirty="0">
                <a:solidFill>
                  <a:srgbClr val="4EC9B0"/>
                </a:solidFill>
                <a:latin typeface="Consolas"/>
              </a:rPr>
              <a:t>ITieCell</a:t>
            </a:r>
            <a:r>
              <a:rPr lang="en-US" sz="1400" dirty="0">
                <a:solidFill>
                  <a:srgbClr val="D4D4D4"/>
                </a:solidFill>
                <a:latin typeface="Consolas"/>
              </a:rPr>
              <a:t> | </a:t>
            </a:r>
            <a:r>
              <a:rPr lang="en-US" sz="1400" dirty="0">
                <a:solidFill>
                  <a:srgbClr val="4EC9B0"/>
                </a:solidFill>
                <a:latin typeface="Consolas"/>
              </a:rPr>
              <a:t>ITapCell</a:t>
            </a:r>
            <a:r>
              <a:rPr lang="en-US" sz="1400" dirty="0">
                <a:solidFill>
                  <a:srgbClr val="D4D4D4"/>
                </a:solidFill>
                <a:latin typeface="Consolas"/>
              </a:rPr>
              <a:t> | </a:t>
            </a:r>
            <a:r>
              <a:rPr lang="en-US" sz="1400" dirty="0">
                <a:solidFill>
                  <a:srgbClr val="4EC9B0"/>
                </a:solidFill>
                <a:latin typeface="Consolas"/>
              </a:rPr>
              <a:t>IFiller</a:t>
            </a:r>
            <a:r>
              <a:rPr lang="en-US" sz="1400" dirty="0">
                <a:solidFill>
                  <a:srgbClr val="D4D4D4"/>
                </a:solidFill>
                <a:latin typeface="Consolas"/>
              </a:rPr>
              <a:t> | </a:t>
            </a:r>
            <a:r>
              <a:rPr lang="en-US" sz="1400" dirty="0">
                <a:solidFill>
                  <a:srgbClr val="4EC9B0"/>
                </a:solidFill>
                <a:latin typeface="Consolas"/>
              </a:rPr>
              <a:t>IDecap</a:t>
            </a:r>
            <a:r>
              <a:rPr lang="en-US" sz="1400" dirty="0">
                <a:solidFill>
                  <a:srgbClr val="D4D4D4"/>
                </a:solidFill>
                <a:latin typeface="Consolas"/>
              </a:rPr>
              <a:t> | </a:t>
            </a:r>
            <a:r>
              <a:rPr lang="en-US" sz="1400" dirty="0">
                <a:solidFill>
                  <a:srgbClr val="4EC9B0"/>
                </a:solidFill>
                <a:latin typeface="Consolas"/>
              </a:rPr>
              <a:t>IEndcap</a:t>
            </a:r>
          </a:p>
          <a:p>
            <a:pPr>
              <a:buNone/>
            </a:pPr>
            <a:r>
              <a:rPr lang="en-US" sz="1400" dirty="0">
                <a:solidFill>
                  <a:srgbClr val="D4D4D4"/>
                </a:solidFill>
                <a:latin typeface="Consolas"/>
              </a:rPr>
              <a:t>  | </a:t>
            </a:r>
            <a:r>
              <a:rPr lang="en-US" sz="1400" dirty="0">
                <a:solidFill>
                  <a:srgbClr val="4EC9B0"/>
                </a:solidFill>
                <a:latin typeface="Consolas"/>
              </a:rPr>
              <a:t>ILevelShifter</a:t>
            </a:r>
            <a:r>
              <a:rPr lang="en-US" sz="1400" dirty="0">
                <a:solidFill>
                  <a:srgbClr val="D4D4D4"/>
                </a:solidFill>
                <a:latin typeface="Consolas"/>
              </a:rPr>
              <a:t> | </a:t>
            </a:r>
            <a:r>
              <a:rPr lang="en-US" sz="1400" dirty="0">
                <a:solidFill>
                  <a:srgbClr val="4EC9B0"/>
                </a:solidFill>
                <a:latin typeface="Consolas"/>
              </a:rPr>
              <a:t>IIsolationCell</a:t>
            </a:r>
            <a:r>
              <a:rPr lang="en-US" sz="1400" dirty="0">
                <a:solidFill>
                  <a:srgbClr val="D4D4D4"/>
                </a:solidFill>
                <a:latin typeface="Consolas"/>
              </a:rPr>
              <a:t> | </a:t>
            </a:r>
            <a:r>
              <a:rPr lang="en-US" sz="1400" dirty="0">
                <a:solidFill>
                  <a:srgbClr val="4EC9B0"/>
                </a:solidFill>
                <a:latin typeface="Consolas"/>
              </a:rPr>
              <a:t>IPowerGate</a:t>
            </a:r>
            <a:r>
              <a:rPr lang="en-US" sz="1400" dirty="0">
                <a:solidFill>
                  <a:srgbClr val="D4D4D4"/>
                </a:solidFill>
                <a:latin typeface="Consolas"/>
              </a:rPr>
              <a:t> | </a:t>
            </a:r>
            <a:r>
              <a:rPr lang="en-US" sz="1400" dirty="0">
                <a:solidFill>
                  <a:srgbClr val="4EC9B0"/>
                </a:solidFill>
                <a:latin typeface="Consolas"/>
              </a:rPr>
              <a:t>IAntennaCell</a:t>
            </a:r>
            <a:r>
              <a:rPr lang="en-US" sz="1400" dirty="0">
                <a:solidFill>
                  <a:srgbClr val="D4D4D4"/>
                </a:solidFill>
                <a:latin typeface="Consolas"/>
              </a:rPr>
              <a:t> | </a:t>
            </a:r>
            <a:r>
              <a:rPr lang="en-US" sz="1400" dirty="0">
                <a:solidFill>
                  <a:srgbClr val="4EC9B0"/>
                </a:solidFill>
                <a:latin typeface="Consolas"/>
              </a:rPr>
              <a:t>ISpareCell</a:t>
            </a:r>
            <a:r>
              <a:rPr lang="en-US" sz="1400" dirty="0">
                <a:solidFill>
                  <a:srgbClr val="D4D4D4"/>
                </a:solidFill>
                <a:latin typeface="Consolas"/>
              </a:rPr>
              <a:t> | </a:t>
            </a:r>
            <a:r>
              <a:rPr lang="en-US" sz="1400" dirty="0">
                <a:solidFill>
                  <a:srgbClr val="4EC9B0"/>
                </a:solidFill>
                <a:latin typeface="Consolas"/>
              </a:rPr>
              <a:t>IECOCell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IBlock contains IBlock[] — recursive like IJsonSchema</a:t>
            </a:r>
          </a:p>
          <a:p>
            <a:pPr>
              <a:buNone/>
            </a:pPr>
            <a:r>
              <a:rPr lang="en-US" sz="1400" dirty="0">
                <a:solidFill>
                  <a:srgbClr val="6A9955"/>
                </a:solidFill>
                <a:latin typeface="Consolas"/>
              </a:rPr>
              <a:t>// each ILogicBlock.cells: IStandardCell[] — union within union</a:t>
            </a:r>
          </a:p>
          <a:p>
            <a:pPr>
              <a:buNone/>
            </a:pPr>
            <a:r>
              <a:rPr lang="en-US" sz="1400" dirty="0">
                <a:solidFill>
                  <a:srgbClr val="6A9955"/>
                </a:solidFill>
                <a:latin typeface="Consolas"/>
              </a:rPr>
              <a:t>// DRC → LVS → SPICE — all deterministic, all validatable</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4A90D9"/>
                </a:solidFill>
                <a:latin typeface="Segoe UI Semibold"/>
              </a:rPr>
              <a:t>Physical rules of chip design are not negotiable</a:t>
            </a:r>
          </a:p>
        </p:txBody>
      </p:sp>
    </p:spTree>
    <p:extLst>
      <p:ext uri="{BB962C8B-B14F-4D97-AF65-F5344CB8AC3E}">
        <p14:creationId xmlns:p14="http://schemas.microsoft.com/office/powerpoint/2010/main" val="28974779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D1589C49-AEB4-4B73-A923-235E358A5E1F}"/>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Chemical Process — Unit Operations</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Mass balance (fast) → Energy balance (med) → ASPEN simulation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IUnitOperation</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IReactor</a:t>
            </a:r>
            <a:r>
              <a:rPr lang="en-US" sz="1400" dirty="0">
                <a:solidFill>
                  <a:srgbClr val="6A9955"/>
                </a:solidFill>
                <a:latin typeface="Consolas"/>
              </a:rPr>
              <a:t>            // sub_units: IUnitOperation[]  ← recursive flowsheet</a:t>
            </a:r>
          </a:p>
          <a:p>
            <a:pPr>
              <a:buNone/>
            </a:pPr>
            <a:r>
              <a:rPr lang="en-US" sz="1400" dirty="0">
                <a:solidFill>
                  <a:srgbClr val="D4D4D4"/>
                </a:solidFill>
                <a:latin typeface="Consolas"/>
              </a:rPr>
              <a:t>  | </a:t>
            </a:r>
            <a:r>
              <a:rPr lang="en-US" sz="1400" dirty="0">
                <a:solidFill>
                  <a:srgbClr val="4EC9B0"/>
                </a:solidFill>
                <a:latin typeface="Consolas"/>
              </a:rPr>
              <a:t>IDistColumn</a:t>
            </a:r>
            <a:r>
              <a:rPr lang="en-US" sz="1400" dirty="0">
                <a:solidFill>
                  <a:srgbClr val="6A9955"/>
                </a:solidFill>
                <a:latin typeface="Consolas"/>
              </a:rPr>
              <a:t>         // sub_units: IUnitOperation[]  ← condenser + reboiler inside</a:t>
            </a:r>
          </a:p>
          <a:p>
            <a:pPr>
              <a:buNone/>
            </a:pPr>
            <a:r>
              <a:rPr lang="en-US" sz="1400" dirty="0">
                <a:solidFill>
                  <a:srgbClr val="D4D4D4"/>
                </a:solidFill>
                <a:latin typeface="Consolas"/>
              </a:rPr>
              <a:t>  | </a:t>
            </a:r>
            <a:r>
              <a:rPr lang="en-US" sz="1400" dirty="0">
                <a:solidFill>
                  <a:srgbClr val="4EC9B0"/>
                </a:solidFill>
                <a:latin typeface="Consolas"/>
              </a:rPr>
              <a:t>IAbsorber</a:t>
            </a:r>
            <a:r>
              <a:rPr lang="en-US" sz="1400" dirty="0">
                <a:solidFill>
                  <a:srgbClr val="D4D4D4"/>
                </a:solidFill>
                <a:latin typeface="Consolas"/>
              </a:rPr>
              <a:t> | </a:t>
            </a:r>
            <a:r>
              <a:rPr lang="en-US" sz="1400" dirty="0">
                <a:solidFill>
                  <a:srgbClr val="4EC9B0"/>
                </a:solidFill>
                <a:latin typeface="Consolas"/>
              </a:rPr>
              <a:t>IStripper</a:t>
            </a:r>
            <a:r>
              <a:rPr lang="en-US" sz="1400" dirty="0">
                <a:solidFill>
                  <a:srgbClr val="D4D4D4"/>
                </a:solidFill>
                <a:latin typeface="Consolas"/>
              </a:rPr>
              <a:t> | </a:t>
            </a:r>
            <a:r>
              <a:rPr lang="en-US" sz="1400" dirty="0">
                <a:solidFill>
                  <a:srgbClr val="4EC9B0"/>
                </a:solidFill>
                <a:latin typeface="Consolas"/>
              </a:rPr>
              <a:t>IExtractor</a:t>
            </a:r>
            <a:r>
              <a:rPr lang="en-US" sz="1400" dirty="0">
                <a:solidFill>
                  <a:srgbClr val="D4D4D4"/>
                </a:solidFill>
                <a:latin typeface="Consolas"/>
              </a:rPr>
              <a:t> | </a:t>
            </a:r>
            <a:r>
              <a:rPr lang="en-US" sz="1400" dirty="0">
                <a:solidFill>
                  <a:srgbClr val="4EC9B0"/>
                </a:solidFill>
                <a:latin typeface="Consolas"/>
              </a:rPr>
              <a:t>ICrystallizer</a:t>
            </a:r>
            <a:r>
              <a:rPr lang="en-US" sz="1400" dirty="0">
                <a:solidFill>
                  <a:srgbClr val="D4D4D4"/>
                </a:solidFill>
                <a:latin typeface="Consolas"/>
              </a:rPr>
              <a:t> | </a:t>
            </a:r>
            <a:r>
              <a:rPr lang="en-US" sz="1400" dirty="0">
                <a:solidFill>
                  <a:srgbClr val="4EC9B0"/>
                </a:solidFill>
                <a:latin typeface="Consolas"/>
              </a:rPr>
              <a:t>IDryer</a:t>
            </a:r>
            <a:r>
              <a:rPr lang="en-US" sz="1400" dirty="0">
                <a:solidFill>
                  <a:srgbClr val="D4D4D4"/>
                </a:solidFill>
                <a:latin typeface="Consolas"/>
              </a:rPr>
              <a:t> | </a:t>
            </a:r>
            <a:r>
              <a:rPr lang="en-US" sz="1400" dirty="0">
                <a:solidFill>
                  <a:srgbClr val="4EC9B0"/>
                </a:solidFill>
                <a:latin typeface="Consolas"/>
              </a:rPr>
              <a:t>IEvaporator</a:t>
            </a:r>
          </a:p>
          <a:p>
            <a:pPr>
              <a:buNone/>
            </a:pPr>
            <a:r>
              <a:rPr lang="en-US" sz="1400" dirty="0">
                <a:solidFill>
                  <a:srgbClr val="D4D4D4"/>
                </a:solidFill>
                <a:latin typeface="Consolas"/>
              </a:rPr>
              <a:t>  | </a:t>
            </a:r>
            <a:r>
              <a:rPr lang="en-US" sz="1400" dirty="0">
                <a:solidFill>
                  <a:srgbClr val="4EC9B0"/>
                </a:solidFill>
                <a:latin typeface="Consolas"/>
              </a:rPr>
              <a:t>IHeatExchanger</a:t>
            </a:r>
            <a:r>
              <a:rPr lang="en-US" sz="1400" dirty="0">
                <a:solidFill>
                  <a:srgbClr val="D4D4D4"/>
                </a:solidFill>
                <a:latin typeface="Consolas"/>
              </a:rPr>
              <a:t> | </a:t>
            </a:r>
            <a:r>
              <a:rPr lang="en-US" sz="1400" dirty="0">
                <a:solidFill>
                  <a:srgbClr val="4EC9B0"/>
                </a:solidFill>
                <a:latin typeface="Consolas"/>
              </a:rPr>
              <a:t>ICondenser</a:t>
            </a:r>
            <a:r>
              <a:rPr lang="en-US" sz="1400" dirty="0">
                <a:solidFill>
                  <a:srgbClr val="D4D4D4"/>
                </a:solidFill>
                <a:latin typeface="Consolas"/>
              </a:rPr>
              <a:t> | </a:t>
            </a:r>
            <a:r>
              <a:rPr lang="en-US" sz="1400" dirty="0">
                <a:solidFill>
                  <a:srgbClr val="4EC9B0"/>
                </a:solidFill>
                <a:latin typeface="Consolas"/>
              </a:rPr>
              <a:t>IReboiler</a:t>
            </a:r>
            <a:r>
              <a:rPr lang="en-US" sz="1400" dirty="0">
                <a:solidFill>
                  <a:srgbClr val="D4D4D4"/>
                </a:solidFill>
                <a:latin typeface="Consolas"/>
              </a:rPr>
              <a:t> | </a:t>
            </a:r>
            <a:r>
              <a:rPr lang="en-US" sz="1400" dirty="0">
                <a:solidFill>
                  <a:srgbClr val="4EC9B0"/>
                </a:solidFill>
                <a:latin typeface="Consolas"/>
              </a:rPr>
              <a:t>IHeater</a:t>
            </a:r>
            <a:r>
              <a:rPr lang="en-US" sz="1400" dirty="0">
                <a:solidFill>
                  <a:srgbClr val="D4D4D4"/>
                </a:solidFill>
                <a:latin typeface="Consolas"/>
              </a:rPr>
              <a:t> | </a:t>
            </a:r>
            <a:r>
              <a:rPr lang="en-US" sz="1400" dirty="0">
                <a:solidFill>
                  <a:srgbClr val="4EC9B0"/>
                </a:solidFill>
                <a:latin typeface="Consolas"/>
              </a:rPr>
              <a:t>ICooler</a:t>
            </a:r>
            <a:r>
              <a:rPr lang="en-US" sz="1400" dirty="0">
                <a:solidFill>
                  <a:srgbClr val="D4D4D4"/>
                </a:solidFill>
                <a:latin typeface="Consolas"/>
              </a:rPr>
              <a:t> | </a:t>
            </a:r>
            <a:r>
              <a:rPr lang="en-US" sz="1400" dirty="0">
                <a:solidFill>
                  <a:srgbClr val="4EC9B0"/>
                </a:solidFill>
                <a:latin typeface="Consolas"/>
              </a:rPr>
              <a:t>IFurnace</a:t>
            </a:r>
          </a:p>
          <a:p>
            <a:pPr>
              <a:buNone/>
            </a:pPr>
            <a:r>
              <a:rPr lang="en-US" sz="1400" dirty="0">
                <a:solidFill>
                  <a:srgbClr val="D4D4D4"/>
                </a:solidFill>
                <a:latin typeface="Consolas"/>
              </a:rPr>
              <a:t>  | </a:t>
            </a:r>
            <a:r>
              <a:rPr lang="en-US" sz="1400" dirty="0">
                <a:solidFill>
                  <a:srgbClr val="4EC9B0"/>
                </a:solidFill>
                <a:latin typeface="Consolas"/>
              </a:rPr>
              <a:t>IMixer</a:t>
            </a:r>
            <a:r>
              <a:rPr lang="en-US" sz="1400" dirty="0">
                <a:solidFill>
                  <a:srgbClr val="D4D4D4"/>
                </a:solidFill>
                <a:latin typeface="Consolas"/>
              </a:rPr>
              <a:t> | </a:t>
            </a:r>
            <a:r>
              <a:rPr lang="en-US" sz="1400" dirty="0">
                <a:solidFill>
                  <a:srgbClr val="4EC9B0"/>
                </a:solidFill>
                <a:latin typeface="Consolas"/>
              </a:rPr>
              <a:t>ISplitter</a:t>
            </a:r>
            <a:r>
              <a:rPr lang="en-US" sz="1400" dirty="0">
                <a:solidFill>
                  <a:srgbClr val="D4D4D4"/>
                </a:solidFill>
                <a:latin typeface="Consolas"/>
              </a:rPr>
              <a:t> | </a:t>
            </a:r>
            <a:r>
              <a:rPr lang="en-US" sz="1400" dirty="0">
                <a:solidFill>
                  <a:srgbClr val="4EC9B0"/>
                </a:solidFill>
                <a:latin typeface="Consolas"/>
              </a:rPr>
              <a:t>IPump</a:t>
            </a:r>
            <a:r>
              <a:rPr lang="en-US" sz="1400" dirty="0">
                <a:solidFill>
                  <a:srgbClr val="D4D4D4"/>
                </a:solidFill>
                <a:latin typeface="Consolas"/>
              </a:rPr>
              <a:t> | </a:t>
            </a:r>
            <a:r>
              <a:rPr lang="en-US" sz="1400" dirty="0">
                <a:solidFill>
                  <a:srgbClr val="4EC9B0"/>
                </a:solidFill>
                <a:latin typeface="Consolas"/>
              </a:rPr>
              <a:t>ICompressor</a:t>
            </a:r>
            <a:r>
              <a:rPr lang="en-US" sz="1400" dirty="0">
                <a:solidFill>
                  <a:srgbClr val="D4D4D4"/>
                </a:solidFill>
                <a:latin typeface="Consolas"/>
              </a:rPr>
              <a:t> | </a:t>
            </a:r>
            <a:r>
              <a:rPr lang="en-US" sz="1400" dirty="0">
                <a:solidFill>
                  <a:srgbClr val="4EC9B0"/>
                </a:solidFill>
                <a:latin typeface="Consolas"/>
              </a:rPr>
              <a:t>IExpander</a:t>
            </a:r>
            <a:r>
              <a:rPr lang="en-US" sz="1400" dirty="0">
                <a:solidFill>
                  <a:srgbClr val="D4D4D4"/>
                </a:solidFill>
                <a:latin typeface="Consolas"/>
              </a:rPr>
              <a:t> | </a:t>
            </a:r>
            <a:r>
              <a:rPr lang="en-US" sz="1400" dirty="0">
                <a:solidFill>
                  <a:srgbClr val="4EC9B0"/>
                </a:solidFill>
                <a:latin typeface="Consolas"/>
              </a:rPr>
              <a:t>ITurbine</a:t>
            </a:r>
            <a:r>
              <a:rPr lang="en-US" sz="1400" dirty="0">
                <a:solidFill>
                  <a:srgbClr val="D4D4D4"/>
                </a:solidFill>
                <a:latin typeface="Consolas"/>
              </a:rPr>
              <a:t> | </a:t>
            </a:r>
            <a:r>
              <a:rPr lang="en-US" sz="1400" dirty="0">
                <a:solidFill>
                  <a:srgbClr val="4EC9B0"/>
                </a:solidFill>
                <a:latin typeface="Consolas"/>
              </a:rPr>
              <a:t>IValve</a:t>
            </a:r>
          </a:p>
          <a:p>
            <a:pPr>
              <a:buNone/>
            </a:pPr>
            <a:r>
              <a:rPr lang="en-US" sz="1400" dirty="0">
                <a:solidFill>
                  <a:srgbClr val="D4D4D4"/>
                </a:solidFill>
                <a:latin typeface="Consolas"/>
              </a:rPr>
              <a:t>  | </a:t>
            </a:r>
            <a:r>
              <a:rPr lang="en-US" sz="1400" dirty="0">
                <a:solidFill>
                  <a:srgbClr val="4EC9B0"/>
                </a:solidFill>
                <a:latin typeface="Consolas"/>
              </a:rPr>
              <a:t>ISeparator</a:t>
            </a:r>
            <a:r>
              <a:rPr lang="en-US" sz="1400" dirty="0">
                <a:solidFill>
                  <a:srgbClr val="D4D4D4"/>
                </a:solidFill>
                <a:latin typeface="Consolas"/>
              </a:rPr>
              <a:t> | </a:t>
            </a:r>
            <a:r>
              <a:rPr lang="en-US" sz="1400" dirty="0">
                <a:solidFill>
                  <a:srgbClr val="4EC9B0"/>
                </a:solidFill>
                <a:latin typeface="Consolas"/>
              </a:rPr>
              <a:t>IFilter</a:t>
            </a:r>
            <a:r>
              <a:rPr lang="en-US" sz="1400" dirty="0">
                <a:solidFill>
                  <a:srgbClr val="D4D4D4"/>
                </a:solidFill>
                <a:latin typeface="Consolas"/>
              </a:rPr>
              <a:t> | </a:t>
            </a:r>
            <a:r>
              <a:rPr lang="en-US" sz="1400" dirty="0">
                <a:solidFill>
                  <a:srgbClr val="4EC9B0"/>
                </a:solidFill>
                <a:latin typeface="Consolas"/>
              </a:rPr>
              <a:t>ICyclone</a:t>
            </a:r>
            <a:r>
              <a:rPr lang="en-US" sz="1400" dirty="0">
                <a:solidFill>
                  <a:srgbClr val="D4D4D4"/>
                </a:solidFill>
                <a:latin typeface="Consolas"/>
              </a:rPr>
              <a:t> | </a:t>
            </a:r>
            <a:r>
              <a:rPr lang="en-US" sz="1400" dirty="0">
                <a:solidFill>
                  <a:srgbClr val="4EC9B0"/>
                </a:solidFill>
                <a:latin typeface="Consolas"/>
              </a:rPr>
              <a:t>ICentrifuge</a:t>
            </a:r>
            <a:r>
              <a:rPr lang="en-US" sz="1400" dirty="0">
                <a:solidFill>
                  <a:srgbClr val="D4D4D4"/>
                </a:solidFill>
                <a:latin typeface="Consolas"/>
              </a:rPr>
              <a:t> | </a:t>
            </a:r>
            <a:r>
              <a:rPr lang="en-US" sz="1400" dirty="0">
                <a:solidFill>
                  <a:srgbClr val="4EC9B0"/>
                </a:solidFill>
                <a:latin typeface="Consolas"/>
              </a:rPr>
              <a:t>IMembrane</a:t>
            </a:r>
            <a:r>
              <a:rPr lang="en-US" sz="1400" dirty="0">
                <a:solidFill>
                  <a:srgbClr val="D4D4D4"/>
                </a:solidFill>
                <a:latin typeface="Consolas"/>
              </a:rPr>
              <a:t> | </a:t>
            </a:r>
            <a:r>
              <a:rPr lang="en-US" sz="1400" dirty="0">
                <a:solidFill>
                  <a:srgbClr val="4EC9B0"/>
                </a:solidFill>
                <a:latin typeface="Consolas"/>
              </a:rPr>
              <a:t>IAdsorber</a:t>
            </a:r>
          </a:p>
          <a:p>
            <a:pPr>
              <a:buNone/>
            </a:pPr>
            <a:r>
              <a:rPr lang="en-US" sz="1400" dirty="0">
                <a:solidFill>
                  <a:srgbClr val="D4D4D4"/>
                </a:solidFill>
                <a:latin typeface="Consolas"/>
              </a:rPr>
              <a:t>  | </a:t>
            </a:r>
            <a:r>
              <a:rPr lang="en-US" sz="1400" dirty="0">
                <a:solidFill>
                  <a:srgbClr val="4EC9B0"/>
                </a:solidFill>
                <a:latin typeface="Consolas"/>
              </a:rPr>
              <a:t>IPipe</a:t>
            </a:r>
            <a:r>
              <a:rPr lang="en-US" sz="1400" dirty="0">
                <a:solidFill>
                  <a:srgbClr val="D4D4D4"/>
                </a:solidFill>
                <a:latin typeface="Consolas"/>
              </a:rPr>
              <a:t> | </a:t>
            </a:r>
            <a:r>
              <a:rPr lang="en-US" sz="1400" dirty="0">
                <a:solidFill>
                  <a:srgbClr val="4EC9B0"/>
                </a:solidFill>
                <a:latin typeface="Consolas"/>
              </a:rPr>
              <a:t>IOrifice</a:t>
            </a:r>
            <a:r>
              <a:rPr lang="en-US" sz="1400" dirty="0">
                <a:solidFill>
                  <a:srgbClr val="D4D4D4"/>
                </a:solidFill>
                <a:latin typeface="Consolas"/>
              </a:rPr>
              <a:t> | </a:t>
            </a:r>
            <a:r>
              <a:rPr lang="en-US" sz="1400" dirty="0">
                <a:solidFill>
                  <a:srgbClr val="4EC9B0"/>
                </a:solidFill>
                <a:latin typeface="Consolas"/>
              </a:rPr>
              <a:t>ITank</a:t>
            </a:r>
            <a:r>
              <a:rPr lang="en-US" sz="1400" dirty="0">
                <a:solidFill>
                  <a:srgbClr val="D4D4D4"/>
                </a:solidFill>
                <a:latin typeface="Consolas"/>
              </a:rPr>
              <a:t> | </a:t>
            </a:r>
            <a:r>
              <a:rPr lang="en-US" sz="1400" dirty="0">
                <a:solidFill>
                  <a:srgbClr val="4EC9B0"/>
                </a:solidFill>
                <a:latin typeface="Consolas"/>
              </a:rPr>
              <a:t>IFlare</a:t>
            </a:r>
            <a:r>
              <a:rPr lang="en-US" sz="1400" dirty="0">
                <a:solidFill>
                  <a:srgbClr val="D4D4D4"/>
                </a:solidFill>
                <a:latin typeface="Consolas"/>
              </a:rPr>
              <a:t> | </a:t>
            </a:r>
            <a:r>
              <a:rPr lang="en-US" sz="1400" dirty="0">
                <a:solidFill>
                  <a:srgbClr val="4EC9B0"/>
                </a:solidFill>
                <a:latin typeface="Consolas"/>
              </a:rPr>
              <a:t>IEjector</a:t>
            </a:r>
            <a:r>
              <a:rPr lang="en-US" sz="1400" dirty="0">
                <a:solidFill>
                  <a:srgbClr val="D4D4D4"/>
                </a:solidFill>
                <a:latin typeface="Consolas"/>
              </a:rPr>
              <a:t> | </a:t>
            </a:r>
            <a:r>
              <a:rPr lang="en-US" sz="1400" dirty="0">
                <a:solidFill>
                  <a:srgbClr val="4EC9B0"/>
                </a:solidFill>
                <a:latin typeface="Consolas"/>
              </a:rPr>
              <a:t>ISpreadsheet</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IReactor</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ICSTR</a:t>
            </a:r>
            <a:r>
              <a:rPr lang="en-US" sz="1400" dirty="0">
                <a:solidFill>
                  <a:srgbClr val="D4D4D4"/>
                </a:solidFill>
                <a:latin typeface="Consolas"/>
              </a:rPr>
              <a:t> | </a:t>
            </a:r>
            <a:r>
              <a:rPr lang="en-US" sz="1400" dirty="0">
                <a:solidFill>
                  <a:srgbClr val="4EC9B0"/>
                </a:solidFill>
                <a:latin typeface="Consolas"/>
              </a:rPr>
              <a:t>IPFR</a:t>
            </a:r>
            <a:r>
              <a:rPr lang="en-US" sz="1400" dirty="0">
                <a:solidFill>
                  <a:srgbClr val="D4D4D4"/>
                </a:solidFill>
                <a:latin typeface="Consolas"/>
              </a:rPr>
              <a:t> | </a:t>
            </a:r>
            <a:r>
              <a:rPr lang="en-US" sz="1400" dirty="0">
                <a:solidFill>
                  <a:srgbClr val="4EC9B0"/>
                </a:solidFill>
                <a:latin typeface="Consolas"/>
              </a:rPr>
              <a:t>IBatchReactor</a:t>
            </a:r>
            <a:r>
              <a:rPr lang="en-US" sz="1400" dirty="0">
                <a:solidFill>
                  <a:srgbClr val="D4D4D4"/>
                </a:solidFill>
                <a:latin typeface="Consolas"/>
              </a:rPr>
              <a:t> | </a:t>
            </a:r>
            <a:r>
              <a:rPr lang="en-US" sz="1400" dirty="0">
                <a:solidFill>
                  <a:srgbClr val="4EC9B0"/>
                </a:solidFill>
                <a:latin typeface="Consolas"/>
              </a:rPr>
              <a:t>IGibbsReactor</a:t>
            </a:r>
            <a:r>
              <a:rPr lang="en-US" sz="1400" dirty="0">
                <a:solidFill>
                  <a:srgbClr val="D4D4D4"/>
                </a:solidFill>
                <a:latin typeface="Consolas"/>
              </a:rPr>
              <a:t> | </a:t>
            </a:r>
            <a:r>
              <a:rPr lang="en-US" sz="1400" dirty="0">
                <a:solidFill>
                  <a:srgbClr val="4EC9B0"/>
                </a:solidFill>
                <a:latin typeface="Consolas"/>
              </a:rPr>
              <a:t>IEquilibrium</a:t>
            </a:r>
            <a:r>
              <a:rPr lang="en-US" sz="1400" dirty="0">
                <a:solidFill>
                  <a:srgbClr val="D4D4D4"/>
                </a:solidFill>
                <a:latin typeface="Consolas"/>
              </a:rPr>
              <a:t> | </a:t>
            </a:r>
            <a:r>
              <a:rPr lang="en-US" sz="1400" dirty="0">
                <a:solidFill>
                  <a:srgbClr val="4EC9B0"/>
                </a:solidFill>
                <a:latin typeface="Consolas"/>
              </a:rPr>
              <a:t>IConversion</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IThermodynamicModel</a:t>
            </a:r>
            <a:r>
              <a:rPr lang="en-US" sz="1400" dirty="0">
                <a:solidFill>
                  <a:srgbClr val="D4D4D4"/>
                </a:solidFill>
                <a:latin typeface="Consolas"/>
              </a:rPr>
              <a:t> =</a:t>
            </a:r>
            <a:r>
              <a:rPr lang="en-US" sz="1400" dirty="0">
                <a:solidFill>
                  <a:srgbClr val="6A9955"/>
                </a:solidFill>
                <a:latin typeface="Consolas"/>
              </a:rPr>
              <a:t>              // governs phase equilibria</a:t>
            </a:r>
          </a:p>
          <a:p>
            <a:pPr>
              <a:buNone/>
            </a:pPr>
            <a:r>
              <a:rPr lang="en-US" sz="1400" dirty="0">
                <a:solidFill>
                  <a:srgbClr val="D4D4D4"/>
                </a:solidFill>
                <a:latin typeface="Consolas"/>
              </a:rPr>
              <a:t>  | </a:t>
            </a:r>
            <a:r>
              <a:rPr lang="en-US" sz="1400" dirty="0">
                <a:solidFill>
                  <a:srgbClr val="4EC9B0"/>
                </a:solidFill>
                <a:latin typeface="Consolas"/>
              </a:rPr>
              <a:t>IPengRobinson</a:t>
            </a:r>
            <a:r>
              <a:rPr lang="en-US" sz="1400" dirty="0">
                <a:solidFill>
                  <a:srgbClr val="D4D4D4"/>
                </a:solidFill>
                <a:latin typeface="Consolas"/>
              </a:rPr>
              <a:t> | </a:t>
            </a:r>
            <a:r>
              <a:rPr lang="en-US" sz="1400" dirty="0">
                <a:solidFill>
                  <a:srgbClr val="4EC9B0"/>
                </a:solidFill>
                <a:latin typeface="Consolas"/>
              </a:rPr>
              <a:t>ISRK</a:t>
            </a:r>
            <a:r>
              <a:rPr lang="en-US" sz="1400" dirty="0">
                <a:solidFill>
                  <a:srgbClr val="D4D4D4"/>
                </a:solidFill>
                <a:latin typeface="Consolas"/>
              </a:rPr>
              <a:t> | </a:t>
            </a:r>
            <a:r>
              <a:rPr lang="en-US" sz="1400" dirty="0">
                <a:solidFill>
                  <a:srgbClr val="4EC9B0"/>
                </a:solidFill>
                <a:latin typeface="Consolas"/>
              </a:rPr>
              <a:t>INRTL</a:t>
            </a:r>
            <a:r>
              <a:rPr lang="en-US" sz="1400" dirty="0">
                <a:solidFill>
                  <a:srgbClr val="D4D4D4"/>
                </a:solidFill>
                <a:latin typeface="Consolas"/>
              </a:rPr>
              <a:t> | </a:t>
            </a:r>
            <a:r>
              <a:rPr lang="en-US" sz="1400" dirty="0">
                <a:solidFill>
                  <a:srgbClr val="4EC9B0"/>
                </a:solidFill>
                <a:latin typeface="Consolas"/>
              </a:rPr>
              <a:t>IUNIQUAC</a:t>
            </a:r>
            <a:r>
              <a:rPr lang="en-US" sz="1400" dirty="0">
                <a:solidFill>
                  <a:srgbClr val="D4D4D4"/>
                </a:solidFill>
                <a:latin typeface="Consolas"/>
              </a:rPr>
              <a:t> | </a:t>
            </a:r>
            <a:r>
              <a:rPr lang="en-US" sz="1400" dirty="0">
                <a:solidFill>
                  <a:srgbClr val="4EC9B0"/>
                </a:solidFill>
                <a:latin typeface="Consolas"/>
              </a:rPr>
              <a:t>IWilson</a:t>
            </a:r>
            <a:r>
              <a:rPr lang="en-US" sz="1400" dirty="0">
                <a:solidFill>
                  <a:srgbClr val="D4D4D4"/>
                </a:solidFill>
                <a:latin typeface="Consolas"/>
              </a:rPr>
              <a:t> | </a:t>
            </a:r>
            <a:r>
              <a:rPr lang="en-US" sz="1400" dirty="0">
                <a:solidFill>
                  <a:srgbClr val="4EC9B0"/>
                </a:solidFill>
                <a:latin typeface="Consolas"/>
              </a:rPr>
              <a:t>ICPA</a:t>
            </a:r>
            <a:r>
              <a:rPr lang="en-US" sz="1400" dirty="0">
                <a:solidFill>
                  <a:srgbClr val="D4D4D4"/>
                </a:solidFill>
                <a:latin typeface="Consolas"/>
              </a:rPr>
              <a:t> | </a:t>
            </a:r>
            <a:r>
              <a:rPr lang="en-US" sz="1400" dirty="0">
                <a:solidFill>
                  <a:srgbClr val="4EC9B0"/>
                </a:solidFill>
                <a:latin typeface="Consolas"/>
              </a:rPr>
              <a:t>ISAFT</a:t>
            </a:r>
            <a:r>
              <a:rPr lang="en-US" sz="1400" dirty="0">
                <a:solidFill>
                  <a:srgbClr val="D4D4D4"/>
                </a:solidFill>
                <a:latin typeface="Consolas"/>
              </a:rPr>
              <a:t> | </a:t>
            </a:r>
            <a:r>
              <a:rPr lang="en-US" sz="1400" dirty="0">
                <a:solidFill>
                  <a:srgbClr val="4EC9B0"/>
                </a:solidFill>
                <a:latin typeface="Consolas"/>
              </a:rPr>
              <a:t>IELECNRTL</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6A9955"/>
                </a:solidFill>
                <a:latin typeface="Consolas"/>
              </a:rPr>
              <a:t>// IDistColumn contains IUnitOperation[] — recursive like IJsonSchema</a:t>
            </a:r>
          </a:p>
          <a:p>
            <a:pPr>
              <a:buNone/>
            </a:pPr>
            <a:r>
              <a:rPr lang="en-US" sz="1400" dirty="0">
                <a:solidFill>
                  <a:srgbClr val="6A9955"/>
                </a:solidFill>
                <a:latin typeface="Consolas"/>
              </a:rPr>
              <a:t>// each IReactor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50C878"/>
                </a:solidFill>
                <a:latin typeface="Segoe UI Semibold"/>
              </a:rPr>
              <a:t>ASPEN and HYSYS: deterministic validation for 40+ years</a:t>
            </a:r>
          </a:p>
        </p:txBody>
      </p:sp>
    </p:spTree>
    <p:extLst>
      <p:ext uri="{BB962C8B-B14F-4D97-AF65-F5344CB8AC3E}">
        <p14:creationId xmlns:p14="http://schemas.microsoft.com/office/powerpoint/2010/main" val="29503300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F1C63935-A9C4-4060-9ACD-F8CCE6899B12}"/>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Construction (BIM) — IFC Element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IFC 4.3: 1,300+ entity types — collision detection, code compliance</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IfcElement</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IfcWall</a:t>
            </a:r>
            <a:r>
              <a:rPr lang="en-US" sz="1400" dirty="0">
                <a:solidFill>
                  <a:srgbClr val="6A9955"/>
                </a:solidFill>
                <a:latin typeface="Consolas"/>
              </a:rPr>
              <a:t>              // components: IfcElement[]  ← recursive assembly</a:t>
            </a:r>
          </a:p>
          <a:p>
            <a:pPr>
              <a:buNone/>
            </a:pPr>
            <a:r>
              <a:rPr lang="en-US" sz="1400" dirty="0">
                <a:solidFill>
                  <a:srgbClr val="D4D4D4"/>
                </a:solidFill>
                <a:latin typeface="Consolas"/>
              </a:rPr>
              <a:t>  | </a:t>
            </a:r>
            <a:r>
              <a:rPr lang="en-US" sz="1400" dirty="0">
                <a:solidFill>
                  <a:srgbClr val="4EC9B0"/>
                </a:solidFill>
                <a:latin typeface="Consolas"/>
              </a:rPr>
              <a:t>IfcSlab</a:t>
            </a:r>
            <a:r>
              <a:rPr lang="en-US" sz="1400" dirty="0">
                <a:solidFill>
                  <a:srgbClr val="D4D4D4"/>
                </a:solidFill>
                <a:latin typeface="Consolas"/>
              </a:rPr>
              <a:t> | </a:t>
            </a:r>
            <a:r>
              <a:rPr lang="en-US" sz="1400" dirty="0">
                <a:solidFill>
                  <a:srgbClr val="4EC9B0"/>
                </a:solidFill>
                <a:latin typeface="Consolas"/>
              </a:rPr>
              <a:t>IfcBeam</a:t>
            </a:r>
            <a:r>
              <a:rPr lang="en-US" sz="1400" dirty="0">
                <a:solidFill>
                  <a:srgbClr val="D4D4D4"/>
                </a:solidFill>
                <a:latin typeface="Consolas"/>
              </a:rPr>
              <a:t> | </a:t>
            </a:r>
            <a:r>
              <a:rPr lang="en-US" sz="1400" dirty="0">
                <a:solidFill>
                  <a:srgbClr val="4EC9B0"/>
                </a:solidFill>
                <a:latin typeface="Consolas"/>
              </a:rPr>
              <a:t>IfcColumn</a:t>
            </a:r>
            <a:r>
              <a:rPr lang="en-US" sz="1400" dirty="0">
                <a:solidFill>
                  <a:srgbClr val="D4D4D4"/>
                </a:solidFill>
                <a:latin typeface="Consolas"/>
              </a:rPr>
              <a:t> | </a:t>
            </a:r>
            <a:r>
              <a:rPr lang="en-US" sz="1400" dirty="0">
                <a:solidFill>
                  <a:srgbClr val="4EC9B0"/>
                </a:solidFill>
                <a:latin typeface="Consolas"/>
              </a:rPr>
              <a:t>IfcRoof</a:t>
            </a:r>
            <a:r>
              <a:rPr lang="en-US" sz="1400" dirty="0">
                <a:solidFill>
                  <a:srgbClr val="D4D4D4"/>
                </a:solidFill>
                <a:latin typeface="Consolas"/>
              </a:rPr>
              <a:t> | </a:t>
            </a:r>
            <a:r>
              <a:rPr lang="en-US" sz="1400" dirty="0">
                <a:solidFill>
                  <a:srgbClr val="4EC9B0"/>
                </a:solidFill>
                <a:latin typeface="Consolas"/>
              </a:rPr>
              <a:t>IfcStair</a:t>
            </a:r>
            <a:r>
              <a:rPr lang="en-US" sz="1400" dirty="0">
                <a:solidFill>
                  <a:srgbClr val="D4D4D4"/>
                </a:solidFill>
                <a:latin typeface="Consolas"/>
              </a:rPr>
              <a:t> | </a:t>
            </a:r>
            <a:r>
              <a:rPr lang="en-US" sz="1400" dirty="0">
                <a:solidFill>
                  <a:srgbClr val="4EC9B0"/>
                </a:solidFill>
                <a:latin typeface="Consolas"/>
              </a:rPr>
              <a:t>IfcRamp</a:t>
            </a:r>
            <a:r>
              <a:rPr lang="en-US" sz="1400" dirty="0">
                <a:solidFill>
                  <a:srgbClr val="D4D4D4"/>
                </a:solidFill>
                <a:latin typeface="Consolas"/>
              </a:rPr>
              <a:t> | </a:t>
            </a:r>
            <a:r>
              <a:rPr lang="en-US" sz="1400" dirty="0">
                <a:solidFill>
                  <a:srgbClr val="4EC9B0"/>
                </a:solidFill>
                <a:latin typeface="Consolas"/>
              </a:rPr>
              <a:t>IfcFooting</a:t>
            </a:r>
          </a:p>
          <a:p>
            <a:pPr>
              <a:buNone/>
            </a:pPr>
            <a:r>
              <a:rPr lang="en-US" sz="1400" dirty="0">
                <a:solidFill>
                  <a:srgbClr val="D4D4D4"/>
                </a:solidFill>
                <a:latin typeface="Consolas"/>
              </a:rPr>
              <a:t>  | </a:t>
            </a:r>
            <a:r>
              <a:rPr lang="en-US" sz="1400" dirty="0">
                <a:solidFill>
                  <a:srgbClr val="4EC9B0"/>
                </a:solidFill>
                <a:latin typeface="Consolas"/>
              </a:rPr>
              <a:t>IfcDoor</a:t>
            </a:r>
            <a:r>
              <a:rPr lang="en-US" sz="1400" dirty="0">
                <a:solidFill>
                  <a:srgbClr val="D4D4D4"/>
                </a:solidFill>
                <a:latin typeface="Consolas"/>
              </a:rPr>
              <a:t> | </a:t>
            </a:r>
            <a:r>
              <a:rPr lang="en-US" sz="1400" dirty="0">
                <a:solidFill>
                  <a:srgbClr val="4EC9B0"/>
                </a:solidFill>
                <a:latin typeface="Consolas"/>
              </a:rPr>
              <a:t>IfcWindow</a:t>
            </a:r>
            <a:r>
              <a:rPr lang="en-US" sz="1400" dirty="0">
                <a:solidFill>
                  <a:srgbClr val="D4D4D4"/>
                </a:solidFill>
                <a:latin typeface="Consolas"/>
              </a:rPr>
              <a:t> | </a:t>
            </a:r>
            <a:r>
              <a:rPr lang="en-US" sz="1400" dirty="0">
                <a:solidFill>
                  <a:srgbClr val="4EC9B0"/>
                </a:solidFill>
                <a:latin typeface="Consolas"/>
              </a:rPr>
              <a:t>IfcCurtainWall</a:t>
            </a:r>
            <a:r>
              <a:rPr lang="en-US" sz="1400" dirty="0">
                <a:solidFill>
                  <a:srgbClr val="D4D4D4"/>
                </a:solidFill>
                <a:latin typeface="Consolas"/>
              </a:rPr>
              <a:t> | </a:t>
            </a:r>
            <a:r>
              <a:rPr lang="en-US" sz="1400" dirty="0">
                <a:solidFill>
                  <a:srgbClr val="4EC9B0"/>
                </a:solidFill>
                <a:latin typeface="Consolas"/>
              </a:rPr>
              <a:t>IfcRailing</a:t>
            </a:r>
            <a:r>
              <a:rPr lang="en-US" sz="1400" dirty="0">
                <a:solidFill>
                  <a:srgbClr val="D4D4D4"/>
                </a:solidFill>
                <a:latin typeface="Consolas"/>
              </a:rPr>
              <a:t> | </a:t>
            </a:r>
            <a:r>
              <a:rPr lang="en-US" sz="1400" dirty="0">
                <a:solidFill>
                  <a:srgbClr val="4EC9B0"/>
                </a:solidFill>
                <a:latin typeface="Consolas"/>
              </a:rPr>
              <a:t>IfcCovering</a:t>
            </a:r>
            <a:r>
              <a:rPr lang="en-US" sz="1400" dirty="0">
                <a:solidFill>
                  <a:srgbClr val="D4D4D4"/>
                </a:solidFill>
                <a:latin typeface="Consolas"/>
              </a:rPr>
              <a:t> | </a:t>
            </a:r>
            <a:r>
              <a:rPr lang="en-US" sz="1400" dirty="0">
                <a:solidFill>
                  <a:srgbClr val="4EC9B0"/>
                </a:solidFill>
                <a:latin typeface="Consolas"/>
              </a:rPr>
              <a:t>IfcPlate</a:t>
            </a:r>
          </a:p>
          <a:p>
            <a:pPr>
              <a:buNone/>
            </a:pPr>
            <a:r>
              <a:rPr lang="en-US" sz="1400" dirty="0">
                <a:solidFill>
                  <a:srgbClr val="D4D4D4"/>
                </a:solidFill>
                <a:latin typeface="Consolas"/>
              </a:rPr>
              <a:t>  | </a:t>
            </a:r>
            <a:r>
              <a:rPr lang="en-US" sz="1400" dirty="0">
                <a:solidFill>
                  <a:srgbClr val="4EC9B0"/>
                </a:solidFill>
                <a:latin typeface="Consolas"/>
              </a:rPr>
              <a:t>IfcPile</a:t>
            </a:r>
            <a:r>
              <a:rPr lang="en-US" sz="1400" dirty="0">
                <a:solidFill>
                  <a:srgbClr val="D4D4D4"/>
                </a:solidFill>
                <a:latin typeface="Consolas"/>
              </a:rPr>
              <a:t> | </a:t>
            </a:r>
            <a:r>
              <a:rPr lang="en-US" sz="1400" dirty="0">
                <a:solidFill>
                  <a:srgbClr val="4EC9B0"/>
                </a:solidFill>
                <a:latin typeface="Consolas"/>
              </a:rPr>
              <a:t>IfcMember</a:t>
            </a:r>
            <a:r>
              <a:rPr lang="en-US" sz="1400" dirty="0">
                <a:solidFill>
                  <a:srgbClr val="D4D4D4"/>
                </a:solidFill>
                <a:latin typeface="Consolas"/>
              </a:rPr>
              <a:t> | </a:t>
            </a:r>
            <a:r>
              <a:rPr lang="en-US" sz="1400" dirty="0">
                <a:solidFill>
                  <a:srgbClr val="4EC9B0"/>
                </a:solidFill>
                <a:latin typeface="Consolas"/>
              </a:rPr>
              <a:t>IfcChimney</a:t>
            </a:r>
            <a:r>
              <a:rPr lang="en-US" sz="1400" dirty="0">
                <a:solidFill>
                  <a:srgbClr val="D4D4D4"/>
                </a:solidFill>
                <a:latin typeface="Consolas"/>
              </a:rPr>
              <a:t> | </a:t>
            </a:r>
            <a:r>
              <a:rPr lang="en-US" sz="1400" dirty="0">
                <a:solidFill>
                  <a:srgbClr val="4EC9B0"/>
                </a:solidFill>
                <a:latin typeface="Consolas"/>
              </a:rPr>
              <a:t>IfcShadingDevice</a:t>
            </a:r>
            <a:r>
              <a:rPr lang="en-US" sz="1400" dirty="0">
                <a:solidFill>
                  <a:srgbClr val="D4D4D4"/>
                </a:solidFill>
                <a:latin typeface="Consolas"/>
              </a:rPr>
              <a:t> | </a:t>
            </a:r>
            <a:r>
              <a:rPr lang="en-US" sz="1400" dirty="0">
                <a:solidFill>
                  <a:srgbClr val="4EC9B0"/>
                </a:solidFill>
                <a:latin typeface="Consolas"/>
              </a:rPr>
              <a:t>IfcBuildingProxy</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IfcDistributionElement</a:t>
            </a:r>
            <a:r>
              <a:rPr lang="en-US" sz="1400" dirty="0">
                <a:solidFill>
                  <a:srgbClr val="D4D4D4"/>
                </a:solidFill>
                <a:latin typeface="Consolas"/>
              </a:rPr>
              <a:t> =</a:t>
            </a:r>
            <a:r>
              <a:rPr lang="en-US" sz="1400" dirty="0">
                <a:solidFill>
                  <a:srgbClr val="6A9955"/>
                </a:solidFill>
                <a:latin typeface="Consolas"/>
              </a:rPr>
              <a:t>       // union within union (MEP)</a:t>
            </a:r>
          </a:p>
          <a:p>
            <a:pPr>
              <a:buNone/>
            </a:pPr>
            <a:r>
              <a:rPr lang="en-US" sz="1400" dirty="0">
                <a:solidFill>
                  <a:srgbClr val="D4D4D4"/>
                </a:solidFill>
                <a:latin typeface="Consolas"/>
              </a:rPr>
              <a:t>  | </a:t>
            </a:r>
            <a:r>
              <a:rPr lang="en-US" sz="1400" dirty="0">
                <a:solidFill>
                  <a:srgbClr val="4EC9B0"/>
                </a:solidFill>
                <a:latin typeface="Consolas"/>
              </a:rPr>
              <a:t>IfcPipeSegment</a:t>
            </a:r>
            <a:r>
              <a:rPr lang="en-US" sz="1400" dirty="0">
                <a:solidFill>
                  <a:srgbClr val="D4D4D4"/>
                </a:solidFill>
                <a:latin typeface="Consolas"/>
              </a:rPr>
              <a:t> | </a:t>
            </a:r>
            <a:r>
              <a:rPr lang="en-US" sz="1400" dirty="0">
                <a:solidFill>
                  <a:srgbClr val="4EC9B0"/>
                </a:solidFill>
                <a:latin typeface="Consolas"/>
              </a:rPr>
              <a:t>IfcPipeFitting</a:t>
            </a:r>
            <a:r>
              <a:rPr lang="en-US" sz="1400" dirty="0">
                <a:solidFill>
                  <a:srgbClr val="D4D4D4"/>
                </a:solidFill>
                <a:latin typeface="Consolas"/>
              </a:rPr>
              <a:t> | </a:t>
            </a:r>
            <a:r>
              <a:rPr lang="en-US" sz="1400" dirty="0">
                <a:solidFill>
                  <a:srgbClr val="4EC9B0"/>
                </a:solidFill>
                <a:latin typeface="Consolas"/>
              </a:rPr>
              <a:t>IfcDuctSegment</a:t>
            </a:r>
            <a:r>
              <a:rPr lang="en-US" sz="1400" dirty="0">
                <a:solidFill>
                  <a:srgbClr val="D4D4D4"/>
                </a:solidFill>
                <a:latin typeface="Consolas"/>
              </a:rPr>
              <a:t> | </a:t>
            </a:r>
            <a:r>
              <a:rPr lang="en-US" sz="1400" dirty="0">
                <a:solidFill>
                  <a:srgbClr val="4EC9B0"/>
                </a:solidFill>
                <a:latin typeface="Consolas"/>
              </a:rPr>
              <a:t>IfcDuctFitting</a:t>
            </a:r>
          </a:p>
          <a:p>
            <a:pPr>
              <a:buNone/>
            </a:pPr>
            <a:r>
              <a:rPr lang="en-US" sz="1400" dirty="0">
                <a:solidFill>
                  <a:srgbClr val="D4D4D4"/>
                </a:solidFill>
                <a:latin typeface="Consolas"/>
              </a:rPr>
              <a:t>  | </a:t>
            </a:r>
            <a:r>
              <a:rPr lang="en-US" sz="1400" dirty="0">
                <a:solidFill>
                  <a:srgbClr val="4EC9B0"/>
                </a:solidFill>
                <a:latin typeface="Consolas"/>
              </a:rPr>
              <a:t>IfcCableSegment</a:t>
            </a:r>
            <a:r>
              <a:rPr lang="en-US" sz="1400" dirty="0">
                <a:solidFill>
                  <a:srgbClr val="D4D4D4"/>
                </a:solidFill>
                <a:latin typeface="Consolas"/>
              </a:rPr>
              <a:t> | </a:t>
            </a:r>
            <a:r>
              <a:rPr lang="en-US" sz="1400" dirty="0">
                <a:solidFill>
                  <a:srgbClr val="4EC9B0"/>
                </a:solidFill>
                <a:latin typeface="Consolas"/>
              </a:rPr>
              <a:t>IfcCableCarrier</a:t>
            </a:r>
            <a:r>
              <a:rPr lang="en-US" sz="1400" dirty="0">
                <a:solidFill>
                  <a:srgbClr val="D4D4D4"/>
                </a:solidFill>
                <a:latin typeface="Consolas"/>
              </a:rPr>
              <a:t> | </a:t>
            </a:r>
            <a:r>
              <a:rPr lang="en-US" sz="1400" dirty="0">
                <a:solidFill>
                  <a:srgbClr val="4EC9B0"/>
                </a:solidFill>
                <a:latin typeface="Consolas"/>
              </a:rPr>
              <a:t>IfcJunctionBox</a:t>
            </a:r>
            <a:r>
              <a:rPr lang="en-US" sz="1400" dirty="0">
                <a:solidFill>
                  <a:srgbClr val="D4D4D4"/>
                </a:solidFill>
                <a:latin typeface="Consolas"/>
              </a:rPr>
              <a:t> | </a:t>
            </a:r>
            <a:r>
              <a:rPr lang="en-US" sz="1400" dirty="0">
                <a:solidFill>
                  <a:srgbClr val="4EC9B0"/>
                </a:solidFill>
                <a:latin typeface="Consolas"/>
              </a:rPr>
              <a:t>IfcOutlet</a:t>
            </a:r>
            <a:r>
              <a:rPr lang="en-US" sz="1400" dirty="0">
                <a:solidFill>
                  <a:srgbClr val="D4D4D4"/>
                </a:solidFill>
                <a:latin typeface="Consolas"/>
              </a:rPr>
              <a:t> | </a:t>
            </a:r>
            <a:r>
              <a:rPr lang="en-US" sz="1400" dirty="0">
                <a:solidFill>
                  <a:srgbClr val="4EC9B0"/>
                </a:solidFill>
                <a:latin typeface="Consolas"/>
              </a:rPr>
              <a:t>IfcSwitch</a:t>
            </a:r>
          </a:p>
          <a:p>
            <a:pPr>
              <a:buNone/>
            </a:pPr>
            <a:r>
              <a:rPr lang="en-US" sz="1400" dirty="0">
                <a:solidFill>
                  <a:srgbClr val="D4D4D4"/>
                </a:solidFill>
                <a:latin typeface="Consolas"/>
              </a:rPr>
              <a:t>  | </a:t>
            </a:r>
            <a:r>
              <a:rPr lang="en-US" sz="1400" dirty="0">
                <a:solidFill>
                  <a:srgbClr val="4EC9B0"/>
                </a:solidFill>
                <a:latin typeface="Consolas"/>
              </a:rPr>
              <a:t>IfcPump</a:t>
            </a:r>
            <a:r>
              <a:rPr lang="en-US" sz="1400" dirty="0">
                <a:solidFill>
                  <a:srgbClr val="D4D4D4"/>
                </a:solidFill>
                <a:latin typeface="Consolas"/>
              </a:rPr>
              <a:t> | </a:t>
            </a:r>
            <a:r>
              <a:rPr lang="en-US" sz="1400" dirty="0">
                <a:solidFill>
                  <a:srgbClr val="4EC9B0"/>
                </a:solidFill>
                <a:latin typeface="Consolas"/>
              </a:rPr>
              <a:t>IfcFan</a:t>
            </a:r>
            <a:r>
              <a:rPr lang="en-US" sz="1400" dirty="0">
                <a:solidFill>
                  <a:srgbClr val="D4D4D4"/>
                </a:solidFill>
                <a:latin typeface="Consolas"/>
              </a:rPr>
              <a:t> | </a:t>
            </a:r>
            <a:r>
              <a:rPr lang="en-US" sz="1400" dirty="0">
                <a:solidFill>
                  <a:srgbClr val="4EC9B0"/>
                </a:solidFill>
                <a:latin typeface="Consolas"/>
              </a:rPr>
              <a:t>IfcBoiler</a:t>
            </a:r>
            <a:r>
              <a:rPr lang="en-US" sz="1400" dirty="0">
                <a:solidFill>
                  <a:srgbClr val="D4D4D4"/>
                </a:solidFill>
                <a:latin typeface="Consolas"/>
              </a:rPr>
              <a:t> | </a:t>
            </a:r>
            <a:r>
              <a:rPr lang="en-US" sz="1400" dirty="0">
                <a:solidFill>
                  <a:srgbClr val="4EC9B0"/>
                </a:solidFill>
                <a:latin typeface="Consolas"/>
              </a:rPr>
              <a:t>IfcChiller</a:t>
            </a:r>
            <a:r>
              <a:rPr lang="en-US" sz="1400" dirty="0">
                <a:solidFill>
                  <a:srgbClr val="D4D4D4"/>
                </a:solidFill>
                <a:latin typeface="Consolas"/>
              </a:rPr>
              <a:t> | </a:t>
            </a:r>
            <a:r>
              <a:rPr lang="en-US" sz="1400" dirty="0">
                <a:solidFill>
                  <a:srgbClr val="4EC9B0"/>
                </a:solidFill>
                <a:latin typeface="Consolas"/>
              </a:rPr>
              <a:t>IfcCoil</a:t>
            </a:r>
            <a:r>
              <a:rPr lang="en-US" sz="1400" dirty="0">
                <a:solidFill>
                  <a:srgbClr val="D4D4D4"/>
                </a:solidFill>
                <a:latin typeface="Consolas"/>
              </a:rPr>
              <a:t> | </a:t>
            </a:r>
            <a:r>
              <a:rPr lang="en-US" sz="1400" dirty="0">
                <a:solidFill>
                  <a:srgbClr val="4EC9B0"/>
                </a:solidFill>
                <a:latin typeface="Consolas"/>
              </a:rPr>
              <a:t>IfcCondenser</a:t>
            </a:r>
            <a:r>
              <a:rPr lang="en-US" sz="1400" dirty="0">
                <a:solidFill>
                  <a:srgbClr val="D4D4D4"/>
                </a:solidFill>
                <a:latin typeface="Consolas"/>
              </a:rPr>
              <a:t> | </a:t>
            </a:r>
            <a:r>
              <a:rPr lang="en-US" sz="1400" dirty="0">
                <a:solidFill>
                  <a:srgbClr val="4EC9B0"/>
                </a:solidFill>
                <a:latin typeface="Consolas"/>
              </a:rPr>
              <a:t>IfcCoolingTower</a:t>
            </a:r>
          </a:p>
          <a:p>
            <a:pPr>
              <a:buNone/>
            </a:pPr>
            <a:r>
              <a:rPr lang="en-US" sz="1400" dirty="0">
                <a:solidFill>
                  <a:srgbClr val="D4D4D4"/>
                </a:solidFill>
                <a:latin typeface="Consolas"/>
              </a:rPr>
              <a:t>  | </a:t>
            </a:r>
            <a:r>
              <a:rPr lang="en-US" sz="1400" dirty="0">
                <a:solidFill>
                  <a:srgbClr val="4EC9B0"/>
                </a:solidFill>
                <a:latin typeface="Consolas"/>
              </a:rPr>
              <a:t>IfcValve</a:t>
            </a:r>
            <a:r>
              <a:rPr lang="en-US" sz="1400" dirty="0">
                <a:solidFill>
                  <a:srgbClr val="D4D4D4"/>
                </a:solidFill>
                <a:latin typeface="Consolas"/>
              </a:rPr>
              <a:t> | </a:t>
            </a:r>
            <a:r>
              <a:rPr lang="en-US" sz="1400" dirty="0">
                <a:solidFill>
                  <a:srgbClr val="4EC9B0"/>
                </a:solidFill>
                <a:latin typeface="Consolas"/>
              </a:rPr>
              <a:t>IfcSensor</a:t>
            </a:r>
            <a:r>
              <a:rPr lang="en-US" sz="1400" dirty="0">
                <a:solidFill>
                  <a:srgbClr val="D4D4D4"/>
                </a:solidFill>
                <a:latin typeface="Consolas"/>
              </a:rPr>
              <a:t> | </a:t>
            </a:r>
            <a:r>
              <a:rPr lang="en-US" sz="1400" dirty="0">
                <a:solidFill>
                  <a:srgbClr val="4EC9B0"/>
                </a:solidFill>
                <a:latin typeface="Consolas"/>
              </a:rPr>
              <a:t>IfcActuator</a:t>
            </a:r>
            <a:r>
              <a:rPr lang="en-US" sz="1400" dirty="0">
                <a:solidFill>
                  <a:srgbClr val="D4D4D4"/>
                </a:solidFill>
                <a:latin typeface="Consolas"/>
              </a:rPr>
              <a:t> | </a:t>
            </a:r>
            <a:r>
              <a:rPr lang="en-US" sz="1400" dirty="0">
                <a:solidFill>
                  <a:srgbClr val="4EC9B0"/>
                </a:solidFill>
                <a:latin typeface="Consolas"/>
              </a:rPr>
              <a:t>IfcAlarm</a:t>
            </a:r>
            <a:r>
              <a:rPr lang="en-US" sz="1400" dirty="0">
                <a:solidFill>
                  <a:srgbClr val="D4D4D4"/>
                </a:solidFill>
                <a:latin typeface="Consolas"/>
              </a:rPr>
              <a:t> | </a:t>
            </a:r>
            <a:r>
              <a:rPr lang="en-US" sz="1400" dirty="0">
                <a:solidFill>
                  <a:srgbClr val="4EC9B0"/>
                </a:solidFill>
                <a:latin typeface="Consolas"/>
              </a:rPr>
              <a:t>IfcController</a:t>
            </a:r>
            <a:r>
              <a:rPr lang="en-US" sz="1400" dirty="0">
                <a:solidFill>
                  <a:srgbClr val="D4D4D4"/>
                </a:solidFill>
                <a:latin typeface="Consolas"/>
              </a:rPr>
              <a:t> | </a:t>
            </a:r>
            <a:r>
              <a:rPr lang="en-US" sz="1400" dirty="0">
                <a:solidFill>
                  <a:srgbClr val="4EC9B0"/>
                </a:solidFill>
                <a:latin typeface="Consolas"/>
              </a:rPr>
              <a:t>IfcFlowMeter</a:t>
            </a:r>
            <a:r>
              <a:rPr lang="en-US" sz="1400" dirty="0">
                <a:solidFill>
                  <a:srgbClr val="D4D4D4"/>
                </a:solidFill>
                <a:latin typeface="Consolas"/>
              </a:rPr>
              <a:t> | ...</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IfcSpatialElement</a:t>
            </a:r>
            <a:r>
              <a:rPr lang="en-US" sz="1400" dirty="0">
                <a:solidFill>
                  <a:srgbClr val="D4D4D4"/>
                </a:solidFill>
                <a:latin typeface="Consolas"/>
              </a:rPr>
              <a:t> =</a:t>
            </a:r>
            <a:r>
              <a:rPr lang="en-US" sz="1400" dirty="0">
                <a:solidFill>
                  <a:srgbClr val="6A9955"/>
                </a:solidFill>
                <a:latin typeface="Consolas"/>
              </a:rPr>
              <a:t>           // spatial hierarchy ← recursive</a:t>
            </a:r>
          </a:p>
          <a:p>
            <a:pPr>
              <a:buNone/>
            </a:pPr>
            <a:r>
              <a:rPr lang="en-US" sz="1400" dirty="0">
                <a:solidFill>
                  <a:srgbClr val="D4D4D4"/>
                </a:solidFill>
                <a:latin typeface="Consolas"/>
              </a:rPr>
              <a:t>  | </a:t>
            </a:r>
            <a:r>
              <a:rPr lang="en-US" sz="1400" dirty="0">
                <a:solidFill>
                  <a:srgbClr val="4EC9B0"/>
                </a:solidFill>
                <a:latin typeface="Consolas"/>
              </a:rPr>
              <a:t>IfcSite</a:t>
            </a:r>
            <a:r>
              <a:rPr lang="en-US" sz="1400" dirty="0">
                <a:solidFill>
                  <a:srgbClr val="D4D4D4"/>
                </a:solidFill>
                <a:latin typeface="Consolas"/>
              </a:rPr>
              <a:t> | </a:t>
            </a:r>
            <a:r>
              <a:rPr lang="en-US" sz="1400" dirty="0">
                <a:solidFill>
                  <a:srgbClr val="4EC9B0"/>
                </a:solidFill>
                <a:latin typeface="Consolas"/>
              </a:rPr>
              <a:t>IfcBuilding</a:t>
            </a:r>
            <a:r>
              <a:rPr lang="en-US" sz="1400" dirty="0">
                <a:solidFill>
                  <a:srgbClr val="D4D4D4"/>
                </a:solidFill>
                <a:latin typeface="Consolas"/>
              </a:rPr>
              <a:t> | </a:t>
            </a:r>
            <a:r>
              <a:rPr lang="en-US" sz="1400" dirty="0">
                <a:solidFill>
                  <a:srgbClr val="4EC9B0"/>
                </a:solidFill>
                <a:latin typeface="Consolas"/>
              </a:rPr>
              <a:t>IfcBuildingStorey</a:t>
            </a:r>
            <a:r>
              <a:rPr lang="en-US" sz="1400" dirty="0">
                <a:solidFill>
                  <a:srgbClr val="D4D4D4"/>
                </a:solidFill>
                <a:latin typeface="Consolas"/>
              </a:rPr>
              <a:t> | </a:t>
            </a:r>
            <a:r>
              <a:rPr lang="en-US" sz="1400" dirty="0">
                <a:solidFill>
                  <a:srgbClr val="4EC9B0"/>
                </a:solidFill>
                <a:latin typeface="Consolas"/>
              </a:rPr>
              <a:t>IfcSpace</a:t>
            </a:r>
            <a:r>
              <a:rPr lang="en-US" sz="1400" dirty="0">
                <a:solidFill>
                  <a:srgbClr val="D4D4D4"/>
                </a:solidFill>
                <a:latin typeface="Consolas"/>
              </a:rPr>
              <a:t> | </a:t>
            </a:r>
            <a:r>
              <a:rPr lang="en-US" sz="1400" dirty="0">
                <a:solidFill>
                  <a:srgbClr val="4EC9B0"/>
                </a:solidFill>
                <a:latin typeface="Consolas"/>
              </a:rPr>
              <a:t>IfcFacility</a:t>
            </a:r>
            <a:r>
              <a:rPr lang="en-US" sz="1400" dirty="0">
                <a:solidFill>
                  <a:srgbClr val="D4D4D4"/>
                </a:solidFill>
                <a:latin typeface="Consolas"/>
              </a:rPr>
              <a:t> | </a:t>
            </a:r>
            <a:r>
              <a:rPr lang="en-US" sz="1400" dirty="0">
                <a:solidFill>
                  <a:srgbClr val="4EC9B0"/>
                </a:solidFill>
                <a:latin typeface="Consolas"/>
              </a:rPr>
              <a:t>IfcBridge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IfcWall contains IfcElement[] — recursive like IJsonSchema</a:t>
            </a:r>
          </a:p>
          <a:p>
            <a:pPr>
              <a:buNone/>
            </a:pPr>
            <a:r>
              <a:rPr lang="en-US" sz="1400" dirty="0">
                <a:solidFill>
                  <a:srgbClr val="6A9955"/>
                </a:solidFill>
                <a:latin typeface="Consolas"/>
              </a:rPr>
              <a:t>// IfcDistributionElement is itself a union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FF9F43"/>
                </a:solidFill>
                <a:latin typeface="Segoe UI Semibold"/>
              </a:rPr>
              <a:t>BIM tools like Revit: collision detection for decades</a:t>
            </a:r>
          </a:p>
        </p:txBody>
      </p:sp>
    </p:spTree>
    <p:extLst>
      <p:ext uri="{BB962C8B-B14F-4D97-AF65-F5344CB8AC3E}">
        <p14:creationId xmlns:p14="http://schemas.microsoft.com/office/powerpoint/2010/main" val="28279599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rkBg">
            <a:extLst>
              <a:ext uri="{FF2B5EF4-FFF2-40B4-BE49-F238E27FC236}">
                <a16:creationId xmlns:a16="http://schemas.microsoft.com/office/drawing/2014/main" id="{B4F4345E-F019-4CF8-89AC-960DDAF46810}"/>
              </a:ext>
            </a:extLst>
          </p:cNvPr>
          <p:cNvSpPr/>
          <p:nvPr/>
        </p:nvSpPr>
        <p:spPr>
          <a:xfrm>
            <a:off x="0" y="0"/>
            <a:ext cx="12192000" cy="6858000"/>
          </a:xfrm>
          <a:prstGeom prst="rect">
            <a:avLst/>
          </a:prstGeom>
          <a:solidFill>
            <a:srgbClr val="1A1A2E"/>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
          <p:cNvSpPr/>
          <p:nvPr/>
        </p:nvSpPr>
        <p:spPr>
          <a:xfrm>
            <a:off x="762000" y="317500"/>
            <a:ext cx="10668000" cy="508000"/>
          </a:xfrm>
          <a:prstGeom prst="rect">
            <a:avLst/>
          </a:prstGeom>
          <a:noFill/>
          <a:ln w="0">
            <a:noFill/>
          </a:ln>
        </p:spPr>
        <p:txBody>
          <a:bodyPr wrap="square" lIns="72000" tIns="36000" rIns="72000" bIns="36000" anchor="t"/>
          <a:lstStyle/>
          <a:p>
            <a:pPr>
              <a:buNone/>
            </a:pPr>
            <a:r>
              <a:rPr lang="en-US" sz="2400" b="1" dirty="0">
                <a:solidFill>
                  <a:srgbClr val="F0F0F0"/>
                </a:solidFill>
                <a:latin typeface="Segoe UI Semibold"/>
              </a:rPr>
              <a:t>Control Systems — Controller Hierarchy</a:t>
            </a:r>
          </a:p>
        </p:txBody>
      </p:sp>
      <p:sp>
        <p:nvSpPr>
          <p:cNvPr id="11" name="AL"/>
          <p:cNvSpPr/>
          <p:nvPr/>
        </p:nvSpPr>
        <p:spPr>
          <a:xfrm>
            <a:off x="762000" y="863600"/>
            <a:ext cx="1524000" cy="38100"/>
          </a:xfrm>
          <a:prstGeom prst="rect">
            <a:avLst/>
          </a:prstGeom>
          <a:solidFill>
            <a:srgbClr val="00D4AA"/>
          </a:solidFill>
          <a:ln w="0">
            <a:noFill/>
          </a:ln>
        </p:spPr>
        <p:txBody>
          <a:bodyPr wrap="square" lIns="72000" tIns="36000" rIns="72000" bIns="36000" anchor="t"/>
          <a:lstStyle/>
          <a:p>
            <a:endParaRPr lang="en-US"/>
          </a:p>
        </p:txBody>
      </p:sp>
      <p:sp>
        <p:nvSpPr>
          <p:cNvPr id="12" name="Sub"/>
          <p:cNvSpPr/>
          <p:nvPr/>
        </p:nvSpPr>
        <p:spPr>
          <a:xfrm>
            <a:off x="762000" y="965200"/>
            <a:ext cx="10668000" cy="317500"/>
          </a:xfrm>
          <a:prstGeom prst="rect">
            <a:avLst/>
          </a:prstGeom>
          <a:noFill/>
          <a:ln w="0">
            <a:noFill/>
          </a:ln>
        </p:spPr>
        <p:txBody>
          <a:bodyPr wrap="square" lIns="72000" tIns="36000" rIns="72000" bIns="36000" anchor="t"/>
          <a:lstStyle/>
          <a:p>
            <a:pPr>
              <a:buNone/>
            </a:pPr>
            <a:r>
              <a:rPr lang="en-US" sz="1800" dirty="0">
                <a:solidFill>
                  <a:srgbClr val="808080"/>
                </a:solidFill>
                <a:latin typeface="Segoe UI"/>
              </a:rPr>
              <a:t>Transfer function (fast) → Stability analysis (med) → Time-domain sim (deep)</a:t>
            </a:r>
          </a:p>
        </p:txBody>
      </p:sp>
      <p:sp>
        <p:nvSpPr>
          <p:cNvPr id="13" name="CodeBg"/>
          <p:cNvSpPr/>
          <p:nvPr/>
        </p:nvSpPr>
        <p:spPr>
          <a:xfrm>
            <a:off x="508000" y="1333500"/>
            <a:ext cx="11176000" cy="4445000"/>
          </a:xfrm>
          <a:prstGeom prst="rect">
            <a:avLst/>
          </a:prstGeom>
          <a:solidFill>
            <a:srgbClr val="1E1E1E"/>
          </a:solidFill>
          <a:ln w="0">
            <a:noFill/>
          </a:ln>
        </p:spPr>
        <p:txBody>
          <a:bodyPr wrap="square" lIns="72000" tIns="36000" rIns="72000" bIns="36000" anchor="t"/>
          <a:lstStyle/>
          <a:p>
            <a:endParaRPr lang="en-US"/>
          </a:p>
        </p:txBody>
      </p:sp>
      <p:sp>
        <p:nvSpPr>
          <p:cNvPr id="14" name="Code"/>
          <p:cNvSpPr/>
          <p:nvPr/>
        </p:nvSpPr>
        <p:spPr>
          <a:xfrm>
            <a:off x="762000" y="1397000"/>
            <a:ext cx="10795000" cy="4318000"/>
          </a:xfrm>
          <a:prstGeom prst="rect">
            <a:avLst/>
          </a:prstGeom>
          <a:noFill/>
          <a:ln w="0">
            <a:noFill/>
          </a:ln>
        </p:spPr>
        <p:txBody>
          <a:bodyPr wrap="square" lIns="72000" tIns="36000" rIns="72000" bIns="36000" anchor="t"/>
          <a:lstStyle/>
          <a:p>
            <a:pPr>
              <a:buNone/>
            </a:pPr>
            <a:r>
              <a:rPr lang="en-US" sz="1400" dirty="0">
                <a:solidFill>
                  <a:srgbClr val="569CD6"/>
                </a:solidFill>
                <a:latin typeface="Consolas"/>
              </a:rPr>
              <a:t>type </a:t>
            </a:r>
            <a:r>
              <a:rPr lang="en-US" sz="1400" dirty="0">
                <a:solidFill>
                  <a:srgbClr val="4EC9B0"/>
                </a:solidFill>
                <a:latin typeface="Consolas"/>
              </a:rPr>
              <a:t>IController</a:t>
            </a:r>
            <a:r>
              <a:rPr lang="en-US" sz="1400" dirty="0">
                <a:solidFill>
                  <a:srgbClr val="D4D4D4"/>
                </a:solidFill>
                <a:latin typeface="Consolas"/>
              </a:rPr>
              <a:t> =</a:t>
            </a:r>
          </a:p>
          <a:p>
            <a:pPr>
              <a:buNone/>
            </a:pPr>
            <a:r>
              <a:rPr lang="en-US" sz="1400" dirty="0">
                <a:solidFill>
                  <a:srgbClr val="D4D4D4"/>
                </a:solidFill>
                <a:latin typeface="Consolas"/>
              </a:rPr>
              <a:t>  | </a:t>
            </a:r>
            <a:r>
              <a:rPr lang="en-US" sz="1400" dirty="0">
                <a:solidFill>
                  <a:srgbClr val="4EC9B0"/>
                </a:solidFill>
                <a:latin typeface="Consolas"/>
              </a:rPr>
              <a:t>IPID</a:t>
            </a:r>
            <a:r>
              <a:rPr lang="en-US" sz="1400" dirty="0">
                <a:solidFill>
                  <a:srgbClr val="6A9955"/>
                </a:solidFill>
                <a:latin typeface="Consolas"/>
              </a:rPr>
              <a:t>               // inner: IController  ← cascade recursion</a:t>
            </a:r>
          </a:p>
          <a:p>
            <a:pPr>
              <a:buNone/>
            </a:pPr>
            <a:r>
              <a:rPr lang="en-US" sz="1400" dirty="0">
                <a:solidFill>
                  <a:srgbClr val="D4D4D4"/>
                </a:solidFill>
                <a:latin typeface="Consolas"/>
              </a:rPr>
              <a:t>  | </a:t>
            </a:r>
            <a:r>
              <a:rPr lang="en-US" sz="1400" dirty="0">
                <a:solidFill>
                  <a:srgbClr val="4EC9B0"/>
                </a:solidFill>
                <a:latin typeface="Consolas"/>
              </a:rPr>
              <a:t>IMPC</a:t>
            </a:r>
            <a:r>
              <a:rPr lang="en-US" sz="1400" dirty="0">
                <a:solidFill>
                  <a:srgbClr val="6A9955"/>
                </a:solidFill>
                <a:latin typeface="Consolas"/>
              </a:rPr>
              <a:t>               // constraints: IConstraint[]  ← another union</a:t>
            </a:r>
          </a:p>
          <a:p>
            <a:pPr>
              <a:buNone/>
            </a:pPr>
            <a:r>
              <a:rPr lang="en-US" sz="1400" dirty="0">
                <a:solidFill>
                  <a:srgbClr val="D4D4D4"/>
                </a:solidFill>
                <a:latin typeface="Consolas"/>
              </a:rPr>
              <a:t>  | </a:t>
            </a:r>
            <a:r>
              <a:rPr lang="en-US" sz="1400" dirty="0">
                <a:solidFill>
                  <a:srgbClr val="4EC9B0"/>
                </a:solidFill>
                <a:latin typeface="Consolas"/>
              </a:rPr>
              <a:t>ILQR</a:t>
            </a:r>
            <a:r>
              <a:rPr lang="en-US" sz="1400" dirty="0">
                <a:solidFill>
                  <a:srgbClr val="D4D4D4"/>
                </a:solidFill>
                <a:latin typeface="Consolas"/>
              </a:rPr>
              <a:t> | </a:t>
            </a:r>
            <a:r>
              <a:rPr lang="en-US" sz="1400" dirty="0">
                <a:solidFill>
                  <a:srgbClr val="4EC9B0"/>
                </a:solidFill>
                <a:latin typeface="Consolas"/>
              </a:rPr>
              <a:t>ILQG</a:t>
            </a:r>
            <a:r>
              <a:rPr lang="en-US" sz="1400" dirty="0">
                <a:solidFill>
                  <a:srgbClr val="D4D4D4"/>
                </a:solidFill>
                <a:latin typeface="Consolas"/>
              </a:rPr>
              <a:t> | </a:t>
            </a:r>
            <a:r>
              <a:rPr lang="en-US" sz="1400" dirty="0">
                <a:solidFill>
                  <a:srgbClr val="4EC9B0"/>
                </a:solidFill>
                <a:latin typeface="Consolas"/>
              </a:rPr>
              <a:t>IHinf</a:t>
            </a:r>
            <a:r>
              <a:rPr lang="en-US" sz="1400" dirty="0">
                <a:solidFill>
                  <a:srgbClr val="D4D4D4"/>
                </a:solidFill>
                <a:latin typeface="Consolas"/>
              </a:rPr>
              <a:t> | </a:t>
            </a:r>
            <a:r>
              <a:rPr lang="en-US" sz="1400" dirty="0">
                <a:solidFill>
                  <a:srgbClr val="4EC9B0"/>
                </a:solidFill>
                <a:latin typeface="Consolas"/>
              </a:rPr>
              <a:t>IFeedforward</a:t>
            </a:r>
            <a:r>
              <a:rPr lang="en-US" sz="1400" dirty="0">
                <a:solidFill>
                  <a:srgbClr val="D4D4D4"/>
                </a:solidFill>
                <a:latin typeface="Consolas"/>
              </a:rPr>
              <a:t> | </a:t>
            </a:r>
            <a:r>
              <a:rPr lang="en-US" sz="1400" dirty="0">
                <a:solidFill>
                  <a:srgbClr val="4EC9B0"/>
                </a:solidFill>
                <a:latin typeface="Consolas"/>
              </a:rPr>
              <a:t>ICascade</a:t>
            </a:r>
            <a:r>
              <a:rPr lang="en-US" sz="1400" dirty="0">
                <a:solidFill>
                  <a:srgbClr val="D4D4D4"/>
                </a:solidFill>
                <a:latin typeface="Consolas"/>
              </a:rPr>
              <a:t> | </a:t>
            </a:r>
            <a:r>
              <a:rPr lang="en-US" sz="1400" dirty="0">
                <a:solidFill>
                  <a:srgbClr val="4EC9B0"/>
                </a:solidFill>
                <a:latin typeface="Consolas"/>
              </a:rPr>
              <a:t>IAdaptive</a:t>
            </a:r>
          </a:p>
          <a:p>
            <a:pPr>
              <a:buNone/>
            </a:pPr>
            <a:r>
              <a:rPr lang="en-US" sz="1400" dirty="0">
                <a:solidFill>
                  <a:srgbClr val="D4D4D4"/>
                </a:solidFill>
                <a:latin typeface="Consolas"/>
              </a:rPr>
              <a:t>  | </a:t>
            </a:r>
            <a:r>
              <a:rPr lang="en-US" sz="1400" dirty="0">
                <a:solidFill>
                  <a:srgbClr val="4EC9B0"/>
                </a:solidFill>
                <a:latin typeface="Consolas"/>
              </a:rPr>
              <a:t>IFuzzy</a:t>
            </a:r>
            <a:r>
              <a:rPr lang="en-US" sz="1400" dirty="0">
                <a:solidFill>
                  <a:srgbClr val="D4D4D4"/>
                </a:solidFill>
                <a:latin typeface="Consolas"/>
              </a:rPr>
              <a:t> | </a:t>
            </a:r>
            <a:r>
              <a:rPr lang="en-US" sz="1400" dirty="0">
                <a:solidFill>
                  <a:srgbClr val="4EC9B0"/>
                </a:solidFill>
                <a:latin typeface="Consolas"/>
              </a:rPr>
              <a:t>ISlidingMode</a:t>
            </a:r>
            <a:r>
              <a:rPr lang="en-US" sz="1400" dirty="0">
                <a:solidFill>
                  <a:srgbClr val="D4D4D4"/>
                </a:solidFill>
                <a:latin typeface="Consolas"/>
              </a:rPr>
              <a:t> | </a:t>
            </a:r>
            <a:r>
              <a:rPr lang="en-US" sz="1400" dirty="0">
                <a:solidFill>
                  <a:srgbClr val="4EC9B0"/>
                </a:solidFill>
                <a:latin typeface="Consolas"/>
              </a:rPr>
              <a:t>IBackstepping</a:t>
            </a:r>
            <a:r>
              <a:rPr lang="en-US" sz="1400" dirty="0">
                <a:solidFill>
                  <a:srgbClr val="D4D4D4"/>
                </a:solidFill>
                <a:latin typeface="Consolas"/>
              </a:rPr>
              <a:t> | </a:t>
            </a:r>
            <a:r>
              <a:rPr lang="en-US" sz="1400" dirty="0">
                <a:solidFill>
                  <a:srgbClr val="4EC9B0"/>
                </a:solidFill>
                <a:latin typeface="Consolas"/>
              </a:rPr>
              <a:t>IRobust</a:t>
            </a:r>
            <a:r>
              <a:rPr lang="en-US" sz="1400" dirty="0">
                <a:solidFill>
                  <a:srgbClr val="D4D4D4"/>
                </a:solidFill>
                <a:latin typeface="Consolas"/>
              </a:rPr>
              <a:t> | </a:t>
            </a:r>
            <a:r>
              <a:rPr lang="en-US" sz="1400" dirty="0">
                <a:solidFill>
                  <a:srgbClr val="4EC9B0"/>
                </a:solidFill>
                <a:latin typeface="Consolas"/>
              </a:rPr>
              <a:t>IGainScheduled</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IConstraint</a:t>
            </a:r>
            <a:r>
              <a:rPr lang="en-US" sz="1400" dirty="0">
                <a:solidFill>
                  <a:srgbClr val="D4D4D4"/>
                </a:solidFill>
                <a:latin typeface="Consolas"/>
              </a:rPr>
              <a:t> =</a:t>
            </a:r>
            <a:r>
              <a:rPr lang="en-US" sz="1400" dirty="0">
                <a:solidFill>
                  <a:srgbClr val="6A9955"/>
                </a:solidFill>
                <a:latin typeface="Consolas"/>
              </a:rPr>
              <a:t>                        // union within union</a:t>
            </a:r>
          </a:p>
          <a:p>
            <a:pPr>
              <a:buNone/>
            </a:pPr>
            <a:r>
              <a:rPr lang="en-US" sz="1400" dirty="0">
                <a:solidFill>
                  <a:srgbClr val="D4D4D4"/>
                </a:solidFill>
                <a:latin typeface="Consolas"/>
              </a:rPr>
              <a:t>  | </a:t>
            </a:r>
            <a:r>
              <a:rPr lang="en-US" sz="1400" dirty="0">
                <a:solidFill>
                  <a:srgbClr val="4EC9B0"/>
                </a:solidFill>
                <a:latin typeface="Consolas"/>
              </a:rPr>
              <a:t>IRangeConstraint</a:t>
            </a:r>
            <a:r>
              <a:rPr lang="en-US" sz="1400" dirty="0">
                <a:solidFill>
                  <a:srgbClr val="D4D4D4"/>
                </a:solidFill>
                <a:latin typeface="Consolas"/>
              </a:rPr>
              <a:t> | </a:t>
            </a:r>
            <a:r>
              <a:rPr lang="en-US" sz="1400" dirty="0">
                <a:solidFill>
                  <a:srgbClr val="4EC9B0"/>
                </a:solidFill>
                <a:latin typeface="Consolas"/>
              </a:rPr>
              <a:t>IRateConstraint</a:t>
            </a:r>
            <a:r>
              <a:rPr lang="en-US" sz="1400" dirty="0">
                <a:solidFill>
                  <a:srgbClr val="D4D4D4"/>
                </a:solidFill>
                <a:latin typeface="Consolas"/>
              </a:rPr>
              <a:t> | </a:t>
            </a:r>
            <a:r>
              <a:rPr lang="en-US" sz="1400" dirty="0">
                <a:solidFill>
                  <a:srgbClr val="4EC9B0"/>
                </a:solidFill>
                <a:latin typeface="Consolas"/>
              </a:rPr>
              <a:t>IStabilityConstraint</a:t>
            </a:r>
            <a:r>
              <a:rPr lang="en-US" sz="1400" dirty="0">
                <a:solidFill>
                  <a:srgbClr val="D4D4D4"/>
                </a:solidFill>
                <a:latin typeface="Consolas"/>
              </a:rPr>
              <a:t> | </a:t>
            </a:r>
            <a:r>
              <a:rPr lang="en-US" sz="1400" dirty="0">
                <a:solidFill>
                  <a:srgbClr val="4EC9B0"/>
                </a:solidFill>
                <a:latin typeface="Consolas"/>
              </a:rPr>
              <a:t>ISafetyConstraint</a:t>
            </a:r>
          </a:p>
          <a:p>
            <a:pPr>
              <a:buNone/>
            </a:pPr>
            <a:r>
              <a:rPr lang="en-US" sz="1400" dirty="0">
                <a:solidFill>
                  <a:srgbClr val="D4D4D4"/>
                </a:solidFill>
                <a:latin typeface="Consolas"/>
              </a:rPr>
              <a:t>  | </a:t>
            </a:r>
            <a:r>
              <a:rPr lang="en-US" sz="1400" dirty="0">
                <a:solidFill>
                  <a:srgbClr val="4EC9B0"/>
                </a:solidFill>
                <a:latin typeface="Consolas"/>
              </a:rPr>
              <a:t>IBandwidthConstraint</a:t>
            </a:r>
            <a:r>
              <a:rPr lang="en-US" sz="1400" dirty="0">
                <a:solidFill>
                  <a:srgbClr val="D4D4D4"/>
                </a:solidFill>
                <a:latin typeface="Consolas"/>
              </a:rPr>
              <a:t> | </a:t>
            </a:r>
            <a:r>
              <a:rPr lang="en-US" sz="1400" dirty="0">
                <a:solidFill>
                  <a:srgbClr val="4EC9B0"/>
                </a:solidFill>
                <a:latin typeface="Consolas"/>
              </a:rPr>
              <a:t>IRobustnessConstraint</a:t>
            </a:r>
            <a:r>
              <a:rPr lang="en-US" sz="1400" dirty="0">
                <a:solidFill>
                  <a:srgbClr val="D4D4D4"/>
                </a:solidFill>
                <a:latin typeface="Consolas"/>
              </a:rPr>
              <a:t> | </a:t>
            </a:r>
            <a:r>
              <a:rPr lang="en-US" sz="1400" dirty="0">
                <a:solidFill>
                  <a:srgbClr val="4EC9B0"/>
                </a:solidFill>
                <a:latin typeface="Consolas"/>
              </a:rPr>
              <a:t>IEnergyConstraint</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IPlantModel</a:t>
            </a:r>
            <a:r>
              <a:rPr lang="en-US" sz="1400" dirty="0">
                <a:solidFill>
                  <a:srgbClr val="D4D4D4"/>
                </a:solidFill>
                <a:latin typeface="Consolas"/>
              </a:rPr>
              <a:t> =</a:t>
            </a:r>
            <a:r>
              <a:rPr lang="en-US" sz="1400" dirty="0">
                <a:solidFill>
                  <a:srgbClr val="6A9955"/>
                </a:solidFill>
                <a:latin typeface="Consolas"/>
              </a:rPr>
              <a:t>                        // subsystems: IPlantModel[]  ← recursive</a:t>
            </a:r>
          </a:p>
          <a:p>
            <a:pPr>
              <a:buNone/>
            </a:pPr>
            <a:r>
              <a:rPr lang="en-US" sz="1400" dirty="0">
                <a:solidFill>
                  <a:srgbClr val="D4D4D4"/>
                </a:solidFill>
                <a:latin typeface="Consolas"/>
              </a:rPr>
              <a:t>  | </a:t>
            </a:r>
            <a:r>
              <a:rPr lang="en-US" sz="1400" dirty="0">
                <a:solidFill>
                  <a:srgbClr val="4EC9B0"/>
                </a:solidFill>
                <a:latin typeface="Consolas"/>
              </a:rPr>
              <a:t>ILinearPlant</a:t>
            </a:r>
            <a:r>
              <a:rPr lang="en-US" sz="1400" dirty="0">
                <a:solidFill>
                  <a:srgbClr val="D4D4D4"/>
                </a:solidFill>
                <a:latin typeface="Consolas"/>
              </a:rPr>
              <a:t> | </a:t>
            </a:r>
            <a:r>
              <a:rPr lang="en-US" sz="1400" dirty="0">
                <a:solidFill>
                  <a:srgbClr val="4EC9B0"/>
                </a:solidFill>
                <a:latin typeface="Consolas"/>
              </a:rPr>
              <a:t>INonlinearPlant</a:t>
            </a:r>
            <a:r>
              <a:rPr lang="en-US" sz="1400" dirty="0">
                <a:solidFill>
                  <a:srgbClr val="D4D4D4"/>
                </a:solidFill>
                <a:latin typeface="Consolas"/>
              </a:rPr>
              <a:t> | </a:t>
            </a:r>
            <a:r>
              <a:rPr lang="en-US" sz="1400" dirty="0">
                <a:solidFill>
                  <a:srgbClr val="4EC9B0"/>
                </a:solidFill>
                <a:latin typeface="Consolas"/>
              </a:rPr>
              <a:t>IDelayPlant</a:t>
            </a:r>
            <a:r>
              <a:rPr lang="en-US" sz="1400" dirty="0">
                <a:solidFill>
                  <a:srgbClr val="D4D4D4"/>
                </a:solidFill>
                <a:latin typeface="Consolas"/>
              </a:rPr>
              <a:t> | </a:t>
            </a:r>
            <a:r>
              <a:rPr lang="en-US" sz="1400" dirty="0">
                <a:solidFill>
                  <a:srgbClr val="4EC9B0"/>
                </a:solidFill>
                <a:latin typeface="Consolas"/>
              </a:rPr>
              <a:t>IHybridPlant</a:t>
            </a:r>
            <a:r>
              <a:rPr lang="en-US" sz="1400" dirty="0">
                <a:solidFill>
                  <a:srgbClr val="D4D4D4"/>
                </a:solidFill>
                <a:latin typeface="Consolas"/>
              </a:rPr>
              <a:t> | </a:t>
            </a:r>
            <a:r>
              <a:rPr lang="en-US" sz="1400" dirty="0">
                <a:solidFill>
                  <a:srgbClr val="4EC9B0"/>
                </a:solidFill>
                <a:latin typeface="Consolas"/>
              </a:rPr>
              <a:t>ISwitchedPlant</a:t>
            </a:r>
          </a:p>
          <a:p>
            <a:pPr>
              <a:buNone/>
            </a:pPr>
            <a:r>
              <a:rPr lang="en-US" sz="1400" dirty="0">
                <a:solidFill>
                  <a:srgbClr val="D4D4D4"/>
                </a:solidFill>
                <a:latin typeface="Consolas"/>
              </a:rPr>
              <a:t>  | </a:t>
            </a:r>
            <a:r>
              <a:rPr lang="en-US" sz="1400" dirty="0">
                <a:solidFill>
                  <a:srgbClr val="4EC9B0"/>
                </a:solidFill>
                <a:latin typeface="Consolas"/>
              </a:rPr>
              <a:t>IStateSpace</a:t>
            </a:r>
            <a:r>
              <a:rPr lang="en-US" sz="1400" dirty="0">
                <a:solidFill>
                  <a:srgbClr val="D4D4D4"/>
                </a:solidFill>
                <a:latin typeface="Consolas"/>
              </a:rPr>
              <a:t> | </a:t>
            </a:r>
            <a:r>
              <a:rPr lang="en-US" sz="1400" dirty="0">
                <a:solidFill>
                  <a:srgbClr val="4EC9B0"/>
                </a:solidFill>
                <a:latin typeface="Consolas"/>
              </a:rPr>
              <a:t>ITransferFunction</a:t>
            </a:r>
            <a:r>
              <a:rPr lang="en-US" sz="1400" dirty="0">
                <a:solidFill>
                  <a:srgbClr val="D4D4D4"/>
                </a:solidFill>
                <a:latin typeface="Consolas"/>
              </a:rPr>
              <a:t> | </a:t>
            </a:r>
            <a:r>
              <a:rPr lang="en-US" sz="1400" dirty="0">
                <a:solidFill>
                  <a:srgbClr val="4EC9B0"/>
                </a:solidFill>
                <a:latin typeface="Consolas"/>
              </a:rPr>
              <a:t>IZeroPoleGain</a:t>
            </a:r>
            <a:r>
              <a:rPr lang="en-US" sz="1400" dirty="0">
                <a:solidFill>
                  <a:srgbClr val="D4D4D4"/>
                </a:solidFill>
                <a:latin typeface="Consolas"/>
              </a:rPr>
              <a:t> | </a:t>
            </a:r>
            <a:r>
              <a:rPr lang="en-US" sz="1400" dirty="0">
                <a:solidFill>
                  <a:srgbClr val="4EC9B0"/>
                </a:solidFill>
                <a:latin typeface="Consolas"/>
              </a:rPr>
              <a:t>IFreqResponse</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569CD6"/>
                </a:solidFill>
                <a:latin typeface="Consolas"/>
              </a:rPr>
              <a:t>type </a:t>
            </a:r>
            <a:r>
              <a:rPr lang="en-US" sz="1400" dirty="0">
                <a:solidFill>
                  <a:srgbClr val="4EC9B0"/>
                </a:solidFill>
                <a:latin typeface="Consolas"/>
              </a:rPr>
              <a:t>IEstimator</a:t>
            </a:r>
            <a:r>
              <a:rPr lang="en-US" sz="1400" dirty="0">
                <a:solidFill>
                  <a:srgbClr val="D4D4D4"/>
                </a:solidFill>
                <a:latin typeface="Consolas"/>
              </a:rPr>
              <a:t> = </a:t>
            </a:r>
            <a:r>
              <a:rPr lang="en-US" sz="1400" dirty="0">
                <a:solidFill>
                  <a:srgbClr val="4EC9B0"/>
                </a:solidFill>
                <a:latin typeface="Consolas"/>
              </a:rPr>
              <a:t>IKalmanFilter</a:t>
            </a:r>
            <a:r>
              <a:rPr lang="en-US" sz="1400" dirty="0">
                <a:solidFill>
                  <a:srgbClr val="D4D4D4"/>
                </a:solidFill>
                <a:latin typeface="Consolas"/>
              </a:rPr>
              <a:t> | </a:t>
            </a:r>
            <a:r>
              <a:rPr lang="en-US" sz="1400" dirty="0">
                <a:solidFill>
                  <a:srgbClr val="4EC9B0"/>
                </a:solidFill>
                <a:latin typeface="Consolas"/>
              </a:rPr>
              <a:t>IEKF</a:t>
            </a:r>
            <a:r>
              <a:rPr lang="en-US" sz="1400" dirty="0">
                <a:solidFill>
                  <a:srgbClr val="D4D4D4"/>
                </a:solidFill>
                <a:latin typeface="Consolas"/>
              </a:rPr>
              <a:t> | </a:t>
            </a:r>
            <a:r>
              <a:rPr lang="en-US" sz="1400" dirty="0">
                <a:solidFill>
                  <a:srgbClr val="4EC9B0"/>
                </a:solidFill>
                <a:latin typeface="Consolas"/>
              </a:rPr>
              <a:t>IUKF</a:t>
            </a:r>
            <a:r>
              <a:rPr lang="en-US" sz="1400" dirty="0">
                <a:solidFill>
                  <a:srgbClr val="D4D4D4"/>
                </a:solidFill>
                <a:latin typeface="Consolas"/>
              </a:rPr>
              <a:t> | </a:t>
            </a:r>
            <a:r>
              <a:rPr lang="en-US" sz="1400" dirty="0">
                <a:solidFill>
                  <a:srgbClr val="4EC9B0"/>
                </a:solidFill>
                <a:latin typeface="Consolas"/>
              </a:rPr>
              <a:t>IParticleFilter</a:t>
            </a:r>
            <a:r>
              <a:rPr lang="en-US" sz="1400" dirty="0">
                <a:solidFill>
                  <a:srgbClr val="D4D4D4"/>
                </a:solidFill>
                <a:latin typeface="Consolas"/>
              </a:rPr>
              <a:t> | </a:t>
            </a:r>
            <a:r>
              <a:rPr lang="en-US" sz="1400" dirty="0">
                <a:solidFill>
                  <a:srgbClr val="4EC9B0"/>
                </a:solidFill>
                <a:latin typeface="Consolas"/>
              </a:rPr>
              <a:t>ILuenberger</a:t>
            </a:r>
            <a:r>
              <a:rPr lang="en-US" sz="1400" dirty="0">
                <a:solidFill>
                  <a:srgbClr val="D4D4D4"/>
                </a:solidFill>
                <a:latin typeface="Consolas"/>
              </a:rPr>
              <a:t>;</a:t>
            </a:r>
          </a:p>
          <a:p>
            <a:pPr>
              <a:buNone/>
            </a:pPr>
            <a:endParaRPr lang="en-US" sz="1400" dirty="0">
              <a:latin typeface="Consolas"/>
            </a:endParaRPr>
          </a:p>
          <a:p>
            <a:pPr>
              <a:buNone/>
            </a:pPr>
            <a:r>
              <a:rPr lang="en-US" sz="1400" dirty="0">
                <a:solidFill>
                  <a:srgbClr val="6A9955"/>
                </a:solidFill>
                <a:latin typeface="Consolas"/>
              </a:rPr>
              <a:t>// ICascade.inner: IController — recursive like IJsonSchema</a:t>
            </a:r>
          </a:p>
          <a:p>
            <a:pPr>
              <a:buNone/>
            </a:pPr>
            <a:r>
              <a:rPr lang="en-US" sz="1400" dirty="0">
                <a:solidFill>
                  <a:srgbClr val="6A9955"/>
                </a:solidFill>
                <a:latin typeface="Consolas"/>
              </a:rPr>
              <a:t>// IMPC.constraints: IConstraint[] — union within union</a:t>
            </a:r>
          </a:p>
        </p:txBody>
      </p:sp>
      <p:sp>
        <p:nvSpPr>
          <p:cNvPr id="15" name="Badge"/>
          <p:cNvSpPr/>
          <p:nvPr/>
        </p:nvSpPr>
        <p:spPr>
          <a:xfrm>
            <a:off x="1270000" y="5943600"/>
            <a:ext cx="9652000" cy="457200"/>
          </a:xfrm>
          <a:prstGeom prst="rect">
            <a:avLst/>
          </a:prstGeom>
          <a:noFill/>
          <a:ln w="0">
            <a:noFill/>
          </a:ln>
        </p:spPr>
        <p:txBody>
          <a:bodyPr wrap="square" lIns="36000" tIns="18000" rIns="36000" bIns="18000" anchor="ctr"/>
          <a:lstStyle/>
          <a:p>
            <a:pPr algn="ctr">
              <a:buNone/>
            </a:pPr>
            <a:r>
              <a:rPr lang="en-US" sz="1800" b="1" dirty="0">
                <a:solidFill>
                  <a:srgbClr val="A855F7"/>
                </a:solidFill>
                <a:latin typeface="Segoe UI Semibold"/>
              </a:rPr>
              <a:t>60+ years of Bode, Nyquist, and pole-placement analysis tools</a:t>
            </a:r>
          </a:p>
        </p:txBody>
      </p:sp>
    </p:spTree>
    <p:extLst>
      <p:ext uri="{BB962C8B-B14F-4D97-AF65-F5344CB8AC3E}">
        <p14:creationId xmlns:p14="http://schemas.microsoft.com/office/powerpoint/2010/main" val="36344959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p:txBody>
          <a:bodyPr/>
          <a:lstStyle/>
          <a:p>
            <a:r>
              <a:rPr lang="en-US" dirty="0"/>
              <a:t>Qwen Series</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p:txBody>
          <a:bodyPr/>
          <a:lstStyle/>
          <a:p>
            <a:r>
              <a:rPr lang="en-US" dirty="0"/>
              <a:t>Small Models and QA Engineering</a:t>
            </a:r>
          </a:p>
          <a:p>
            <a:r>
              <a:rPr lang="en-US" dirty="0"/>
              <a:t>Why Open Weights Changed Everything</a:t>
            </a:r>
          </a:p>
        </p:txBody>
      </p:sp>
    </p:spTree>
    <p:extLst>
      <p:ext uri="{BB962C8B-B14F-4D97-AF65-F5344CB8AC3E}">
        <p14:creationId xmlns:p14="http://schemas.microsoft.com/office/powerpoint/2010/main" val="33213025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5.1. Small/Medium Models Excel</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AutoBe's only criterion: how accurately a model fills complex JSON Schemas</a:t>
            </a:r>
          </a:p>
          <a:p>
            <a:endParaRPr lang="en-US" dirty="0"/>
          </a:p>
          <a:p>
            <a:r>
              <a:rPr lang="en-US" dirty="0"/>
              <a:t>GLM, Kimi — strong FC at large scale</a:t>
            </a:r>
          </a:p>
          <a:p>
            <a:r>
              <a:rPr lang="en-US" dirty="0"/>
              <a:t>At small/medium scale, Qwen was the only one</a:t>
            </a:r>
          </a:p>
          <a:p>
            <a:endParaRPr lang="en-US" dirty="0"/>
          </a:p>
          <a:p>
            <a:r>
              <a:rPr lang="en-US" dirty="0"/>
              <a:t>Even 3B active params supports tool choice</a:t>
            </a:r>
          </a:p>
          <a:p>
            <a:pPr lvl="1"/>
            <a:r>
              <a:rPr lang="en-US" dirty="0"/>
              <a:t>Handles 10+ variant recursive unions at 35B class</a:t>
            </a:r>
          </a:p>
        </p:txBody>
      </p:sp>
    </p:spTree>
    <p:extLst>
      <p:ext uri="{BB962C8B-B14F-4D97-AF65-F5344CB8AC3E}">
        <p14:creationId xmlns:p14="http://schemas.microsoft.com/office/powerpoint/2010/main" val="31576916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5.2. R&amp;D Cost: Users vs Developers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For users: even the most expensive model is cheaper than hiring a backend developer</a:t>
            </a:r>
          </a:p>
          <a:p>
            <a:endParaRPr lang="en-US" dirty="0"/>
          </a:p>
          <a:p>
            <a:r>
              <a:rPr lang="en-US" dirty="0"/>
              <a:t>For developers: thousands of generate-compile-feedback cycles per feature</a:t>
            </a:r>
          </a:p>
          <a:p>
            <a:pPr lvl="1"/>
            <a:r>
              <a:rPr lang="en-US" dirty="0"/>
              <a:t>Commercial models at this scale = financial ruin</a:t>
            </a:r>
          </a:p>
          <a:p>
            <a:endParaRPr lang="en-US" dirty="0"/>
          </a:p>
          <a:p>
            <a:r>
              <a:rPr lang="en-US" dirty="0"/>
              <a:t>Local models make R&amp;D cycles possible</a:t>
            </a:r>
          </a:p>
          <a:p>
            <a:pPr lvl="1"/>
            <a:r>
              <a:rPr lang="en-US" dirty="0"/>
              <a:t>Experiment without limits, without cost</a:t>
            </a:r>
          </a:p>
          <a:p>
            <a:pPr lvl="1"/>
            <a:r>
              <a:rPr lang="en-US" dirty="0"/>
              <a:t>6.75% → 100% required hundreds of cycles — only possible with local models</a:t>
            </a:r>
          </a:p>
        </p:txBody>
      </p:sp>
    </p:spTree>
    <p:extLst>
      <p:ext uri="{BB962C8B-B14F-4D97-AF65-F5344CB8AC3E}">
        <p14:creationId xmlns:p14="http://schemas.microsoft.com/office/powerpoint/2010/main" val="9927551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5.3. Small Models = Best QA Engineers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Large models' advantage = their blind spot</a:t>
            </a:r>
          </a:p>
          <a:p>
            <a:pPr lvl="1"/>
            <a:r>
              <a:rPr lang="en-US" dirty="0"/>
              <a:t>"Correctly guess" ambiguous schemas — our mistakes stay hidden</a:t>
            </a:r>
          </a:p>
          <a:p>
            <a:endParaRPr lang="en-US" dirty="0"/>
          </a:p>
          <a:p>
            <a:r>
              <a:rPr lang="en-US" dirty="0"/>
              <a:t>Small model results:</a:t>
            </a:r>
          </a:p>
          <a:p>
            <a:pPr lvl="1"/>
            <a:r>
              <a:rPr lang="en-US" dirty="0"/>
              <a:t>qwen3-30b-a3b (3B active): ~10% — found fundamental schema ambiguities</a:t>
            </a:r>
          </a:p>
          <a:p>
            <a:pPr lvl="1"/>
            <a:r>
              <a:rPr lang="en-US" dirty="0"/>
              <a:t>qwen3-next-80b-a3b (3B active): ~20% — found subtle type mismatches</a:t>
            </a:r>
          </a:p>
          <a:p>
            <a:endParaRPr lang="en-US" dirty="0"/>
          </a:p>
          <a:p>
            <a:r>
              <a:rPr lang="en-US" dirty="0"/>
              <a:t>10% success = most valuable result</a:t>
            </a:r>
          </a:p>
          <a:p>
            <a:pPr lvl="1"/>
            <a:r>
              <a:rPr lang="en-US" dirty="0"/>
              <a:t>Every failure → system vulnerability → fix for ALL models</a:t>
            </a:r>
          </a:p>
        </p:txBody>
      </p:sp>
    </p:spTree>
    <p:extLst>
      <p:ext uri="{BB962C8B-B14F-4D97-AF65-F5344CB8AC3E}">
        <p14:creationId xmlns:p14="http://schemas.microsoft.com/office/powerpoint/2010/main" val="16231466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5.4. No Vendor Lock-In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Commercial API risks:</a:t>
            </a:r>
          </a:p>
          <a:p>
            <a:pPr lvl="1"/>
            <a:r>
              <a:rPr lang="en-US" dirty="0"/>
              <a:t>Pricing changes at vendor's discretion</a:t>
            </a:r>
          </a:p>
          <a:p>
            <a:pPr lvl="1"/>
            <a:r>
              <a:rPr lang="en-US" dirty="0"/>
              <a:t>Model deprecations — today's model could disappear tomorrow</a:t>
            </a:r>
          </a:p>
          <a:p>
            <a:pPr lvl="1"/>
            <a:r>
              <a:rPr lang="en-US" dirty="0"/>
              <a:t>Request limits</a:t>
            </a:r>
          </a:p>
          <a:p>
            <a:endParaRPr lang="en-US" dirty="0"/>
          </a:p>
          <a:p>
            <a:r>
              <a:rPr lang="en-US" dirty="0"/>
              <a:t>AutoBe's function calling schemas are model-neutral</a:t>
            </a:r>
          </a:p>
          <a:p>
            <a:pPr lvl="1"/>
            <a:r>
              <a:rPr lang="en-US" dirty="0"/>
              <a:t>No model-specific prompt tricks</a:t>
            </a:r>
          </a:p>
          <a:p>
            <a:pPr lvl="1"/>
            <a:r>
              <a:rPr lang="en-US" dirty="0"/>
              <a:t>JSON Schema + type-based validation = industry standards</a:t>
            </a:r>
          </a:p>
          <a:p>
            <a:pPr lvl="1"/>
            <a:r>
              <a:rPr lang="en-US" dirty="0"/>
              <a:t>System unchanged even when models change</a:t>
            </a:r>
          </a:p>
        </p:txBody>
      </p:sp>
    </p:spTree>
    <p:extLst>
      <p:ext uri="{BB962C8B-B14F-4D97-AF65-F5344CB8AC3E}">
        <p14:creationId xmlns:p14="http://schemas.microsoft.com/office/powerpoint/2010/main" val="4358926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5.5. Open Source + Open Weights: Virtuous Cycle</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AutoBe = open source</a:t>
            </a:r>
          </a:p>
          <a:p>
            <a:r>
              <a:rPr lang="en-US" dirty="0"/>
              <a:t>Qwen = open weight</a:t>
            </a:r>
          </a:p>
          <a:p>
            <a:endParaRPr lang="en-US" dirty="0"/>
          </a:p>
          <a:p>
            <a:r>
              <a:rPr lang="en-US" dirty="0"/>
              <a:t>The virtuous cycle:</a:t>
            </a:r>
          </a:p>
          <a:p>
            <a:pPr lvl="1"/>
            <a:r>
              <a:rPr lang="en-US" dirty="0"/>
              <a:t>AutoBe strengthens its system using Qwen</a:t>
            </a:r>
          </a:p>
          <a:p>
            <a:pPr lvl="1"/>
            <a:r>
              <a:rPr lang="en-US" dirty="0"/>
              <a:t>Strengthened system proves Qwen's production viability</a:t>
            </a:r>
          </a:p>
          <a:p>
            <a:pPr lvl="1"/>
            <a:r>
              <a:rPr lang="en-US" dirty="0"/>
              <a:t>Qwen's improvements raise AutoBe's performance</a:t>
            </a:r>
          </a:p>
          <a:p>
            <a:pPr lvl="1"/>
            <a:r>
              <a:rPr lang="en-US" dirty="0"/>
              <a:t>AutoBe's discoveries (e.g., double-stringify) can contribute to Qwen</a:t>
            </a:r>
          </a:p>
        </p:txBody>
      </p:sp>
    </p:spTree>
    <p:extLst>
      <p:ext uri="{BB962C8B-B14F-4D97-AF65-F5344CB8AC3E}">
        <p14:creationId xmlns:p14="http://schemas.microsoft.com/office/powerpoint/2010/main" val="371513730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647F12C9-18FF-7C59-7315-790EF7901F9B}"/>
              </a:ext>
            </a:extLst>
          </p:cNvPr>
          <p:cNvSpPr>
            <a:spLocks noGrp="1"/>
          </p:cNvSpPr>
          <p:nvPr>
            <p:ph type="title"/>
          </p:nvPr>
        </p:nvSpPr>
        <p:spPr/>
        <p:txBody>
          <a:bodyPr/>
          <a:lstStyle/>
          <a:p>
            <a:r>
              <a:rPr lang="en-US" dirty="0"/>
              <a:t>Conclusion</a:t>
            </a:r>
          </a:p>
        </p:txBody>
      </p:sp>
      <p:sp>
        <p:nvSpPr>
          <p:cNvPr id="5" name="텍스트 개체 틀 4">
            <a:extLst>
              <a:ext uri="{FF2B5EF4-FFF2-40B4-BE49-F238E27FC236}">
                <a16:creationId xmlns:a16="http://schemas.microsoft.com/office/drawing/2014/main" id="{6323321E-28F9-699E-09BA-2E50DA0067DA}"/>
              </a:ext>
            </a:extLst>
          </p:cNvPr>
          <p:cNvSpPr>
            <a:spLocks noGrp="1"/>
          </p:cNvSpPr>
          <p:nvPr>
            <p:ph type="body" idx="1"/>
          </p:nvPr>
        </p:nvSpPr>
        <p:spPr/>
        <p:txBody>
          <a:bodyPr/>
          <a:lstStyle/>
          <a:p>
            <a:r>
              <a:rPr lang="en-US" dirty="0"/>
              <a:t>6.75% → 100%</a:t>
            </a:r>
          </a:p>
        </p:txBody>
      </p:sp>
    </p:spTree>
    <p:extLst>
      <p:ext uri="{BB962C8B-B14F-4D97-AF65-F5344CB8AC3E}">
        <p14:creationId xmlns:p14="http://schemas.microsoft.com/office/powerpoint/2010/main" val="28535072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Conclusion</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 Communicate through types and there are no misunderstandings</a:t>
            </a:r>
          </a:p>
          <a:p>
            <a:r>
              <a:rPr lang="en-US" dirty="0"/>
              <a:t>➜ Constrain through schemas and there are no pink elephants</a:t>
            </a:r>
          </a:p>
          <a:p>
            <a:r>
              <a:rPr lang="en-US" dirty="0"/>
              <a:t>➜ With a deterministic loop, even 6.75% becomes 100%</a:t>
            </a:r>
          </a:p>
          <a:p>
            <a:r>
              <a:rPr lang="en-US" dirty="0"/>
              <a:t>➜ This pattern transfers to every domain with deterministic validators</a:t>
            </a:r>
          </a:p>
          <a:p>
            <a:endParaRPr lang="en-US" dirty="0"/>
          </a:p>
          <a:p>
            <a:r>
              <a:rPr lang="en-US" b="1" dirty="0"/>
              <a:t>Type Schema + Compiler + Feedback = Deterministic Loop</a:t>
            </a:r>
          </a:p>
        </p:txBody>
      </p:sp>
    </p:spTree>
    <p:extLst>
      <p:ext uri="{BB962C8B-B14F-4D97-AF65-F5344CB8AC3E}">
        <p14:creationId xmlns:p14="http://schemas.microsoft.com/office/powerpoint/2010/main" val="10786698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The Journey</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6.75%  Raw function calling success</a:t>
            </a:r>
          </a:p>
          <a:p>
            <a:pPr lvl="1"/>
            <a:r>
              <a:rPr lang="en-US" dirty="0"/>
              <a:t>↓</a:t>
            </a:r>
          </a:p>
          <a:p>
            <a:r>
              <a:rPr lang="en-US" dirty="0"/>
              <a:t>Typia  Parse → Coerce → Validate → Feedback</a:t>
            </a:r>
          </a:p>
          <a:p>
            <a:pPr lvl="1"/>
            <a:r>
              <a:rPr lang="en-US" dirty="0"/>
              <a:t>↓</a:t>
            </a:r>
          </a:p>
          <a:p>
            <a:r>
              <a:rPr lang="en-US" dirty="0"/>
              <a:t>Loop  Deterministic harness overcomes probabilistic LLM</a:t>
            </a:r>
          </a:p>
          <a:p>
            <a:pPr lvl="1"/>
            <a:r>
              <a:rPr lang="en-US" dirty="0"/>
              <a:t>↓</a:t>
            </a:r>
          </a:p>
          <a:p>
            <a:r>
              <a:rPr lang="en-US" dirty="0"/>
              <a:t>100%  All 4 Qwen models, same harness — transferable to all domains</a:t>
            </a:r>
          </a:p>
        </p:txBody>
      </p:sp>
    </p:spTree>
    <p:extLst>
      <p:ext uri="{BB962C8B-B14F-4D97-AF65-F5344CB8AC3E}">
        <p14:creationId xmlns:p14="http://schemas.microsoft.com/office/powerpoint/2010/main" val="27466347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Three Principles</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Types &gt; Prompts</a:t>
            </a:r>
          </a:p>
          <a:p>
            <a:endParaRPr lang="en-US" dirty="0"/>
          </a:p>
          <a:p>
            <a:r>
              <a:rPr lang="en-US" dirty="0"/>
              <a:t>Schemas &gt; Prohibition</a:t>
            </a:r>
          </a:p>
          <a:p>
            <a:endParaRPr lang="en-US" dirty="0"/>
          </a:p>
          <a:p>
            <a:r>
              <a:rPr lang="en-US" dirty="0"/>
              <a:t>Validation &gt; Accuracy</a:t>
            </a:r>
          </a:p>
        </p:txBody>
      </p:sp>
    </p:spTree>
    <p:extLst>
      <p:ext uri="{BB962C8B-B14F-4D97-AF65-F5344CB8AC3E}">
        <p14:creationId xmlns:p14="http://schemas.microsoft.com/office/powerpoint/2010/main" val="250781625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A59B9D-2723-4230-6F35-A8C6EDC31069}"/>
              </a:ext>
            </a:extLst>
          </p:cNvPr>
          <p:cNvSpPr>
            <a:spLocks noGrp="1"/>
          </p:cNvSpPr>
          <p:nvPr>
            <p:ph type="title"/>
          </p:nvPr>
        </p:nvSpPr>
        <p:spPr/>
        <p:txBody>
          <a:bodyPr>
            <a:normAutofit/>
          </a:bodyPr>
          <a:lstStyle/>
          <a:p>
            <a:r>
              <a:rPr lang="en-US" dirty="0"/>
              <a:t>6.75% is not a failure —</a:t>
            </a:r>
          </a:p>
        </p:txBody>
      </p:sp>
      <p:sp>
        <p:nvSpPr>
          <p:cNvPr id="3" name="내용 개체 틀 2">
            <a:extLst>
              <a:ext uri="{FF2B5EF4-FFF2-40B4-BE49-F238E27FC236}">
                <a16:creationId xmlns:a16="http://schemas.microsoft.com/office/drawing/2014/main" id="{6C71D8C8-83DC-F569-BA11-A4F133493935}"/>
              </a:ext>
            </a:extLst>
          </p:cNvPr>
          <p:cNvSpPr>
            <a:spLocks noGrp="1"/>
          </p:cNvSpPr>
          <p:nvPr>
            <p:ph idx="1"/>
          </p:nvPr>
        </p:nvSpPr>
        <p:spPr/>
        <p:txBody>
          <a:bodyPr>
            <a:normAutofit/>
          </a:bodyPr>
          <a:lstStyle/>
          <a:p>
            <a:r>
              <a:rPr lang="en-US" dirty="0"/>
              <a:t>it's the first input to the loop.</a:t>
            </a:r>
          </a:p>
          <a:p>
            <a:endParaRPr lang="en-US" dirty="0"/>
          </a:p>
          <a:p>
            <a:r>
              <a:rPr lang="en-US" dirty="0"/>
              <a:t>If you can verify, you converge.</a:t>
            </a:r>
          </a:p>
        </p:txBody>
      </p:sp>
    </p:spTree>
    <p:extLst>
      <p:ext uri="{BB962C8B-B14F-4D97-AF65-F5344CB8AC3E}">
        <p14:creationId xmlns:p14="http://schemas.microsoft.com/office/powerpoint/2010/main" val="344147197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4294EE26-2BE2-8517-F2AE-1EB8763A843D}"/>
              </a:ext>
            </a:extLst>
          </p:cNvPr>
          <p:cNvSpPr>
            <a:spLocks noGrp="1"/>
          </p:cNvSpPr>
          <p:nvPr>
            <p:ph type="title"/>
          </p:nvPr>
        </p:nvSpPr>
        <p:spPr/>
        <p:txBody>
          <a:bodyPr/>
          <a:lstStyle/>
          <a:p>
            <a:r>
              <a:rPr lang="en-US" dirty="0"/>
              <a:t>Thank You</a:t>
            </a:r>
          </a:p>
        </p:txBody>
      </p:sp>
      <p:sp>
        <p:nvSpPr>
          <p:cNvPr id="5" name="텍스트 개체 틀 4">
            <a:extLst>
              <a:ext uri="{FF2B5EF4-FFF2-40B4-BE49-F238E27FC236}">
                <a16:creationId xmlns:a16="http://schemas.microsoft.com/office/drawing/2014/main" id="{AF14B22B-4E98-263D-5291-3C89687F8085}"/>
              </a:ext>
            </a:extLst>
          </p:cNvPr>
          <p:cNvSpPr>
            <a:spLocks noGrp="1"/>
          </p:cNvSpPr>
          <p:nvPr>
            <p:ph type="body" idx="1"/>
          </p:nvPr>
        </p:nvSpPr>
        <p:spPr/>
        <p:txBody>
          <a:bodyPr>
            <a:normAutofit/>
          </a:bodyPr>
          <a:lstStyle/>
          <a:p>
            <a:r>
              <a:rPr lang="en-US" dirty="0"/>
              <a:t>Developed by Wrtn Technologies · wrtn.io</a:t>
            </a:r>
          </a:p>
          <a:p>
            <a:r>
              <a:rPr lang="en-US" dirty="0"/>
              <a:t>Function Calling Harness · Qwen Meetup Korea</a:t>
            </a:r>
          </a:p>
        </p:txBody>
      </p:sp>
    </p:spTree>
    <p:extLst>
      <p:ext uri="{BB962C8B-B14F-4D97-AF65-F5344CB8AC3E}">
        <p14:creationId xmlns:p14="http://schemas.microsoft.com/office/powerpoint/2010/main" val="251988923"/>
      </p:ext>
    </p:extLst>
  </p:cSld>
  <p:clrMapOvr>
    <a:masterClrMapping/>
  </p:clrMapOvr>
</p:sld>
</file>

<file path=ppt/theme/theme1.xml><?xml version="1.0" encoding="utf-8"?>
<a:theme xmlns:a="http://schemas.openxmlformats.org/drawingml/2006/main" name="기본">
  <a:themeElements>
    <a:clrScheme name="기본">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기본">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기본 [1774069290905]">
  <a:themeElements>
    <a:clrScheme name="Harness Dark">
      <a:dk1>
        <a:srgbClr val="F0F0F0"/>
      </a:dk1>
      <a:lt1>
        <a:srgbClr val="0D1117"/>
      </a:lt1>
      <a:dk2>
        <a:srgbClr val="B0B0B0"/>
      </a:dk2>
      <a:lt2>
        <a:srgbClr val="161B22"/>
      </a:lt2>
      <a:accent1>
        <a:srgbClr val="00D4AA"/>
      </a:accent1>
      <a:accent2>
        <a:srgbClr val="FF6B6B"/>
      </a:accent2>
      <a:accent3>
        <a:srgbClr val="FFD93D"/>
      </a:accent3>
      <a:accent4>
        <a:srgbClr val="6C5CE7"/>
      </a:accent4>
      <a:accent5>
        <a:srgbClr val="74B9FF"/>
      </a:accent5>
      <a:accent6>
        <a:srgbClr val="A8E6CF"/>
      </a:accent6>
      <a:hlink>
        <a:srgbClr val="F59E00"/>
      </a:hlink>
      <a:folHlink>
        <a:srgbClr val="B2B2B2"/>
      </a:folHlink>
    </a:clrScheme>
    <a:fontScheme name="Harness">
      <a:majorFont>
        <a:latin typeface="Segoe UI Semibold"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egoe UI"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CBE745-F2E2-4DC4-86C5-90F295BEEB6B}">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기본</Template>
  <TotalTime>671</TotalTime>
  <Words>6305</Words>
  <Application>Microsoft Office PowerPoint</Application>
  <PresentationFormat>와이드스크린</PresentationFormat>
  <Paragraphs>857</Paragraphs>
  <Slides>65</Slides>
  <Notes>35</Notes>
  <HiddenSlides>0</HiddenSlides>
  <MMClips>0</MMClips>
  <ScaleCrop>false</ScaleCrop>
  <HeadingPairs>
    <vt:vector size="6" baseType="variant">
      <vt:variant>
        <vt:lpstr>사용한 글꼴</vt:lpstr>
      </vt:variant>
      <vt:variant>
        <vt:i4>7</vt:i4>
      </vt:variant>
      <vt:variant>
        <vt:lpstr>테마</vt:lpstr>
      </vt:variant>
      <vt:variant>
        <vt:i4>2</vt:i4>
      </vt:variant>
      <vt:variant>
        <vt:lpstr>슬라이드 제목</vt:lpstr>
      </vt:variant>
      <vt:variant>
        <vt:i4>65</vt:i4>
      </vt:variant>
    </vt:vector>
  </HeadingPairs>
  <TitlesOfParts>
    <vt:vector size="74" baseType="lpstr">
      <vt:lpstr>맑은 고딕</vt:lpstr>
      <vt:lpstr>Aptos</vt:lpstr>
      <vt:lpstr>Arial</vt:lpstr>
      <vt:lpstr>Consolas</vt:lpstr>
      <vt:lpstr>Corbel</vt:lpstr>
      <vt:lpstr>Segoe UI</vt:lpstr>
      <vt:lpstr>Segoe UI Semibold</vt:lpstr>
      <vt:lpstr>기본</vt:lpstr>
      <vt:lpstr>기본 [1774069290905]</vt:lpstr>
      <vt:lpstr>Function Calling Harness</vt:lpstr>
      <vt:lpstr>TL;DR</vt:lpstr>
      <vt:lpstr>TL;DR</vt:lpstr>
      <vt:lpstr>TL;DR</vt:lpstr>
      <vt:lpstr>TL;DR</vt:lpstr>
      <vt:lpstr>1. Preface</vt:lpstr>
      <vt:lpstr>1. Preface</vt:lpstr>
      <vt:lpstr>1. Preface</vt:lpstr>
      <vt:lpstr>100%</vt:lpstr>
      <vt:lpstr>AutoBe</vt:lpstr>
      <vt:lpstr>2.1. What AutoBe Does</vt:lpstr>
      <vt:lpstr>2.2. LLMs Don’t Write Code</vt:lpstr>
      <vt:lpstr>PowerPoint 프레젠테이션</vt:lpstr>
      <vt:lpstr>PowerPoint 프레젠테이션</vt:lpstr>
      <vt:lpstr>2.3. Self-Healing Loops</vt:lpstr>
      <vt:lpstr>2.4. AST Specs Are Better</vt:lpstr>
      <vt:lpstr>2.5. Four Qwen Models, All 100%</vt:lpstr>
      <vt:lpstr>PowerPoint 프레젠테이션</vt:lpstr>
      <vt:lpstr>PowerPoint 프레젠테이션</vt:lpstr>
      <vt:lpstr>PowerPoint 프레젠테이션</vt:lpstr>
      <vt:lpstr>Typia</vt:lpstr>
      <vt:lpstr>2.1. What Is Typia</vt:lpstr>
      <vt:lpstr>PowerPoint 프레젠테이션</vt:lpstr>
      <vt:lpstr>PowerPoint 프레젠테이션</vt:lpstr>
      <vt:lpstr>JSDoc → LLM Description</vt:lpstr>
      <vt:lpstr>2.2. typia.llm.application&lt;Class&gt;()</vt:lpstr>
      <vt:lpstr>PowerPoint 프레젠테이션</vt:lpstr>
      <vt:lpstr>PowerPoint 프레젠테이션</vt:lpstr>
      <vt:lpstr>PowerPoint 프레젠테이션</vt:lpstr>
      <vt:lpstr>The parse() coerce() Recursive Cycle</vt:lpstr>
      <vt:lpstr>Validation &amp; Precise Feedback</vt:lpstr>
      <vt:lpstr>PowerPoint 프레젠테이션</vt:lpstr>
      <vt:lpstr>The Only Compiler-Level Solution</vt:lpstr>
      <vt:lpstr>The Only Union Type Support</vt:lpstr>
      <vt:lpstr>Harness Engineering: AutoBe + Typia</vt:lpstr>
      <vt:lpstr> </vt:lpstr>
      <vt:lpstr>Function Calling</vt:lpstr>
      <vt:lpstr>4.1. Natural Language vs Types</vt:lpstr>
      <vt:lpstr>4.1. Natural Language vs Types</vt:lpstr>
      <vt:lpstr>4.2. Pink Elephant Problem</vt:lpstr>
      <vt:lpstr>4.2. Pink Elephant Problem</vt:lpstr>
      <vt:lpstr>4.2. Pink Elephant Problem</vt:lpstr>
      <vt:lpstr>4.3. Model Neutrality</vt:lpstr>
      <vt:lpstr>4.3. Model Neutrality</vt:lpstr>
      <vt:lpstr>4.3. Model Neutrality</vt:lpstr>
      <vt:lpstr>4.4. The Core: Verifiability</vt:lpstr>
      <vt:lpstr>4.4. The Core: Verifiability</vt:lpstr>
      <vt:lpstr>4.4. The Core: Verifiability</vt:lpstr>
      <vt:lpstr>4.5. This Pattern Is Universal</vt:lpstr>
      <vt:lpstr>PowerPoint 프레젠테이션</vt:lpstr>
      <vt:lpstr>PowerPoint 프레젠테이션</vt:lpstr>
      <vt:lpstr>PowerPoint 프레젠테이션</vt:lpstr>
      <vt:lpstr>PowerPoint 프레젠테이션</vt:lpstr>
      <vt:lpstr>Qwen Series</vt:lpstr>
      <vt:lpstr>5.1. Small/Medium Models Excel</vt:lpstr>
      <vt:lpstr>5.2. R&amp;D Cost: Users vs Developers</vt:lpstr>
      <vt:lpstr>5.3. Small Models = Best QA Engineers</vt:lpstr>
      <vt:lpstr>5.4. No Vendor Lock-In</vt:lpstr>
      <vt:lpstr>5.5. Open Source + Open Weights: Virtuous Cycle</vt:lpstr>
      <vt:lpstr>Conclusion</vt:lpstr>
      <vt:lpstr>Conclusion</vt:lpstr>
      <vt:lpstr>The Journey</vt:lpstr>
      <vt:lpstr>Three Principles</vt:lpstr>
      <vt:lpstr>6.75% is not a failure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Jeongho Nam</dc:creator>
  <cp:lastModifiedBy>Jeongho Nam</cp:lastModifiedBy>
  <cp:revision>118</cp:revision>
  <dcterms:created xsi:type="dcterms:W3CDTF">2026-03-21T07:18:57Z</dcterms:created>
  <dcterms:modified xsi:type="dcterms:W3CDTF">2026-03-22T05:28:42Z</dcterms:modified>
</cp:coreProperties>
</file>